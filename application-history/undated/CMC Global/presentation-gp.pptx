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y="6858000" cx="12192000"/>
  <p:notesSz cx="6858000" cy="12192000"/>
  <p:embeddedFontLst>
    <p:embeddedFont>
      <p:font typeface="Montserrat SemiBold"/>
      <p:regular r:id="rId42"/>
      <p:bold r:id="rId43"/>
      <p:italic r:id="rId44"/>
      <p:boldItalic r:id="rId45"/>
    </p:embeddedFont>
    <p:embeddedFont>
      <p:font typeface="Montserrat"/>
      <p:regular r:id="rId46"/>
      <p:bold r:id="rId47"/>
      <p:italic r:id="rId48"/>
      <p:boldItalic r:id="rId49"/>
    </p:embeddedFont>
    <p:embeddedFont>
      <p:font typeface="Quattrocento Sans"/>
      <p:regular r:id="rId50"/>
      <p:bold r:id="rId51"/>
      <p:italic r:id="rId52"/>
      <p:boldItalic r:id="rId53"/>
    </p:embeddedFont>
    <p:embeddedFont>
      <p:font typeface="Montserrat ExtraBold"/>
      <p:bold r:id="rId54"/>
      <p:boldItalic r:id="rId55"/>
    </p:embeddedFont>
    <p:embeddedFont>
      <p:font typeface="Arial Black"/>
      <p:regular r:id="rId56"/>
    </p:embeddedFont>
    <p:embeddedFont>
      <p:font typeface="Barlow"/>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7F4635-5916-4133-9C0B-B74CECAF450B}">
  <a:tblStyle styleId="{0B7F4635-5916-4133-9C0B-B74CECAF450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140B2FF-5A71-40BD-AFFD-90A2E17B1FAF}"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font" Target="fonts/MontserratSemiBold-regular.fntdata"/><Relationship Id="rId41" Type="http://schemas.openxmlformats.org/officeDocument/2006/relationships/slide" Target="slides/slide34.xml"/><Relationship Id="rId44" Type="http://schemas.openxmlformats.org/officeDocument/2006/relationships/font" Target="fonts/MontserratSemiBold-italic.fntdata"/><Relationship Id="rId43" Type="http://schemas.openxmlformats.org/officeDocument/2006/relationships/font" Target="fonts/MontserratSemiBold-bold.fntdata"/><Relationship Id="rId46" Type="http://schemas.openxmlformats.org/officeDocument/2006/relationships/font" Target="fonts/Montserrat-regular.fntdata"/><Relationship Id="rId45" Type="http://schemas.openxmlformats.org/officeDocument/2006/relationships/font" Target="fonts/MontserratSemiBold-boldItalic.fntdata"/><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Barlow-bold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QuattrocentoSans-bold.fntdata"/><Relationship Id="rId50" Type="http://schemas.openxmlformats.org/officeDocument/2006/relationships/font" Target="fonts/QuattrocentoSans-regular.fntdata"/><Relationship Id="rId53" Type="http://schemas.openxmlformats.org/officeDocument/2006/relationships/font" Target="fonts/QuattrocentoSans-boldItalic.fntdata"/><Relationship Id="rId52" Type="http://schemas.openxmlformats.org/officeDocument/2006/relationships/font" Target="fonts/QuattrocentoSans-italic.fntdata"/><Relationship Id="rId11" Type="http://schemas.openxmlformats.org/officeDocument/2006/relationships/slide" Target="slides/slide4.xml"/><Relationship Id="rId55" Type="http://schemas.openxmlformats.org/officeDocument/2006/relationships/font" Target="fonts/MontserratExtraBold-boldItalic.fntdata"/><Relationship Id="rId10" Type="http://schemas.openxmlformats.org/officeDocument/2006/relationships/slide" Target="slides/slide3.xml"/><Relationship Id="rId54" Type="http://schemas.openxmlformats.org/officeDocument/2006/relationships/font" Target="fonts/MontserratExtraBold-bold.fntdata"/><Relationship Id="rId13" Type="http://schemas.openxmlformats.org/officeDocument/2006/relationships/slide" Target="slides/slide6.xml"/><Relationship Id="rId57" Type="http://schemas.openxmlformats.org/officeDocument/2006/relationships/font" Target="fonts/Barlow-regular.fntdata"/><Relationship Id="rId12" Type="http://schemas.openxmlformats.org/officeDocument/2006/relationships/slide" Target="slides/slide5.xml"/><Relationship Id="rId56" Type="http://schemas.openxmlformats.org/officeDocument/2006/relationships/font" Target="fonts/ArialBlack-regular.fntdata"/><Relationship Id="rId15" Type="http://schemas.openxmlformats.org/officeDocument/2006/relationships/slide" Target="slides/slide8.xml"/><Relationship Id="rId59" Type="http://schemas.openxmlformats.org/officeDocument/2006/relationships/font" Target="fonts/Barlow-italic.fntdata"/><Relationship Id="rId14" Type="http://schemas.openxmlformats.org/officeDocument/2006/relationships/slide" Target="slides/slide7.xml"/><Relationship Id="rId58" Type="http://schemas.openxmlformats.org/officeDocument/2006/relationships/font" Target="fonts/Barlow-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큐셀</a:t>
            </a:r>
            <a:r>
              <a:rPr lang="en-US" sz="1200">
                <a:solidFill>
                  <a:schemeClr val="dk1"/>
                </a:solidFill>
              </a:rPr>
              <a:t> 설치 기사용 앱을 위한 </a:t>
            </a:r>
            <a:r>
              <a:rPr lang="en-US" sz="1200">
                <a:solidFill>
                  <a:schemeClr val="dk1"/>
                </a:solidFill>
              </a:rPr>
              <a:t>네이티브 모바일 개발자 상주 개발 제안서</a:t>
            </a:r>
            <a:endParaRPr sz="1200">
              <a:solidFill>
                <a:schemeClr val="dk1"/>
              </a:solidFill>
              <a:latin typeface="Arial"/>
              <a:ea typeface="Arial"/>
              <a:cs typeface="Arial"/>
              <a:sym typeface="Arial"/>
            </a:endParaRPr>
          </a:p>
        </p:txBody>
      </p:sp>
      <p:sp>
        <p:nvSpPr>
          <p:cNvPr id="282" name="Google Shape;28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모바일 개발 경험, 현재 앱을 바탕으로 offline first workflow 이해: </a:t>
            </a:r>
            <a:r>
              <a:rPr lang="en-US">
                <a:solidFill>
                  <a:schemeClr val="dk1"/>
                </a:solidFill>
              </a:rPr>
              <a:t>Bluetooth와 Wi-Fi 통신을 기반으로 </a:t>
            </a:r>
            <a:r>
              <a:rPr lang="en-US"/>
              <a:t>발전 설비의 설정을 변경하거나 상태를 조회하고 Cloud와</a:t>
            </a:r>
            <a:r>
              <a:rPr lang="en-US">
                <a:solidFill>
                  <a:schemeClr val="dk1"/>
                </a:solidFill>
              </a:rPr>
              <a:t> 대신 </a:t>
            </a:r>
            <a:r>
              <a:rPr lang="en-US"/>
              <a:t>동기화하여 설치 지역의 네트워크 가능 여부에 영향 받지 않고 설치 및 정비 업무 수행</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로컬 데이터를 기반으로 안전한 동기화, 장비와 연결 유지 및 장애 대응, 보안, 테스트 코드를 통한 로직 검증, Ci/CD를 통한 빠른 협업/검증 환경 구축</a:t>
            </a:r>
            <a:endParaRPr/>
          </a:p>
          <a:p>
            <a:pPr indent="0" lvl="0" marL="0" rtl="0" algn="l">
              <a:spcBef>
                <a:spcPts val="0"/>
              </a:spcBef>
              <a:spcAft>
                <a:spcPts val="0"/>
              </a:spcAft>
              <a:buNone/>
            </a:pPr>
            <a:r>
              <a:t/>
            </a:r>
            <a:endParaRPr/>
          </a:p>
        </p:txBody>
      </p:sp>
      <p:sp>
        <p:nvSpPr>
          <p:cNvPr id="297" name="Google Shape;297;p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현장 인원 구성: 팀장을 포함한 4명의 개발자로 구성된 팀이 상주, 팀장은 매일 QCell에 보고. 필요시 현장 대리인 추가</a:t>
            </a:r>
            <a:endParaRPr sz="1200">
              <a:solidFill>
                <a:schemeClr val="dk1"/>
              </a:solidFill>
            </a:endParaRPr>
          </a:p>
          <a:p>
            <a:pPr indent="0" lvl="0" marL="0" marR="0" rtl="0" algn="l">
              <a:spcBef>
                <a:spcPts val="0"/>
              </a:spcBef>
              <a:spcAft>
                <a:spcPts val="0"/>
              </a:spcAft>
              <a:buNone/>
            </a:pPr>
            <a:r>
              <a:rPr lang="en-US" sz="1200">
                <a:solidFill>
                  <a:schemeClr val="dk1"/>
                </a:solidFill>
              </a:rPr>
              <a:t>본사 지원: 백업 개발자 준비, 모바일 기술 조언, QA CI/CD 구축 지원(</a:t>
            </a:r>
            <a:r>
              <a:rPr lang="en-US" sz="1200">
                <a:solidFill>
                  <a:schemeClr val="dk1"/>
                </a:solidFill>
              </a:rPr>
              <a:t>큐셀 요청</a:t>
            </a:r>
            <a:r>
              <a:rPr lang="en-US" sz="1200">
                <a:solidFill>
                  <a:schemeClr val="dk1"/>
                </a:solidFill>
              </a:rPr>
              <a:t> 시) </a:t>
            </a:r>
            <a:endParaRPr sz="1200">
              <a:solidFill>
                <a:schemeClr val="dk1"/>
              </a:solidFill>
              <a:latin typeface="Arial"/>
              <a:ea typeface="Arial"/>
              <a:cs typeface="Arial"/>
              <a:sym typeface="Arial"/>
            </a:endParaRPr>
          </a:p>
        </p:txBody>
      </p:sp>
      <p:sp>
        <p:nvSpPr>
          <p:cNvPr id="314" name="Google Shape;31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투입 일정: 다음주 월요일에 3명 투입 시작, 임지영님은 11월에 합류 예정</a:t>
            </a:r>
            <a:endParaRPr/>
          </a:p>
        </p:txBody>
      </p:sp>
      <p:sp>
        <p:nvSpPr>
          <p:cNvPr id="379" name="Google Shape;379;p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투입 인원 상세: Android iOS 각 2명. BLE 및 IoT 경험한 시니어 및 미드 시니어로 구성</a:t>
            </a:r>
            <a:endParaRPr/>
          </a:p>
        </p:txBody>
      </p:sp>
      <p:sp>
        <p:nvSpPr>
          <p:cNvPr id="423" name="Google Shape;423;p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투입 인원: 모두 한국인, 서울 거주, 프로젝트 중간 이탈 예정자 없음</a:t>
            </a:r>
            <a:endParaRPr/>
          </a:p>
        </p:txBody>
      </p:sp>
      <p:sp>
        <p:nvSpPr>
          <p:cNvPr id="431" name="Google Shape;431;p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개발자 1: 이영준. 통신사, 모빌리티, 에듀테크 도메인에서 총 15년의 개발 경력. iOS 5년.</a:t>
            </a:r>
            <a:endParaRPr sz="1200">
              <a:solidFill>
                <a:schemeClr val="dk1"/>
              </a:solidFill>
              <a:latin typeface="Arial"/>
              <a:ea typeface="Arial"/>
              <a:cs typeface="Arial"/>
              <a:sym typeface="Arial"/>
            </a:endParaRPr>
          </a:p>
        </p:txBody>
      </p:sp>
      <p:sp>
        <p:nvSpPr>
          <p:cNvPr id="440" name="Google Shape;44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개발자 2: 김지희. 금융,항공,IoT 도메인에서 15년 iOS</a:t>
            </a:r>
            <a:endParaRPr sz="1200">
              <a:solidFill>
                <a:schemeClr val="dk1"/>
              </a:solidFill>
              <a:latin typeface="Arial"/>
              <a:ea typeface="Arial"/>
              <a:cs typeface="Arial"/>
              <a:sym typeface="Arial"/>
            </a:endParaRPr>
          </a:p>
        </p:txBody>
      </p:sp>
      <p:sp>
        <p:nvSpPr>
          <p:cNvPr id="524" name="Google Shape;52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개발자 3: 안재현. 은행,카드,항공사에서 9년 안드로이드</a:t>
            </a:r>
            <a:endParaRPr sz="1200">
              <a:solidFill>
                <a:schemeClr val="dk1"/>
              </a:solidFill>
              <a:latin typeface="Arial"/>
              <a:ea typeface="Arial"/>
              <a:cs typeface="Arial"/>
              <a:sym typeface="Arial"/>
            </a:endParaRPr>
          </a:p>
        </p:txBody>
      </p:sp>
      <p:sp>
        <p:nvSpPr>
          <p:cNvPr id="608" name="Google Shape;60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1" name="Google Shape;6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개발자 4: 임지영. 자동차에서 Android 6년</a:t>
            </a:r>
            <a:endParaRPr sz="1200">
              <a:solidFill>
                <a:schemeClr val="dk1"/>
              </a:solidFill>
              <a:latin typeface="Arial"/>
              <a:ea typeface="Arial"/>
              <a:cs typeface="Arial"/>
              <a:sym typeface="Arial"/>
            </a:endParaRPr>
          </a:p>
        </p:txBody>
      </p:sp>
      <p:sp>
        <p:nvSpPr>
          <p:cNvPr id="692" name="Google Shape;69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5" name="Google Shape;77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iOS Platform 설계. 1~10까지 설계. 나머지 4P Q/A용</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Technical design exercise for RFP QCELLS-MOBILE-RFP-2026-09-25, section 6. Pages T1 to T10 are the design. Pages B1 to B4 are backup for the Q&amp;A.</a:t>
            </a:r>
            <a:endParaRPr/>
          </a:p>
        </p:txBody>
      </p:sp>
      <p:sp>
        <p:nvSpPr>
          <p:cNvPr id="776" name="Google Shape;77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설치를 위한 3단계. 인터넷 안되는 환경 대응. 설치 기사 앱 로그인 - 담당 설비(위치) 정보 동기화 - 목록에서 설비 선택 - 설비와 통신하고 설정 - 진단/운행 - 서버와 설비 정보 동기화(</a:t>
            </a:r>
            <a:r>
              <a:rPr lang="en-US" sz="1200">
                <a:solidFill>
                  <a:schemeClr val="dk1"/>
                </a:solidFill>
              </a:rPr>
              <a:t>네트워크 복구시)</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 1.1 and Figure 1.</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installation workflow is split into three stages: server pre-sync, on-site offline configuration, post-installation sync.</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Stage 1, Pre-sync. After login the app receives today's work orders based on the installer ID. It downloads Serial No, NMI No, model info and the latest firmware binary of the target ESS units to local storage. Later stages proceed regardless of on-site internet connectivity.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Stage 2, Offline-first commissioning. All configuration I/O runs over a BLE 1:1 direct link between the app and the device. It operates on the device's own data without server round trips. Firmware update runs over 1:1 communication with the ESS built-in Wi-Fi.</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Stage 3, Completion and cloud sync. The device state is confirmed as Incomplete to Run at the moment of Apply. Change history is stored as in-app transactions with unique IDs and is synced to the cloud automatically when internet connectivity is restored.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Normal path: the installer taps an ESS row from the downloaded list. Exception path: the Install Wizard (+), with manual Serial No entry or a barcode scan.</a:t>
            </a:r>
            <a:endParaRPr/>
          </a:p>
        </p:txBody>
      </p:sp>
      <p:sp>
        <p:nvSpPr>
          <p:cNvPr id="783" name="Google Shape;783;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0" name="Google Shape;84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4가지 설비 상태: 미설치(미완료), 운행 중, 경고 발생, 오류 발생. 음영 지역이거나 Wi-Fi 장비가 없는 등 네트워크 상태 추가.</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 1.2 and Figure 2.</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All screen permissions and the editable scope in the app are determined by four states.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Incomplete: factory reset state, configuration not completed. A new installation target. Password bypass, full configuration editing allowed.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Run: in commercial operation after configuration. A maintenance or reconfiguration target. Status view only; temporary password authentication is required to configure.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Warning / Error: device self-diagnosis warning or halt. A field troubleshooting target. Diagnostic data first; configuration changes follow the operating policy.</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Wifi / non-Wifi: whether the device has external internet access, which decides whether cloud remote monitoring is available. The app shows local storage sync pending when non-Wifi.</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Wifi / non-Wifi is an independent connectivity state combined with the states above. Example: Run + non-Wifi means operating normally but not reporting to the cloud.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FW Updating is an app session state, not a device state. It returns to Run on the new version on Commit, or on the previous version on Rollback.</a:t>
            </a:r>
            <a:endParaRPr/>
          </a:p>
        </p:txBody>
      </p:sp>
      <p:sp>
        <p:nvSpPr>
          <p:cNvPr id="841" name="Google Shape;84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1" name="Google Shape;90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7 가지 확인된 기능: 대시보드 목록, 설치 마법사, 로딩/새로고침 시 UI 잠금, 미설치 상태, NMI 값, 비상 상황 정책/가격, 운행전 경고 발생시?</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 1.3, which defines seven field behaviors confirmed from the app's UX and their design interpretation.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1. What the Dashboard list really is. Not a live BLE scan list, but today's work list downloaded and synced based on the installer ID. Design: Dashboard rendering is fully decoupled from BLE state; offline mode is guaranteed via local storage.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2. Install Wizard (+) button. A manual entry point dedicated to exceptions not covered by the download: visits to households missing from the system, or mismatches caused by on-site hardware replacement. The installer manually enters or barcode-scans the Serial No of the physical device. Design: the entered Serial No is the BLE Local Name matching key to establish the 1:1 direct link, and the entry history is recorded to the server.</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3. UI lock on detail entry and refresh. BLE 1:1 connection and real-time bulk read happen together when an ESS row is tapped. All UI interaction is forcibly blocked with a modal during refresh to prevent command collisions. Device internal data is force-refreshed in real time over a local BLE / socket direct link, not a server call. Design: session-scoped single command queue and modal lock guard.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4. Permissions in Incomplete state. The factory reset state has no password to protect, so the Temporary Installer Password step is fully bypassed. Sequence: set the Off-Grid safety interlock at the top, enter NMI No at the bottom, then Apply. On Apply the final Run state is confirmed and the device switches to security lockdown mode. Design: Apply is treated as an irreversible transaction, with a mandatory confirmation dialog and settings summary screen.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5. NMI No cannot be re-entered after deletion. Deleting an existing NMI No on the edit screen of an uninstalled unit causes a runtime lockout that blocks manual re-entry. Cause: NMI No is not a value the installer creates, but a unique asset issued and looked up via the server / settlement network (read-only subscribed asset). Design: the NMI No field is redefined as a lookup picker instead of free text input, with a Re-fetch action instead of delete. NMI No is preloaded into work orders during pre-sync to prepare for offline conditions.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6. Energy Policy and Pricing menu linkage. In normal Standby mode no tariff table is needed, so access to the Pricing submenu is fully blocked. The Pricing input form (manual per-kWh rate) is unlocked only at runtime, when switched to Time-based mode in the top settings. Design: Pricing availability is determined by the device's own data, not local UI state.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7. Hardware master switch definitions. Off-Grid is the safety unlock switch deciding whether to run standalone on solar and battery instead of halting with an error when the external grid is lost; misconfiguration directly affects human and equipment safety, so a two-step confirmation UI is applied. Test Site says whether the unit is an experimental asset for communication testing before commercial operation; when Yes, the backend excludes its metering data from the general billing statistics pipeline. A warning banner is shown just before Run confirmation to prevent forgetting to switch to No for commercial operation.</a:t>
            </a:r>
            <a:endParaRPr/>
          </a:p>
        </p:txBody>
      </p:sp>
      <p:sp>
        <p:nvSpPr>
          <p:cNvPr id="902" name="Google Shape;902;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3" name="Google Shape;96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설비가 주는 상태가 최신 정보, 앱과 동기화, 실패 유형: 설치 마법사가 스캔 실패, 상태 받는 중 BLE 끊김, 설정 변경 중 Timeout, OTP 인증 실패, 재시도 등으로 설정 변경 충돌, 설비 자체 Wi-Fi 연결 실패, 앱이 죽거나 저전력 상태(+배터리 경고/기능차단?), 클라우드 동기화 실패</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 1.4.</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Every error uses device read-back as the final source of truth, so no job ends with the app and the device out of sync.</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BLE drop during bulk read. Detection: didDisconnectPeripheral, pending continuations thrown. Recovery: release the UI lock, auto-reconnect once, then offer retry to the installer.</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Write response timeout. Detection: no Write With Response ack. Recovery: no automatic resend; reconnect and compare read-back; resend with a new OTP only if not applied.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OTP verification failure. Detection: device error code. Recovery: check the device clock and prompt re-entry; show the remaining lockout time after consecutive failures.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Interrupted Apply. Detection: local incomplete marker saved before Apply. Recovery: on re-entry read the device state; mark complete if Run, re-Apply after the settings summary if Incomplete.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App killed or device power loss during flash. Detection: FW session marker found on relaunch. Recovery: read the device version; commit if new version, confirm rollback and retry if previous version.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SoftAP join failure. Detection: NEHotspotConfiguration error. Recovery: retry once, then request BLE wake-up again and reissue the SSID.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Install Wizard scan failure. Detection: no Local Name match within the timeout. Recovery: re-check the Serial No, guide the installer closer (RSSI shown), rescan the barcode.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Cloud sync failure. Detection: HTTP 5xx or network error. Recovery: retry with increasing timeout; treat 409 duplicate as success.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On the slide the eight cases are arranged in workflow order. The read-back comparison is spelled out for the write, Apply and flash cases; the connection and sync cases recover by retrying.</a:t>
            </a:r>
            <a:endParaRPr/>
          </a:p>
        </p:txBody>
      </p:sp>
      <p:sp>
        <p:nvSpPr>
          <p:cNvPr id="964" name="Google Shape;96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8" name="Google Shape;104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3단계 레이어로 하드웨어 통신과 UI를 격리: UI Layer는 Domain Layer를 통해 로직 실행 Domain Layer는 Data layer로 설비 raw 데이터 입/출력 수행. 로컬에 정보 기록</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sections 2.1 and 2.2, and Figure 3 (system context diagram).</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UI / Domain / Data three-layer separation isolates hardware spec changes from the UI.</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UI layer: SwiftUI View, @MainActor ViewModel. Screen rendering, UI lock display, forwarding user actions.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Domain layer: UseCase, Entity, ESSStateMachine. State transition rules, permission policy, Pricing availability.</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Data layer: Repository, BLETransport, SoftAPTransport, REST client, local store. Device register I/O, server communication, local persistence.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Dependency direction: UI to Domain, Data to Domain. Domain owns only protocols. BLETransport is defined as a protocol so mock and real implementations can be swapped.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Channels: HTTPS to the Qcells backend when online (pre-sync, post-sync). BLE 1:1 to the CORE Pro ESS, offline (commands, events). SoftAP Wi-Fi, temporary, for firmware transfer. The ESS reports telemetry to the backend over home Wi-Fi.</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Sensitive data. Installer auth token: Keychain, kSecAttrAccessibleWhenUnlockedThisDeviceOnly plus .biometryCurrentSet. Refresh token: Keychain, kSecAttrAccessibleAfterFirstUnlockThisDeviceOnly. Temporary installer password: memory only, never persisted, discarded immediately after use. Work order data: local DB, Data Protection .complete.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ThisDeviceOnly blocks iCloud Keychain sync and backup restore. The token is invalidated by .biometryCurrentSet when biometrics are re-enrolled. Serial No, NMI No and passwords are masked in logs and crash reports.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Dashboard refresh: pull-to-refresh re-syncs the work list with the server. The detail screen refresh receives device data over BLE.</a:t>
            </a:r>
            <a:endParaRPr/>
          </a:p>
        </p:txBody>
      </p:sp>
      <p:sp>
        <p:nvSpPr>
          <p:cNvPr id="1049" name="Google Shape;1049;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7" name="Google Shape;110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앱은 Serial No로 설비 탐색, Firmware 버전에 따라 프로토콜/동작 분기: </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sections 3.1 and 3.4.</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Models are filtered first by Service UUID, then identified 1:1 per Serial No via Local Name matching.</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Model-specific Service UUID filtering: model-specific Service UUIDs are passed to scanForPeripherals(withServices:), which removes noise from unrelated nearby BLE devices. The per-model UUID and Local Name format are TBD (example: AACCB-{SerialNo}) and are updated via server Remote Config when models are added.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iOS CoreBluetooth constraint: iOS does not expose physical MAC addresses to apps. CBPeripheral.identifier is a randomly generated UUID per iPhone, so the same device cannot be identified across different iPhones.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Workaround: the Serial No is extracted from advertisementData[CBAdvertisementDataLocalNameKey] and compared with the work list or the manual input. When the name is shortened by the advertising length limit, it is confirmed by reading the Serial Number String (0x2A25) after connect.</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Scan policy: foreground-only scanning; stopScan() is called as soon as the target is confirmed, to minimize battery drain. When multiple devices respond with the same Serial No, the highest RSSI is selected and the installer is asked to confirm.</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Version compatibility: read the device protocol version right after connecting and compare it with the app's supported range (Min to Max). Device too old: block configuration writes and prompt a firmware update. Device too new: require an app update.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Device commands and events: timeout, retry and failure handling are fixed per command, which makes field behavior predictable. Values are finalized once the hardware spec is available. Backend APIs and the remaining version rules are on backup page B1.</a:t>
            </a:r>
            <a:endParaRPr/>
          </a:p>
        </p:txBody>
      </p:sp>
      <p:sp>
        <p:nvSpPr>
          <p:cNvPr id="1108" name="Google Shape;1108;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8" name="Google Shape;113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펌웨어 업데이트를 위해 Bluetooth로 설비 내장 Wi-Fi 기동: 펌웨어 전송, 유효성 검증, 펌웨어 저장, 재시작, 버전 확인</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 3.2.</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Wi-Fi is not kept running. The built-in Wi-Fi starts only while requested through a BLE command.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Design background: always-on device Wi-Fi expands the external attack surface, and BLE bandwidth alone is too slow for multi-MB firmware transfers. Conclusion: BLE for control, temporarily started Wi-Fi for bulk transfer.</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Dynamic Wi-Fi trigger sequence. The app sends the BLE wake-up command. The device generates a one-time SSID and passphrase, starts the built-in Wi-Fi and returns the connection info over BLE. The app joins the Wi-Fi via NEHotspotConfiguration (joinOnce = true). The device shuts down Wi-Fi automatically on transfer completion or after a TBD-minute timeout. Required iOS permissions: Hotspot Configuration entitlement, Local Network permission.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Five-stage lifecycle.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1. File transfer. Device: receive the binary into the inactive bank. App: send the pre-synced binary in chunks, show progress. Failure: resume from the interruption point.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2. Integrity check. Device: checksum / MD5 comparison, Secure Boot signature verification. App: read the verification result over BLE. Failure: discard the inactive bank.</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3. Flashing. Device: write to the inactive bank of the dual-bank flash memory. App: keep the UI lock, prevent screen sleep (isIdleTimerDisabled). Failure: the active bank is kept intact.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4. Hardware restart. Device: switch the boot bank and reboot. App: wait for BLE reconnect and rescan. Failure: automatic rollback to the previous bank on boot failure.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5. Version commit. Device: commit the new bank as active. App: final check via version register read-back. Failure: retry or report failure on version mismatch.</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Precondition guards: device-side flash conditions (battery SOC, grid state) are TBD. The update is blocked when the iPhone battery is below TBD %.</a:t>
            </a:r>
            <a:endParaRPr/>
          </a:p>
        </p:txBody>
      </p:sp>
      <p:sp>
        <p:nvSpPr>
          <p:cNvPr id="1139" name="Google Shape;1139;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3" name="Google Shape;120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설정전 기록, 재시작/복구 시 중복 동기화 방지: </a:t>
            </a:r>
            <a:r>
              <a:rPr lang="en-US" sz="1200">
                <a:solidFill>
                  <a:schemeClr val="dk1"/>
                </a:solidFill>
              </a:rPr>
              <a:t>임시 비밀번호 설정 후 BLE Payload에 인증키 포함해서 보안 강화, 복구시 재시도, </a:t>
            </a:r>
            <a:r>
              <a:rPr lang="en-US" sz="1200">
                <a:solidFill>
                  <a:schemeClr val="dk1"/>
                </a:solidFill>
              </a:rPr>
              <a:t>중복 UUID로 요청시 서버에서 무시</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 3.3, and the Transaction Sync row of section 3.4.</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Configuration changes on Run devices are protected by per-command one-time authentication, and cloud updates are applied without duplicates via unique UUIDs.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Authenticated one-shot write. Packet structure: [Register ID][Parameter Payload][OTP Suffix (time-based)]. When changing settings in Run state, a time-based OTP token derived from the Temporary Installer Password is appended as a suffix and sent as a single packet. The device applies only that one command when OTP verification succeeds; no session-level permission is retained. The result is confirmed by reading back the same register right after the write. The OTP suffix is omitted in Incomplete state.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OTP rules: time step TBD seconds, tolerance plus or minus one step, temporary device-side lockout after TBD consecutive failures. The device clock is checked when reading device data, considering device conditions at remote sites.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UUID-based cloud post-sync. A unique UUID is issued when a configuration succeeds, and changes are persisted in local storage (retained across app termination and reboot). Changes are uploaded sequentially when NWPathMonitor detects that internet connectivity is restored. The server returns the existing result without re-applying when the same UUID is received again. Retries use an increasing timeout on failure; unsynced status is shown in the Dashboard list.</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Restart recovery. Transactions are tracked as Pending, Applied, Synced (or Failed), and recorded as Pending just before the write is sent. On relaunch, Pending entries are resolved to Applied or Failed by read-back comparison on the next device connection. Applied entries upload automatically when the network returns; re-uploads never double-apply thanks to the same UUID.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Transaction Sync API errors: 401 refreshes the token, 409 is treated as success, 5xx backs off.</a:t>
            </a:r>
            <a:endParaRPr/>
          </a:p>
        </p:txBody>
      </p:sp>
      <p:sp>
        <p:nvSpPr>
          <p:cNvPr id="1204" name="Google Shape;1204;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5" name="Google Shape;126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Mock을 통한 가상 Bluetooth 환경 구축: 시나리오/실패 유형 별 작동 검증. 전력망/발전 설비 시뮬레이터를 통한 실물 기기(폰)에서 작동 검증</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sections 4.1 and 4.2.</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Emulation and virtual operation. A register-level mock is built to verify state transitions and UI constraints automatically, without hardware. A mock implementation of the BLETransport protocol holds a virtual device data dictionary. The iOS Simulator does not support real BLE, so the full flow runs with the mock injected, swapped via the -UITestMockBLE launch argument. The mock reproduces the Energy Policy Standby to Time-based transition responses and the Incomplete to Run transition followed by OTP-required responses. Fault injection options: response delay, no response, disconnection.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UT-01 Enter Pricing in Energy Policy Standby state: menu disabled.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UT-02 Enter Pricing after switching to Time-based mode: per-kWh rate input form enabled.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UT-03 Touch the screen while reading data on detail entry: all input blocked.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UT-04 Enter an Incomplete device: password step bypassed.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UT-05 Execute Apply: state changes to Run, OTP required on re-entry.</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UT-06 NMI No Re-fetch action: server value re-injected via the lookup picker.</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UT-07 Network restored after offline configuration: single upload from persistent storage, no duplicates.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Real hardware verification. Power safety behavior and wireless variables that the mock cannot verify are validated in a test environment: real CORE Pro device, grid simulator or breaker-based grid disconnection, PV simulator, RF attenuator and shielded box, iPhone device farm (multiple models and versions).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1 Off-Grid ON, grid cut: automatic EPS switchover, standalone on solar and battery.</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2 Off-Grid OFF, grid cut: Error halt, Error state shown in the app.</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3 EPS running, grid restored: grid reconnection and return to Run.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4 During flashing, device power cut: rollback to the previous bank after reboot.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5 RSSI boundary, attenuator attenuation: connection allowed or blocked per threshold policy.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EPS switchover time criterion: finalized as TBD ms once the hardware spec is available.</a:t>
            </a:r>
            <a:endParaRPr/>
          </a:p>
        </p:txBody>
      </p:sp>
      <p:sp>
        <p:nvSpPr>
          <p:cNvPr id="1266" name="Google Shape;1266;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9" name="Google Shape;1329;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가정 사항: 앱은 서버에서 내려주는 작업을 소비 - 가벼운 로컬 데이터 - 수동 추가 예외 시 동기화 필요. 계량기, 설치 위치(Home), 발전 설비가 모두 1:1 대응. </a:t>
            </a:r>
            <a:endParaRPr sz="1200">
              <a:solidFill>
                <a:schemeClr val="dk1"/>
              </a:solidFill>
            </a:endParaRPr>
          </a:p>
          <a:p>
            <a:pPr indent="0" lvl="0" marL="0" marR="0" rtl="0" algn="l">
              <a:spcBef>
                <a:spcPts val="0"/>
              </a:spcBef>
              <a:spcAft>
                <a:spcPts val="0"/>
              </a:spcAft>
              <a:buNone/>
            </a:pPr>
            <a:r>
              <a:rPr lang="en-US" sz="1200">
                <a:solidFill>
                  <a:schemeClr val="dk1"/>
                </a:solidFill>
              </a:rPr>
              <a:t>대가: 실시간 상태 조회 -  자주하면 값이 최신, but 장비에 부하 가능, foreground일 때만 조회. 설비 스캔시 신호 강도 제한 혼선 방지. </a:t>
            </a:r>
            <a:endParaRPr sz="1200">
              <a:solidFill>
                <a:schemeClr val="dk1"/>
              </a:solidFill>
            </a:endParaRPr>
          </a:p>
          <a:p>
            <a:pPr indent="0" lvl="0" marL="0" marR="0" rtl="0" algn="l">
              <a:spcBef>
                <a:spcPts val="0"/>
              </a:spcBef>
              <a:spcAft>
                <a:spcPts val="0"/>
              </a:spcAft>
              <a:buNone/>
            </a:pPr>
            <a:r>
              <a:rPr lang="en-US" sz="1200">
                <a:solidFill>
                  <a:schemeClr val="dk1"/>
                </a:solidFill>
              </a:rPr>
              <a:t>리스크 &amp; 대책: 자체 Wi-Fi 불가 - BLE로 전송, 재방문 요청 기록. 비 전령망 - 임시 ID로 시운전, 하드웨어 프로토콜 미정의 - 통신 Layer 격리</a:t>
            </a:r>
            <a:br>
              <a:rPr lang="en-US" sz="1200">
                <a:solidFill>
                  <a:schemeClr val="dk1"/>
                </a:solidFill>
              </a:rPr>
            </a:br>
            <a:r>
              <a:rPr lang="en-US" sz="1200">
                <a:solidFill>
                  <a:schemeClr val="dk1"/>
                </a:solidFill>
              </a:rPr>
              <a:t>질문: Serial No는 BLE 장비 이름에 정확히 매칭 or 축약형? 임시 비밀번호는 누가 만드는거 얼마나 유효기간, 알고리즘? 펌웨어 크기 전송속도 기준? 테스트 대상 여부는 어디서 결정? 비전령망 설정은 운행 상태에 영향을 줄 수 있나?</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 5.</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Assumptions.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Externalized scheduling: work assignment and scheduling are owned by the HQ system; the app only consumes the work list and has no schedule editing. Impact: reduced app scope and simpler offline handling, but on-site schedule changes depend on server re-sync.</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NMI No primary key binding: NMI is a unique identifier per metering point; NMI No, Site and ESS are bound 1:1:1 and used as the primary key. To verify: whether multiple ESS units are installed under the same NMI; if so, switch to a composite key (NMI No + Serial No).</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Trade-offs.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Limiting real-time metering polling: high-frequency polling (1 s) gives a real-time feel but delays configuration changes and loads the device MCU; low-frequency polling (TBD s) is the opposite. Adopted: poll only while the metering screen is in the foreground, pause polling while configuration commands are pending, stop immediately on entering background.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Dynamic RSSI guard relaxation combined with MFA: rooftop and exterior-wall installations inevitably have low RSSI due to distance and shielding between installer and device. A fixed threshold blocks legitimate field work, while unlimited acceptance risks connecting to a neighbor's device. Adopted: the minimum signal strength is relaxed step by step according to identity verification strength. Level 1, Local Name matching: default TBD dBm. Level 2, Local Name + barcode / QR scan: relaxed TBD dBm. Level 3, Level 2 + one-shot OTP: write allowed.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Risks.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1. ESS built-in Wi-Fi failure: long-term non-Wifi state. Mitigation: the app collects accumulated device logs over BLE during installer visits and uploads them on the device's behalf; the server creates a revisit work order automatically when the threshold is exceeded. Open issue: device internal log buffer capacity and retention period.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2. Mandatory NMI No for fully off-grid remote households: they may have no NMI No, so configuration cannot be completed under the current Apply rules. Improvement: the backend auto-fills an Off-Grid-only temporary identifier; such units are isolated from the settlement pipeline; the key is replaced server-side once an official NMI is issued.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3. Missing hardware spec: Service UUID, Local Name format, register map and OTP algorithm are not yet defined. Mitigation: isolated behind the BLETransport protocol boundary, so only the Data layer changes once the spec is final.</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Open questions.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Does the Local Name contain the full Serial No, or a shortened form?</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Who issues the Temporary Installer Password, what is its validity period, and which OTP algorithm is used?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What are the firmware binary size and the built-in Wi-Fi transfer speed baseline?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Is the authority to switch Test Site to commercial operation with the installer or with HQ?</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Is changing the Off-Grid setting allowed in Run state?</a:t>
            </a:r>
            <a:endParaRPr/>
          </a:p>
        </p:txBody>
      </p:sp>
      <p:sp>
        <p:nvSpPr>
          <p:cNvPr id="1330" name="Google Shape;1330;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8" name="Google Shape;139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서버 API 6가지: 작업 명령 받기, 계량기 받기/찾기, 임시 비밀번호 발급, 펌웨어 다운로드, 이력 동기화, 예외 로그 전송</a:t>
            </a:r>
            <a:endParaRPr sz="1200">
              <a:solidFill>
                <a:schemeClr val="dk1"/>
              </a:solidFill>
            </a:endParaRPr>
          </a:p>
          <a:p>
            <a:pPr indent="0" lvl="0" marL="0" marR="0" rtl="0" algn="l">
              <a:spcBef>
                <a:spcPts val="0"/>
              </a:spcBef>
              <a:spcAft>
                <a:spcPts val="0"/>
              </a:spcAft>
              <a:buNone/>
            </a:pPr>
            <a:r>
              <a:rPr lang="en-US" sz="1200">
                <a:solidFill>
                  <a:schemeClr val="dk1"/>
                </a:solidFill>
              </a:rPr>
              <a:t>호환성 지원 대상: 설비 프로토콜 버전, 펌웨어 버전, 서버에서 지원하는 버전, 설비 버전, 서버 API 버전</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Backup for T5, T6 and T8. Source: design document section 3.4.</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Backend APIs.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Work Order fetch: pre-sync after login. On failure use the last local cache and show the sync time.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NMI Lookup: pre-sync, re-fetch when online. Offline allows preloaded values only.</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Installer Password issuance: pre-sync, per job. Prompt online reissue when expired.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Firmware binary + metadata: pre-sync. Re-download on checksum mismatch.</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Transaction Sync: when the network returns. 401 refreshes the token, 409 is treated as success, 5xx backs off.</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Exception entry log: after Install Wizard use. Sent through the outbox like transactions.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Version compatibility.</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Read the device protocol version right after connecting and compare it with the app's supported range (Min to Max).</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Device too old: block configuration writes and prompt a firmware update. Device too new: require an app update.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Register map differences by version are managed via a capability table in server Remote Config; no app release needed.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Firmware metadata includes the supported HW revision and mandatory intermediate versions, to block skip-updates.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Backend APIs are pinned by URL version (/v1); a forced app update applies below the minimum app version.</a:t>
            </a:r>
            <a:endParaRPr/>
          </a:p>
        </p:txBody>
      </p:sp>
      <p:sp>
        <p:nvSpPr>
          <p:cNvPr id="1399" name="Google Shape;1399;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4" name="Google Shape;1444;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BLE 명령에 4가지 안전망: UI 조작 차단, 연결내 중복 명령 방지, 비동기 명령 실행, 스레드 안전 확보</a:t>
            </a:r>
            <a:endParaRPr sz="1200">
              <a:solidFill>
                <a:schemeClr val="dk1"/>
              </a:solidFill>
            </a:endParaRPr>
          </a:p>
          <a:p>
            <a:pPr indent="0" lvl="0" marL="0" marR="0" rtl="0" algn="l">
              <a:spcBef>
                <a:spcPts val="0"/>
              </a:spcBef>
              <a:spcAft>
                <a:spcPts val="0"/>
              </a:spcAft>
              <a:buNone/>
            </a:pPr>
            <a:r>
              <a:rPr lang="en-US" sz="1200">
                <a:solidFill>
                  <a:schemeClr val="dk1"/>
                </a:solidFill>
              </a:rPr>
              <a:t>민감 데이터: 설치 기사 인증 토큰, 갱신 토큰, 임시 비밀번호, 작업 대상(고객, 위치)</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Backup for T3 and T5. Source: design document sections 2.1 and 2.2.</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Modal UI lock guard: the screen is blocked with fullScreenCover while device data I/O is in progress. .allowsHitTesting(false) and .interactiveDismissDisabled() are applied to child views. The lock is released with a retry option after a TBD-second timeout in case the device does not respond. Session-level exclusive access goes through actor DeviceSession; duplicate commands within the same session are rejected at the command queue.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Async-await based BLE communication: CoreBluetooth delegate callbacks are converted to CheckedThrowingContinuation. The pending continuation is limited to one per characteristic to prevent a double resume. All pending continuations are thrown at once on disconnect.</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State streams and thread safety: connection state, RSSI and real-time metering are published via Combine CurrentValueSubject; the command execution path is separated from the observation path. CBCentralManager runs on a dedicated serial DispatchQueue; GATT writes are serialized through an actor-internal queue.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Sensitive data. Installer auth token: Keychain, kSecAttrAccessibleWhenUnlockedThisDeviceOnly + .biometryCurrentSet. Refresh token: Keychain, kSecAttrAccessibleAfterFirstUnlockThisDeviceOnly. Temporary installer password: memory only, never persisted, discarded immediately after use. Work order data: local DB, Data Protection .complete.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Security principles: the ThisDeviceOnly attribute blocks iCloud Keychain sync and backup restore. The token is invalidated automatically by .biometryCurrentSet when biometrics are re-enrolled. Serial No, NMI No and passwords are masked in logs and crash reports.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four guards are listed side by side. The design document does not fix their call order.</a:t>
            </a:r>
            <a:endParaRPr/>
          </a:p>
        </p:txBody>
      </p:sp>
      <p:sp>
        <p:nvSpPr>
          <p:cNvPr id="1445" name="Google Shape;1445;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7" name="Google Shape;1477;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기술 설계서: 안드로이드 버전</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Android edition of the technical design exercise for RFP QCELLS-MOBILE-RFP-2026-09-25, section 6. This deck does not repeat the common design. Workflow, device states, confirmed behaviors, the command contract, version rules, the one-shot OTP write and the transaction journal are in pages T1 to T10 and apply to Android unchanged. Pages A1 to A9 cover only what is specific to Android. Page AB1 is backup.</a:t>
            </a:r>
            <a:endParaRPr/>
          </a:p>
        </p:txBody>
      </p:sp>
      <p:sp>
        <p:nvSpPr>
          <p:cNvPr id="1478" name="Google Shape;1478;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4" name="Google Shape;1484;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Layer 분리 정책은 iOS와 동일, 권한 요청, Foreground Service 등 Platform 특성에 따른 구현</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Purpose: show what carries over from the iOS design and where Android needs its own design.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Layer by layer. The three-layer split of T5 (UI, Domain, Data) is kept. The Domain layer holds the state transition rules, the permission policy and the Pricing availability rule: these are platform-neutral and are re-implemented in Kotlin against the same scenarios UT-01 to UT-07. The UI layer and the Data layer are rebuilt with the native Android counterparts behind the same interfaces (BLETransport, SoftAPTransport).</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Android-specific building blocks. Where the iOS design needs a single setting or call (isIdleTimerDisabled, NWPathMonitor, the ThisDeviceOnly attribute, two permissions), Android needs a designed component: a permission gate that depends on the Android version (A2), a foreground service that keeps the firmware session alive (A5), a WorkManager outbox for uploads (A6), and backup and screen-capture rules (A7).</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Page by page. T1 and T2 do not change. T3: the single command queue becomes mandatory (A3) and the modal UI lock is implemented differently (A5). T4: the recovery rules stay; the detection signals are Android callbacks (A3, A4, A5) and the cloud sync retry runs in WorkManager (A6). T5: the layers stay (A1), storage protection differs (A7). T6: permissions and the GATT client behave differently (A2, A3). T7: the Wi-Fi join API and the keep-alive differ (A4, A5). T8: the journal stays, the upload runs in WorkManager (A5, A6). T9: test injection and added scenarios (A8). T10: Android assumptions, risks and questions (A9).</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Status: every Android item in this deck is a proposed design. The source design document covers iOS. RFP section 6.1 asks vendors to separate observed behavior from assumptions, so an Android Demo walk-through by the Android candidate is still to be confirmed.</a:t>
            </a:r>
            <a:endParaRPr/>
          </a:p>
        </p:txBody>
      </p:sp>
      <p:sp>
        <p:nvSpPr>
          <p:cNvPr id="1485" name="Google Shape;1485;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4" name="Google Shape;1564;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안드로이드에서 설치기사가 처음 스캔하기까지 받아야할 권한: OS 버전에 따라 추가 권한 필요</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Purpose: on Android the prerequisites before a BLE scan and a firmware transfer depend on the OS version. The iOS design has no equivalent page.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BLE scan and connect. Android 11 (API 30) and lower: BLUETOOTH and BLUETOOTH_ADMIN in the manifest, plus the ACCESS_FINE_LOCATION runtime permission, because a Bluetooth scan could be used to derive location. On Android 10 and 11 the documentation adds that an app that discovers Bluetooth devices from a service must also hold ACCESS_BACKGROUND_LOCATION. The design avoids that permission: on Android 10 and 11 the app scans only while it is visible. This matters for the rescan after the firmware reboot (T7, stage 4): if the installer has left the app, the rescan waits until the app is visible again, or the app reconnects by device address without a scan (A3). Android 12 (API 31) and higher: the runtime permissions BLUETOOTH_SCAN and BLUETOOTH_CONNECT (shown to the user as 'Nearby devices'). BLUETOOTH_SCAN is declared with usesPermissionFlags=neverForLocation, so no location permission is needed; the documented side effect is that some BLE beacons are filtered from scan results. Legacy permissions are declared with maxSdkVersion 30.</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Temporary Wi-Fi join. Android 10 (API 29) and higher: WifiNetworkSpecifier with ConnectivityManager.requestNetwork; the system shows an approval dialog. Android 9 and lower would need the legacy WifiManager path; it applies only if the minSdk of the existing app is below 29, which is to be confirmed.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Session keep-alive. A foreground service keeps the firmware session running (A5). Android 13 (API 33) and higher: the POST_NOTIFICATIONS runtime permission decides whether its notification is shown. Android 14 (API 34) and higher: a service type must be declared; type connectedDevice needs FOREGROUND_SERVICE_CONNECTED_DEVICE and at least one of the listed prerequisites, for example a granted BLUETOOTH_CONNECT. The type is also declared in the Play Console.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Barcode scan. CAMERA runtime permission, or the Google code scanner, which needs no camera permission but is delivered by Google Play services and must be downloaded before first use.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Google Play. Since 31 August 2026, new apps and app updates must target Android 16 (API 36).</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Preflight gate. One component checks the prerequisites for the running OS version and returns one state, 'ready to scan'. Each failed check has its own guidance. A permission can be permanently denied: starting in Android 11, denying it more than once means the system dialog is no longer shown; on Android 10 the user can tick 'Don't ask again'. In both cases the gate links to the app settings. On Android 11 and lower, Location services may also need to be switched on for scan results: this comes from field guidance (Punch Through), not from the Android documentation, and is to be validated on test devices.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Sources: developer.android.com/develop/connectivity/bluetooth/bt-permissions; developer.android.com/develop/connectivity/wifi/wifi-bootstrap; developer.android.com/develop/background-work/services/fgs/service-types; developer.android.com/training/permissions/requesting; developer.android.com/about/versions/11/privacy/permissions; support.google.com/googleplay/android-developer/answer/11926878; developers.google.com/ml-kit/vision/barcode-scanning/code-scanner; punchthrough.com/android-ble-scan-errors.</a:t>
            </a:r>
            <a:endParaRPr/>
          </a:p>
        </p:txBody>
      </p:sp>
      <p:sp>
        <p:nvSpPr>
          <p:cNvPr id="1565" name="Google Shape;1565;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1" name="Google Shape;1631;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명령 대기열 필수: 결과 받기 전에 다른 명령을 날리면 GATT 오류 발생. 자체 대기열 필요. 연결 재시도 x2배 지연 정책. 30초내 스캔 결과 재활용. OS 분기는 로직 일원화</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Purpose: the device link of T6 keeps its rules (Serial No matching, version gate, command contract). What changes is how the Android GATT client behaves.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Connect sequence. 1. Scan with BluetoothLeScanner and a ScanFilter on the model Service UUID; read the Serial No from the advertised name and stop the scan on a match, as in T6. 2. connectGatt with autoConnect = false and the LE transport; the result arrives in onConnectionStateChange. 3. Request the MTU: on Android the app asks explicitly. From Android 14 the stack requests 517 on the first requestMtu call and ignores later ones, so chunk sizes are computed from the negotiated value, not from the requested one. 4. Discover services. The mapping of registers to characteristics is TBD with the register map. 5. Enable the events of T6 (state change, flash progress): after setCharacteristicNotification the app also writes the client characteristic configuration descriptor, one write per event characteristic. 6. Version handshake, then bulk read, as in T6.</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One operation at a time. The Android framework has no internal queue for GATT operations. The app must run them serially and wait for the callback of one operation before it starts the next. A characteristic or descriptor read or write issued while another is pending is rejected; the API 33 write method returns ERROR_GATT_WRITE_REQUEST_BUSY. Other operations (MTU request, service discovery) are not rejected by the framework, so the app's own queue is what keeps them in order. The single command queue that the iOS design chose (session-scoped queue, B2: actor DeviceSession, one pending continuation per characteristic) is therefore mandatory on Android. Proposed form: one coroutine consumes a queue (Mutex or Channel); each operation suspends with suspendCancellableCoroutine until its callback, bounded by the timeout of the T6 contract.</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Guards. Failed connection: always close() the BluetoothGatt, then retry within the T6 limit (2 times after rescan). Scan start budget: starting a scan more than five times in 30 seconds makes the system silently stop delivering results, so retries reuse one running scan. Address: Android exposes the remote device address, which iOS hides. The Serial No stays the single matching key so both platforms follow one rule. Within one session the address can be used to reconnect after the firmware reboot without a new scan, which also avoids the background-scan limit of Android 10 and 11 (A2); this works only if the ESS keeps its address across the reboot, which is an open question (A9). API split: Android 13 (API 33) replaced the write and notify calls with versions that carry the value; one wrapper keeps a single code path if minSdk is below 33.</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Sources: developer.android.com/develop/connectivity/bluetooth/ble/connect-gatt-server; developer.android.com/develop/connectivity/bluetooth/ble/transfer-ble-data; developer.android.com/about/versions/14/behavior-changes-all (MTU 517); AOSP BluetoothGatt source and the change 'Deprecate GATT callbacks and methods that were not memory safe' (API 33); punchthrough.com/android-ble-guide and punchthrough.com/android-ble-scan-errors (operation queue, scan limit).</a:t>
            </a:r>
            <a:endParaRPr/>
          </a:p>
        </p:txBody>
      </p:sp>
      <p:sp>
        <p:nvSpPr>
          <p:cNvPr id="1632" name="Google Shape;1632;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3" name="Google Shape;1713;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앱이 설비 Wi-Fi 기동 요청, 기사가 연결 허용. Wi-Fi 통해서 설비에 Socket 연결. 매연결 시 물어봄. 하위 Android 버전 대응 여부 확인. http 사용 시 예외 설정 필요.</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Purpose: the firmware lifecycle of T7 is unchanged (five stages on dual-bank flash). What changes is how the phone joins the temporary Wi-Fi of the ESS.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Sequence. 1. The app sends the BLE wake-up command. 2. The ESS returns a one-time SSID and passphrase over BLE. 3. The app builds a WifiNetworkSpecifier and calls ConnectivityManager.requestNetwork (Android 10, API 29, and higher). 4 and 5. The system shows a dialog and the installer approves the connection. 6. NetworkCallback.onAvailable delivers a Network object. 7. The app sends the firmware chunks through sockets bound to that Network. 8. When the transfer ends the app calls unregisterNetworkCallback and the network is released; the device also shuts its Wi-Fi down, as in T7.</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If the installer declines the dialog or the connection fails, onUnavailable is called. This maps to the 'SoftAP join failure' rule of T4: retry once, then request the BLE wake-up again and have the SSID reissued.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Differences from the iOS design (NEHotspotConfiguration with joinOnce). The Android documentation states that a connection created with this API does not provide an internet connection to the app or to the device. The app therefore sends the transfer through sockets bound to the Network it received. The system stores the user's approval for a particular access point and skips the dialog when the same app requests the same access point again. In this design the SSID is one-time, so the stored approval is not expected to apply and the installer is expected to approve at every update: to validate on devices. On Android 9 and lower the API does not exist; a legacy WifiManager path would be needed only if the minSdk of the existing app is below 29, which is to be confirmed. From Android 12, devices that support Wi-Fi STA/STA concurrency can keep their internet Wi-Fi connection while the local-only connection is up (WifiManager.isStaConcurrencyForLocalOnlyConnectionsSupported). If the ESS serves the transfer over plain HTTP, note that cleartext traffic is disabled by default for apps targeting Android 9 (API 28) and higher; a Network Security Config exception for the SoftAP host would then be needed, and its exact form is to be validated. The protocol on the SoftAP is an open question (A9).</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whole sequence runs inside the foreground service described on A5.</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Sources: developer.android.com/develop/connectivity/wifi/wifi-bootstrap; source.android.com/docs/core/connect/wifi-sta-sta-concurrency; developer.android.com/privacy-and-security/security-config.</a:t>
            </a:r>
            <a:endParaRPr/>
          </a:p>
        </p:txBody>
      </p:sp>
      <p:sp>
        <p:nvSpPr>
          <p:cNvPr id="1714" name="Google Shape;1714;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9" name="Google Shape;1769;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기기 회전, 백그라운드 진입, 앱 강제 종료, 재시작 시 유지 해야 하는 상태: UI는 잠그더라도 홈으로 가는 건 못 막음. 회전시 화면이 재생성됨. 권한 변경 등에 의해 프로세스가 죽을 수 있음.</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Purpose: on Android the screen can be recreated and the process can be killed while a commissioning or firmware session is running. The design places each piece of state in the holder that survives what it has to survive.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table. ViewModel: survives a configuration change (rotation, resize); destroyed by system-initiated process death. Saved state (SavedStateHandle, rememberSaveable): survives configuration change and system-initiated process death; held in memory by the system, for small values only; it is cleared when the user swipes the app away or force-stops it. DeviceSession: an app-scoped object, not tied to a screen, that owns the BLE link, the command queue and the firmware transfer, so rotation does not affect it. During a firmware update it runs inside a foreground service, which keeps the process alive while the installer is outside the app. Outside a firmware update there is no foreground service: if the app stays in the background the link can be lost, and the app reconnects and reads back as in T4. If the process is killed, the session is lost and the app recovers with the T4 rule. Room journal and markers: on disk, survive everything; they hold the Pending / Applied / Synced states of T8, the incomplete-Apply marker and the FW session marker of T4. WorkManager queue: persists across app restarts and device reboots (A6).</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Why Android needs this. 1. The modal UI lock of T3 can block Back and touches (non-dismissible dialog), but an app cannot block Home or Recents. The installer can always leave the screen, so the session must not live in the screen. 2. Rotation and window resizing recreate the screen. For apps targeting Android 16 (API 36), orientation, resizability and aspect-ratio restrictions no longer apply on displays with a smallest width of 600 dp or more, so locking the orientation is not a way out on tablets and foldables. 3. The system can kill a background process; revoking a permission in system settings also terminates the process. Recovery is the rule of T4: the marker saved before the operation, then a device read-back.</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During firmware. The transfer and the wait for reboot run in a foreground service of type connectedDevice. Apps targeting Android 12 or higher cannot start a foreground service from the background, so it is started while the app is visible, when the installer starts the update. FLAG_KEEP_SCREEN_ON on the UI lock screen is the counterpart of isIdleTimerDisabled in T7. The official BLE sample also hosts the GATT connection in a service rather than in the activity.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Sources: developer.android.com/topic/libraries/architecture/saving-states; developer.android.com/about/versions/16/behavior-changes-16; developer.android.com/training/permissions/requesting; developer.android.com/develop/background-work/services/fgs/service-types and .../fgs/restrictions-bg-start; developer.android.com/develop/connectivity/bluetooth/ble/connect-gatt-server.</a:t>
            </a:r>
            <a:endParaRPr/>
          </a:p>
        </p:txBody>
      </p:sp>
      <p:sp>
        <p:nvSpPr>
          <p:cNvPr id="1770" name="Google Shape;1770;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8" name="Shape 1828"/>
        <p:cNvGrpSpPr/>
        <p:nvPr/>
      </p:nvGrpSpPr>
      <p:grpSpPr>
        <a:xfrm>
          <a:off x="0" y="0"/>
          <a:ext cx="0" cy="0"/>
          <a:chOff x="0" y="0"/>
          <a:chExt cx="0" cy="0"/>
        </a:xfrm>
      </p:grpSpPr>
      <p:sp>
        <p:nvSpPr>
          <p:cNvPr id="1829" name="Google Shape;1829;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0" name="Google Shape;1830;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앱을 열지 않고 업로드(이력 동기화) 가능: 작업 관리자에 의해 수행. 앱에서도 여전히 동기화 상태 확인 가능</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Purpose: the journal and the UUID rule of T8 are unchanged. What changes is who triggers the upload.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iOS design (T8): changes are uploaded sequentially when NWPathMonitor detects that connectivity is restored.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Android: when a transaction becomes Applied, the app enqueues unique work in WorkManager with a network constraint. WorkManager stores scheduled work in its own database and persists it across app restarts and device reboots. When a network is available the system starts the worker, without the installer reopening the app. The worker reads the Applied transactions from the Room journal in order and calls Transaction Sync with the UUID of each change.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Outcomes follow T8 and the Transaction Sync row of B1: success marks the transaction Synced; 409 (duplicate) is treated as success; 401 refreshes the token and repeats the call; a 5xx or a network error returns a retry, and WorkManager applies its exponential backoff policy, which matches 'retry with increasing timeout' in T4. The worker has no user in front of it, so it authenticates through the refresh token, whose key needs no user authentication (A7).</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Why the UUID rule matters more here: a worker can be retried or re-run, so the same change can be sent more than once. The server returns the existing result for a UUID it has already seen, so a repeat is harmless.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Unique work keeps a single upload chain: enqueuing again while one is pending does not start a second upload, which preserves the order of changes.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Unsynced status stays visible in the Dashboard list, as in T8.</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Limits. After a phone restart the worker runs only once the phone has been unlocked: apps do not run in Direct Boot mode and WorkManager cannot be used there. A force stop by the user cancels scheduled work until the app is opened again. If the journal were placed in a database encrypted with an unlocked-device key (A7), the upload could also run only while the phone is unlocked; that is part of the same decision. To validate on installer phones: how long background work is deferred under battery saver.</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Sources: developer.android.com/develop/background-work/background-tasks/persistent (WorkManager); developer.android.com/privacy-and-security/direct-boot; AOSP WorkManager source (force stop handling).</a:t>
            </a:r>
            <a:endParaRPr/>
          </a:p>
        </p:txBody>
      </p:sp>
      <p:sp>
        <p:nvSpPr>
          <p:cNvPr id="1831" name="Google Shape;1831;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0" name="Google Shape;1900;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1:1 토큰 보호 외 추가 사항: 캡쳐 방지, 데이터 암호화를 하려면 기기(폰) 잠금해제 필요. 자동 백업하지 않도록 설정하여 기기 교체 대응</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Purpose: map each protection of the iOS design (T5 and B2) to Android and show where Android needs an extra control.</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1. Installer auth token. iOS: Keychain, kSecAttrAccessibleWhenUnlockedThisDeviceOnly plus .biometryCurrentSet. Android: the token is encrypted with an Android Keystore key that requires user authentication. Keystore key material is non-exportable and never enters the application process. A key that only supports biometric credentials is invalidated by default whenever a new biometric is enrolled, which mirrors .biometryCurrentSet. Equivalent.</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2. Refresh token. iOS: Keychain, kSecAttrAccessibleAfterFirstUnlockThisDeviceOnly. Android: a Keystore key without a user-authentication requirement; the ciphertext sits in the app's default (credential encrypted) storage, which is available after the user has unlocked the device and until the next restart. Equivalent, and usable by the background upload of A6.</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3. Temporary installer password. Memory only on both platforms, never persisted, discarded after use. Android adds FLAG_SECURE on the screens that show it, which keeps the window out of screenshots and non-secure displays.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4. Work order data. iOS: local database with Data Protection .complete. Android has no built-in equivalent: the app's default storage remains available while the device is locked, once it has been unlocked after boot. To match .complete, the database would be encrypted in the app with a key that is authorized only while the device is unlocked (setUnlockedDeviceRequired). The API documentation lists defects of this setting on Android 12 to 14 and says apps can avoid them by using it only on Android 15 and higher; its behavior on Android 10 and 11 is to validate. A consequence: if the journal sits in that database, the background upload of A6 can run only while the phone is unlocked. Whether work order data needs this level on Android is a decision for Qcells security (A9).</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5. ThisDeviceOnly. On iOS it blocks iCloud Keychain sync and backup restore. On Android, Keystore keys never leave the device, but app files (shared preferences, databases, internal files) join Auto Backup by default for apps targeting Android 6 or higher, up to 25 MB per app, and device-to-device transfer. The design therefore excludes the database, the journal and the token files with backup rules: dataExtractionRules for Android 12 and higher, fullBackupContent for Android 11 and lower. Setting allowBackup to false is not enough on its own: for apps targeting Android 12 or higher it may not disable device-to-device transfer on some manufacturers' devices.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Note: Jetpack Security (EncryptedSharedPreferences) is deprecated since 2025 in favour of direct use of Android Keystore, so the design uses Keystore directly.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Sources: developer.android.com/privacy-and-security/keystore; KeyGenParameterSpec.Builder.setUnlockedDeviceRequired (Android API reference, AOSP documentation); developer.android.com/privacy-and-security/direct-boot; developer.android.com/identity/data/autobackup; developer.android.com/jetpack/androidx/releases/security.</a:t>
            </a:r>
            <a:endParaRPr/>
          </a:p>
        </p:txBody>
      </p:sp>
      <p:sp>
        <p:nvSpPr>
          <p:cNvPr id="1901" name="Google Shape;1901;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6" name="Google Shape;1946;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테스트 유형 분류: OS 별 다른 동작, 앱 강제 종료 시 동작 확인, 테스트 시 시험용 BLE 모듈로 교체, 권한 거절, BLE 통신 중 회전 등 OS 특성 테스트 추가. OS 별 추가 테스트</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Purpose: the test approach of T9 stays (register-level mock for logic, hardware bench for power and radio). This page lists what Android adds.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Same logic tests, Android injection. The fake implementation of the BLETransport interface, with the virtual device data dictionary and the fault injection options of T9 (response delay, no response, disconnection), is injected through a dependency-injection test module (Hilt) where the iOS design uses the -UITestMockBLE launch argument. UT-01 to UT-07 run unchanged. Logic tests run on the JVM and on the emulator with the fake transport; the real radio is exercised on the bench.</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Android-only scenarios.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AT-01 Permission permanently denied: the preflight gate links to app settings (A2).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AT-02 Bluetooth switched off during a session: the UI lock is released and the reconnect path of T4 runs.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AT-03 Rotation during bulk read: the UI lock and the session are unaffected (A5).</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AT-04 Process killed during Apply: the incomplete marker is found on relaunch and the device state is read back (T4).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AT-05 Process killed during flash: the FW session marker is found and the device version is read back (T4).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AT-06 Wi-Fi approval dialog declined: retry once, then a new BLE wake-up (A4).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AT-07 Phone restarted with unsynced changes: one upload after the phone is unlocked, no duplicates (A6).</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How process death is injected. In debug builds a hook ends the app process at a chosen step, for example right after the Apply marker is written or during a firmware chunk; the other method is 'adb shell am force-stop'. 'adb shell am kill' is not enough for these cases: it only kills processes that are safe to kill, so it does not end a process that is visible or runs a foreground service. A force stop is the harsher case, because it also clears saved state and cancels scheduled work (A5, A6); both methods are run.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Device matrix. At least one phone per OS band, because each band takes a different path: Android 11 and lower (location permission path; on Android 10 and 11 the app scans only while it is visible), Android 12 (nearby devices permission), Android 13 (notification permission, API 33 GATT calls), Android 14 (foreground service type, MTU request always 517), Android 15 (unlocked-device key, if Qcells security adopts it, A7), Android 16 (for apps targeting API 36, orientation restrictions are ignored on large screens, A5; a tablet or foldable covers this case). The phone models per band are to be agreed with Qcells from installer fleet data. The hardware bench is the one of T9 (real CORE Pro device, grid and PV simulators, RF attenuator), with Android phones added to the phone farm.</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Sources: bands follow A2, A3, A5 and A7; scenarios follow T4, T8 and A2 to A6; adb behavior from developer.android.com/tools/adb.</a:t>
            </a:r>
            <a:endParaRPr/>
          </a:p>
        </p:txBody>
      </p:sp>
      <p:sp>
        <p:nvSpPr>
          <p:cNvPr id="1947" name="Google Shape;1947;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0" name="Google Shape;2000;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안드로이드에서 가정한 것 대가, 결정 사항: 최저 지원 Android 버전 10으로 가정, Compose와 Coroutine 사용할건데 필요 시 현재 앱 코드 따름, pairing은 하지 않는 다고 가정. 대가: GATT을 위한 대기열을 만들건지 라이브러리 쓸건지, paring하면 위치 권한 요청 회피 가능, DB를 자체 암호화할 건지 OS에서 지원하는 것만 쓸건지. </a:t>
            </a:r>
            <a:endParaRPr sz="1200">
              <a:solidFill>
                <a:schemeClr val="dk1"/>
              </a:solidFill>
            </a:endParaRPr>
          </a:p>
          <a:p>
            <a:pPr indent="0" lvl="0" marL="0" marR="0" rtl="0" algn="l">
              <a:spcBef>
                <a:spcPts val="0"/>
              </a:spcBef>
              <a:spcAft>
                <a:spcPts val="0"/>
              </a:spcAft>
              <a:buNone/>
            </a:pPr>
            <a:r>
              <a:rPr lang="en-US" sz="1200">
                <a:solidFill>
                  <a:schemeClr val="dk1"/>
                </a:solidFill>
              </a:rPr>
              <a:t>위험과 대응책: 기기 제조사 마다 BLE 차이점 - OS마다 실기기로 직접 테스트, 백그라운드 제한(절전 모드) - 펌웨어 하는 동안 Foreground 필수, 복구/동기화 상태 구현, Wi-Fi 연결 매번 승인 요청(귀찮음?) - 상세한 설명</a:t>
            </a:r>
            <a:endParaRPr sz="1200">
              <a:solidFill>
                <a:schemeClr val="dk1"/>
              </a:solidFill>
            </a:endParaRPr>
          </a:p>
          <a:p>
            <a:pPr indent="0" lvl="0" marL="0" marR="0" rtl="0" algn="l">
              <a:spcBef>
                <a:spcPts val="0"/>
              </a:spcBef>
              <a:spcAft>
                <a:spcPts val="0"/>
              </a:spcAft>
              <a:buNone/>
            </a:pPr>
            <a:r>
              <a:rPr lang="en-US" sz="1200">
                <a:solidFill>
                  <a:schemeClr val="dk1"/>
                </a:solidFill>
              </a:rPr>
              <a:t>큐셀에 궁금한거: 현재 최저 SDK와 배포 SDK, 현재 사용 Stack, 현재 paring 사용하는지, 설비가 재시작되어도 BLE 주소는 유지되는지, Wi-Fi 통신에 어떤 프로토콜 쓰는지, 기사들이 현재 쓰는 기종, OS 버전</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Purpose: the Android-specific additions to T10. Everything in T10 still applies.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Assumptions.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1. minSdk is Android 10 (API 29) or later, so WifiNetworkSpecifier is the only Wi-Fi join path. The minSdk of the existing Qcells Android app is not known to us: to confirm. If it is lower, a legacy Wi-Fi path is added (A4).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2. The engagement works in the existing Qcells Android codebase (RFP section 3.1). Compose, coroutines and Hilt are our defaults for this design; in delivery we follow the stack the codebase already uses.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3. The iOS design does not mention LE pairing or bonding. We assume the ESS requires none: writes in Run state are protected by the one-shot OTP (T8), not by a bond. To confirm with Qcells firmware.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Trade-offs.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1. Own GATT queue or a BLE library. Writing the queue on the platform API gives full control and no dependency; a library brings a ready-made queue and retries. Adopted: whatever the Qcells codebase already uses; otherwise the platform API behind BLETransport.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2. BLE scanner or companion device pairing. On Android 8 and higher, companion device pairing scans on behalf of the app without the ACCESS_FINE_LOCATION permission and can filter by a name pattern. The gain is limited to Android 11 and lower, because from Android 12 the scanner needs no location permission either (A2). Associations persist until the app calls disassociate, which an installer app that meets many devices would have to clean up. Adopted: the scanner, so both platforms follow one matching rule.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3. Database encryption in the app or the platform default. App-level encryption with an unlocked-device key matches Data Protection .complete, but the documentation advises that key setting on Android 15 and higher only, it adds complexity, and background uploads would wait for an unlock (A6, A7). Open: decision with Qcells security.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Risks and mitigations.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1. BLE behavior differs between phone makers and chipsets. Mitigation: one phone per OS band on the bench (A8); the retry and read-back rules of T4 and T6.</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2. Background limits and battery savers can defer or stop background work. Mitigation: foreground service during firmware (A5); journal recovery; unsynced status stays visible (A6).</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3. The Wi-Fi approval dialog is expected at every update because the SSID is one-time. Mitigation: explain it before the dialog appears; a decline is handled as a SoftAP join failure (A4).</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Open questions for Qcells.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1. What are the minSdk and targetSdk of the existing Android app?</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2. Which stack does it use today: Compose or Views, which dependency injection, which BLE library?</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3. Does the ESS require LE pairing or bonding?</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4. Does the ESS keep the same BLE address across reboots? If it does, the app can reconnect after the firmware reboot without a new scan, which matters on Android 10 and 11 where the app scans only while it is visible (A2, A3).</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5. Which protocol runs over the SoftAP: HTTP, HTTPS or raw TCP? Plain HTTP needs a network security configuration exception on Android (A4).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6. Which Android phones and OS versions do installers use?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Sources: developer.android.com/develop/connectivity/bluetooth/companion-device-pairing; pages A2 to A8.</a:t>
            </a:r>
            <a:endParaRPr/>
          </a:p>
        </p:txBody>
      </p:sp>
      <p:sp>
        <p:nvSpPr>
          <p:cNvPr id="2001" name="Google Shape;2001;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6" name="Google Shape;2046;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47" name="Google Shape;2047;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Section Header">
  <p:cSld name="CMC Section Header">
    <p:spTree>
      <p:nvGrpSpPr>
        <p:cNvPr id="7" name="Shape 7"/>
        <p:cNvGrpSpPr/>
        <p:nvPr/>
      </p:nvGrpSpPr>
      <p:grpSpPr>
        <a:xfrm>
          <a:off x="0" y="0"/>
          <a:ext cx="0" cy="0"/>
          <a:chOff x="0" y="0"/>
          <a:chExt cx="0" cy="0"/>
        </a:xfrm>
      </p:grpSpPr>
      <p:pic>
        <p:nvPicPr>
          <p:cNvPr id="8" name="Google Shape;8;p3"/>
          <p:cNvPicPr preferRelativeResize="0"/>
          <p:nvPr/>
        </p:nvPicPr>
        <p:blipFill rotWithShape="1">
          <a:blip r:embed="rId2">
            <a:alphaModFix/>
          </a:blip>
          <a:srcRect b="0" l="0" r="0" t="0"/>
          <a:stretch/>
        </p:blipFill>
        <p:spPr>
          <a:xfrm>
            <a:off x="240" y="135"/>
            <a:ext cx="12191521" cy="6857731"/>
          </a:xfrm>
          <a:prstGeom prst="rect">
            <a:avLst/>
          </a:prstGeom>
          <a:noFill/>
          <a:ln>
            <a:noFill/>
          </a:ln>
        </p:spPr>
      </p:pic>
      <p:sp>
        <p:nvSpPr>
          <p:cNvPr id="9" name="Google Shape;9;p3"/>
          <p:cNvSpPr txBox="1"/>
          <p:nvPr/>
        </p:nvSpPr>
        <p:spPr>
          <a:xfrm>
            <a:off x="628864" y="6292403"/>
            <a:ext cx="1856598" cy="2593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85">
                <a:solidFill>
                  <a:schemeClr val="lt1"/>
                </a:solidFill>
                <a:latin typeface="Montserrat"/>
                <a:ea typeface="Montserrat"/>
                <a:cs typeface="Montserrat"/>
                <a:sym typeface="Montserrat"/>
              </a:rPr>
              <a:t>www.cmcglobal.com.vn</a:t>
            </a:r>
            <a:endParaRPr/>
          </a:p>
        </p:txBody>
      </p:sp>
      <p:pic>
        <p:nvPicPr>
          <p:cNvPr id="10" name="Google Shape;10;p3"/>
          <p:cNvPicPr preferRelativeResize="0"/>
          <p:nvPr/>
        </p:nvPicPr>
        <p:blipFill rotWithShape="1">
          <a:blip r:embed="rId3">
            <a:alphaModFix/>
          </a:blip>
          <a:srcRect b="-8863" l="-4956" r="-6463" t="1"/>
          <a:stretch/>
        </p:blipFill>
        <p:spPr>
          <a:xfrm>
            <a:off x="445122" y="565598"/>
            <a:ext cx="3108522" cy="661498"/>
          </a:xfrm>
          <a:prstGeom prst="rect">
            <a:avLst/>
          </a:prstGeom>
          <a:noFill/>
          <a:ln>
            <a:noFill/>
          </a:ln>
        </p:spPr>
      </p:pic>
      <p:sp>
        <p:nvSpPr>
          <p:cNvPr id="11" name="Google Shape;11;p3"/>
          <p:cNvSpPr txBox="1"/>
          <p:nvPr>
            <p:ph idx="1" type="body"/>
          </p:nvPr>
        </p:nvSpPr>
        <p:spPr>
          <a:xfrm>
            <a:off x="628650" y="4074392"/>
            <a:ext cx="10959970" cy="221801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194"/>
              </a:spcBef>
              <a:spcAft>
                <a:spcPts val="0"/>
              </a:spcAft>
              <a:buClr>
                <a:schemeClr val="lt1"/>
              </a:buClr>
              <a:buSzPts val="5970"/>
              <a:buFont typeface="Arial"/>
              <a:buNone/>
              <a:defRPr b="0" i="0" sz="5970" u="none" cap="none" strike="noStrike">
                <a:solidFill>
                  <a:schemeClr val="lt1"/>
                </a:solidFill>
                <a:latin typeface="Montserrat ExtraBold"/>
                <a:ea typeface="Montserrat ExtraBold"/>
                <a:cs typeface="Montserrat ExtraBold"/>
                <a:sym typeface="Montserrat ExtraBold"/>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4246">
          <p15:clr>
            <a:srgbClr val="FBAE40"/>
          </p15:clr>
        </p15:guide>
        <p15:guide id="2" pos="8134">
          <p15:clr>
            <a:srgbClr val="FBAE40"/>
          </p15:clr>
        </p15:guide>
        <p15:guide id="3" pos="358">
          <p15:clr>
            <a:srgbClr val="FBAE40"/>
          </p15:clr>
        </p15:guide>
        <p15:guide id="4" orient="horz" pos="348">
          <p15:clr>
            <a:srgbClr val="FBAE40"/>
          </p15:clr>
        </p15:guide>
        <p15:guide id="5" orient="horz" pos="44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With BG">
  <p:cSld name="3_With BG">
    <p:spTree>
      <p:nvGrpSpPr>
        <p:cNvPr id="13" name="Shape 13"/>
        <p:cNvGrpSpPr/>
        <p:nvPr/>
      </p:nvGrpSpPr>
      <p:grpSpPr>
        <a:xfrm>
          <a:off x="0" y="0"/>
          <a:ext cx="0" cy="0"/>
          <a:chOff x="0" y="0"/>
          <a:chExt cx="0" cy="0"/>
        </a:xfrm>
      </p:grpSpPr>
      <p:sp>
        <p:nvSpPr>
          <p:cNvPr id="14" name="Google Shape;14;p5"/>
          <p:cNvSpPr/>
          <p:nvPr/>
        </p:nvSpPr>
        <p:spPr>
          <a:xfrm flipH="1">
            <a:off x="2" y="-10160"/>
            <a:ext cx="12191999" cy="6858000"/>
          </a:xfrm>
          <a:prstGeom prst="rect">
            <a:avLst/>
          </a:prstGeom>
          <a:gradFill>
            <a:gsLst>
              <a:gs pos="0">
                <a:srgbClr val="1D9AD6">
                  <a:alpha val="0"/>
                </a:srgbClr>
              </a:gs>
              <a:gs pos="100000">
                <a:srgbClr val="1D9AD6">
                  <a:alpha val="13725"/>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solidFill>
                <a:schemeClr val="lt1"/>
              </a:solidFill>
              <a:latin typeface="Calibri"/>
              <a:ea typeface="Calibri"/>
              <a:cs typeface="Calibri"/>
              <a:sym typeface="Calibri"/>
            </a:endParaRPr>
          </a:p>
        </p:txBody>
      </p:sp>
      <p:sp>
        <p:nvSpPr>
          <p:cNvPr id="15" name="Google Shape;15;p5"/>
          <p:cNvSpPr/>
          <p:nvPr/>
        </p:nvSpPr>
        <p:spPr>
          <a:xfrm rot="-5400000">
            <a:off x="5909233" y="580294"/>
            <a:ext cx="365760" cy="12199777"/>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latin typeface="Calibri"/>
              <a:ea typeface="Calibri"/>
              <a:cs typeface="Calibri"/>
              <a:sym typeface="Calibri"/>
            </a:endParaRPr>
          </a:p>
        </p:txBody>
      </p:sp>
      <p:pic>
        <p:nvPicPr>
          <p:cNvPr id="16" name="Google Shape;16;p5"/>
          <p:cNvPicPr preferRelativeResize="0"/>
          <p:nvPr/>
        </p:nvPicPr>
        <p:blipFill rotWithShape="1">
          <a:blip r:embed="rId2">
            <a:alphaModFix/>
          </a:blip>
          <a:srcRect b="0" l="0" r="0" t="0"/>
          <a:stretch/>
        </p:blipFill>
        <p:spPr>
          <a:xfrm>
            <a:off x="10761999" y="6555937"/>
            <a:ext cx="1119493" cy="243840"/>
          </a:xfrm>
          <a:prstGeom prst="rect">
            <a:avLst/>
          </a:prstGeom>
          <a:noFill/>
          <a:ln>
            <a:noFill/>
          </a:ln>
        </p:spPr>
      </p:pic>
      <p:sp>
        <p:nvSpPr>
          <p:cNvPr id="17" name="Google Shape;17;p5"/>
          <p:cNvSpPr txBox="1"/>
          <p:nvPr>
            <p:ph type="title"/>
          </p:nvPr>
        </p:nvSpPr>
        <p:spPr>
          <a:xfrm>
            <a:off x="544387" y="243835"/>
            <a:ext cx="10917186" cy="5608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1867DC"/>
              </a:buClr>
              <a:buSzPts val="2800"/>
              <a:buFont typeface="Calibri"/>
              <a:buNone/>
              <a:defRPr b="0" i="0" sz="2800" u="none" cap="none" strike="noStrike">
                <a:solidFill>
                  <a:srgbClr val="1867DC"/>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8" name="Shape 18"/>
        <p:cNvGrpSpPr/>
        <p:nvPr/>
      </p:nvGrpSpPr>
      <p:grpSpPr>
        <a:xfrm>
          <a:off x="0" y="0"/>
          <a:ext cx="0" cy="0"/>
          <a:chOff x="0" y="0"/>
          <a:chExt cx="0" cy="0"/>
        </a:xfrm>
      </p:grpSpPr>
      <p:pic>
        <p:nvPicPr>
          <p:cNvPr id="19" name="Google Shape;19;p6"/>
          <p:cNvPicPr preferRelativeResize="0"/>
          <p:nvPr/>
        </p:nvPicPr>
        <p:blipFill rotWithShape="1">
          <a:blip r:embed="rId2">
            <a:alphaModFix amt="39000"/>
          </a:blip>
          <a:srcRect b="4791" l="0" r="0" t="4791"/>
          <a:stretch/>
        </p:blipFill>
        <p:spPr>
          <a:xfrm>
            <a:off x="952062" y="959685"/>
            <a:ext cx="3967164" cy="1717757"/>
          </a:xfrm>
          <a:prstGeom prst="roundRect">
            <a:avLst>
              <a:gd fmla="val 8908" name="adj"/>
            </a:avLst>
          </a:prstGeom>
          <a:solidFill>
            <a:schemeClr val="lt1"/>
          </a:solidFill>
          <a:ln>
            <a:noFill/>
          </a:ln>
        </p:spPr>
      </p:pic>
      <p:sp>
        <p:nvSpPr>
          <p:cNvPr id="20" name="Google Shape;20;p6"/>
          <p:cNvSpPr/>
          <p:nvPr/>
        </p:nvSpPr>
        <p:spPr>
          <a:xfrm>
            <a:off x="952062" y="956028"/>
            <a:ext cx="3967164" cy="1711784"/>
          </a:xfrm>
          <a:prstGeom prst="roundRect">
            <a:avLst>
              <a:gd fmla="val 8615" name="adj"/>
            </a:avLst>
          </a:prstGeom>
          <a:gradFill>
            <a:gsLst>
              <a:gs pos="0">
                <a:srgbClr val="2E6FF2">
                  <a:alpha val="0"/>
                </a:srgbClr>
              </a:gs>
              <a:gs pos="6000">
                <a:srgbClr val="2E6FF2">
                  <a:alpha val="0"/>
                </a:srgbClr>
              </a:gs>
              <a:gs pos="79000">
                <a:srgbClr val="0079F3"/>
              </a:gs>
              <a:gs pos="100000">
                <a:srgbClr val="0F9EE3">
                  <a:alpha val="94902"/>
                </a:srgbClr>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FFFFFF"/>
              </a:solidFill>
              <a:latin typeface="Calibri"/>
              <a:ea typeface="Calibri"/>
              <a:cs typeface="Calibri"/>
              <a:sym typeface="Calibri"/>
            </a:endParaRPr>
          </a:p>
        </p:txBody>
      </p:sp>
      <p:sp>
        <p:nvSpPr>
          <p:cNvPr id="21" name="Google Shape;21;p6"/>
          <p:cNvSpPr/>
          <p:nvPr/>
        </p:nvSpPr>
        <p:spPr>
          <a:xfrm>
            <a:off x="5451522" y="4387959"/>
            <a:ext cx="5561970" cy="2166354"/>
          </a:xfrm>
          <a:prstGeom prst="roundRect">
            <a:avLst>
              <a:gd fmla="val 1908" name="adj"/>
            </a:avLst>
          </a:prstGeom>
          <a:noFill/>
          <a:ln cap="flat" cmpd="sng" w="25400">
            <a:solidFill>
              <a:srgbClr val="F4F8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22" name="Google Shape;22;p6"/>
          <p:cNvGrpSpPr/>
          <p:nvPr/>
        </p:nvGrpSpPr>
        <p:grpSpPr>
          <a:xfrm>
            <a:off x="5645854" y="4103165"/>
            <a:ext cx="3070074" cy="576636"/>
            <a:chOff x="6606120" y="3381088"/>
            <a:chExt cx="3752849" cy="704850"/>
          </a:xfrm>
        </p:grpSpPr>
        <p:grpSp>
          <p:nvGrpSpPr>
            <p:cNvPr id="23" name="Google Shape;23;p6"/>
            <p:cNvGrpSpPr/>
            <p:nvPr/>
          </p:nvGrpSpPr>
          <p:grpSpPr>
            <a:xfrm>
              <a:off x="6606120" y="3381088"/>
              <a:ext cx="3752849" cy="704850"/>
              <a:chOff x="8686303" y="1547150"/>
              <a:chExt cx="3752849" cy="704850"/>
            </a:xfrm>
          </p:grpSpPr>
          <p:sp>
            <p:nvSpPr>
              <p:cNvPr id="24" name="Google Shape;24;p6"/>
              <p:cNvSpPr/>
              <p:nvPr/>
            </p:nvSpPr>
            <p:spPr>
              <a:xfrm>
                <a:off x="9202467" y="1665575"/>
                <a:ext cx="3236685" cy="468000"/>
              </a:xfrm>
              <a:prstGeom prst="roundRect">
                <a:avLst>
                  <a:gd fmla="val 16667" name="adj"/>
                </a:avLst>
              </a:prstGeom>
              <a:solidFill>
                <a:srgbClr val="00A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09">
                    <a:solidFill>
                      <a:schemeClr val="lt1"/>
                    </a:solidFill>
                    <a:latin typeface="Montserrat"/>
                    <a:ea typeface="Montserrat"/>
                    <a:cs typeface="Montserrat"/>
                    <a:sym typeface="Montserrat"/>
                  </a:rPr>
                  <a:t>Achievements</a:t>
                </a:r>
                <a:endParaRPr sz="1309">
                  <a:solidFill>
                    <a:schemeClr val="lt1"/>
                  </a:solidFill>
                  <a:latin typeface="Montserrat"/>
                  <a:ea typeface="Montserrat"/>
                  <a:cs typeface="Montserrat"/>
                  <a:sym typeface="Montserrat"/>
                </a:endParaRPr>
              </a:p>
            </p:txBody>
          </p:sp>
          <p:sp>
            <p:nvSpPr>
              <p:cNvPr id="25" name="Google Shape;25;p6"/>
              <p:cNvSpPr/>
              <p:nvPr/>
            </p:nvSpPr>
            <p:spPr>
              <a:xfrm>
                <a:off x="8686303" y="1547150"/>
                <a:ext cx="704850" cy="704850"/>
              </a:xfrm>
              <a:prstGeom prst="ellipse">
                <a:avLst/>
              </a:prstGeom>
              <a:solidFill>
                <a:srgbClr val="00A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9">
                  <a:solidFill>
                    <a:schemeClr val="lt1"/>
                  </a:solidFill>
                  <a:latin typeface="Montserrat"/>
                  <a:ea typeface="Montserrat"/>
                  <a:cs typeface="Montserrat"/>
                  <a:sym typeface="Montserrat"/>
                </a:endParaRPr>
              </a:p>
            </p:txBody>
          </p:sp>
        </p:grpSp>
        <p:sp>
          <p:nvSpPr>
            <p:cNvPr id="26" name="Google Shape;26;p6"/>
            <p:cNvSpPr/>
            <p:nvPr/>
          </p:nvSpPr>
          <p:spPr>
            <a:xfrm>
              <a:off x="6713131" y="3524229"/>
              <a:ext cx="490827" cy="432000"/>
            </a:xfrm>
            <a:custGeom>
              <a:rect b="b" l="l" r="r" t="t"/>
              <a:pathLst>
                <a:path extrusionOk="0" h="10741" w="8943">
                  <a:moveTo>
                    <a:pt x="8430" y="1013"/>
                  </a:moveTo>
                  <a:cubicBezTo>
                    <a:pt x="8466" y="1013"/>
                    <a:pt x="8514" y="1025"/>
                    <a:pt x="8549" y="1061"/>
                  </a:cubicBezTo>
                  <a:cubicBezTo>
                    <a:pt x="8573" y="1084"/>
                    <a:pt x="8585" y="1132"/>
                    <a:pt x="8585" y="1180"/>
                  </a:cubicBezTo>
                  <a:lnTo>
                    <a:pt x="8585" y="1846"/>
                  </a:lnTo>
                  <a:cubicBezTo>
                    <a:pt x="8585" y="2454"/>
                    <a:pt x="8454" y="2906"/>
                    <a:pt x="8192" y="3204"/>
                  </a:cubicBezTo>
                  <a:cubicBezTo>
                    <a:pt x="7954" y="3466"/>
                    <a:pt x="7633" y="3585"/>
                    <a:pt x="7323" y="3716"/>
                  </a:cubicBezTo>
                  <a:cubicBezTo>
                    <a:pt x="7180" y="3775"/>
                    <a:pt x="7025" y="3835"/>
                    <a:pt x="6894" y="3918"/>
                  </a:cubicBezTo>
                  <a:cubicBezTo>
                    <a:pt x="7037" y="3466"/>
                    <a:pt x="7121" y="2989"/>
                    <a:pt x="7121" y="2501"/>
                  </a:cubicBezTo>
                  <a:lnTo>
                    <a:pt x="7121" y="1811"/>
                  </a:lnTo>
                  <a:cubicBezTo>
                    <a:pt x="7335" y="1811"/>
                    <a:pt x="7549" y="1715"/>
                    <a:pt x="7680" y="1513"/>
                  </a:cubicBezTo>
                  <a:lnTo>
                    <a:pt x="7799" y="1334"/>
                  </a:lnTo>
                  <a:cubicBezTo>
                    <a:pt x="7954" y="1132"/>
                    <a:pt x="8168" y="1013"/>
                    <a:pt x="8430" y="1013"/>
                  </a:cubicBezTo>
                  <a:close/>
                  <a:moveTo>
                    <a:pt x="453" y="1025"/>
                  </a:moveTo>
                  <a:cubicBezTo>
                    <a:pt x="703" y="1025"/>
                    <a:pt x="929" y="1144"/>
                    <a:pt x="1072" y="1358"/>
                  </a:cubicBezTo>
                  <a:lnTo>
                    <a:pt x="1191" y="1537"/>
                  </a:lnTo>
                  <a:cubicBezTo>
                    <a:pt x="1322" y="1703"/>
                    <a:pt x="1537" y="1834"/>
                    <a:pt x="1763" y="1834"/>
                  </a:cubicBezTo>
                  <a:lnTo>
                    <a:pt x="1763" y="2513"/>
                  </a:lnTo>
                  <a:cubicBezTo>
                    <a:pt x="1763" y="2989"/>
                    <a:pt x="1834" y="3466"/>
                    <a:pt x="1977" y="3930"/>
                  </a:cubicBezTo>
                  <a:cubicBezTo>
                    <a:pt x="1846" y="3835"/>
                    <a:pt x="1703" y="3775"/>
                    <a:pt x="1548" y="3716"/>
                  </a:cubicBezTo>
                  <a:cubicBezTo>
                    <a:pt x="1239" y="3597"/>
                    <a:pt x="929" y="3466"/>
                    <a:pt x="691" y="3204"/>
                  </a:cubicBezTo>
                  <a:cubicBezTo>
                    <a:pt x="417" y="2906"/>
                    <a:pt x="286" y="2454"/>
                    <a:pt x="286" y="1846"/>
                  </a:cubicBezTo>
                  <a:lnTo>
                    <a:pt x="286" y="1191"/>
                  </a:lnTo>
                  <a:cubicBezTo>
                    <a:pt x="286" y="1144"/>
                    <a:pt x="298" y="1096"/>
                    <a:pt x="334" y="1072"/>
                  </a:cubicBezTo>
                  <a:cubicBezTo>
                    <a:pt x="358" y="1037"/>
                    <a:pt x="405" y="1025"/>
                    <a:pt x="453" y="1025"/>
                  </a:cubicBezTo>
                  <a:close/>
                  <a:moveTo>
                    <a:pt x="7097" y="299"/>
                  </a:moveTo>
                  <a:lnTo>
                    <a:pt x="7097" y="668"/>
                  </a:lnTo>
                  <a:lnTo>
                    <a:pt x="5739" y="668"/>
                  </a:lnTo>
                  <a:cubicBezTo>
                    <a:pt x="5656" y="668"/>
                    <a:pt x="5585" y="739"/>
                    <a:pt x="5585" y="834"/>
                  </a:cubicBezTo>
                  <a:cubicBezTo>
                    <a:pt x="5585" y="918"/>
                    <a:pt x="5656" y="1001"/>
                    <a:pt x="5739" y="1001"/>
                  </a:cubicBezTo>
                  <a:lnTo>
                    <a:pt x="6775" y="1001"/>
                  </a:lnTo>
                  <a:lnTo>
                    <a:pt x="6775" y="2513"/>
                  </a:lnTo>
                  <a:cubicBezTo>
                    <a:pt x="6787" y="3882"/>
                    <a:pt x="6132" y="5192"/>
                    <a:pt x="5013" y="6014"/>
                  </a:cubicBezTo>
                  <a:lnTo>
                    <a:pt x="4894" y="6097"/>
                  </a:lnTo>
                  <a:cubicBezTo>
                    <a:pt x="4870" y="6097"/>
                    <a:pt x="4835" y="6085"/>
                    <a:pt x="4811" y="6085"/>
                  </a:cubicBezTo>
                  <a:lnTo>
                    <a:pt x="4037" y="6085"/>
                  </a:lnTo>
                  <a:cubicBezTo>
                    <a:pt x="4001" y="6085"/>
                    <a:pt x="3977" y="6085"/>
                    <a:pt x="3942" y="6097"/>
                  </a:cubicBezTo>
                  <a:lnTo>
                    <a:pt x="3823" y="6014"/>
                  </a:lnTo>
                  <a:cubicBezTo>
                    <a:pt x="2727" y="5192"/>
                    <a:pt x="2060" y="3882"/>
                    <a:pt x="2060" y="2513"/>
                  </a:cubicBezTo>
                  <a:lnTo>
                    <a:pt x="2060" y="1001"/>
                  </a:lnTo>
                  <a:lnTo>
                    <a:pt x="5013" y="1001"/>
                  </a:lnTo>
                  <a:cubicBezTo>
                    <a:pt x="5108" y="1001"/>
                    <a:pt x="5180" y="918"/>
                    <a:pt x="5180" y="834"/>
                  </a:cubicBezTo>
                  <a:cubicBezTo>
                    <a:pt x="5180" y="739"/>
                    <a:pt x="5108" y="668"/>
                    <a:pt x="5013" y="668"/>
                  </a:cubicBezTo>
                  <a:lnTo>
                    <a:pt x="1727" y="668"/>
                  </a:lnTo>
                  <a:lnTo>
                    <a:pt x="1727" y="299"/>
                  </a:lnTo>
                  <a:close/>
                  <a:moveTo>
                    <a:pt x="4823" y="6395"/>
                  </a:moveTo>
                  <a:cubicBezTo>
                    <a:pt x="4882" y="6395"/>
                    <a:pt x="4930" y="6442"/>
                    <a:pt x="4930" y="6502"/>
                  </a:cubicBezTo>
                  <a:lnTo>
                    <a:pt x="4930" y="6621"/>
                  </a:lnTo>
                  <a:cubicBezTo>
                    <a:pt x="4930" y="6680"/>
                    <a:pt x="4882" y="6728"/>
                    <a:pt x="4823" y="6728"/>
                  </a:cubicBezTo>
                  <a:lnTo>
                    <a:pt x="4049" y="6728"/>
                  </a:lnTo>
                  <a:cubicBezTo>
                    <a:pt x="3989" y="6728"/>
                    <a:pt x="3942" y="6680"/>
                    <a:pt x="3942" y="6621"/>
                  </a:cubicBezTo>
                  <a:lnTo>
                    <a:pt x="3942" y="6502"/>
                  </a:lnTo>
                  <a:cubicBezTo>
                    <a:pt x="3942" y="6442"/>
                    <a:pt x="3989" y="6395"/>
                    <a:pt x="4049" y="6395"/>
                  </a:cubicBezTo>
                  <a:close/>
                  <a:moveTo>
                    <a:pt x="4620" y="7037"/>
                  </a:moveTo>
                  <a:lnTo>
                    <a:pt x="4620" y="8573"/>
                  </a:lnTo>
                  <a:lnTo>
                    <a:pt x="4239" y="8573"/>
                  </a:lnTo>
                  <a:lnTo>
                    <a:pt x="4239" y="7037"/>
                  </a:lnTo>
                  <a:close/>
                  <a:moveTo>
                    <a:pt x="5418" y="8883"/>
                  </a:moveTo>
                  <a:cubicBezTo>
                    <a:pt x="5525" y="8883"/>
                    <a:pt x="5608" y="8978"/>
                    <a:pt x="5608" y="9073"/>
                  </a:cubicBezTo>
                  <a:lnTo>
                    <a:pt x="5608" y="9252"/>
                  </a:lnTo>
                  <a:lnTo>
                    <a:pt x="4215" y="9252"/>
                  </a:lnTo>
                  <a:cubicBezTo>
                    <a:pt x="4120" y="9252"/>
                    <a:pt x="4049" y="9335"/>
                    <a:pt x="4049" y="9419"/>
                  </a:cubicBezTo>
                  <a:cubicBezTo>
                    <a:pt x="4049" y="9514"/>
                    <a:pt x="4120" y="9585"/>
                    <a:pt x="4215" y="9585"/>
                  </a:cubicBezTo>
                  <a:lnTo>
                    <a:pt x="6370" y="9585"/>
                  </a:lnTo>
                  <a:cubicBezTo>
                    <a:pt x="6382" y="9585"/>
                    <a:pt x="6406" y="9597"/>
                    <a:pt x="6418" y="9609"/>
                  </a:cubicBezTo>
                  <a:lnTo>
                    <a:pt x="6561" y="10371"/>
                  </a:lnTo>
                  <a:cubicBezTo>
                    <a:pt x="6561" y="10383"/>
                    <a:pt x="6561" y="10407"/>
                    <a:pt x="6549" y="10407"/>
                  </a:cubicBezTo>
                  <a:cubicBezTo>
                    <a:pt x="6549" y="10407"/>
                    <a:pt x="6537" y="10419"/>
                    <a:pt x="6525" y="10419"/>
                  </a:cubicBezTo>
                  <a:lnTo>
                    <a:pt x="2370" y="10419"/>
                  </a:lnTo>
                  <a:cubicBezTo>
                    <a:pt x="2358" y="10419"/>
                    <a:pt x="2334" y="10407"/>
                    <a:pt x="2334" y="10407"/>
                  </a:cubicBezTo>
                  <a:cubicBezTo>
                    <a:pt x="2334" y="10407"/>
                    <a:pt x="2322" y="10383"/>
                    <a:pt x="2322" y="10371"/>
                  </a:cubicBezTo>
                  <a:lnTo>
                    <a:pt x="2477" y="9609"/>
                  </a:lnTo>
                  <a:cubicBezTo>
                    <a:pt x="2477" y="9597"/>
                    <a:pt x="2489" y="9585"/>
                    <a:pt x="2513" y="9585"/>
                  </a:cubicBezTo>
                  <a:lnTo>
                    <a:pt x="3489" y="9585"/>
                  </a:lnTo>
                  <a:cubicBezTo>
                    <a:pt x="3573" y="9585"/>
                    <a:pt x="3644" y="9514"/>
                    <a:pt x="3644" y="9419"/>
                  </a:cubicBezTo>
                  <a:cubicBezTo>
                    <a:pt x="3644" y="9335"/>
                    <a:pt x="3573" y="9252"/>
                    <a:pt x="3489" y="9252"/>
                  </a:cubicBezTo>
                  <a:lnTo>
                    <a:pt x="3263" y="9252"/>
                  </a:lnTo>
                  <a:lnTo>
                    <a:pt x="3263" y="9073"/>
                  </a:lnTo>
                  <a:cubicBezTo>
                    <a:pt x="3263" y="8978"/>
                    <a:pt x="3346" y="8883"/>
                    <a:pt x="3453" y="8883"/>
                  </a:cubicBezTo>
                  <a:close/>
                  <a:moveTo>
                    <a:pt x="1739" y="1"/>
                  </a:moveTo>
                  <a:cubicBezTo>
                    <a:pt x="1572" y="1"/>
                    <a:pt x="1441" y="132"/>
                    <a:pt x="1441" y="299"/>
                  </a:cubicBezTo>
                  <a:lnTo>
                    <a:pt x="1441" y="703"/>
                  </a:lnTo>
                  <a:cubicBezTo>
                    <a:pt x="1441" y="858"/>
                    <a:pt x="1572" y="1001"/>
                    <a:pt x="1739" y="1001"/>
                  </a:cubicBezTo>
                  <a:lnTo>
                    <a:pt x="1775" y="1001"/>
                  </a:lnTo>
                  <a:lnTo>
                    <a:pt x="1775" y="1513"/>
                  </a:lnTo>
                  <a:cubicBezTo>
                    <a:pt x="1656" y="1513"/>
                    <a:pt x="1537" y="1453"/>
                    <a:pt x="1477" y="1358"/>
                  </a:cubicBezTo>
                  <a:lnTo>
                    <a:pt x="1358" y="1180"/>
                  </a:lnTo>
                  <a:cubicBezTo>
                    <a:pt x="1156" y="882"/>
                    <a:pt x="822" y="715"/>
                    <a:pt x="477" y="715"/>
                  </a:cubicBezTo>
                  <a:cubicBezTo>
                    <a:pt x="346" y="715"/>
                    <a:pt x="227" y="763"/>
                    <a:pt x="132" y="846"/>
                  </a:cubicBezTo>
                  <a:cubicBezTo>
                    <a:pt x="48" y="941"/>
                    <a:pt x="1" y="1049"/>
                    <a:pt x="1" y="1191"/>
                  </a:cubicBezTo>
                  <a:lnTo>
                    <a:pt x="1" y="1846"/>
                  </a:lnTo>
                  <a:cubicBezTo>
                    <a:pt x="1" y="3418"/>
                    <a:pt x="798" y="3751"/>
                    <a:pt x="1465" y="4013"/>
                  </a:cubicBezTo>
                  <a:cubicBezTo>
                    <a:pt x="1810" y="4168"/>
                    <a:pt x="2144" y="4299"/>
                    <a:pt x="2299" y="4609"/>
                  </a:cubicBezTo>
                  <a:cubicBezTo>
                    <a:pt x="2334" y="4704"/>
                    <a:pt x="2322" y="4775"/>
                    <a:pt x="2263" y="4847"/>
                  </a:cubicBezTo>
                  <a:cubicBezTo>
                    <a:pt x="2212" y="4914"/>
                    <a:pt x="2120" y="4946"/>
                    <a:pt x="2041" y="4946"/>
                  </a:cubicBezTo>
                  <a:cubicBezTo>
                    <a:pt x="2008" y="4946"/>
                    <a:pt x="1978" y="4940"/>
                    <a:pt x="1953" y="4930"/>
                  </a:cubicBezTo>
                  <a:cubicBezTo>
                    <a:pt x="1834" y="4882"/>
                    <a:pt x="1822" y="4728"/>
                    <a:pt x="1834" y="4632"/>
                  </a:cubicBezTo>
                  <a:cubicBezTo>
                    <a:pt x="1834" y="4537"/>
                    <a:pt x="1775" y="4466"/>
                    <a:pt x="1679" y="4466"/>
                  </a:cubicBezTo>
                  <a:cubicBezTo>
                    <a:pt x="1596" y="4466"/>
                    <a:pt x="1513" y="4525"/>
                    <a:pt x="1513" y="4609"/>
                  </a:cubicBezTo>
                  <a:cubicBezTo>
                    <a:pt x="1513" y="4740"/>
                    <a:pt x="1537" y="5085"/>
                    <a:pt x="1834" y="5228"/>
                  </a:cubicBezTo>
                  <a:cubicBezTo>
                    <a:pt x="1906" y="5252"/>
                    <a:pt x="1965" y="5263"/>
                    <a:pt x="2037" y="5263"/>
                  </a:cubicBezTo>
                  <a:cubicBezTo>
                    <a:pt x="2203" y="5263"/>
                    <a:pt x="2382" y="5192"/>
                    <a:pt x="2489" y="5073"/>
                  </a:cubicBezTo>
                  <a:cubicBezTo>
                    <a:pt x="2501" y="5061"/>
                    <a:pt x="2513" y="5049"/>
                    <a:pt x="2513" y="5025"/>
                  </a:cubicBezTo>
                  <a:cubicBezTo>
                    <a:pt x="2811" y="5502"/>
                    <a:pt x="3215" y="5942"/>
                    <a:pt x="3680" y="6275"/>
                  </a:cubicBezTo>
                  <a:lnTo>
                    <a:pt x="3703" y="6299"/>
                  </a:lnTo>
                  <a:cubicBezTo>
                    <a:pt x="3656" y="6347"/>
                    <a:pt x="3644" y="6430"/>
                    <a:pt x="3644" y="6514"/>
                  </a:cubicBezTo>
                  <a:lnTo>
                    <a:pt x="3644" y="6633"/>
                  </a:lnTo>
                  <a:cubicBezTo>
                    <a:pt x="3644" y="6835"/>
                    <a:pt x="3775" y="6990"/>
                    <a:pt x="3965" y="7037"/>
                  </a:cubicBezTo>
                  <a:lnTo>
                    <a:pt x="3965" y="8585"/>
                  </a:lnTo>
                  <a:lnTo>
                    <a:pt x="3489" y="8585"/>
                  </a:lnTo>
                  <a:cubicBezTo>
                    <a:pt x="3203" y="8585"/>
                    <a:pt x="2977" y="8811"/>
                    <a:pt x="2977" y="9085"/>
                  </a:cubicBezTo>
                  <a:lnTo>
                    <a:pt x="2977" y="9264"/>
                  </a:lnTo>
                  <a:lnTo>
                    <a:pt x="2549" y="9264"/>
                  </a:lnTo>
                  <a:cubicBezTo>
                    <a:pt x="2382" y="9264"/>
                    <a:pt x="2239" y="9383"/>
                    <a:pt x="2203" y="9550"/>
                  </a:cubicBezTo>
                  <a:lnTo>
                    <a:pt x="2060" y="10312"/>
                  </a:lnTo>
                  <a:cubicBezTo>
                    <a:pt x="2037" y="10419"/>
                    <a:pt x="2060" y="10514"/>
                    <a:pt x="2132" y="10609"/>
                  </a:cubicBezTo>
                  <a:cubicBezTo>
                    <a:pt x="2203" y="10693"/>
                    <a:pt x="2299" y="10740"/>
                    <a:pt x="2394" y="10740"/>
                  </a:cubicBezTo>
                  <a:lnTo>
                    <a:pt x="6549" y="10740"/>
                  </a:lnTo>
                  <a:cubicBezTo>
                    <a:pt x="6656" y="10740"/>
                    <a:pt x="6763" y="10693"/>
                    <a:pt x="6823" y="10609"/>
                  </a:cubicBezTo>
                  <a:cubicBezTo>
                    <a:pt x="6894" y="10514"/>
                    <a:pt x="6906" y="10419"/>
                    <a:pt x="6894" y="10312"/>
                  </a:cubicBezTo>
                  <a:lnTo>
                    <a:pt x="6740" y="9550"/>
                  </a:lnTo>
                  <a:cubicBezTo>
                    <a:pt x="6716" y="9383"/>
                    <a:pt x="6561" y="9264"/>
                    <a:pt x="6406" y="9264"/>
                  </a:cubicBezTo>
                  <a:lnTo>
                    <a:pt x="5966" y="9264"/>
                  </a:lnTo>
                  <a:lnTo>
                    <a:pt x="5966" y="9085"/>
                  </a:lnTo>
                  <a:cubicBezTo>
                    <a:pt x="5966" y="8811"/>
                    <a:pt x="5751" y="8585"/>
                    <a:pt x="5466" y="8585"/>
                  </a:cubicBezTo>
                  <a:lnTo>
                    <a:pt x="4989" y="8585"/>
                  </a:lnTo>
                  <a:lnTo>
                    <a:pt x="4989" y="7037"/>
                  </a:lnTo>
                  <a:cubicBezTo>
                    <a:pt x="5168" y="6990"/>
                    <a:pt x="5299" y="6835"/>
                    <a:pt x="5299" y="6633"/>
                  </a:cubicBezTo>
                  <a:lnTo>
                    <a:pt x="5299" y="6502"/>
                  </a:lnTo>
                  <a:cubicBezTo>
                    <a:pt x="5299" y="6430"/>
                    <a:pt x="5275" y="6359"/>
                    <a:pt x="5239" y="6275"/>
                  </a:cubicBezTo>
                  <a:lnTo>
                    <a:pt x="5275" y="6264"/>
                  </a:lnTo>
                  <a:cubicBezTo>
                    <a:pt x="5728" y="5918"/>
                    <a:pt x="6132" y="5490"/>
                    <a:pt x="6430" y="5013"/>
                  </a:cubicBezTo>
                  <a:cubicBezTo>
                    <a:pt x="6442" y="5025"/>
                    <a:pt x="6466" y="5049"/>
                    <a:pt x="6466" y="5061"/>
                  </a:cubicBezTo>
                  <a:cubicBezTo>
                    <a:pt x="6585" y="5180"/>
                    <a:pt x="6740" y="5252"/>
                    <a:pt x="6906" y="5252"/>
                  </a:cubicBezTo>
                  <a:cubicBezTo>
                    <a:pt x="6978" y="5252"/>
                    <a:pt x="7061" y="5240"/>
                    <a:pt x="7121" y="5204"/>
                  </a:cubicBezTo>
                  <a:cubicBezTo>
                    <a:pt x="7418" y="5073"/>
                    <a:pt x="7442" y="4751"/>
                    <a:pt x="7430" y="4597"/>
                  </a:cubicBezTo>
                  <a:cubicBezTo>
                    <a:pt x="7430" y="4513"/>
                    <a:pt x="7359" y="4454"/>
                    <a:pt x="7263" y="4454"/>
                  </a:cubicBezTo>
                  <a:cubicBezTo>
                    <a:pt x="7180" y="4454"/>
                    <a:pt x="7121" y="4525"/>
                    <a:pt x="7121" y="4609"/>
                  </a:cubicBezTo>
                  <a:cubicBezTo>
                    <a:pt x="7121" y="4716"/>
                    <a:pt x="7097" y="4871"/>
                    <a:pt x="7002" y="4906"/>
                  </a:cubicBezTo>
                  <a:cubicBezTo>
                    <a:pt x="6975" y="4920"/>
                    <a:pt x="6945" y="4925"/>
                    <a:pt x="6913" y="4925"/>
                  </a:cubicBezTo>
                  <a:cubicBezTo>
                    <a:pt x="6831" y="4925"/>
                    <a:pt x="6740" y="4886"/>
                    <a:pt x="6680" y="4835"/>
                  </a:cubicBezTo>
                  <a:cubicBezTo>
                    <a:pt x="6621" y="4775"/>
                    <a:pt x="6609" y="4692"/>
                    <a:pt x="6656" y="4597"/>
                  </a:cubicBezTo>
                  <a:cubicBezTo>
                    <a:pt x="6799" y="4287"/>
                    <a:pt x="7121" y="4156"/>
                    <a:pt x="7490" y="4001"/>
                  </a:cubicBezTo>
                  <a:cubicBezTo>
                    <a:pt x="8145" y="3739"/>
                    <a:pt x="8942" y="3406"/>
                    <a:pt x="8942" y="1834"/>
                  </a:cubicBezTo>
                  <a:lnTo>
                    <a:pt x="8942" y="1180"/>
                  </a:lnTo>
                  <a:cubicBezTo>
                    <a:pt x="8907" y="1061"/>
                    <a:pt x="8847" y="941"/>
                    <a:pt x="8752" y="846"/>
                  </a:cubicBezTo>
                  <a:cubicBezTo>
                    <a:pt x="8668" y="763"/>
                    <a:pt x="8549" y="715"/>
                    <a:pt x="8406" y="715"/>
                  </a:cubicBezTo>
                  <a:cubicBezTo>
                    <a:pt x="8049" y="715"/>
                    <a:pt x="7728" y="894"/>
                    <a:pt x="7537" y="1180"/>
                  </a:cubicBezTo>
                  <a:lnTo>
                    <a:pt x="7418" y="1358"/>
                  </a:lnTo>
                  <a:cubicBezTo>
                    <a:pt x="7335" y="1453"/>
                    <a:pt x="7240" y="1513"/>
                    <a:pt x="7121" y="1513"/>
                  </a:cubicBezTo>
                  <a:lnTo>
                    <a:pt x="7121" y="1001"/>
                  </a:lnTo>
                  <a:lnTo>
                    <a:pt x="7144" y="1001"/>
                  </a:lnTo>
                  <a:cubicBezTo>
                    <a:pt x="7311" y="1001"/>
                    <a:pt x="7442" y="858"/>
                    <a:pt x="7442" y="703"/>
                  </a:cubicBezTo>
                  <a:lnTo>
                    <a:pt x="7442" y="299"/>
                  </a:lnTo>
                  <a:cubicBezTo>
                    <a:pt x="7442" y="132"/>
                    <a:pt x="7311" y="1"/>
                    <a:pt x="7144"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grpSp>
      <p:sp>
        <p:nvSpPr>
          <p:cNvPr id="27" name="Google Shape;27;p6"/>
          <p:cNvSpPr/>
          <p:nvPr/>
        </p:nvSpPr>
        <p:spPr>
          <a:xfrm>
            <a:off x="5434239" y="1180931"/>
            <a:ext cx="5581500" cy="2825351"/>
          </a:xfrm>
          <a:prstGeom prst="roundRect">
            <a:avLst>
              <a:gd fmla="val 1908" name="adj"/>
            </a:avLst>
          </a:prstGeom>
          <a:noFill/>
          <a:ln cap="flat" cmpd="sng" w="25400">
            <a:solidFill>
              <a:srgbClr val="F4F8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28" name="Google Shape;28;p6"/>
          <p:cNvGrpSpPr/>
          <p:nvPr/>
        </p:nvGrpSpPr>
        <p:grpSpPr>
          <a:xfrm>
            <a:off x="5646267" y="933515"/>
            <a:ext cx="3261363" cy="576636"/>
            <a:chOff x="828947" y="1547150"/>
            <a:chExt cx="3986682" cy="704850"/>
          </a:xfrm>
        </p:grpSpPr>
        <p:sp>
          <p:nvSpPr>
            <p:cNvPr id="29" name="Google Shape;29;p6"/>
            <p:cNvSpPr/>
            <p:nvPr/>
          </p:nvSpPr>
          <p:spPr>
            <a:xfrm>
              <a:off x="1345111" y="1667352"/>
              <a:ext cx="3470518" cy="466223"/>
            </a:xfrm>
            <a:prstGeom prst="roundRect">
              <a:avLst>
                <a:gd fmla="val 16667" name="adj"/>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09">
                  <a:solidFill>
                    <a:srgbClr val="FFFFFF"/>
                  </a:solidFill>
                  <a:latin typeface="Montserrat"/>
                  <a:ea typeface="Montserrat"/>
                  <a:cs typeface="Montserrat"/>
                  <a:sym typeface="Montserrat"/>
                </a:rPr>
                <a:t>Pain Points</a:t>
              </a:r>
              <a:endParaRPr sz="1309">
                <a:solidFill>
                  <a:srgbClr val="FFFFFF"/>
                </a:solidFill>
                <a:latin typeface="Montserrat"/>
                <a:ea typeface="Montserrat"/>
                <a:cs typeface="Montserrat"/>
                <a:sym typeface="Montserrat"/>
              </a:endParaRPr>
            </a:p>
          </p:txBody>
        </p:sp>
        <p:sp>
          <p:nvSpPr>
            <p:cNvPr id="30" name="Google Shape;30;p6"/>
            <p:cNvSpPr/>
            <p:nvPr/>
          </p:nvSpPr>
          <p:spPr>
            <a:xfrm>
              <a:off x="828947" y="1547150"/>
              <a:ext cx="704850" cy="704850"/>
            </a:xfrm>
            <a:prstGeom prst="ellipse">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9">
                <a:solidFill>
                  <a:srgbClr val="FFFFFF"/>
                </a:solidFill>
                <a:latin typeface="Montserrat"/>
                <a:ea typeface="Montserrat"/>
                <a:cs typeface="Montserrat"/>
                <a:sym typeface="Montserrat"/>
              </a:endParaRPr>
            </a:p>
          </p:txBody>
        </p:sp>
        <p:grpSp>
          <p:nvGrpSpPr>
            <p:cNvPr id="31" name="Google Shape;31;p6"/>
            <p:cNvGrpSpPr/>
            <p:nvPr/>
          </p:nvGrpSpPr>
          <p:grpSpPr>
            <a:xfrm>
              <a:off x="962257" y="1678662"/>
              <a:ext cx="438229" cy="437800"/>
              <a:chOff x="3040984" y="3681059"/>
              <a:chExt cx="356164" cy="355815"/>
            </a:xfrm>
          </p:grpSpPr>
          <p:sp>
            <p:nvSpPr>
              <p:cNvPr id="32" name="Google Shape;32;p6"/>
              <p:cNvSpPr/>
              <p:nvPr/>
            </p:nvSpPr>
            <p:spPr>
              <a:xfrm>
                <a:off x="3040984" y="3681059"/>
                <a:ext cx="356164" cy="355815"/>
              </a:xfrm>
              <a:custGeom>
                <a:rect b="b" l="l" r="r" t="t"/>
                <a:pathLst>
                  <a:path extrusionOk="0" h="11205" w="11216">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sp>
            <p:nvSpPr>
              <p:cNvPr id="33" name="Google Shape;33;p6"/>
              <p:cNvSpPr/>
              <p:nvPr/>
            </p:nvSpPr>
            <p:spPr>
              <a:xfrm>
                <a:off x="3183120" y="3921508"/>
                <a:ext cx="59414" cy="59382"/>
              </a:xfrm>
              <a:custGeom>
                <a:rect b="b" l="l" r="r" t="t"/>
                <a:pathLst>
                  <a:path extrusionOk="0" h="1870" w="1871">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sp>
            <p:nvSpPr>
              <p:cNvPr id="34" name="Google Shape;34;p6"/>
              <p:cNvSpPr/>
              <p:nvPr/>
            </p:nvSpPr>
            <p:spPr>
              <a:xfrm>
                <a:off x="3149110" y="3735868"/>
                <a:ext cx="141056" cy="174716"/>
              </a:xfrm>
              <a:custGeom>
                <a:rect b="b" l="l" r="r" t="t"/>
                <a:pathLst>
                  <a:path extrusionOk="0" h="5502" w="4442">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grpSp>
      </p:grpSp>
      <p:sp>
        <p:nvSpPr>
          <p:cNvPr id="35" name="Google Shape;35;p6"/>
          <p:cNvSpPr/>
          <p:nvPr/>
        </p:nvSpPr>
        <p:spPr>
          <a:xfrm>
            <a:off x="971354" y="2727570"/>
            <a:ext cx="1649219" cy="58903"/>
          </a:xfrm>
          <a:prstGeom prst="roundRect">
            <a:avLst>
              <a:gd fmla="val 50000" name="adj"/>
            </a:avLst>
          </a:prstGeom>
          <a:solidFill>
            <a:srgbClr val="0576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36" name="Google Shape;36;p6"/>
          <p:cNvGrpSpPr/>
          <p:nvPr/>
        </p:nvGrpSpPr>
        <p:grpSpPr>
          <a:xfrm>
            <a:off x="1006404" y="2901025"/>
            <a:ext cx="142855" cy="142860"/>
            <a:chOff x="596900" y="4902200"/>
            <a:chExt cx="685800" cy="685800"/>
          </a:xfrm>
        </p:grpSpPr>
        <p:pic>
          <p:nvPicPr>
            <p:cNvPr descr="Question mark" id="37" name="Google Shape;37;p6"/>
            <p:cNvPicPr preferRelativeResize="0"/>
            <p:nvPr/>
          </p:nvPicPr>
          <p:blipFill rotWithShape="1">
            <a:blip r:embed="rId3">
              <a:alphaModFix/>
            </a:blip>
            <a:srcRect b="0" l="0" r="0" t="0"/>
            <a:stretch/>
          </p:blipFill>
          <p:spPr>
            <a:xfrm>
              <a:off x="641350" y="4946650"/>
              <a:ext cx="596900" cy="596900"/>
            </a:xfrm>
            <a:prstGeom prst="rect">
              <a:avLst/>
            </a:prstGeom>
            <a:noFill/>
            <a:ln>
              <a:noFill/>
            </a:ln>
          </p:spPr>
        </p:pic>
        <p:sp>
          <p:nvSpPr>
            <p:cNvPr id="38" name="Google Shape;38;p6"/>
            <p:cNvSpPr/>
            <p:nvPr/>
          </p:nvSpPr>
          <p:spPr>
            <a:xfrm>
              <a:off x="596900" y="4902200"/>
              <a:ext cx="685800" cy="685800"/>
            </a:xfrm>
            <a:prstGeom prst="ellipse">
              <a:avLst/>
            </a:prstGeom>
            <a:noFill/>
            <a:ln cap="flat" cmpd="sng" w="9525">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sp>
        <p:nvSpPr>
          <p:cNvPr id="39" name="Google Shape;39;p6"/>
          <p:cNvSpPr txBox="1"/>
          <p:nvPr/>
        </p:nvSpPr>
        <p:spPr>
          <a:xfrm>
            <a:off x="1158516" y="2837413"/>
            <a:ext cx="3594421" cy="2937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9">
                <a:solidFill>
                  <a:srgbClr val="00B1EF"/>
                </a:solidFill>
                <a:latin typeface="Montserrat"/>
                <a:ea typeface="Montserrat"/>
                <a:cs typeface="Montserrat"/>
                <a:sym typeface="Montserrat"/>
              </a:rPr>
              <a:t>Challenge Story</a:t>
            </a:r>
            <a:endParaRPr/>
          </a:p>
        </p:txBody>
      </p:sp>
      <p:sp>
        <p:nvSpPr>
          <p:cNvPr id="40" name="Google Shape;40;p6"/>
          <p:cNvSpPr txBox="1"/>
          <p:nvPr/>
        </p:nvSpPr>
        <p:spPr>
          <a:xfrm>
            <a:off x="1158516" y="5468010"/>
            <a:ext cx="2200095" cy="2937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9">
                <a:solidFill>
                  <a:srgbClr val="00B1EF"/>
                </a:solidFill>
                <a:latin typeface="Montserrat"/>
                <a:ea typeface="Montserrat"/>
                <a:cs typeface="Montserrat"/>
                <a:sym typeface="Montserrat"/>
              </a:rPr>
              <a:t>Return of Investment</a:t>
            </a:r>
            <a:endParaRPr b="1" sz="1309">
              <a:solidFill>
                <a:srgbClr val="00B1EF"/>
              </a:solidFill>
              <a:latin typeface="Montserrat"/>
              <a:ea typeface="Montserrat"/>
              <a:cs typeface="Montserrat"/>
              <a:sym typeface="Montserrat"/>
            </a:endParaRPr>
          </a:p>
        </p:txBody>
      </p:sp>
      <p:grpSp>
        <p:nvGrpSpPr>
          <p:cNvPr id="41" name="Google Shape;41;p6"/>
          <p:cNvGrpSpPr/>
          <p:nvPr/>
        </p:nvGrpSpPr>
        <p:grpSpPr>
          <a:xfrm>
            <a:off x="1015570" y="5535071"/>
            <a:ext cx="142855" cy="142860"/>
            <a:chOff x="596900" y="4902200"/>
            <a:chExt cx="685800" cy="685800"/>
          </a:xfrm>
        </p:grpSpPr>
        <p:pic>
          <p:nvPicPr>
            <p:cNvPr descr="Question mark" id="42" name="Google Shape;42;p6"/>
            <p:cNvPicPr preferRelativeResize="0"/>
            <p:nvPr/>
          </p:nvPicPr>
          <p:blipFill rotWithShape="1">
            <a:blip r:embed="rId3">
              <a:alphaModFix/>
            </a:blip>
            <a:srcRect b="0" l="0" r="0" t="0"/>
            <a:stretch/>
          </p:blipFill>
          <p:spPr>
            <a:xfrm>
              <a:off x="641350" y="4946650"/>
              <a:ext cx="596900" cy="596900"/>
            </a:xfrm>
            <a:prstGeom prst="rect">
              <a:avLst/>
            </a:prstGeom>
            <a:noFill/>
            <a:ln>
              <a:noFill/>
            </a:ln>
          </p:spPr>
        </p:pic>
        <p:sp>
          <p:nvSpPr>
            <p:cNvPr id="43" name="Google Shape;43;p6"/>
            <p:cNvSpPr/>
            <p:nvPr/>
          </p:nvSpPr>
          <p:spPr>
            <a:xfrm>
              <a:off x="596900" y="4902200"/>
              <a:ext cx="685800" cy="685800"/>
            </a:xfrm>
            <a:prstGeom prst="ellipse">
              <a:avLst/>
            </a:prstGeom>
            <a:noFill/>
            <a:ln cap="flat" cmpd="sng" w="9525">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sp>
        <p:nvSpPr>
          <p:cNvPr id="44" name="Google Shape;44;p6"/>
          <p:cNvSpPr/>
          <p:nvPr/>
        </p:nvSpPr>
        <p:spPr>
          <a:xfrm>
            <a:off x="1077990" y="5761753"/>
            <a:ext cx="1187362" cy="366474"/>
          </a:xfrm>
          <a:prstGeom prst="roundRect">
            <a:avLst>
              <a:gd fmla="val 16667" name="adj"/>
            </a:avLst>
          </a:prstGeom>
          <a:noFill/>
          <a:ln cap="flat" cmpd="sng" w="25400">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45" name="Google Shape;45;p6"/>
          <p:cNvSpPr/>
          <p:nvPr/>
        </p:nvSpPr>
        <p:spPr>
          <a:xfrm>
            <a:off x="3883430" y="5753646"/>
            <a:ext cx="1187362" cy="366474"/>
          </a:xfrm>
          <a:prstGeom prst="roundRect">
            <a:avLst>
              <a:gd fmla="val 16667" name="adj"/>
            </a:avLst>
          </a:prstGeom>
          <a:noFill/>
          <a:ln cap="flat" cmpd="sng" w="25400">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46" name="Google Shape;46;p6"/>
          <p:cNvSpPr txBox="1"/>
          <p:nvPr/>
        </p:nvSpPr>
        <p:spPr>
          <a:xfrm>
            <a:off x="2380028" y="5793913"/>
            <a:ext cx="1170213" cy="318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73">
                <a:solidFill>
                  <a:schemeClr val="lt1"/>
                </a:solidFill>
                <a:latin typeface="Arial Black"/>
                <a:ea typeface="Arial Black"/>
                <a:cs typeface="Arial Black"/>
                <a:sym typeface="Arial Black"/>
              </a:rPr>
              <a:t>40%</a:t>
            </a:r>
            <a:endParaRPr/>
          </a:p>
        </p:txBody>
      </p:sp>
      <p:sp>
        <p:nvSpPr>
          <p:cNvPr id="47" name="Google Shape;47;p6"/>
          <p:cNvSpPr txBox="1"/>
          <p:nvPr>
            <p:ph idx="1" type="body"/>
          </p:nvPr>
        </p:nvSpPr>
        <p:spPr>
          <a:xfrm>
            <a:off x="970650" y="6148290"/>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48" name="Google Shape;48;p6"/>
          <p:cNvSpPr txBox="1"/>
          <p:nvPr>
            <p:ph idx="2" type="body"/>
          </p:nvPr>
        </p:nvSpPr>
        <p:spPr>
          <a:xfrm>
            <a:off x="2380028" y="6144297"/>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49" name="Google Shape;49;p6"/>
          <p:cNvSpPr txBox="1"/>
          <p:nvPr>
            <p:ph idx="3" type="body"/>
          </p:nvPr>
        </p:nvSpPr>
        <p:spPr>
          <a:xfrm>
            <a:off x="3783877" y="6144297"/>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50" name="Google Shape;50;p6"/>
          <p:cNvSpPr/>
          <p:nvPr/>
        </p:nvSpPr>
        <p:spPr>
          <a:xfrm>
            <a:off x="2480711" y="5761752"/>
            <a:ext cx="1187361" cy="366474"/>
          </a:xfrm>
          <a:prstGeom prst="roundRect">
            <a:avLst>
              <a:gd fmla="val 16667" name="adj"/>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51" name="Google Shape;51;p6"/>
          <p:cNvSpPr/>
          <p:nvPr/>
        </p:nvSpPr>
        <p:spPr>
          <a:xfrm>
            <a:off x="1153288" y="1733779"/>
            <a:ext cx="165115" cy="21434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lt1"/>
          </a:solidFill>
          <a:ln>
            <a:noFill/>
          </a:ln>
        </p:spPr>
        <p:txBody>
          <a:bodyPr anchorCtr="0" anchor="ctr" bIns="82675" lIns="82675" spcFirstLastPara="1" rIns="82675" wrap="square" tIns="82675">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nvGrpSpPr>
          <p:cNvPr id="52" name="Google Shape;52;p6"/>
          <p:cNvGrpSpPr/>
          <p:nvPr/>
        </p:nvGrpSpPr>
        <p:grpSpPr>
          <a:xfrm flipH="1">
            <a:off x="1142480" y="2039536"/>
            <a:ext cx="187644" cy="191665"/>
            <a:chOff x="3979435" y="1976585"/>
            <a:chExt cx="345265" cy="349848"/>
          </a:xfrm>
        </p:grpSpPr>
        <p:sp>
          <p:nvSpPr>
            <p:cNvPr id="53" name="Google Shape;53;p6"/>
            <p:cNvSpPr/>
            <p:nvPr/>
          </p:nvSpPr>
          <p:spPr>
            <a:xfrm>
              <a:off x="3979435" y="1976585"/>
              <a:ext cx="345265" cy="349848"/>
            </a:xfrm>
            <a:custGeom>
              <a:rect b="b" l="l" r="r" t="t"/>
              <a:pathLst>
                <a:path extrusionOk="0" h="10992" w="10848">
                  <a:moveTo>
                    <a:pt x="6632" y="322"/>
                  </a:moveTo>
                  <a:cubicBezTo>
                    <a:pt x="6859" y="322"/>
                    <a:pt x="7013" y="501"/>
                    <a:pt x="7013" y="715"/>
                  </a:cubicBezTo>
                  <a:cubicBezTo>
                    <a:pt x="7013" y="929"/>
                    <a:pt x="6835" y="1096"/>
                    <a:pt x="6632" y="1096"/>
                  </a:cubicBezTo>
                  <a:lnTo>
                    <a:pt x="4906" y="1096"/>
                  </a:lnTo>
                  <a:cubicBezTo>
                    <a:pt x="4680" y="1096"/>
                    <a:pt x="4513" y="918"/>
                    <a:pt x="4513" y="715"/>
                  </a:cubicBezTo>
                  <a:cubicBezTo>
                    <a:pt x="4513" y="489"/>
                    <a:pt x="4692" y="322"/>
                    <a:pt x="4906" y="322"/>
                  </a:cubicBezTo>
                  <a:close/>
                  <a:moveTo>
                    <a:pt x="5966" y="1429"/>
                  </a:moveTo>
                  <a:lnTo>
                    <a:pt x="5966" y="1965"/>
                  </a:lnTo>
                  <a:lnTo>
                    <a:pt x="5561" y="1965"/>
                  </a:lnTo>
                  <a:lnTo>
                    <a:pt x="5561" y="1429"/>
                  </a:lnTo>
                  <a:close/>
                  <a:moveTo>
                    <a:pt x="5775" y="2289"/>
                  </a:moveTo>
                  <a:cubicBezTo>
                    <a:pt x="6988" y="2289"/>
                    <a:pt x="8193" y="2825"/>
                    <a:pt x="9026" y="3835"/>
                  </a:cubicBezTo>
                  <a:cubicBezTo>
                    <a:pt x="10466" y="5620"/>
                    <a:pt x="10204" y="8276"/>
                    <a:pt x="8407" y="9728"/>
                  </a:cubicBezTo>
                  <a:cubicBezTo>
                    <a:pt x="7623" y="10362"/>
                    <a:pt x="6686" y="10670"/>
                    <a:pt x="5757" y="10670"/>
                  </a:cubicBezTo>
                  <a:cubicBezTo>
                    <a:pt x="4540" y="10670"/>
                    <a:pt x="3337" y="10141"/>
                    <a:pt x="2513" y="9121"/>
                  </a:cubicBezTo>
                  <a:cubicBezTo>
                    <a:pt x="429" y="6561"/>
                    <a:pt x="2001" y="2715"/>
                    <a:pt x="5251" y="2322"/>
                  </a:cubicBezTo>
                  <a:cubicBezTo>
                    <a:pt x="5425" y="2300"/>
                    <a:pt x="5601" y="2289"/>
                    <a:pt x="5775" y="2289"/>
                  </a:cubicBezTo>
                  <a:close/>
                  <a:moveTo>
                    <a:pt x="4906" y="1"/>
                  </a:moveTo>
                  <a:cubicBezTo>
                    <a:pt x="4501" y="1"/>
                    <a:pt x="4192" y="322"/>
                    <a:pt x="4192" y="715"/>
                  </a:cubicBezTo>
                  <a:cubicBezTo>
                    <a:pt x="4192" y="1108"/>
                    <a:pt x="4513" y="1429"/>
                    <a:pt x="4906" y="1429"/>
                  </a:cubicBezTo>
                  <a:lnTo>
                    <a:pt x="5239" y="1429"/>
                  </a:lnTo>
                  <a:lnTo>
                    <a:pt x="5239" y="1989"/>
                  </a:lnTo>
                  <a:cubicBezTo>
                    <a:pt x="1727" y="2394"/>
                    <a:pt x="1" y="6561"/>
                    <a:pt x="2263" y="9323"/>
                  </a:cubicBezTo>
                  <a:cubicBezTo>
                    <a:pt x="3160" y="10423"/>
                    <a:pt x="4463" y="10991"/>
                    <a:pt x="5774" y="10991"/>
                  </a:cubicBezTo>
                  <a:cubicBezTo>
                    <a:pt x="6777" y="10991"/>
                    <a:pt x="7785" y="10659"/>
                    <a:pt x="8621" y="9978"/>
                  </a:cubicBezTo>
                  <a:cubicBezTo>
                    <a:pt x="10550" y="8407"/>
                    <a:pt x="10847" y="5549"/>
                    <a:pt x="9264" y="3632"/>
                  </a:cubicBezTo>
                  <a:cubicBezTo>
                    <a:pt x="8490" y="2680"/>
                    <a:pt x="7406" y="2120"/>
                    <a:pt x="6287" y="1989"/>
                  </a:cubicBezTo>
                  <a:lnTo>
                    <a:pt x="6287" y="1429"/>
                  </a:lnTo>
                  <a:lnTo>
                    <a:pt x="6632" y="1429"/>
                  </a:lnTo>
                  <a:cubicBezTo>
                    <a:pt x="7037" y="1429"/>
                    <a:pt x="7347" y="1096"/>
                    <a:pt x="7347" y="715"/>
                  </a:cubicBezTo>
                  <a:cubicBezTo>
                    <a:pt x="7347" y="310"/>
                    <a:pt x="7013" y="1"/>
                    <a:pt x="6632"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4" name="Google Shape;54;p6"/>
            <p:cNvSpPr/>
            <p:nvPr/>
          </p:nvSpPr>
          <p:spPr>
            <a:xfrm>
              <a:off x="4044236" y="2176685"/>
              <a:ext cx="144783" cy="123077"/>
            </a:xfrm>
            <a:custGeom>
              <a:rect b="b" l="l" r="r" t="t"/>
              <a:pathLst>
                <a:path extrusionOk="0" h="3867" w="4549">
                  <a:moveTo>
                    <a:pt x="203" y="0"/>
                  </a:moveTo>
                  <a:cubicBezTo>
                    <a:pt x="108" y="0"/>
                    <a:pt x="36" y="84"/>
                    <a:pt x="36" y="167"/>
                  </a:cubicBezTo>
                  <a:cubicBezTo>
                    <a:pt x="36" y="215"/>
                    <a:pt x="1" y="977"/>
                    <a:pt x="405" y="1822"/>
                  </a:cubicBezTo>
                  <a:cubicBezTo>
                    <a:pt x="667" y="2346"/>
                    <a:pt x="1048" y="2798"/>
                    <a:pt x="1525" y="3143"/>
                  </a:cubicBezTo>
                  <a:cubicBezTo>
                    <a:pt x="2186" y="3633"/>
                    <a:pt x="2944" y="3867"/>
                    <a:pt x="3694" y="3867"/>
                  </a:cubicBezTo>
                  <a:cubicBezTo>
                    <a:pt x="3929" y="3867"/>
                    <a:pt x="4164" y="3844"/>
                    <a:pt x="4394" y="3798"/>
                  </a:cubicBezTo>
                  <a:cubicBezTo>
                    <a:pt x="4489" y="3786"/>
                    <a:pt x="4549" y="3691"/>
                    <a:pt x="4537" y="3608"/>
                  </a:cubicBezTo>
                  <a:cubicBezTo>
                    <a:pt x="4526" y="3543"/>
                    <a:pt x="4446" y="3487"/>
                    <a:pt x="4368" y="3487"/>
                  </a:cubicBezTo>
                  <a:cubicBezTo>
                    <a:pt x="4361" y="3487"/>
                    <a:pt x="4354" y="3488"/>
                    <a:pt x="4346" y="3489"/>
                  </a:cubicBezTo>
                  <a:cubicBezTo>
                    <a:pt x="4139" y="3526"/>
                    <a:pt x="3932" y="3545"/>
                    <a:pt x="3725" y="3545"/>
                  </a:cubicBezTo>
                  <a:cubicBezTo>
                    <a:pt x="3018" y="3545"/>
                    <a:pt x="2326" y="3324"/>
                    <a:pt x="1727" y="2882"/>
                  </a:cubicBezTo>
                  <a:cubicBezTo>
                    <a:pt x="275" y="1810"/>
                    <a:pt x="370" y="167"/>
                    <a:pt x="370" y="167"/>
                  </a:cubicBezTo>
                  <a:cubicBezTo>
                    <a:pt x="370" y="84"/>
                    <a:pt x="298" y="0"/>
                    <a:pt x="20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5" name="Google Shape;55;p6"/>
            <p:cNvSpPr/>
            <p:nvPr/>
          </p:nvSpPr>
          <p:spPr>
            <a:xfrm>
              <a:off x="4046910" y="2065957"/>
              <a:ext cx="204269" cy="100893"/>
            </a:xfrm>
            <a:custGeom>
              <a:rect b="b" l="l" r="r" t="t"/>
              <a:pathLst>
                <a:path extrusionOk="0" h="3170" w="6418">
                  <a:moveTo>
                    <a:pt x="3655" y="1"/>
                  </a:moveTo>
                  <a:cubicBezTo>
                    <a:pt x="1971" y="1"/>
                    <a:pt x="367" y="1170"/>
                    <a:pt x="12" y="3003"/>
                  </a:cubicBezTo>
                  <a:cubicBezTo>
                    <a:pt x="0" y="3086"/>
                    <a:pt x="71" y="3170"/>
                    <a:pt x="179" y="3170"/>
                  </a:cubicBezTo>
                  <a:cubicBezTo>
                    <a:pt x="250" y="3170"/>
                    <a:pt x="333" y="3110"/>
                    <a:pt x="345" y="3039"/>
                  </a:cubicBezTo>
                  <a:cubicBezTo>
                    <a:pt x="667" y="1358"/>
                    <a:pt x="2122" y="299"/>
                    <a:pt x="3652" y="299"/>
                  </a:cubicBezTo>
                  <a:cubicBezTo>
                    <a:pt x="4332" y="299"/>
                    <a:pt x="5027" y="509"/>
                    <a:pt x="5644" y="967"/>
                  </a:cubicBezTo>
                  <a:cubicBezTo>
                    <a:pt x="5822" y="1098"/>
                    <a:pt x="5965" y="1241"/>
                    <a:pt x="6120" y="1396"/>
                  </a:cubicBezTo>
                  <a:cubicBezTo>
                    <a:pt x="6155" y="1431"/>
                    <a:pt x="6208" y="1454"/>
                    <a:pt x="6257" y="1454"/>
                  </a:cubicBezTo>
                  <a:cubicBezTo>
                    <a:pt x="6290" y="1454"/>
                    <a:pt x="6322" y="1443"/>
                    <a:pt x="6346" y="1419"/>
                  </a:cubicBezTo>
                  <a:cubicBezTo>
                    <a:pt x="6406" y="1360"/>
                    <a:pt x="6417" y="1253"/>
                    <a:pt x="6358" y="1193"/>
                  </a:cubicBezTo>
                  <a:cubicBezTo>
                    <a:pt x="6191" y="1027"/>
                    <a:pt x="6025" y="860"/>
                    <a:pt x="5834" y="729"/>
                  </a:cubicBezTo>
                  <a:cubicBezTo>
                    <a:pt x="5159" y="229"/>
                    <a:pt x="4399" y="1"/>
                    <a:pt x="3655"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6" name="Google Shape;56;p6"/>
            <p:cNvSpPr/>
            <p:nvPr/>
          </p:nvSpPr>
          <p:spPr>
            <a:xfrm>
              <a:off x="4195735" y="2118027"/>
              <a:ext cx="84247" cy="174224"/>
            </a:xfrm>
            <a:custGeom>
              <a:rect b="b" l="l" r="r" t="t"/>
              <a:pathLst>
                <a:path extrusionOk="0" h="5474" w="2647">
                  <a:moveTo>
                    <a:pt x="1952" y="0"/>
                  </a:moveTo>
                  <a:cubicBezTo>
                    <a:pt x="1920" y="0"/>
                    <a:pt x="1888" y="11"/>
                    <a:pt x="1861" y="33"/>
                  </a:cubicBezTo>
                  <a:cubicBezTo>
                    <a:pt x="1789" y="81"/>
                    <a:pt x="1753" y="176"/>
                    <a:pt x="1813" y="260"/>
                  </a:cubicBezTo>
                  <a:cubicBezTo>
                    <a:pt x="2158" y="795"/>
                    <a:pt x="2325" y="1403"/>
                    <a:pt x="2325" y="2046"/>
                  </a:cubicBezTo>
                  <a:cubicBezTo>
                    <a:pt x="2325" y="3451"/>
                    <a:pt x="1432" y="4689"/>
                    <a:pt x="182" y="5165"/>
                  </a:cubicBezTo>
                  <a:cubicBezTo>
                    <a:pt x="1" y="5229"/>
                    <a:pt x="67" y="5474"/>
                    <a:pt x="237" y="5474"/>
                  </a:cubicBezTo>
                  <a:cubicBezTo>
                    <a:pt x="257" y="5474"/>
                    <a:pt x="278" y="5470"/>
                    <a:pt x="301" y="5463"/>
                  </a:cubicBezTo>
                  <a:cubicBezTo>
                    <a:pt x="1682" y="4927"/>
                    <a:pt x="2646" y="3593"/>
                    <a:pt x="2646" y="2022"/>
                  </a:cubicBezTo>
                  <a:cubicBezTo>
                    <a:pt x="2646" y="1343"/>
                    <a:pt x="2456" y="653"/>
                    <a:pt x="2087" y="81"/>
                  </a:cubicBezTo>
                  <a:cubicBezTo>
                    <a:pt x="2057" y="29"/>
                    <a:pt x="2004" y="0"/>
                    <a:pt x="1952"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7" name="Google Shape;57;p6"/>
            <p:cNvSpPr/>
            <p:nvPr/>
          </p:nvSpPr>
          <p:spPr>
            <a:xfrm>
              <a:off x="4109037" y="2161153"/>
              <a:ext cx="81510" cy="55348"/>
            </a:xfrm>
            <a:custGeom>
              <a:rect b="b" l="l" r="r" t="t"/>
              <a:pathLst>
                <a:path extrusionOk="0" h="1739" w="2561">
                  <a:moveTo>
                    <a:pt x="1691" y="333"/>
                  </a:moveTo>
                  <a:cubicBezTo>
                    <a:pt x="1965" y="333"/>
                    <a:pt x="2144" y="655"/>
                    <a:pt x="1965" y="881"/>
                  </a:cubicBezTo>
                  <a:cubicBezTo>
                    <a:pt x="1900" y="968"/>
                    <a:pt x="1790" y="1020"/>
                    <a:pt x="1682" y="1020"/>
                  </a:cubicBezTo>
                  <a:cubicBezTo>
                    <a:pt x="1613" y="1020"/>
                    <a:pt x="1545" y="999"/>
                    <a:pt x="1489" y="953"/>
                  </a:cubicBezTo>
                  <a:cubicBezTo>
                    <a:pt x="1215" y="762"/>
                    <a:pt x="1370" y="333"/>
                    <a:pt x="1691" y="333"/>
                  </a:cubicBezTo>
                  <a:close/>
                  <a:moveTo>
                    <a:pt x="1691" y="0"/>
                  </a:moveTo>
                  <a:cubicBezTo>
                    <a:pt x="1584" y="0"/>
                    <a:pt x="1334" y="36"/>
                    <a:pt x="1156" y="274"/>
                  </a:cubicBezTo>
                  <a:cubicBezTo>
                    <a:pt x="1025" y="453"/>
                    <a:pt x="989" y="655"/>
                    <a:pt x="1048" y="845"/>
                  </a:cubicBezTo>
                  <a:lnTo>
                    <a:pt x="132" y="1441"/>
                  </a:lnTo>
                  <a:cubicBezTo>
                    <a:pt x="1" y="1536"/>
                    <a:pt x="60" y="1738"/>
                    <a:pt x="215" y="1738"/>
                  </a:cubicBezTo>
                  <a:cubicBezTo>
                    <a:pt x="310" y="1738"/>
                    <a:pt x="263" y="1726"/>
                    <a:pt x="1215" y="1131"/>
                  </a:cubicBezTo>
                  <a:cubicBezTo>
                    <a:pt x="1347" y="1275"/>
                    <a:pt x="1521" y="1344"/>
                    <a:pt x="1693" y="1344"/>
                  </a:cubicBezTo>
                  <a:cubicBezTo>
                    <a:pt x="1893" y="1344"/>
                    <a:pt x="2093" y="1251"/>
                    <a:pt x="2227" y="1072"/>
                  </a:cubicBezTo>
                  <a:cubicBezTo>
                    <a:pt x="2560" y="631"/>
                    <a:pt x="2251" y="0"/>
                    <a:pt x="169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8" name="Google Shape;58;p6"/>
            <p:cNvSpPr/>
            <p:nvPr/>
          </p:nvSpPr>
          <p:spPr>
            <a:xfrm>
              <a:off x="4157160" y="2083080"/>
              <a:ext cx="10662" cy="29218"/>
            </a:xfrm>
            <a:custGeom>
              <a:rect b="b" l="l" r="r" t="t"/>
              <a:pathLst>
                <a:path extrusionOk="0" h="918" w="335">
                  <a:moveTo>
                    <a:pt x="167" y="0"/>
                  </a:moveTo>
                  <a:cubicBezTo>
                    <a:pt x="72" y="0"/>
                    <a:pt x="1" y="72"/>
                    <a:pt x="1" y="167"/>
                  </a:cubicBezTo>
                  <a:lnTo>
                    <a:pt x="1" y="762"/>
                  </a:lnTo>
                  <a:cubicBezTo>
                    <a:pt x="1" y="846"/>
                    <a:pt x="72" y="917"/>
                    <a:pt x="167" y="917"/>
                  </a:cubicBezTo>
                  <a:cubicBezTo>
                    <a:pt x="275" y="917"/>
                    <a:pt x="334" y="846"/>
                    <a:pt x="334" y="762"/>
                  </a:cubicBezTo>
                  <a:lnTo>
                    <a:pt x="334" y="167"/>
                  </a:lnTo>
                  <a:cubicBezTo>
                    <a:pt x="334" y="72"/>
                    <a:pt x="263" y="0"/>
                    <a:pt x="167"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9" name="Google Shape;59;p6"/>
            <p:cNvSpPr/>
            <p:nvPr/>
          </p:nvSpPr>
          <p:spPr>
            <a:xfrm>
              <a:off x="4109419" y="2096034"/>
              <a:ext cx="21261" cy="26862"/>
            </a:xfrm>
            <a:custGeom>
              <a:rect b="b" l="l" r="r" t="t"/>
              <a:pathLst>
                <a:path extrusionOk="0" h="844" w="668">
                  <a:moveTo>
                    <a:pt x="183" y="0"/>
                  </a:moveTo>
                  <a:cubicBezTo>
                    <a:pt x="156" y="0"/>
                    <a:pt x="130" y="7"/>
                    <a:pt x="108" y="22"/>
                  </a:cubicBezTo>
                  <a:cubicBezTo>
                    <a:pt x="36" y="70"/>
                    <a:pt x="1" y="177"/>
                    <a:pt x="48" y="248"/>
                  </a:cubicBezTo>
                  <a:lnTo>
                    <a:pt x="346" y="772"/>
                  </a:lnTo>
                  <a:cubicBezTo>
                    <a:pt x="393" y="808"/>
                    <a:pt x="429" y="844"/>
                    <a:pt x="489" y="844"/>
                  </a:cubicBezTo>
                  <a:cubicBezTo>
                    <a:pt x="524" y="844"/>
                    <a:pt x="548" y="844"/>
                    <a:pt x="572" y="832"/>
                  </a:cubicBezTo>
                  <a:cubicBezTo>
                    <a:pt x="643" y="784"/>
                    <a:pt x="667" y="677"/>
                    <a:pt x="632" y="605"/>
                  </a:cubicBezTo>
                  <a:lnTo>
                    <a:pt x="334" y="82"/>
                  </a:lnTo>
                  <a:cubicBezTo>
                    <a:pt x="301" y="33"/>
                    <a:pt x="241" y="0"/>
                    <a:pt x="18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0" name="Google Shape;60;p6"/>
            <p:cNvSpPr/>
            <p:nvPr/>
          </p:nvSpPr>
          <p:spPr>
            <a:xfrm>
              <a:off x="4074950" y="2130121"/>
              <a:ext cx="28454" cy="19669"/>
            </a:xfrm>
            <a:custGeom>
              <a:rect b="b" l="l" r="r" t="t"/>
              <a:pathLst>
                <a:path extrusionOk="0" h="618" w="894">
                  <a:moveTo>
                    <a:pt x="188" y="1"/>
                  </a:moveTo>
                  <a:cubicBezTo>
                    <a:pt x="130" y="1"/>
                    <a:pt x="72" y="33"/>
                    <a:pt x="48" y="82"/>
                  </a:cubicBezTo>
                  <a:cubicBezTo>
                    <a:pt x="0" y="154"/>
                    <a:pt x="24" y="261"/>
                    <a:pt x="107" y="308"/>
                  </a:cubicBezTo>
                  <a:lnTo>
                    <a:pt x="619" y="606"/>
                  </a:lnTo>
                  <a:cubicBezTo>
                    <a:pt x="655" y="618"/>
                    <a:pt x="679" y="618"/>
                    <a:pt x="703" y="618"/>
                  </a:cubicBezTo>
                  <a:cubicBezTo>
                    <a:pt x="762" y="618"/>
                    <a:pt x="798" y="594"/>
                    <a:pt x="834" y="546"/>
                  </a:cubicBezTo>
                  <a:cubicBezTo>
                    <a:pt x="893" y="475"/>
                    <a:pt x="881" y="368"/>
                    <a:pt x="786" y="320"/>
                  </a:cubicBezTo>
                  <a:lnTo>
                    <a:pt x="262" y="23"/>
                  </a:lnTo>
                  <a:cubicBezTo>
                    <a:pt x="240" y="8"/>
                    <a:pt x="214" y="1"/>
                    <a:pt x="188"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1" name="Google Shape;61;p6"/>
            <p:cNvSpPr/>
            <p:nvPr/>
          </p:nvSpPr>
          <p:spPr>
            <a:xfrm>
              <a:off x="4063555" y="2177067"/>
              <a:ext cx="29218" cy="10630"/>
            </a:xfrm>
            <a:custGeom>
              <a:rect b="b" l="l" r="r" t="t"/>
              <a:pathLst>
                <a:path extrusionOk="0" h="334" w="918">
                  <a:moveTo>
                    <a:pt x="168" y="0"/>
                  </a:moveTo>
                  <a:cubicBezTo>
                    <a:pt x="72" y="0"/>
                    <a:pt x="1" y="83"/>
                    <a:pt x="1" y="167"/>
                  </a:cubicBezTo>
                  <a:cubicBezTo>
                    <a:pt x="1" y="262"/>
                    <a:pt x="72" y="334"/>
                    <a:pt x="168" y="334"/>
                  </a:cubicBezTo>
                  <a:lnTo>
                    <a:pt x="763" y="334"/>
                  </a:lnTo>
                  <a:cubicBezTo>
                    <a:pt x="846" y="334"/>
                    <a:pt x="918" y="262"/>
                    <a:pt x="918" y="167"/>
                  </a:cubicBezTo>
                  <a:cubicBezTo>
                    <a:pt x="918" y="83"/>
                    <a:pt x="846" y="0"/>
                    <a:pt x="76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2" name="Google Shape;62;p6"/>
            <p:cNvSpPr/>
            <p:nvPr/>
          </p:nvSpPr>
          <p:spPr>
            <a:xfrm>
              <a:off x="4073804" y="2215005"/>
              <a:ext cx="29600" cy="20051"/>
            </a:xfrm>
            <a:custGeom>
              <a:rect b="b" l="l" r="r" t="t"/>
              <a:pathLst>
                <a:path extrusionOk="0" h="630" w="930">
                  <a:moveTo>
                    <a:pt x="735" y="1"/>
                  </a:moveTo>
                  <a:cubicBezTo>
                    <a:pt x="709" y="1"/>
                    <a:pt x="681" y="8"/>
                    <a:pt x="655" y="23"/>
                  </a:cubicBezTo>
                  <a:lnTo>
                    <a:pt x="143" y="320"/>
                  </a:lnTo>
                  <a:cubicBezTo>
                    <a:pt x="0" y="404"/>
                    <a:pt x="60" y="630"/>
                    <a:pt x="227" y="630"/>
                  </a:cubicBezTo>
                  <a:cubicBezTo>
                    <a:pt x="298" y="630"/>
                    <a:pt x="298" y="606"/>
                    <a:pt x="822" y="308"/>
                  </a:cubicBezTo>
                  <a:cubicBezTo>
                    <a:pt x="893" y="261"/>
                    <a:pt x="929" y="154"/>
                    <a:pt x="881" y="82"/>
                  </a:cubicBezTo>
                  <a:cubicBezTo>
                    <a:pt x="849" y="33"/>
                    <a:pt x="794" y="1"/>
                    <a:pt x="735"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3" name="Google Shape;63;p6"/>
            <p:cNvSpPr/>
            <p:nvPr/>
          </p:nvSpPr>
          <p:spPr>
            <a:xfrm>
              <a:off x="4109419" y="2242472"/>
              <a:ext cx="21261" cy="26703"/>
            </a:xfrm>
            <a:custGeom>
              <a:rect b="b" l="l" r="r" t="t"/>
              <a:pathLst>
                <a:path extrusionOk="0" h="839" w="668">
                  <a:moveTo>
                    <a:pt x="496" y="0"/>
                  </a:moveTo>
                  <a:cubicBezTo>
                    <a:pt x="441" y="0"/>
                    <a:pt x="391" y="27"/>
                    <a:pt x="358" y="76"/>
                  </a:cubicBezTo>
                  <a:lnTo>
                    <a:pt x="60" y="600"/>
                  </a:lnTo>
                  <a:cubicBezTo>
                    <a:pt x="1" y="707"/>
                    <a:pt x="72" y="838"/>
                    <a:pt x="191" y="838"/>
                  </a:cubicBezTo>
                  <a:cubicBezTo>
                    <a:pt x="251" y="838"/>
                    <a:pt x="298" y="815"/>
                    <a:pt x="334" y="767"/>
                  </a:cubicBezTo>
                  <a:lnTo>
                    <a:pt x="632" y="243"/>
                  </a:lnTo>
                  <a:cubicBezTo>
                    <a:pt x="667" y="172"/>
                    <a:pt x="643" y="64"/>
                    <a:pt x="572" y="17"/>
                  </a:cubicBezTo>
                  <a:cubicBezTo>
                    <a:pt x="546" y="6"/>
                    <a:pt x="520" y="0"/>
                    <a:pt x="496"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4" name="Google Shape;64;p6"/>
            <p:cNvSpPr/>
            <p:nvPr/>
          </p:nvSpPr>
          <p:spPr>
            <a:xfrm>
              <a:off x="4157924" y="2252466"/>
              <a:ext cx="10248" cy="29600"/>
            </a:xfrm>
            <a:custGeom>
              <a:rect b="b" l="l" r="r" t="t"/>
              <a:pathLst>
                <a:path extrusionOk="0" h="930" w="322">
                  <a:moveTo>
                    <a:pt x="155" y="0"/>
                  </a:moveTo>
                  <a:cubicBezTo>
                    <a:pt x="72" y="0"/>
                    <a:pt x="1" y="84"/>
                    <a:pt x="1" y="167"/>
                  </a:cubicBezTo>
                  <a:lnTo>
                    <a:pt x="1" y="762"/>
                  </a:lnTo>
                  <a:cubicBezTo>
                    <a:pt x="1" y="858"/>
                    <a:pt x="72" y="929"/>
                    <a:pt x="155" y="929"/>
                  </a:cubicBezTo>
                  <a:cubicBezTo>
                    <a:pt x="251" y="929"/>
                    <a:pt x="322" y="858"/>
                    <a:pt x="322" y="762"/>
                  </a:cubicBezTo>
                  <a:lnTo>
                    <a:pt x="322" y="167"/>
                  </a:lnTo>
                  <a:cubicBezTo>
                    <a:pt x="322" y="84"/>
                    <a:pt x="251" y="0"/>
                    <a:pt x="155"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5" name="Google Shape;65;p6"/>
            <p:cNvSpPr/>
            <p:nvPr/>
          </p:nvSpPr>
          <p:spPr>
            <a:xfrm>
              <a:off x="4194685" y="2242472"/>
              <a:ext cx="21261" cy="27022"/>
            </a:xfrm>
            <a:custGeom>
              <a:rect b="b" l="l" r="r" t="t"/>
              <a:pathLst>
                <a:path extrusionOk="0" h="849" w="668">
                  <a:moveTo>
                    <a:pt x="181" y="0"/>
                  </a:moveTo>
                  <a:cubicBezTo>
                    <a:pt x="155" y="0"/>
                    <a:pt x="130" y="6"/>
                    <a:pt x="108" y="17"/>
                  </a:cubicBezTo>
                  <a:cubicBezTo>
                    <a:pt x="36" y="64"/>
                    <a:pt x="0" y="172"/>
                    <a:pt x="48" y="243"/>
                  </a:cubicBezTo>
                  <a:lnTo>
                    <a:pt x="346" y="767"/>
                  </a:lnTo>
                  <a:cubicBezTo>
                    <a:pt x="378" y="816"/>
                    <a:pt x="428" y="848"/>
                    <a:pt x="487" y="848"/>
                  </a:cubicBezTo>
                  <a:cubicBezTo>
                    <a:pt x="513" y="848"/>
                    <a:pt x="542" y="841"/>
                    <a:pt x="572" y="826"/>
                  </a:cubicBezTo>
                  <a:cubicBezTo>
                    <a:pt x="643" y="779"/>
                    <a:pt x="667" y="672"/>
                    <a:pt x="631" y="600"/>
                  </a:cubicBezTo>
                  <a:lnTo>
                    <a:pt x="334" y="76"/>
                  </a:lnTo>
                  <a:cubicBezTo>
                    <a:pt x="301" y="27"/>
                    <a:pt x="240" y="0"/>
                    <a:pt x="18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6" name="Google Shape;66;p6"/>
            <p:cNvSpPr/>
            <p:nvPr/>
          </p:nvSpPr>
          <p:spPr>
            <a:xfrm>
              <a:off x="4222343" y="2215387"/>
              <a:ext cx="27690" cy="19669"/>
            </a:xfrm>
            <a:custGeom>
              <a:rect b="b" l="l" r="r" t="t"/>
              <a:pathLst>
                <a:path extrusionOk="0" h="618" w="870">
                  <a:moveTo>
                    <a:pt x="176" y="1"/>
                  </a:moveTo>
                  <a:cubicBezTo>
                    <a:pt x="118" y="1"/>
                    <a:pt x="57" y="33"/>
                    <a:pt x="24" y="82"/>
                  </a:cubicBezTo>
                  <a:cubicBezTo>
                    <a:pt x="1" y="142"/>
                    <a:pt x="13" y="249"/>
                    <a:pt x="96" y="296"/>
                  </a:cubicBezTo>
                  <a:cubicBezTo>
                    <a:pt x="632" y="594"/>
                    <a:pt x="620" y="618"/>
                    <a:pt x="691" y="618"/>
                  </a:cubicBezTo>
                  <a:cubicBezTo>
                    <a:pt x="751" y="618"/>
                    <a:pt x="798" y="594"/>
                    <a:pt x="834" y="546"/>
                  </a:cubicBezTo>
                  <a:cubicBezTo>
                    <a:pt x="870" y="475"/>
                    <a:pt x="846" y="368"/>
                    <a:pt x="775" y="320"/>
                  </a:cubicBezTo>
                  <a:lnTo>
                    <a:pt x="251" y="22"/>
                  </a:lnTo>
                  <a:cubicBezTo>
                    <a:pt x="228" y="8"/>
                    <a:pt x="202" y="1"/>
                    <a:pt x="176"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7" name="Google Shape;67;p6"/>
            <p:cNvSpPr/>
            <p:nvPr/>
          </p:nvSpPr>
          <p:spPr>
            <a:xfrm>
              <a:off x="4232941" y="2177067"/>
              <a:ext cx="29600" cy="10630"/>
            </a:xfrm>
            <a:custGeom>
              <a:rect b="b" l="l" r="r" t="t"/>
              <a:pathLst>
                <a:path extrusionOk="0" h="334" w="930">
                  <a:moveTo>
                    <a:pt x="168" y="0"/>
                  </a:moveTo>
                  <a:cubicBezTo>
                    <a:pt x="72" y="0"/>
                    <a:pt x="1" y="83"/>
                    <a:pt x="1" y="167"/>
                  </a:cubicBezTo>
                  <a:cubicBezTo>
                    <a:pt x="1" y="262"/>
                    <a:pt x="72" y="334"/>
                    <a:pt x="168" y="334"/>
                  </a:cubicBezTo>
                  <a:lnTo>
                    <a:pt x="763" y="334"/>
                  </a:lnTo>
                  <a:cubicBezTo>
                    <a:pt x="858" y="334"/>
                    <a:pt x="930" y="262"/>
                    <a:pt x="930" y="167"/>
                  </a:cubicBezTo>
                  <a:cubicBezTo>
                    <a:pt x="930" y="83"/>
                    <a:pt x="858" y="0"/>
                    <a:pt x="76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8" name="Google Shape;68;p6"/>
            <p:cNvSpPr/>
            <p:nvPr/>
          </p:nvSpPr>
          <p:spPr>
            <a:xfrm>
              <a:off x="4221579" y="2130694"/>
              <a:ext cx="28454" cy="19478"/>
            </a:xfrm>
            <a:custGeom>
              <a:rect b="b" l="l" r="r" t="t"/>
              <a:pathLst>
                <a:path extrusionOk="0" h="612" w="894">
                  <a:moveTo>
                    <a:pt x="706" y="0"/>
                  </a:moveTo>
                  <a:cubicBezTo>
                    <a:pt x="679" y="0"/>
                    <a:pt x="654" y="5"/>
                    <a:pt x="632" y="16"/>
                  </a:cubicBezTo>
                  <a:lnTo>
                    <a:pt x="108" y="314"/>
                  </a:lnTo>
                  <a:cubicBezTo>
                    <a:pt x="37" y="362"/>
                    <a:pt x="1" y="469"/>
                    <a:pt x="48" y="540"/>
                  </a:cubicBezTo>
                  <a:cubicBezTo>
                    <a:pt x="96" y="588"/>
                    <a:pt x="144" y="612"/>
                    <a:pt x="203" y="612"/>
                  </a:cubicBezTo>
                  <a:cubicBezTo>
                    <a:pt x="227" y="612"/>
                    <a:pt x="263" y="612"/>
                    <a:pt x="275" y="600"/>
                  </a:cubicBezTo>
                  <a:lnTo>
                    <a:pt x="799" y="302"/>
                  </a:lnTo>
                  <a:cubicBezTo>
                    <a:pt x="870" y="255"/>
                    <a:pt x="894" y="159"/>
                    <a:pt x="858" y="76"/>
                  </a:cubicBezTo>
                  <a:cubicBezTo>
                    <a:pt x="825" y="27"/>
                    <a:pt x="764" y="0"/>
                    <a:pt x="706"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9" name="Google Shape;69;p6"/>
            <p:cNvSpPr/>
            <p:nvPr/>
          </p:nvSpPr>
          <p:spPr>
            <a:xfrm>
              <a:off x="4194685" y="2095652"/>
              <a:ext cx="20879" cy="26862"/>
            </a:xfrm>
            <a:custGeom>
              <a:rect b="b" l="l" r="r" t="t"/>
              <a:pathLst>
                <a:path extrusionOk="0" h="844" w="656">
                  <a:moveTo>
                    <a:pt x="479" y="0"/>
                  </a:moveTo>
                  <a:cubicBezTo>
                    <a:pt x="428" y="0"/>
                    <a:pt x="378" y="33"/>
                    <a:pt x="346" y="82"/>
                  </a:cubicBezTo>
                  <a:lnTo>
                    <a:pt x="48" y="606"/>
                  </a:lnTo>
                  <a:cubicBezTo>
                    <a:pt x="0" y="677"/>
                    <a:pt x="36" y="784"/>
                    <a:pt x="108" y="820"/>
                  </a:cubicBezTo>
                  <a:cubicBezTo>
                    <a:pt x="131" y="844"/>
                    <a:pt x="167" y="844"/>
                    <a:pt x="179" y="844"/>
                  </a:cubicBezTo>
                  <a:cubicBezTo>
                    <a:pt x="239" y="844"/>
                    <a:pt x="286" y="808"/>
                    <a:pt x="310" y="760"/>
                  </a:cubicBezTo>
                  <a:lnTo>
                    <a:pt x="608" y="248"/>
                  </a:lnTo>
                  <a:cubicBezTo>
                    <a:pt x="655" y="165"/>
                    <a:pt x="631" y="70"/>
                    <a:pt x="548" y="22"/>
                  </a:cubicBezTo>
                  <a:cubicBezTo>
                    <a:pt x="526" y="7"/>
                    <a:pt x="502" y="0"/>
                    <a:pt x="479"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sp>
        <p:nvSpPr>
          <p:cNvPr id="70" name="Google Shape;70;p6"/>
          <p:cNvSpPr txBox="1"/>
          <p:nvPr/>
        </p:nvSpPr>
        <p:spPr>
          <a:xfrm>
            <a:off x="1294202" y="1970338"/>
            <a:ext cx="786352" cy="29610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995">
                <a:solidFill>
                  <a:srgbClr val="FFFFFF"/>
                </a:solidFill>
                <a:latin typeface="Montserrat"/>
                <a:ea typeface="Montserrat"/>
                <a:cs typeface="Montserrat"/>
                <a:sym typeface="Montserrat"/>
              </a:rPr>
              <a:t>Duration:</a:t>
            </a:r>
            <a:endParaRPr/>
          </a:p>
        </p:txBody>
      </p:sp>
      <p:grpSp>
        <p:nvGrpSpPr>
          <p:cNvPr id="71" name="Google Shape;71;p6"/>
          <p:cNvGrpSpPr/>
          <p:nvPr/>
        </p:nvGrpSpPr>
        <p:grpSpPr>
          <a:xfrm>
            <a:off x="1141688" y="2339783"/>
            <a:ext cx="168509" cy="154837"/>
            <a:chOff x="1952836" y="2774422"/>
            <a:chExt cx="372835" cy="342573"/>
          </a:xfrm>
        </p:grpSpPr>
        <p:sp>
          <p:nvSpPr>
            <p:cNvPr id="72" name="Google Shape;72;p6"/>
            <p:cNvSpPr/>
            <p:nvPr/>
          </p:nvSpPr>
          <p:spPr>
            <a:xfrm>
              <a:off x="2076490" y="3057581"/>
              <a:ext cx="40869" cy="40869"/>
            </a:xfrm>
            <a:custGeom>
              <a:rect b="b" l="l" r="r" t="t"/>
              <a:pathLst>
                <a:path extrusionOk="0" h="1287" w="1287">
                  <a:moveTo>
                    <a:pt x="643" y="346"/>
                  </a:moveTo>
                  <a:cubicBezTo>
                    <a:pt x="810" y="346"/>
                    <a:pt x="941" y="477"/>
                    <a:pt x="941" y="644"/>
                  </a:cubicBezTo>
                  <a:cubicBezTo>
                    <a:pt x="941" y="811"/>
                    <a:pt x="810" y="941"/>
                    <a:pt x="643" y="941"/>
                  </a:cubicBezTo>
                  <a:cubicBezTo>
                    <a:pt x="476" y="941"/>
                    <a:pt x="345" y="811"/>
                    <a:pt x="345" y="644"/>
                  </a:cubicBezTo>
                  <a:cubicBezTo>
                    <a:pt x="345" y="477"/>
                    <a:pt x="476" y="346"/>
                    <a:pt x="643" y="346"/>
                  </a:cubicBezTo>
                  <a:close/>
                  <a:moveTo>
                    <a:pt x="643" y="1"/>
                  </a:moveTo>
                  <a:cubicBezTo>
                    <a:pt x="286" y="1"/>
                    <a:pt x="0" y="287"/>
                    <a:pt x="0" y="644"/>
                  </a:cubicBezTo>
                  <a:cubicBezTo>
                    <a:pt x="0" y="1001"/>
                    <a:pt x="286" y="1287"/>
                    <a:pt x="643" y="1287"/>
                  </a:cubicBezTo>
                  <a:cubicBezTo>
                    <a:pt x="1000" y="1287"/>
                    <a:pt x="1286" y="1001"/>
                    <a:pt x="1286" y="644"/>
                  </a:cubicBezTo>
                  <a:cubicBezTo>
                    <a:pt x="1286" y="287"/>
                    <a:pt x="1000" y="1"/>
                    <a:pt x="643" y="1"/>
                  </a:cubicBezTo>
                  <a:close/>
                </a:path>
              </a:pathLst>
            </a:custGeom>
            <a:solidFill>
              <a:srgbClr val="18375E"/>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73" name="Google Shape;73;p6"/>
            <p:cNvSpPr/>
            <p:nvPr/>
          </p:nvSpPr>
          <p:spPr>
            <a:xfrm>
              <a:off x="2208432" y="3057581"/>
              <a:ext cx="40869" cy="40869"/>
            </a:xfrm>
            <a:custGeom>
              <a:rect b="b" l="l" r="r" t="t"/>
              <a:pathLst>
                <a:path extrusionOk="0" h="1287" w="1287">
                  <a:moveTo>
                    <a:pt x="643" y="346"/>
                  </a:moveTo>
                  <a:cubicBezTo>
                    <a:pt x="810" y="346"/>
                    <a:pt x="941" y="477"/>
                    <a:pt x="941" y="644"/>
                  </a:cubicBezTo>
                  <a:cubicBezTo>
                    <a:pt x="941" y="811"/>
                    <a:pt x="810" y="941"/>
                    <a:pt x="643" y="941"/>
                  </a:cubicBezTo>
                  <a:cubicBezTo>
                    <a:pt x="477" y="941"/>
                    <a:pt x="346" y="811"/>
                    <a:pt x="346" y="644"/>
                  </a:cubicBezTo>
                  <a:cubicBezTo>
                    <a:pt x="346" y="477"/>
                    <a:pt x="477" y="346"/>
                    <a:pt x="643" y="346"/>
                  </a:cubicBezTo>
                  <a:close/>
                  <a:moveTo>
                    <a:pt x="643" y="1"/>
                  </a:moveTo>
                  <a:cubicBezTo>
                    <a:pt x="286" y="1"/>
                    <a:pt x="0" y="287"/>
                    <a:pt x="0" y="644"/>
                  </a:cubicBezTo>
                  <a:cubicBezTo>
                    <a:pt x="0" y="1001"/>
                    <a:pt x="286" y="1287"/>
                    <a:pt x="643" y="1287"/>
                  </a:cubicBezTo>
                  <a:cubicBezTo>
                    <a:pt x="1001" y="1287"/>
                    <a:pt x="1286" y="1001"/>
                    <a:pt x="1286" y="644"/>
                  </a:cubicBezTo>
                  <a:cubicBezTo>
                    <a:pt x="1286" y="287"/>
                    <a:pt x="1001" y="1"/>
                    <a:pt x="643" y="1"/>
                  </a:cubicBezTo>
                  <a:close/>
                </a:path>
              </a:pathLst>
            </a:custGeom>
            <a:solidFill>
              <a:srgbClr val="18375E"/>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74" name="Google Shape;74;p6"/>
            <p:cNvSpPr/>
            <p:nvPr/>
          </p:nvSpPr>
          <p:spPr>
            <a:xfrm>
              <a:off x="1952836" y="2774422"/>
              <a:ext cx="372835" cy="342573"/>
            </a:xfrm>
            <a:custGeom>
              <a:rect b="b" l="l" r="r" t="t"/>
              <a:pathLst>
                <a:path extrusionOk="0" h="10788" w="11741">
                  <a:moveTo>
                    <a:pt x="5382" y="1988"/>
                  </a:moveTo>
                  <a:lnTo>
                    <a:pt x="5382" y="3001"/>
                  </a:lnTo>
                  <a:lnTo>
                    <a:pt x="4359" y="3001"/>
                  </a:lnTo>
                  <a:lnTo>
                    <a:pt x="4359" y="1988"/>
                  </a:lnTo>
                  <a:close/>
                  <a:moveTo>
                    <a:pt x="6752" y="1988"/>
                  </a:moveTo>
                  <a:lnTo>
                    <a:pt x="6752" y="3001"/>
                  </a:lnTo>
                  <a:lnTo>
                    <a:pt x="5728" y="3001"/>
                  </a:lnTo>
                  <a:lnTo>
                    <a:pt x="5728" y="1988"/>
                  </a:lnTo>
                  <a:close/>
                  <a:moveTo>
                    <a:pt x="8121" y="1988"/>
                  </a:moveTo>
                  <a:lnTo>
                    <a:pt x="8121" y="3001"/>
                  </a:lnTo>
                  <a:lnTo>
                    <a:pt x="7097" y="3001"/>
                  </a:lnTo>
                  <a:lnTo>
                    <a:pt x="7097" y="1988"/>
                  </a:lnTo>
                  <a:close/>
                  <a:moveTo>
                    <a:pt x="9490" y="1988"/>
                  </a:moveTo>
                  <a:lnTo>
                    <a:pt x="9490" y="3001"/>
                  </a:lnTo>
                  <a:lnTo>
                    <a:pt x="8466" y="3001"/>
                  </a:lnTo>
                  <a:lnTo>
                    <a:pt x="8466" y="1988"/>
                  </a:lnTo>
                  <a:close/>
                  <a:moveTo>
                    <a:pt x="10324" y="1988"/>
                  </a:moveTo>
                  <a:lnTo>
                    <a:pt x="10085" y="3001"/>
                  </a:lnTo>
                  <a:lnTo>
                    <a:pt x="9847" y="3001"/>
                  </a:lnTo>
                  <a:lnTo>
                    <a:pt x="9847" y="1988"/>
                  </a:lnTo>
                  <a:close/>
                  <a:moveTo>
                    <a:pt x="4001" y="2000"/>
                  </a:moveTo>
                  <a:lnTo>
                    <a:pt x="4001" y="3012"/>
                  </a:lnTo>
                  <a:lnTo>
                    <a:pt x="3311" y="3012"/>
                  </a:lnTo>
                  <a:lnTo>
                    <a:pt x="2965" y="2000"/>
                  </a:lnTo>
                  <a:close/>
                  <a:moveTo>
                    <a:pt x="10014" y="3334"/>
                  </a:moveTo>
                  <a:lnTo>
                    <a:pt x="9847" y="4048"/>
                  </a:lnTo>
                  <a:lnTo>
                    <a:pt x="9847" y="3334"/>
                  </a:lnTo>
                  <a:close/>
                  <a:moveTo>
                    <a:pt x="4013" y="3334"/>
                  </a:moveTo>
                  <a:lnTo>
                    <a:pt x="4013" y="4370"/>
                  </a:lnTo>
                  <a:lnTo>
                    <a:pt x="3823" y="4370"/>
                  </a:lnTo>
                  <a:lnTo>
                    <a:pt x="3454" y="3334"/>
                  </a:lnTo>
                  <a:close/>
                  <a:moveTo>
                    <a:pt x="5371" y="3334"/>
                  </a:moveTo>
                  <a:lnTo>
                    <a:pt x="5371" y="4370"/>
                  </a:lnTo>
                  <a:lnTo>
                    <a:pt x="4347" y="4370"/>
                  </a:lnTo>
                  <a:lnTo>
                    <a:pt x="4347" y="3334"/>
                  </a:lnTo>
                  <a:close/>
                  <a:moveTo>
                    <a:pt x="6752" y="3334"/>
                  </a:moveTo>
                  <a:lnTo>
                    <a:pt x="6752" y="4370"/>
                  </a:lnTo>
                  <a:lnTo>
                    <a:pt x="5728" y="4370"/>
                  </a:lnTo>
                  <a:lnTo>
                    <a:pt x="5728" y="3334"/>
                  </a:lnTo>
                  <a:close/>
                  <a:moveTo>
                    <a:pt x="8121" y="3358"/>
                  </a:moveTo>
                  <a:lnTo>
                    <a:pt x="8121" y="4382"/>
                  </a:lnTo>
                  <a:lnTo>
                    <a:pt x="7097" y="4382"/>
                  </a:lnTo>
                  <a:lnTo>
                    <a:pt x="7097" y="3358"/>
                  </a:lnTo>
                  <a:close/>
                  <a:moveTo>
                    <a:pt x="9514" y="3358"/>
                  </a:moveTo>
                  <a:lnTo>
                    <a:pt x="9514" y="4382"/>
                  </a:lnTo>
                  <a:lnTo>
                    <a:pt x="8478" y="4382"/>
                  </a:lnTo>
                  <a:lnTo>
                    <a:pt x="8478" y="3358"/>
                  </a:lnTo>
                  <a:close/>
                  <a:moveTo>
                    <a:pt x="4001" y="4727"/>
                  </a:moveTo>
                  <a:lnTo>
                    <a:pt x="4001" y="4941"/>
                  </a:lnTo>
                  <a:lnTo>
                    <a:pt x="3930" y="4727"/>
                  </a:lnTo>
                  <a:close/>
                  <a:moveTo>
                    <a:pt x="5371" y="4715"/>
                  </a:moveTo>
                  <a:lnTo>
                    <a:pt x="5371" y="5525"/>
                  </a:lnTo>
                  <a:cubicBezTo>
                    <a:pt x="5297" y="5521"/>
                    <a:pt x="5230" y="5520"/>
                    <a:pt x="5167" y="5520"/>
                  </a:cubicBezTo>
                  <a:cubicBezTo>
                    <a:pt x="5049" y="5520"/>
                    <a:pt x="4947" y="5524"/>
                    <a:pt x="4854" y="5524"/>
                  </a:cubicBezTo>
                  <a:cubicBezTo>
                    <a:pt x="4666" y="5524"/>
                    <a:pt x="4516" y="5507"/>
                    <a:pt x="4347" y="5406"/>
                  </a:cubicBezTo>
                  <a:lnTo>
                    <a:pt x="4347" y="4715"/>
                  </a:lnTo>
                  <a:close/>
                  <a:moveTo>
                    <a:pt x="6752" y="4727"/>
                  </a:moveTo>
                  <a:lnTo>
                    <a:pt x="6752" y="5525"/>
                  </a:lnTo>
                  <a:lnTo>
                    <a:pt x="5728" y="5525"/>
                  </a:lnTo>
                  <a:lnTo>
                    <a:pt x="5728" y="4727"/>
                  </a:lnTo>
                  <a:close/>
                  <a:moveTo>
                    <a:pt x="8121" y="4727"/>
                  </a:moveTo>
                  <a:lnTo>
                    <a:pt x="8121" y="5525"/>
                  </a:lnTo>
                  <a:lnTo>
                    <a:pt x="7097" y="5525"/>
                  </a:lnTo>
                  <a:lnTo>
                    <a:pt x="7097" y="4727"/>
                  </a:lnTo>
                  <a:close/>
                  <a:moveTo>
                    <a:pt x="9490" y="4727"/>
                  </a:moveTo>
                  <a:lnTo>
                    <a:pt x="9490" y="5525"/>
                  </a:lnTo>
                  <a:lnTo>
                    <a:pt x="8466" y="5525"/>
                  </a:lnTo>
                  <a:lnTo>
                    <a:pt x="8466" y="4727"/>
                  </a:lnTo>
                  <a:close/>
                  <a:moveTo>
                    <a:pt x="4537" y="8680"/>
                  </a:moveTo>
                  <a:cubicBezTo>
                    <a:pt x="5025" y="8680"/>
                    <a:pt x="5418" y="9085"/>
                    <a:pt x="5418" y="9561"/>
                  </a:cubicBezTo>
                  <a:cubicBezTo>
                    <a:pt x="5418" y="10037"/>
                    <a:pt x="5025" y="10442"/>
                    <a:pt x="4537" y="10442"/>
                  </a:cubicBezTo>
                  <a:cubicBezTo>
                    <a:pt x="4049" y="10442"/>
                    <a:pt x="3656" y="10049"/>
                    <a:pt x="3656" y="9561"/>
                  </a:cubicBezTo>
                  <a:cubicBezTo>
                    <a:pt x="3656" y="9085"/>
                    <a:pt x="4049" y="8680"/>
                    <a:pt x="4537" y="8680"/>
                  </a:cubicBezTo>
                  <a:close/>
                  <a:moveTo>
                    <a:pt x="8692" y="8680"/>
                  </a:moveTo>
                  <a:cubicBezTo>
                    <a:pt x="9181" y="8680"/>
                    <a:pt x="9573" y="9085"/>
                    <a:pt x="9573" y="9561"/>
                  </a:cubicBezTo>
                  <a:cubicBezTo>
                    <a:pt x="9573" y="10037"/>
                    <a:pt x="9181" y="10442"/>
                    <a:pt x="8692" y="10442"/>
                  </a:cubicBezTo>
                  <a:cubicBezTo>
                    <a:pt x="8204" y="10442"/>
                    <a:pt x="7811" y="10049"/>
                    <a:pt x="7811" y="9561"/>
                  </a:cubicBezTo>
                  <a:cubicBezTo>
                    <a:pt x="7811" y="9085"/>
                    <a:pt x="8204" y="8680"/>
                    <a:pt x="8692" y="8680"/>
                  </a:cubicBezTo>
                  <a:close/>
                  <a:moveTo>
                    <a:pt x="620" y="0"/>
                  </a:moveTo>
                  <a:cubicBezTo>
                    <a:pt x="287" y="0"/>
                    <a:pt x="1" y="286"/>
                    <a:pt x="1" y="631"/>
                  </a:cubicBezTo>
                  <a:cubicBezTo>
                    <a:pt x="1" y="976"/>
                    <a:pt x="287" y="1250"/>
                    <a:pt x="620" y="1250"/>
                  </a:cubicBezTo>
                  <a:lnTo>
                    <a:pt x="1394" y="1250"/>
                  </a:lnTo>
                  <a:lnTo>
                    <a:pt x="2346" y="3965"/>
                  </a:lnTo>
                  <a:cubicBezTo>
                    <a:pt x="2374" y="4029"/>
                    <a:pt x="2444" y="4072"/>
                    <a:pt x="2513" y="4072"/>
                  </a:cubicBezTo>
                  <a:cubicBezTo>
                    <a:pt x="2533" y="4072"/>
                    <a:pt x="2553" y="4068"/>
                    <a:pt x="2573" y="4060"/>
                  </a:cubicBezTo>
                  <a:cubicBezTo>
                    <a:pt x="2668" y="4036"/>
                    <a:pt x="2704" y="3929"/>
                    <a:pt x="2680" y="3846"/>
                  </a:cubicBezTo>
                  <a:cubicBezTo>
                    <a:pt x="1739" y="1191"/>
                    <a:pt x="1692" y="1072"/>
                    <a:pt x="1692" y="1072"/>
                  </a:cubicBezTo>
                  <a:cubicBezTo>
                    <a:pt x="1656" y="965"/>
                    <a:pt x="1561" y="905"/>
                    <a:pt x="1441" y="905"/>
                  </a:cubicBezTo>
                  <a:lnTo>
                    <a:pt x="620" y="905"/>
                  </a:lnTo>
                  <a:cubicBezTo>
                    <a:pt x="465" y="905"/>
                    <a:pt x="346" y="774"/>
                    <a:pt x="346" y="631"/>
                  </a:cubicBezTo>
                  <a:cubicBezTo>
                    <a:pt x="346" y="464"/>
                    <a:pt x="477" y="345"/>
                    <a:pt x="620" y="345"/>
                  </a:cubicBezTo>
                  <a:lnTo>
                    <a:pt x="1441" y="345"/>
                  </a:lnTo>
                  <a:cubicBezTo>
                    <a:pt x="1787" y="345"/>
                    <a:pt x="2084" y="536"/>
                    <a:pt x="2215" y="845"/>
                  </a:cubicBezTo>
                  <a:cubicBezTo>
                    <a:pt x="2418" y="1429"/>
                    <a:pt x="3585" y="4703"/>
                    <a:pt x="3751" y="5191"/>
                  </a:cubicBezTo>
                  <a:cubicBezTo>
                    <a:pt x="3870" y="5548"/>
                    <a:pt x="4287" y="5882"/>
                    <a:pt x="4775" y="5882"/>
                  </a:cubicBezTo>
                  <a:lnTo>
                    <a:pt x="10978" y="5882"/>
                  </a:lnTo>
                  <a:cubicBezTo>
                    <a:pt x="11145" y="5882"/>
                    <a:pt x="11264" y="6013"/>
                    <a:pt x="11264" y="6168"/>
                  </a:cubicBezTo>
                  <a:cubicBezTo>
                    <a:pt x="11264" y="6322"/>
                    <a:pt x="11133" y="6441"/>
                    <a:pt x="10978" y="6441"/>
                  </a:cubicBezTo>
                  <a:lnTo>
                    <a:pt x="4775" y="6441"/>
                  </a:lnTo>
                  <a:cubicBezTo>
                    <a:pt x="4108" y="6441"/>
                    <a:pt x="3489" y="6049"/>
                    <a:pt x="3227" y="5417"/>
                  </a:cubicBezTo>
                  <a:lnTo>
                    <a:pt x="2882" y="4453"/>
                  </a:lnTo>
                  <a:cubicBezTo>
                    <a:pt x="2863" y="4377"/>
                    <a:pt x="2791" y="4339"/>
                    <a:pt x="2720" y="4339"/>
                  </a:cubicBezTo>
                  <a:cubicBezTo>
                    <a:pt x="2702" y="4339"/>
                    <a:pt x="2684" y="4341"/>
                    <a:pt x="2668" y="4346"/>
                  </a:cubicBezTo>
                  <a:cubicBezTo>
                    <a:pt x="2573" y="4382"/>
                    <a:pt x="2525" y="4477"/>
                    <a:pt x="2561" y="4572"/>
                  </a:cubicBezTo>
                  <a:cubicBezTo>
                    <a:pt x="2846" y="5275"/>
                    <a:pt x="2846" y="5596"/>
                    <a:pt x="3180" y="6013"/>
                  </a:cubicBezTo>
                  <a:lnTo>
                    <a:pt x="2799" y="6560"/>
                  </a:lnTo>
                  <a:cubicBezTo>
                    <a:pt x="2215" y="7394"/>
                    <a:pt x="2715" y="8549"/>
                    <a:pt x="3716" y="8680"/>
                  </a:cubicBezTo>
                  <a:cubicBezTo>
                    <a:pt x="2918" y="9418"/>
                    <a:pt x="3442" y="10787"/>
                    <a:pt x="4549" y="10787"/>
                  </a:cubicBezTo>
                  <a:cubicBezTo>
                    <a:pt x="5656" y="10787"/>
                    <a:pt x="6168" y="9454"/>
                    <a:pt x="5394" y="8692"/>
                  </a:cubicBezTo>
                  <a:lnTo>
                    <a:pt x="7871" y="8692"/>
                  </a:lnTo>
                  <a:cubicBezTo>
                    <a:pt x="7085" y="9454"/>
                    <a:pt x="7621" y="10787"/>
                    <a:pt x="8716" y="10787"/>
                  </a:cubicBezTo>
                  <a:cubicBezTo>
                    <a:pt x="9823" y="10787"/>
                    <a:pt x="10335" y="9454"/>
                    <a:pt x="9562" y="8692"/>
                  </a:cubicBezTo>
                  <a:lnTo>
                    <a:pt x="9788" y="8692"/>
                  </a:lnTo>
                  <a:cubicBezTo>
                    <a:pt x="10133" y="8692"/>
                    <a:pt x="10419" y="8406"/>
                    <a:pt x="10419" y="8073"/>
                  </a:cubicBezTo>
                  <a:cubicBezTo>
                    <a:pt x="10419" y="7727"/>
                    <a:pt x="10133" y="7442"/>
                    <a:pt x="9788" y="7442"/>
                  </a:cubicBezTo>
                  <a:lnTo>
                    <a:pt x="8228" y="7442"/>
                  </a:lnTo>
                  <a:cubicBezTo>
                    <a:pt x="8133" y="7442"/>
                    <a:pt x="8061" y="7513"/>
                    <a:pt x="8061" y="7608"/>
                  </a:cubicBezTo>
                  <a:cubicBezTo>
                    <a:pt x="8061" y="7692"/>
                    <a:pt x="8133" y="7775"/>
                    <a:pt x="8228" y="7775"/>
                  </a:cubicBezTo>
                  <a:lnTo>
                    <a:pt x="9788" y="7775"/>
                  </a:lnTo>
                  <a:cubicBezTo>
                    <a:pt x="9954" y="7775"/>
                    <a:pt x="10074" y="7906"/>
                    <a:pt x="10074" y="8049"/>
                  </a:cubicBezTo>
                  <a:cubicBezTo>
                    <a:pt x="10074" y="8215"/>
                    <a:pt x="9943" y="8335"/>
                    <a:pt x="9788" y="8335"/>
                  </a:cubicBezTo>
                  <a:lnTo>
                    <a:pt x="3930" y="8335"/>
                  </a:lnTo>
                  <a:cubicBezTo>
                    <a:pt x="3108" y="8335"/>
                    <a:pt x="2620" y="7418"/>
                    <a:pt x="3096" y="6739"/>
                  </a:cubicBezTo>
                  <a:lnTo>
                    <a:pt x="3442" y="6251"/>
                  </a:lnTo>
                  <a:cubicBezTo>
                    <a:pt x="3573" y="6382"/>
                    <a:pt x="3739" y="6489"/>
                    <a:pt x="3906" y="6560"/>
                  </a:cubicBezTo>
                  <a:lnTo>
                    <a:pt x="3573" y="7072"/>
                  </a:lnTo>
                  <a:cubicBezTo>
                    <a:pt x="3358" y="7370"/>
                    <a:pt x="3573" y="7775"/>
                    <a:pt x="3942" y="7775"/>
                  </a:cubicBezTo>
                  <a:lnTo>
                    <a:pt x="7609" y="7775"/>
                  </a:lnTo>
                  <a:cubicBezTo>
                    <a:pt x="7692" y="7775"/>
                    <a:pt x="7764" y="7692"/>
                    <a:pt x="7764" y="7608"/>
                  </a:cubicBezTo>
                  <a:cubicBezTo>
                    <a:pt x="7764" y="7513"/>
                    <a:pt x="7692" y="7442"/>
                    <a:pt x="7609" y="7442"/>
                  </a:cubicBezTo>
                  <a:lnTo>
                    <a:pt x="3942" y="7442"/>
                  </a:lnTo>
                  <a:cubicBezTo>
                    <a:pt x="3847" y="7442"/>
                    <a:pt x="3811" y="7334"/>
                    <a:pt x="3847" y="7263"/>
                  </a:cubicBezTo>
                  <a:lnTo>
                    <a:pt x="4251" y="6703"/>
                  </a:lnTo>
                  <a:cubicBezTo>
                    <a:pt x="4465" y="6762"/>
                    <a:pt x="4535" y="6775"/>
                    <a:pt x="5134" y="6775"/>
                  </a:cubicBezTo>
                  <a:cubicBezTo>
                    <a:pt x="5630" y="6775"/>
                    <a:pt x="6490" y="6766"/>
                    <a:pt x="8097" y="6766"/>
                  </a:cubicBezTo>
                  <a:cubicBezTo>
                    <a:pt x="8881" y="6766"/>
                    <a:pt x="9842" y="6768"/>
                    <a:pt x="11026" y="6775"/>
                  </a:cubicBezTo>
                  <a:cubicBezTo>
                    <a:pt x="11371" y="6775"/>
                    <a:pt x="11645" y="6489"/>
                    <a:pt x="11645" y="6144"/>
                  </a:cubicBezTo>
                  <a:cubicBezTo>
                    <a:pt x="11598" y="5810"/>
                    <a:pt x="11312" y="5525"/>
                    <a:pt x="10966" y="5525"/>
                  </a:cubicBezTo>
                  <a:lnTo>
                    <a:pt x="10788" y="5525"/>
                  </a:lnTo>
                  <a:lnTo>
                    <a:pt x="11598" y="2048"/>
                  </a:lnTo>
                  <a:cubicBezTo>
                    <a:pt x="11740" y="1393"/>
                    <a:pt x="11252" y="762"/>
                    <a:pt x="10562" y="762"/>
                  </a:cubicBezTo>
                  <a:lnTo>
                    <a:pt x="7252" y="762"/>
                  </a:lnTo>
                  <a:cubicBezTo>
                    <a:pt x="7156" y="762"/>
                    <a:pt x="7085" y="834"/>
                    <a:pt x="7085" y="929"/>
                  </a:cubicBezTo>
                  <a:cubicBezTo>
                    <a:pt x="7085" y="1012"/>
                    <a:pt x="7156" y="1096"/>
                    <a:pt x="7252" y="1096"/>
                  </a:cubicBezTo>
                  <a:lnTo>
                    <a:pt x="10562" y="1096"/>
                  </a:lnTo>
                  <a:cubicBezTo>
                    <a:pt x="11026" y="1096"/>
                    <a:pt x="11359" y="1524"/>
                    <a:pt x="11252" y="1953"/>
                  </a:cubicBezTo>
                  <a:lnTo>
                    <a:pt x="10431" y="5525"/>
                  </a:lnTo>
                  <a:lnTo>
                    <a:pt x="9847" y="5525"/>
                  </a:lnTo>
                  <a:cubicBezTo>
                    <a:pt x="9943" y="5144"/>
                    <a:pt x="10585" y="2369"/>
                    <a:pt x="10705" y="1869"/>
                  </a:cubicBezTo>
                  <a:cubicBezTo>
                    <a:pt x="10728" y="1762"/>
                    <a:pt x="10645" y="1655"/>
                    <a:pt x="10538" y="1655"/>
                  </a:cubicBezTo>
                  <a:lnTo>
                    <a:pt x="2858" y="1655"/>
                  </a:lnTo>
                  <a:lnTo>
                    <a:pt x="2668" y="1096"/>
                  </a:lnTo>
                  <a:lnTo>
                    <a:pt x="6621" y="1096"/>
                  </a:lnTo>
                  <a:cubicBezTo>
                    <a:pt x="6716" y="1096"/>
                    <a:pt x="6787" y="1012"/>
                    <a:pt x="6787" y="929"/>
                  </a:cubicBezTo>
                  <a:cubicBezTo>
                    <a:pt x="6787" y="834"/>
                    <a:pt x="6716" y="762"/>
                    <a:pt x="6621" y="762"/>
                  </a:cubicBezTo>
                  <a:lnTo>
                    <a:pt x="2549" y="762"/>
                  </a:lnTo>
                  <a:cubicBezTo>
                    <a:pt x="2394" y="334"/>
                    <a:pt x="1965" y="0"/>
                    <a:pt x="144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sp>
        <p:nvSpPr>
          <p:cNvPr id="75" name="Google Shape;75;p6"/>
          <p:cNvSpPr txBox="1"/>
          <p:nvPr>
            <p:ph idx="4" type="body"/>
          </p:nvPr>
        </p:nvSpPr>
        <p:spPr>
          <a:xfrm>
            <a:off x="1307843" y="1734878"/>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76" name="Google Shape;76;p6"/>
          <p:cNvSpPr txBox="1"/>
          <p:nvPr>
            <p:ph idx="5" type="body"/>
          </p:nvPr>
        </p:nvSpPr>
        <p:spPr>
          <a:xfrm>
            <a:off x="1914421" y="2038725"/>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77" name="Google Shape;77;p6"/>
          <p:cNvSpPr txBox="1"/>
          <p:nvPr/>
        </p:nvSpPr>
        <p:spPr>
          <a:xfrm>
            <a:off x="1288741" y="2240832"/>
            <a:ext cx="1154354" cy="29610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995">
                <a:solidFill>
                  <a:srgbClr val="FFFFFF"/>
                </a:solidFill>
                <a:latin typeface="Montserrat"/>
                <a:ea typeface="Montserrat"/>
                <a:cs typeface="Montserrat"/>
                <a:sym typeface="Montserrat"/>
              </a:rPr>
              <a:t>Team size:</a:t>
            </a:r>
            <a:endParaRPr/>
          </a:p>
        </p:txBody>
      </p:sp>
      <p:sp>
        <p:nvSpPr>
          <p:cNvPr id="78" name="Google Shape;78;p6"/>
          <p:cNvSpPr txBox="1"/>
          <p:nvPr>
            <p:ph idx="6" type="body"/>
          </p:nvPr>
        </p:nvSpPr>
        <p:spPr>
          <a:xfrm>
            <a:off x="1984171" y="2310085"/>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79" name="Google Shape;79;p6"/>
          <p:cNvSpPr txBox="1"/>
          <p:nvPr>
            <p:ph idx="7" type="body"/>
          </p:nvPr>
        </p:nvSpPr>
        <p:spPr>
          <a:xfrm>
            <a:off x="1073922" y="1112009"/>
            <a:ext cx="3593565" cy="616173"/>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26"/>
              </a:spcBef>
              <a:spcAft>
                <a:spcPts val="0"/>
              </a:spcAft>
              <a:buClr>
                <a:srgbClr val="FFFFFF"/>
              </a:buClr>
              <a:buSzPts val="1628"/>
              <a:buFont typeface="Arial"/>
              <a:buNone/>
              <a:defRPr b="1" i="0" sz="1628"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0" name="Google Shape;80;p6"/>
          <p:cNvSpPr txBox="1"/>
          <p:nvPr>
            <p:ph idx="8" type="body"/>
          </p:nvPr>
        </p:nvSpPr>
        <p:spPr>
          <a:xfrm>
            <a:off x="970650" y="3065510"/>
            <a:ext cx="4205673" cy="243637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262"/>
              </a:spcBef>
              <a:spcAft>
                <a:spcPts val="0"/>
              </a:spcAft>
              <a:buClr>
                <a:schemeClr val="dk1"/>
              </a:buClr>
              <a:buSzPts val="1309"/>
              <a:buFont typeface="Arial"/>
              <a:buNone/>
              <a:defRPr b="0" i="0" sz="1309" u="none" cap="none" strike="noStrike">
                <a:solidFill>
                  <a:schemeClr val="dk1"/>
                </a:solidFill>
                <a:latin typeface="Calibri"/>
                <a:ea typeface="Calibri"/>
                <a:cs typeface="Calibri"/>
                <a:sym typeface="Calibri"/>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1" name="Google Shape;81;p6"/>
          <p:cNvSpPr txBox="1"/>
          <p:nvPr>
            <p:ph idx="9" type="body"/>
          </p:nvPr>
        </p:nvSpPr>
        <p:spPr>
          <a:xfrm>
            <a:off x="5645854" y="1530935"/>
            <a:ext cx="5417550" cy="2413770"/>
          </a:xfrm>
          <a:prstGeom prst="rect">
            <a:avLst/>
          </a:prstGeom>
          <a:noFill/>
          <a:ln>
            <a:noFill/>
          </a:ln>
        </p:spPr>
        <p:txBody>
          <a:bodyPr anchorCtr="0" anchor="t" bIns="45700" lIns="91425" spcFirstLastPara="1" rIns="91425" wrap="square" tIns="45700">
            <a:normAutofit/>
          </a:bodyPr>
          <a:lstStyle>
            <a:lvl1pPr indent="-301308" lvl="0" marL="457200" marR="0" rtl="0" algn="l">
              <a:spcBef>
                <a:spcPts val="229"/>
              </a:spcBef>
              <a:spcAft>
                <a:spcPts val="0"/>
              </a:spcAft>
              <a:buClr>
                <a:schemeClr val="dk1"/>
              </a:buClr>
              <a:buSzPts val="1145"/>
              <a:buFont typeface="Arial"/>
              <a:buChar char="•"/>
              <a:defRPr b="0" i="0" sz="1145" u="none" cap="none" strike="noStrike">
                <a:solidFill>
                  <a:schemeClr val="dk1"/>
                </a:solidFill>
                <a:latin typeface="Calibri"/>
                <a:ea typeface="Calibri"/>
                <a:cs typeface="Calibri"/>
                <a:sym typeface="Calibri"/>
              </a:defRPr>
            </a:lvl1pPr>
            <a:lvl2pPr indent="-301307" lvl="1" marL="9144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2pPr>
            <a:lvl3pPr indent="-301307" lvl="2" marL="13716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3pPr>
            <a:lvl4pPr indent="-301307" lvl="3" marL="18288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4pPr>
            <a:lvl5pPr indent="-301308" lvl="4" marL="22860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2" name="Google Shape;82;p6"/>
          <p:cNvSpPr txBox="1"/>
          <p:nvPr>
            <p:ph idx="13" type="body"/>
          </p:nvPr>
        </p:nvSpPr>
        <p:spPr>
          <a:xfrm>
            <a:off x="5645854" y="4741376"/>
            <a:ext cx="5417550" cy="1767926"/>
          </a:xfrm>
          <a:prstGeom prst="rect">
            <a:avLst/>
          </a:prstGeom>
          <a:noFill/>
          <a:ln>
            <a:noFill/>
          </a:ln>
        </p:spPr>
        <p:txBody>
          <a:bodyPr anchorCtr="0" anchor="t" bIns="45700" lIns="91425" spcFirstLastPara="1" rIns="91425" wrap="square" tIns="45700">
            <a:normAutofit/>
          </a:bodyPr>
          <a:lstStyle>
            <a:lvl1pPr indent="-301308" lvl="0" marL="457200" marR="0" rtl="0" algn="l">
              <a:spcBef>
                <a:spcPts val="229"/>
              </a:spcBef>
              <a:spcAft>
                <a:spcPts val="0"/>
              </a:spcAft>
              <a:buClr>
                <a:schemeClr val="dk1"/>
              </a:buClr>
              <a:buSzPts val="1145"/>
              <a:buFont typeface="Arial"/>
              <a:buChar char="•"/>
              <a:defRPr b="0" i="0" sz="1145" u="none" cap="none" strike="noStrike">
                <a:solidFill>
                  <a:schemeClr val="dk1"/>
                </a:solidFill>
                <a:latin typeface="Calibri"/>
                <a:ea typeface="Calibri"/>
                <a:cs typeface="Calibri"/>
                <a:sym typeface="Calibri"/>
              </a:defRPr>
            </a:lvl1pPr>
            <a:lvl2pPr indent="-301307" lvl="1" marL="9144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2pPr>
            <a:lvl3pPr indent="-301307" lvl="2" marL="13716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3pPr>
            <a:lvl4pPr indent="-301307" lvl="3" marL="18288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4pPr>
            <a:lvl5pPr indent="-301308" lvl="4" marL="22860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3" name="Google Shape;83;p6"/>
          <p:cNvSpPr txBox="1"/>
          <p:nvPr>
            <p:ph idx="14" type="body"/>
          </p:nvPr>
        </p:nvSpPr>
        <p:spPr>
          <a:xfrm>
            <a:off x="952063" y="479299"/>
            <a:ext cx="10111341" cy="339306"/>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1D9AD6"/>
              </a:buClr>
              <a:buSzPts val="2000"/>
              <a:buFont typeface="Arial"/>
              <a:buNone/>
              <a:defRPr b="1" i="0" sz="2000" u="none" cap="none" strike="noStrike">
                <a:solidFill>
                  <a:srgbClr val="1D9AD6"/>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4" name="Google Shape;84;p6"/>
          <p:cNvSpPr txBox="1"/>
          <p:nvPr>
            <p:ph idx="15" type="body"/>
          </p:nvPr>
        </p:nvSpPr>
        <p:spPr>
          <a:xfrm>
            <a:off x="1097231" y="5810983"/>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rgbClr val="0874EA"/>
              </a:buClr>
              <a:buSzPts val="1473"/>
              <a:buFont typeface="Arial"/>
              <a:buNone/>
              <a:defRPr b="1" i="0" sz="1473" u="none" cap="none" strike="noStrike">
                <a:solidFill>
                  <a:srgbClr val="0874EA"/>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5" name="Google Shape;85;p6"/>
          <p:cNvSpPr txBox="1"/>
          <p:nvPr>
            <p:ph idx="16" type="body"/>
          </p:nvPr>
        </p:nvSpPr>
        <p:spPr>
          <a:xfrm>
            <a:off x="3898961" y="5794780"/>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rgbClr val="0874EA"/>
              </a:buClr>
              <a:buSzPts val="1473"/>
              <a:buFont typeface="Arial"/>
              <a:buNone/>
              <a:defRPr b="1" i="0" sz="1473" u="none" cap="none" strike="noStrike">
                <a:solidFill>
                  <a:srgbClr val="0874EA"/>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6" name="Google Shape;86;p6"/>
          <p:cNvSpPr txBox="1"/>
          <p:nvPr>
            <p:ph idx="17" type="body"/>
          </p:nvPr>
        </p:nvSpPr>
        <p:spPr>
          <a:xfrm>
            <a:off x="2493364" y="5810983"/>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chemeClr val="lt1"/>
              </a:buClr>
              <a:buSzPts val="1473"/>
              <a:buFont typeface="Arial"/>
              <a:buNone/>
              <a:defRPr b="1" i="0" sz="1473" u="none" cap="none" strike="noStrike">
                <a:solidFill>
                  <a:schemeClr val="lt1"/>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7" name="Google Shape;87;p6"/>
          <p:cNvSpPr/>
          <p:nvPr/>
        </p:nvSpPr>
        <p:spPr>
          <a:xfrm>
            <a:off x="1" y="522514"/>
            <a:ext cx="790575" cy="296092"/>
          </a:xfrm>
          <a:prstGeom prst="rect">
            <a:avLst/>
          </a:prstGeom>
          <a:solidFill>
            <a:srgbClr val="2E6F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88" name="Google Shape;88;p6"/>
          <p:cNvPicPr preferRelativeResize="0"/>
          <p:nvPr/>
        </p:nvPicPr>
        <p:blipFill rotWithShape="1">
          <a:blip r:embed="rId4">
            <a:alphaModFix/>
          </a:blip>
          <a:srcRect b="0" l="0" r="0" t="0"/>
          <a:stretch/>
        </p:blipFill>
        <p:spPr>
          <a:xfrm>
            <a:off x="10083298" y="552271"/>
            <a:ext cx="1135566" cy="306747"/>
          </a:xfrm>
          <a:prstGeom prst="rect">
            <a:avLst/>
          </a:prstGeom>
          <a:noFill/>
          <a:ln>
            <a:noFill/>
          </a:ln>
        </p:spPr>
      </p:pic>
      <p:sp>
        <p:nvSpPr>
          <p:cNvPr id="89" name="Google Shape;89;p6"/>
          <p:cNvSpPr/>
          <p:nvPr/>
        </p:nvSpPr>
        <p:spPr>
          <a:xfrm rot="-5400000">
            <a:off x="5909233" y="580294"/>
            <a:ext cx="365760" cy="12199777"/>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latin typeface="Calibri"/>
              <a:ea typeface="Calibri"/>
              <a:cs typeface="Calibri"/>
              <a:sym typeface="Calibri"/>
            </a:endParaRPr>
          </a:p>
        </p:txBody>
      </p:sp>
      <p:pic>
        <p:nvPicPr>
          <p:cNvPr id="90" name="Google Shape;90;p6"/>
          <p:cNvPicPr preferRelativeResize="0"/>
          <p:nvPr/>
        </p:nvPicPr>
        <p:blipFill rotWithShape="1">
          <a:blip r:embed="rId5">
            <a:alphaModFix/>
          </a:blip>
          <a:srcRect b="0" l="0" r="0" t="0"/>
          <a:stretch/>
        </p:blipFill>
        <p:spPr>
          <a:xfrm>
            <a:off x="10761999" y="6555937"/>
            <a:ext cx="1119493" cy="24384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91" name="Shape 91"/>
        <p:cNvGrpSpPr/>
        <p:nvPr/>
      </p:nvGrpSpPr>
      <p:grpSpPr>
        <a:xfrm>
          <a:off x="0" y="0"/>
          <a:ext cx="0" cy="0"/>
          <a:chOff x="0" y="0"/>
          <a:chExt cx="0" cy="0"/>
        </a:xfrm>
      </p:grpSpPr>
      <p:sp>
        <p:nvSpPr>
          <p:cNvPr id="92" name="Google Shape;92;p7"/>
          <p:cNvSpPr txBox="1"/>
          <p:nvPr>
            <p:ph idx="1" type="body"/>
          </p:nvPr>
        </p:nvSpPr>
        <p:spPr>
          <a:xfrm>
            <a:off x="323530" y="339510"/>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1080"/>
              </a:spcBef>
              <a:spcAft>
                <a:spcPts val="0"/>
              </a:spcAft>
              <a:buClr>
                <a:srgbClr val="262626"/>
              </a:buClr>
              <a:buSzPts val="5400"/>
              <a:buFont typeface="Arial"/>
              <a:buNone/>
              <a:defRPr b="0" i="0" sz="5400" u="none" cap="none" strike="noStrike">
                <a:solidFill>
                  <a:srgbClr val="262626"/>
                </a:solidFill>
                <a:latin typeface="Calibri"/>
                <a:ea typeface="Calibri"/>
                <a:cs typeface="Calibri"/>
                <a:sym typeface="Calibri"/>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93" name="Google Shape;93;p7"/>
          <p:cNvSpPr/>
          <p:nvPr>
            <p:ph idx="2" type="pic"/>
          </p:nvPr>
        </p:nvSpPr>
        <p:spPr>
          <a:xfrm>
            <a:off x="3650190" y="1769412"/>
            <a:ext cx="2124000" cy="2095028"/>
          </a:xfrm>
          <a:prstGeom prst="rect">
            <a:avLst/>
          </a:prstGeom>
          <a:solidFill>
            <a:srgbClr val="F2F2F2"/>
          </a:solidFill>
          <a:ln>
            <a:noFill/>
          </a:ln>
        </p:spPr>
      </p:sp>
      <p:sp>
        <p:nvSpPr>
          <p:cNvPr id="94" name="Google Shape;94;p7"/>
          <p:cNvSpPr/>
          <p:nvPr>
            <p:ph idx="3" type="pic"/>
          </p:nvPr>
        </p:nvSpPr>
        <p:spPr>
          <a:xfrm>
            <a:off x="6403397" y="1769412"/>
            <a:ext cx="2124000" cy="2095028"/>
          </a:xfrm>
          <a:prstGeom prst="rect">
            <a:avLst/>
          </a:prstGeom>
          <a:solidFill>
            <a:srgbClr val="F2F2F2"/>
          </a:solidFill>
          <a:ln>
            <a:noFill/>
          </a:ln>
        </p:spPr>
      </p:sp>
      <p:sp>
        <p:nvSpPr>
          <p:cNvPr id="95" name="Google Shape;95;p7"/>
          <p:cNvSpPr/>
          <p:nvPr>
            <p:ph idx="4" type="pic"/>
          </p:nvPr>
        </p:nvSpPr>
        <p:spPr>
          <a:xfrm>
            <a:off x="9156603" y="1769412"/>
            <a:ext cx="2124000" cy="2095028"/>
          </a:xfrm>
          <a:prstGeom prst="rect">
            <a:avLst/>
          </a:prstGeom>
          <a:solidFill>
            <a:srgbClr val="F2F2F2"/>
          </a:solidFill>
          <a:ln>
            <a:noFill/>
          </a:ln>
        </p:spPr>
      </p:sp>
      <p:sp>
        <p:nvSpPr>
          <p:cNvPr id="96" name="Google Shape;96;p7"/>
          <p:cNvSpPr/>
          <p:nvPr>
            <p:ph idx="5" type="pic"/>
          </p:nvPr>
        </p:nvSpPr>
        <p:spPr>
          <a:xfrm>
            <a:off x="896983" y="1769412"/>
            <a:ext cx="2124000" cy="2095028"/>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ontents slide layout">
  <p:cSld name="18_Contents slide layout">
    <p:bg>
      <p:bgPr>
        <a:solidFill>
          <a:schemeClr val="lt1"/>
        </a:solidFill>
      </p:bgPr>
    </p:bg>
    <p:spTree>
      <p:nvGrpSpPr>
        <p:cNvPr id="97" name="Shape 97"/>
        <p:cNvGrpSpPr/>
        <p:nvPr/>
      </p:nvGrpSpPr>
      <p:grpSpPr>
        <a:xfrm>
          <a:off x="0" y="0"/>
          <a:ext cx="0" cy="0"/>
          <a:chOff x="0" y="0"/>
          <a:chExt cx="0" cy="0"/>
        </a:xfrm>
      </p:grpSpPr>
      <p:sp>
        <p:nvSpPr>
          <p:cNvPr id="98" name="Google Shape;98;p8"/>
          <p:cNvSpPr/>
          <p:nvPr>
            <p:ph idx="2" type="pic"/>
          </p:nvPr>
        </p:nvSpPr>
        <p:spPr>
          <a:xfrm>
            <a:off x="5622522" y="0"/>
            <a:ext cx="6569479" cy="6858000"/>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99" name="Shape 99"/>
        <p:cNvGrpSpPr/>
        <p:nvPr/>
      </p:nvGrpSpPr>
      <p:grpSpPr>
        <a:xfrm>
          <a:off x="0" y="0"/>
          <a:ext cx="0" cy="0"/>
          <a:chOff x="0" y="0"/>
          <a:chExt cx="0" cy="0"/>
        </a:xfrm>
      </p:grpSpPr>
      <p:sp>
        <p:nvSpPr>
          <p:cNvPr id="100" name="Google Shape;100;p9"/>
          <p:cNvSpPr txBox="1"/>
          <p:nvPr>
            <p:ph type="title"/>
          </p:nvPr>
        </p:nvSpPr>
        <p:spPr>
          <a:xfrm>
            <a:off x="6586267" y="1717682"/>
            <a:ext cx="2540400" cy="1294000"/>
          </a:xfrm>
          <a:prstGeom prst="rect">
            <a:avLst/>
          </a:prstGeom>
          <a:noFill/>
          <a:ln>
            <a:noFill/>
          </a:ln>
        </p:spPr>
        <p:txBody>
          <a:bodyPr anchorCtr="0" anchor="b" bIns="91425" lIns="91425" spcFirstLastPara="1" rIns="91425" wrap="square" tIns="91425">
            <a:noAutofit/>
          </a:bodyPr>
          <a:lstStyle>
            <a:lvl1pPr lvl="0" marR="0" rtl="0" algn="ctr">
              <a:spcBef>
                <a:spcPts val="0"/>
              </a:spcBef>
              <a:spcAft>
                <a:spcPts val="0"/>
              </a:spcAft>
              <a:buClr>
                <a:schemeClr val="dk1"/>
              </a:buClr>
              <a:buSzPts val="2400"/>
              <a:buFont typeface="Calibri"/>
              <a:buNone/>
              <a:defRPr b="0" i="0" sz="3980" u="none" cap="none" strike="noStrike">
                <a:solidFill>
                  <a:schemeClr val="dk1"/>
                </a:solidFill>
                <a:latin typeface="Calibri"/>
                <a:ea typeface="Calibri"/>
                <a:cs typeface="Calibri"/>
                <a:sym typeface="Calibri"/>
              </a:defRPr>
            </a:lvl1pPr>
            <a:lvl2pPr lvl="1">
              <a:spcBef>
                <a:spcPts val="0"/>
              </a:spcBef>
              <a:spcAft>
                <a:spcPts val="0"/>
              </a:spcAft>
              <a:buSzPts val="2400"/>
              <a:buFont typeface="Arial"/>
              <a:buNone/>
              <a:defRPr sz="3200"/>
            </a:lvl2pPr>
            <a:lvl3pPr lvl="2">
              <a:spcBef>
                <a:spcPts val="0"/>
              </a:spcBef>
              <a:spcAft>
                <a:spcPts val="0"/>
              </a:spcAft>
              <a:buSzPts val="2400"/>
              <a:buFont typeface="Arial"/>
              <a:buNone/>
              <a:defRPr sz="3200"/>
            </a:lvl3pPr>
            <a:lvl4pPr lvl="3">
              <a:spcBef>
                <a:spcPts val="0"/>
              </a:spcBef>
              <a:spcAft>
                <a:spcPts val="0"/>
              </a:spcAft>
              <a:buSzPts val="2400"/>
              <a:buFont typeface="Arial"/>
              <a:buNone/>
              <a:defRPr sz="3200"/>
            </a:lvl4pPr>
            <a:lvl5pPr lvl="4">
              <a:spcBef>
                <a:spcPts val="0"/>
              </a:spcBef>
              <a:spcAft>
                <a:spcPts val="0"/>
              </a:spcAft>
              <a:buSzPts val="2400"/>
              <a:buFont typeface="Arial"/>
              <a:buNone/>
              <a:defRPr sz="3200"/>
            </a:lvl5pPr>
            <a:lvl6pPr lvl="5">
              <a:spcBef>
                <a:spcPts val="0"/>
              </a:spcBef>
              <a:spcAft>
                <a:spcPts val="0"/>
              </a:spcAft>
              <a:buSzPts val="2400"/>
              <a:buFont typeface="Arial"/>
              <a:buNone/>
              <a:defRPr sz="3200"/>
            </a:lvl6pPr>
            <a:lvl7pPr lvl="6">
              <a:spcBef>
                <a:spcPts val="0"/>
              </a:spcBef>
              <a:spcAft>
                <a:spcPts val="0"/>
              </a:spcAft>
              <a:buSzPts val="2400"/>
              <a:buFont typeface="Arial"/>
              <a:buNone/>
              <a:defRPr sz="3200"/>
            </a:lvl7pPr>
            <a:lvl8pPr lvl="7">
              <a:spcBef>
                <a:spcPts val="0"/>
              </a:spcBef>
              <a:spcAft>
                <a:spcPts val="0"/>
              </a:spcAft>
              <a:buSzPts val="2400"/>
              <a:buFont typeface="Arial"/>
              <a:buNone/>
              <a:defRPr sz="3200"/>
            </a:lvl8pPr>
            <a:lvl9pPr lvl="8">
              <a:spcBef>
                <a:spcPts val="0"/>
              </a:spcBef>
              <a:spcAft>
                <a:spcPts val="0"/>
              </a:spcAft>
              <a:buSzPts val="2400"/>
              <a:buFont typeface="Arial"/>
              <a:buNone/>
              <a:defRPr sz="3200"/>
            </a:lvl9pPr>
          </a:lstStyle>
          <a:p/>
        </p:txBody>
      </p:sp>
      <p:sp>
        <p:nvSpPr>
          <p:cNvPr id="101" name="Google Shape;101;p9"/>
          <p:cNvSpPr txBox="1"/>
          <p:nvPr>
            <p:ph idx="1" type="body"/>
          </p:nvPr>
        </p:nvSpPr>
        <p:spPr>
          <a:xfrm>
            <a:off x="6586267" y="2910051"/>
            <a:ext cx="2540400" cy="2404800"/>
          </a:xfrm>
          <a:prstGeom prst="rect">
            <a:avLst/>
          </a:prstGeom>
          <a:noFill/>
          <a:ln>
            <a:noFill/>
          </a:ln>
        </p:spPr>
        <p:txBody>
          <a:bodyPr anchorCtr="0" anchor="t" bIns="91425" lIns="91425" spcFirstLastPara="1" rIns="91425" wrap="square" tIns="91425">
            <a:noAutofit/>
          </a:bodyPr>
          <a:lstStyle>
            <a:lvl1pPr indent="-317500" lvl="0" marL="457200" marR="0" rtl="0" algn="l">
              <a:spcBef>
                <a:spcPts val="0"/>
              </a:spcBef>
              <a:spcAft>
                <a:spcPts val="0"/>
              </a:spcAft>
              <a:buClr>
                <a:schemeClr val="dk1"/>
              </a:buClr>
              <a:buSzPts val="1400"/>
              <a:buFont typeface="Arial"/>
              <a:buChar char="●"/>
              <a:defRPr b="0" i="0" sz="2894" u="none" cap="none" strike="noStrike">
                <a:solidFill>
                  <a:schemeClr val="dk1"/>
                </a:solidFill>
                <a:latin typeface="Calibri"/>
                <a:ea typeface="Calibri"/>
                <a:cs typeface="Calibri"/>
                <a:sym typeface="Calibri"/>
              </a:defRPr>
            </a:lvl1pPr>
            <a:lvl2pPr indent="-317500" lvl="1" marL="914400" marR="0" rtl="0" algn="l">
              <a:spcBef>
                <a:spcPts val="0"/>
              </a:spcBef>
              <a:spcAft>
                <a:spcPts val="0"/>
              </a:spcAft>
              <a:buClr>
                <a:schemeClr val="dk1"/>
              </a:buClr>
              <a:buSzPts val="1400"/>
              <a:buFont typeface="Arial"/>
              <a:buChar char="○"/>
              <a:defRPr b="0" i="0" sz="2533" u="none" cap="none" strike="noStrike">
                <a:solidFill>
                  <a:schemeClr val="dk1"/>
                </a:solidFill>
                <a:latin typeface="Calibri"/>
                <a:ea typeface="Calibri"/>
                <a:cs typeface="Calibri"/>
                <a:sym typeface="Calibri"/>
              </a:defRPr>
            </a:lvl2pPr>
            <a:lvl3pPr indent="-317500" lvl="2" marL="1371600" marR="0" rtl="0" algn="l">
              <a:spcBef>
                <a:spcPts val="2133"/>
              </a:spcBef>
              <a:spcAft>
                <a:spcPts val="0"/>
              </a:spcAft>
              <a:buClr>
                <a:schemeClr val="dk1"/>
              </a:buClr>
              <a:buSzPts val="1400"/>
              <a:buFont typeface="Arial"/>
              <a:buChar char="■"/>
              <a:defRPr b="0" i="0" sz="2171" u="none" cap="none" strike="noStrike">
                <a:solidFill>
                  <a:schemeClr val="dk1"/>
                </a:solidFill>
                <a:latin typeface="Calibri"/>
                <a:ea typeface="Calibri"/>
                <a:cs typeface="Calibri"/>
                <a:sym typeface="Calibri"/>
              </a:defRPr>
            </a:lvl3pPr>
            <a:lvl4pPr indent="-317500" lvl="3" marL="18288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4pPr>
            <a:lvl5pPr indent="-317500" lvl="4" marL="22860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5pPr>
            <a:lvl6pPr indent="-317500" lvl="5" marL="27432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6pPr>
            <a:lvl7pPr indent="-317500" lvl="6" marL="32004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7pPr>
            <a:lvl8pPr indent="-317500" lvl="7" marL="36576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8pPr>
            <a:lvl9pPr indent="-317500" lvl="8" marL="4114800" marR="0" rtl="0" algn="l">
              <a:spcBef>
                <a:spcPts val="2133"/>
              </a:spcBef>
              <a:spcAft>
                <a:spcPts val="2133"/>
              </a:spcAft>
              <a:buClr>
                <a:schemeClr val="dk1"/>
              </a:buClr>
              <a:buSzPts val="1400"/>
              <a:buFont typeface="Arial"/>
              <a:buChar char="■"/>
              <a:defRPr b="0" i="0" sz="1809" u="none" cap="none" strike="noStrike">
                <a:solidFill>
                  <a:schemeClr val="dk1"/>
                </a:solidFill>
                <a:latin typeface="Calibri"/>
                <a:ea typeface="Calibri"/>
                <a:cs typeface="Calibri"/>
                <a:sym typeface="Calibri"/>
              </a:defRPr>
            </a:lvl9pPr>
          </a:lstStyle>
          <a:p/>
        </p:txBody>
      </p:sp>
      <p:sp>
        <p:nvSpPr>
          <p:cNvPr id="102" name="Google Shape;102;p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103" name="Shape 103"/>
        <p:cNvGrpSpPr/>
        <p:nvPr/>
      </p:nvGrpSpPr>
      <p:grpSpPr>
        <a:xfrm>
          <a:off x="0" y="0"/>
          <a:ext cx="0" cy="0"/>
          <a:chOff x="0" y="0"/>
          <a:chExt cx="0" cy="0"/>
        </a:xfrm>
      </p:grpSpPr>
      <p:sp>
        <p:nvSpPr>
          <p:cNvPr id="104" name="Google Shape;104;p10"/>
          <p:cNvSpPr txBox="1"/>
          <p:nvPr>
            <p:ph type="title"/>
          </p:nvPr>
        </p:nvSpPr>
        <p:spPr>
          <a:xfrm>
            <a:off x="560070" y="373644"/>
            <a:ext cx="11403330" cy="64008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Clr>
                <a:srgbClr val="155DF5"/>
              </a:buClr>
              <a:buSzPts val="3000"/>
              <a:buFont typeface="Calibri"/>
              <a:buNone/>
              <a:defRPr b="1" i="0" sz="3200" u="none" cap="none" strike="noStrike">
                <a:solidFill>
                  <a:srgbClr val="155DF5"/>
                </a:solidFill>
                <a:latin typeface="Calibri"/>
                <a:ea typeface="Calibri"/>
                <a:cs typeface="Calibri"/>
                <a:sym typeface="Calibri"/>
              </a:defRPr>
            </a:lvl1pPr>
            <a:lvl2pPr lvl="1" rtl="0">
              <a:spcBef>
                <a:spcPts val="0"/>
              </a:spcBef>
              <a:spcAft>
                <a:spcPts val="0"/>
              </a:spcAft>
              <a:buSzPts val="3500"/>
              <a:buFont typeface="Arial"/>
              <a:buNone/>
              <a:defRPr sz="1800"/>
            </a:lvl2pPr>
            <a:lvl3pPr lvl="2" rtl="0">
              <a:spcBef>
                <a:spcPts val="0"/>
              </a:spcBef>
              <a:spcAft>
                <a:spcPts val="0"/>
              </a:spcAft>
              <a:buSzPts val="3500"/>
              <a:buFont typeface="Arial"/>
              <a:buNone/>
              <a:defRPr sz="1800"/>
            </a:lvl3pPr>
            <a:lvl4pPr lvl="3" rtl="0">
              <a:spcBef>
                <a:spcPts val="0"/>
              </a:spcBef>
              <a:spcAft>
                <a:spcPts val="0"/>
              </a:spcAft>
              <a:buSzPts val="3500"/>
              <a:buFont typeface="Arial"/>
              <a:buNone/>
              <a:defRPr sz="1800"/>
            </a:lvl4pPr>
            <a:lvl5pPr lvl="4" rtl="0">
              <a:spcBef>
                <a:spcPts val="0"/>
              </a:spcBef>
              <a:spcAft>
                <a:spcPts val="0"/>
              </a:spcAft>
              <a:buSzPts val="3500"/>
              <a:buFont typeface="Arial"/>
              <a:buNone/>
              <a:defRPr sz="1800"/>
            </a:lvl5pPr>
            <a:lvl6pPr lvl="5" rtl="0">
              <a:spcBef>
                <a:spcPts val="0"/>
              </a:spcBef>
              <a:spcAft>
                <a:spcPts val="0"/>
              </a:spcAft>
              <a:buSzPts val="3500"/>
              <a:buFont typeface="Arial"/>
              <a:buNone/>
              <a:defRPr sz="1800"/>
            </a:lvl6pPr>
            <a:lvl7pPr lvl="6" rtl="0">
              <a:spcBef>
                <a:spcPts val="0"/>
              </a:spcBef>
              <a:spcAft>
                <a:spcPts val="0"/>
              </a:spcAft>
              <a:buSzPts val="3500"/>
              <a:buFont typeface="Arial"/>
              <a:buNone/>
              <a:defRPr sz="1800"/>
            </a:lvl7pPr>
            <a:lvl8pPr lvl="7" rtl="0">
              <a:spcBef>
                <a:spcPts val="0"/>
              </a:spcBef>
              <a:spcAft>
                <a:spcPts val="0"/>
              </a:spcAft>
              <a:buSzPts val="3500"/>
              <a:buFont typeface="Arial"/>
              <a:buNone/>
              <a:defRPr sz="1800"/>
            </a:lvl8pPr>
            <a:lvl9pPr lvl="8" rtl="0">
              <a:spcBef>
                <a:spcPts val="0"/>
              </a:spcBef>
              <a:spcAft>
                <a:spcPts val="0"/>
              </a:spcAft>
              <a:buSzPts val="3500"/>
              <a:buFont typeface="Arial"/>
              <a:buNone/>
              <a:defRPr sz="1800"/>
            </a:lvl9pPr>
          </a:lstStyle>
          <a:p/>
        </p:txBody>
      </p:sp>
      <p:pic>
        <p:nvPicPr>
          <p:cNvPr id="105" name="Google Shape;105;p10"/>
          <p:cNvPicPr preferRelativeResize="0"/>
          <p:nvPr/>
        </p:nvPicPr>
        <p:blipFill rotWithShape="1">
          <a:blip r:embed="rId2">
            <a:alphaModFix/>
          </a:blip>
          <a:srcRect b="34827" l="0" r="-24" t="34881"/>
          <a:stretch/>
        </p:blipFill>
        <p:spPr>
          <a:xfrm>
            <a:off x="10905270" y="486350"/>
            <a:ext cx="1225892" cy="371347"/>
          </a:xfrm>
          <a:prstGeom prst="rect">
            <a:avLst/>
          </a:prstGeom>
          <a:noFill/>
          <a:ln>
            <a:noFill/>
          </a:ln>
        </p:spPr>
      </p:pic>
      <p:sp>
        <p:nvSpPr>
          <p:cNvPr id="106" name="Google Shape;106;p10"/>
          <p:cNvSpPr/>
          <p:nvPr/>
        </p:nvSpPr>
        <p:spPr>
          <a:xfrm>
            <a:off x="1" y="6585628"/>
            <a:ext cx="1060314" cy="272372"/>
          </a:xfrm>
          <a:custGeom>
            <a:rect b="b" l="l" r="r" t="t"/>
            <a:pathLst>
              <a:path extrusionOk="0" h="272372" w="1060314">
                <a:moveTo>
                  <a:pt x="0" y="0"/>
                </a:moveTo>
                <a:lnTo>
                  <a:pt x="924128" y="0"/>
                </a:lnTo>
                <a:cubicBezTo>
                  <a:pt x="1002860" y="152"/>
                  <a:pt x="1060163" y="66978"/>
                  <a:pt x="1060314" y="136186"/>
                </a:cubicBezTo>
                <a:lnTo>
                  <a:pt x="1060314" y="272372"/>
                </a:lnTo>
                <a:lnTo>
                  <a:pt x="0" y="272372"/>
                </a:lnTo>
                <a:lnTo>
                  <a:pt x="0" y="0"/>
                </a:lnTo>
                <a:close/>
              </a:path>
            </a:pathLst>
          </a:custGeom>
          <a:solidFill>
            <a:srgbClr val="176CF3"/>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cmc-apac.sg</a:t>
            </a:r>
            <a:endParaRPr/>
          </a:p>
        </p:txBody>
      </p:sp>
      <p:sp>
        <p:nvSpPr>
          <p:cNvPr id="107" name="Google Shape;107;p10"/>
          <p:cNvSpPr/>
          <p:nvPr/>
        </p:nvSpPr>
        <p:spPr>
          <a:xfrm flipH="1">
            <a:off x="11747383" y="6585628"/>
            <a:ext cx="444616" cy="272372"/>
          </a:xfrm>
          <a:custGeom>
            <a:rect b="b" l="l" r="r" t="t"/>
            <a:pathLst>
              <a:path extrusionOk="0" h="272372" w="444616">
                <a:moveTo>
                  <a:pt x="0" y="0"/>
                </a:moveTo>
                <a:lnTo>
                  <a:pt x="308430" y="0"/>
                </a:lnTo>
                <a:cubicBezTo>
                  <a:pt x="396688" y="152"/>
                  <a:pt x="444464" y="40787"/>
                  <a:pt x="444616" y="136186"/>
                </a:cubicBezTo>
                <a:lnTo>
                  <a:pt x="444616" y="272372"/>
                </a:lnTo>
                <a:lnTo>
                  <a:pt x="0" y="272372"/>
                </a:lnTo>
                <a:lnTo>
                  <a:pt x="0" y="0"/>
                </a:lnTo>
                <a:close/>
              </a:path>
            </a:pathLst>
          </a:custGeom>
          <a:solidFill>
            <a:srgbClr val="176CF3"/>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t/>
            </a:r>
            <a:endParaRPr sz="1200">
              <a:solidFill>
                <a:schemeClr val="lt1"/>
              </a:solidFill>
              <a:latin typeface="Calibri"/>
              <a:ea typeface="Calibri"/>
              <a:cs typeface="Calibri"/>
              <a:sym typeface="Calibri"/>
            </a:endParaRPr>
          </a:p>
        </p:txBody>
      </p:sp>
      <p:sp>
        <p:nvSpPr>
          <p:cNvPr id="108" name="Google Shape;108;p10"/>
          <p:cNvSpPr txBox="1"/>
          <p:nvPr>
            <p:ph idx="12" type="sldNum"/>
          </p:nvPr>
        </p:nvSpPr>
        <p:spPr>
          <a:xfrm>
            <a:off x="11747383" y="6585628"/>
            <a:ext cx="444617" cy="272372"/>
          </a:xfrm>
          <a:prstGeom prst="rect">
            <a:avLst/>
          </a:prstGeom>
          <a:noFill/>
          <a:ln>
            <a:noFill/>
          </a:ln>
        </p:spPr>
        <p:txBody>
          <a:bodyPr anchorCtr="0" anchor="t" bIns="0" lIns="91425" spcFirstLastPara="1" rIns="91425" wrap="square" tIns="0">
            <a:noAutofit/>
          </a:bodyPr>
          <a:lstStyle>
            <a:lvl1pPr indent="0" lvl="0" marL="0" marR="0" rtl="0" algn="l">
              <a:spcBef>
                <a:spcPts val="0"/>
              </a:spcBef>
              <a:buNone/>
              <a:defRPr sz="1000">
                <a:solidFill>
                  <a:schemeClr val="lt1"/>
                </a:solidFill>
                <a:latin typeface="Calibri"/>
                <a:ea typeface="Calibri"/>
                <a:cs typeface="Calibri"/>
                <a:sym typeface="Calibri"/>
              </a:defRPr>
            </a:lvl1pPr>
            <a:lvl2pPr indent="0" lvl="1" marL="0" marR="0" rtl="0" algn="l">
              <a:spcBef>
                <a:spcPts val="0"/>
              </a:spcBef>
              <a:buNone/>
              <a:defRPr sz="1000">
                <a:solidFill>
                  <a:schemeClr val="lt1"/>
                </a:solidFill>
                <a:latin typeface="Calibri"/>
                <a:ea typeface="Calibri"/>
                <a:cs typeface="Calibri"/>
                <a:sym typeface="Calibri"/>
              </a:defRPr>
            </a:lvl2pPr>
            <a:lvl3pPr indent="0" lvl="2" marL="0" marR="0" rtl="0" algn="l">
              <a:spcBef>
                <a:spcPts val="0"/>
              </a:spcBef>
              <a:buNone/>
              <a:defRPr sz="1000">
                <a:solidFill>
                  <a:schemeClr val="lt1"/>
                </a:solidFill>
                <a:latin typeface="Calibri"/>
                <a:ea typeface="Calibri"/>
                <a:cs typeface="Calibri"/>
                <a:sym typeface="Calibri"/>
              </a:defRPr>
            </a:lvl3pPr>
            <a:lvl4pPr indent="0" lvl="3" marL="0" marR="0" rtl="0" algn="l">
              <a:spcBef>
                <a:spcPts val="0"/>
              </a:spcBef>
              <a:buNone/>
              <a:defRPr sz="1000">
                <a:solidFill>
                  <a:schemeClr val="lt1"/>
                </a:solidFill>
                <a:latin typeface="Calibri"/>
                <a:ea typeface="Calibri"/>
                <a:cs typeface="Calibri"/>
                <a:sym typeface="Calibri"/>
              </a:defRPr>
            </a:lvl4pPr>
            <a:lvl5pPr indent="0" lvl="4" marL="0" marR="0" rtl="0" algn="l">
              <a:spcBef>
                <a:spcPts val="0"/>
              </a:spcBef>
              <a:buNone/>
              <a:defRPr sz="1000">
                <a:solidFill>
                  <a:schemeClr val="lt1"/>
                </a:solidFill>
                <a:latin typeface="Calibri"/>
                <a:ea typeface="Calibri"/>
                <a:cs typeface="Calibri"/>
                <a:sym typeface="Calibri"/>
              </a:defRPr>
            </a:lvl5pPr>
            <a:lvl6pPr indent="0" lvl="5" marL="0" marR="0" rtl="0" algn="l">
              <a:spcBef>
                <a:spcPts val="0"/>
              </a:spcBef>
              <a:buNone/>
              <a:defRPr sz="1000">
                <a:solidFill>
                  <a:schemeClr val="lt1"/>
                </a:solidFill>
                <a:latin typeface="Calibri"/>
                <a:ea typeface="Calibri"/>
                <a:cs typeface="Calibri"/>
                <a:sym typeface="Calibri"/>
              </a:defRPr>
            </a:lvl6pPr>
            <a:lvl7pPr indent="0" lvl="6" marL="0" marR="0" rtl="0" algn="l">
              <a:spcBef>
                <a:spcPts val="0"/>
              </a:spcBef>
              <a:buNone/>
              <a:defRPr sz="1000">
                <a:solidFill>
                  <a:schemeClr val="lt1"/>
                </a:solidFill>
                <a:latin typeface="Calibri"/>
                <a:ea typeface="Calibri"/>
                <a:cs typeface="Calibri"/>
                <a:sym typeface="Calibri"/>
              </a:defRPr>
            </a:lvl7pPr>
            <a:lvl8pPr indent="0" lvl="7" marL="0" marR="0" rtl="0" algn="l">
              <a:spcBef>
                <a:spcPts val="0"/>
              </a:spcBef>
              <a:buNone/>
              <a:defRPr sz="1000">
                <a:solidFill>
                  <a:schemeClr val="lt1"/>
                </a:solidFill>
                <a:latin typeface="Calibri"/>
                <a:ea typeface="Calibri"/>
                <a:cs typeface="Calibri"/>
                <a:sym typeface="Calibri"/>
              </a:defRPr>
            </a:lvl8pPr>
            <a:lvl9pPr indent="0" lvl="8" marL="0" marR="0" rtl="0" algn="l">
              <a:spcBef>
                <a:spcPts val="0"/>
              </a:spcBef>
              <a:buNone/>
              <a:defRPr sz="10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09" name="Google Shape;109;p10"/>
          <p:cNvSpPr/>
          <p:nvPr/>
        </p:nvSpPr>
        <p:spPr>
          <a:xfrm>
            <a:off x="0" y="228504"/>
            <a:ext cx="330090" cy="914400"/>
          </a:xfrm>
          <a:custGeom>
            <a:rect b="b" l="l" r="r" t="t"/>
            <a:pathLst>
              <a:path extrusionOk="0" h="914400" w="330090">
                <a:moveTo>
                  <a:pt x="55770" y="0"/>
                </a:moveTo>
                <a:cubicBezTo>
                  <a:pt x="207273" y="0"/>
                  <a:pt x="330090" y="122817"/>
                  <a:pt x="330090" y="274320"/>
                </a:cubicBezTo>
                <a:lnTo>
                  <a:pt x="330090" y="640080"/>
                </a:lnTo>
                <a:cubicBezTo>
                  <a:pt x="330090" y="791583"/>
                  <a:pt x="207273" y="914400"/>
                  <a:pt x="55770" y="914400"/>
                </a:cubicBezTo>
                <a:cubicBezTo>
                  <a:pt x="36832" y="914400"/>
                  <a:pt x="18342" y="912481"/>
                  <a:pt x="485" y="908827"/>
                </a:cubicBezTo>
                <a:lnTo>
                  <a:pt x="0" y="908677"/>
                </a:lnTo>
                <a:lnTo>
                  <a:pt x="0" y="5724"/>
                </a:lnTo>
                <a:lnTo>
                  <a:pt x="485" y="5573"/>
                </a:lnTo>
                <a:cubicBezTo>
                  <a:pt x="18342" y="1919"/>
                  <a:pt x="36832" y="0"/>
                  <a:pt x="55770" y="0"/>
                </a:cubicBezTo>
                <a:close/>
              </a:path>
            </a:pathLst>
          </a:custGeom>
          <a:gradFill>
            <a:gsLst>
              <a:gs pos="0">
                <a:srgbClr val="113CF7"/>
              </a:gs>
              <a:gs pos="100000">
                <a:srgbClr val="1D9AD6"/>
              </a:gs>
            </a:gsLst>
            <a:lin ang="135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28"/>
              <a:buFont typeface="Calibri"/>
              <a:buNone/>
            </a:pPr>
            <a:r>
              <a:t/>
            </a:r>
            <a:endParaRPr b="0" i="0" sz="1628" u="none" cap="none" strike="noStrike">
              <a:solidFill>
                <a:srgbClr val="FFFFFF"/>
              </a:solidFill>
              <a:latin typeface="Calibri"/>
              <a:ea typeface="Calibri"/>
              <a:cs typeface="Calibri"/>
              <a:sym typeface="Calibri"/>
            </a:endParaRPr>
          </a:p>
        </p:txBody>
      </p:sp>
    </p:spTree>
  </p:cSld>
  <p:clrMapOvr>
    <a:masterClrMapping/>
  </p:clrMapOvr>
  <p:extLst>
    <p:ext uri="{DCECCB84-F9BA-43D5-87BE-67443E8EF086}">
      <p15:sldGuideLst>
        <p15:guide id="1" pos="3840">
          <p15:clr>
            <a:srgbClr val="FBAE40"/>
          </p15:clr>
        </p15:guide>
        <p15:guide id="2" orient="horz" pos="2160">
          <p15:clr>
            <a:srgbClr val="FBAE40"/>
          </p15:clr>
        </p15:guide>
        <p15:guide id="3" pos="384">
          <p15:clr>
            <a:srgbClr val="FBAE40"/>
          </p15:clr>
        </p15:guide>
        <p15:guide id="4" pos="7296">
          <p15:clr>
            <a:srgbClr val="FBAE40"/>
          </p15:clr>
        </p15:guide>
        <p15:guide id="5" orient="horz" pos="288">
          <p15:clr>
            <a:srgbClr val="FBAE40"/>
          </p15:clr>
        </p15:guide>
        <p15:guide id="6" orient="horz" pos="4032">
          <p15:clr>
            <a:srgbClr val="FBAE40"/>
          </p15:clr>
        </p15:guide>
        <p15:guide id="7"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With Separation">
  <p:cSld name="3_With Separation">
    <p:spTree>
      <p:nvGrpSpPr>
        <p:cNvPr id="110" name="Shape 110"/>
        <p:cNvGrpSpPr/>
        <p:nvPr/>
      </p:nvGrpSpPr>
      <p:grpSpPr>
        <a:xfrm>
          <a:off x="0" y="0"/>
          <a:ext cx="0" cy="0"/>
          <a:chOff x="0" y="0"/>
          <a:chExt cx="0" cy="0"/>
        </a:xfrm>
      </p:grpSpPr>
      <p:sp>
        <p:nvSpPr>
          <p:cNvPr id="111" name="Google Shape;111;p11"/>
          <p:cNvSpPr/>
          <p:nvPr/>
        </p:nvSpPr>
        <p:spPr>
          <a:xfrm>
            <a:off x="11836452" y="0"/>
            <a:ext cx="360250" cy="6858000"/>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112" name="Google Shape;112;p11"/>
          <p:cNvSpPr txBox="1"/>
          <p:nvPr/>
        </p:nvSpPr>
        <p:spPr>
          <a:xfrm>
            <a:off x="11835747" y="6458579"/>
            <a:ext cx="343364" cy="23160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905">
                <a:solidFill>
                  <a:schemeClr val="lt1"/>
                </a:solidFill>
                <a:latin typeface="Montserrat SemiBold"/>
                <a:ea typeface="Montserrat SemiBold"/>
                <a:cs typeface="Montserrat SemiBold"/>
                <a:sym typeface="Montserrat SemiBold"/>
              </a:rPr>
              <a:t>‹#›</a:t>
            </a:fld>
            <a:endParaRPr sz="905">
              <a:solidFill>
                <a:schemeClr val="lt1"/>
              </a:solidFill>
              <a:latin typeface="Montserrat SemiBold"/>
              <a:ea typeface="Montserrat SemiBold"/>
              <a:cs typeface="Montserrat SemiBold"/>
              <a:sym typeface="Montserrat SemiBold"/>
            </a:endParaRPr>
          </a:p>
        </p:txBody>
      </p:sp>
      <p:pic>
        <p:nvPicPr>
          <p:cNvPr id="113" name="Google Shape;113;p11"/>
          <p:cNvPicPr preferRelativeResize="0"/>
          <p:nvPr/>
        </p:nvPicPr>
        <p:blipFill rotWithShape="1">
          <a:blip r:embed="rId2">
            <a:alphaModFix/>
          </a:blip>
          <a:srcRect b="0" l="0" r="0" t="0"/>
          <a:stretch/>
        </p:blipFill>
        <p:spPr>
          <a:xfrm>
            <a:off x="448392" y="6355531"/>
            <a:ext cx="1422432" cy="309823"/>
          </a:xfrm>
          <a:prstGeom prst="rect">
            <a:avLst/>
          </a:prstGeom>
          <a:noFill/>
          <a:ln>
            <a:noFill/>
          </a:ln>
        </p:spPr>
      </p:pic>
      <p:sp>
        <p:nvSpPr>
          <p:cNvPr id="114" name="Google Shape;114;p11"/>
          <p:cNvSpPr/>
          <p:nvPr/>
        </p:nvSpPr>
        <p:spPr>
          <a:xfrm>
            <a:off x="448390" y="764020"/>
            <a:ext cx="927240" cy="24813"/>
          </a:xfrm>
          <a:prstGeom prst="rect">
            <a:avLst/>
          </a:prstGeom>
          <a:gradFill>
            <a:gsLst>
              <a:gs pos="0">
                <a:srgbClr val="1D9AD6">
                  <a:alpha val="0"/>
                </a:srgbClr>
              </a:gs>
              <a:gs pos="35000">
                <a:srgbClr val="1D9AD6"/>
              </a:gs>
              <a:gs pos="67000">
                <a:srgbClr val="4A9FEA"/>
              </a:gs>
              <a:gs pos="100000">
                <a:srgbClr val="3276F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115" name="Google Shape;115;p11"/>
          <p:cNvSpPr txBox="1"/>
          <p:nvPr>
            <p:ph idx="1" type="body"/>
          </p:nvPr>
        </p:nvSpPr>
        <p:spPr>
          <a:xfrm>
            <a:off x="327371" y="240298"/>
            <a:ext cx="4955203" cy="424732"/>
          </a:xfrm>
          <a:prstGeom prst="rect">
            <a:avLst/>
          </a:prstGeom>
          <a:noFill/>
          <a:ln>
            <a:noFill/>
          </a:ln>
        </p:spPr>
        <p:txBody>
          <a:bodyPr anchorCtr="0" anchor="t" bIns="45700" lIns="91425" spcFirstLastPara="1" rIns="91425" wrap="square" tIns="45700">
            <a:spAutoFit/>
          </a:bodyPr>
          <a:lstStyle>
            <a:lvl1pPr indent="-228600" lvl="0" marL="457200" marR="0" rtl="0" algn="l">
              <a:spcBef>
                <a:spcPts val="480"/>
              </a:spcBef>
              <a:spcAft>
                <a:spcPts val="0"/>
              </a:spcAft>
              <a:buClr>
                <a:srgbClr val="1867DC"/>
              </a:buClr>
              <a:buSzPts val="2400"/>
              <a:buFont typeface="Arial"/>
              <a:buNone/>
              <a:defRPr b="0" i="0" sz="2400" u="none" cap="none" strike="noStrike">
                <a:solidFill>
                  <a:srgbClr val="1867DC"/>
                </a:solidFill>
                <a:latin typeface="Montserrat SemiBold"/>
                <a:ea typeface="Montserrat SemiBold"/>
                <a:cs typeface="Montserrat SemiBold"/>
                <a:sym typeface="Montserrat SemiBold"/>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w/o Tittle">
  <p:cSld name="CMC w/o Tittle">
    <p:spTree>
      <p:nvGrpSpPr>
        <p:cNvPr id="116" name="Shape 116"/>
        <p:cNvGrpSpPr/>
        <p:nvPr/>
      </p:nvGrpSpPr>
      <p:grpSpPr>
        <a:xfrm>
          <a:off x="0" y="0"/>
          <a:ext cx="0" cy="0"/>
          <a:chOff x="0" y="0"/>
          <a:chExt cx="0" cy="0"/>
        </a:xfrm>
      </p:grpSpPr>
      <p:sp>
        <p:nvSpPr>
          <p:cNvPr id="117" name="Google Shape;117;p12"/>
          <p:cNvSpPr/>
          <p:nvPr/>
        </p:nvSpPr>
        <p:spPr>
          <a:xfrm>
            <a:off x="11836452" y="0"/>
            <a:ext cx="360250" cy="6858000"/>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118" name="Google Shape;118;p12"/>
          <p:cNvSpPr txBox="1"/>
          <p:nvPr/>
        </p:nvSpPr>
        <p:spPr>
          <a:xfrm>
            <a:off x="11835747" y="6458579"/>
            <a:ext cx="343364" cy="23160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905">
                <a:solidFill>
                  <a:schemeClr val="lt1"/>
                </a:solidFill>
                <a:latin typeface="Montserrat SemiBold"/>
                <a:ea typeface="Montserrat SemiBold"/>
                <a:cs typeface="Montserrat SemiBold"/>
                <a:sym typeface="Montserrat SemiBold"/>
              </a:rPr>
              <a:t>‹#›</a:t>
            </a:fld>
            <a:endParaRPr sz="905">
              <a:solidFill>
                <a:schemeClr val="lt1"/>
              </a:solidFill>
              <a:latin typeface="Montserrat SemiBold"/>
              <a:ea typeface="Montserrat SemiBold"/>
              <a:cs typeface="Montserrat SemiBold"/>
              <a:sym typeface="Montserrat SemiBold"/>
            </a:endParaRPr>
          </a:p>
        </p:txBody>
      </p:sp>
      <p:pic>
        <p:nvPicPr>
          <p:cNvPr id="119" name="Google Shape;119;p12"/>
          <p:cNvPicPr preferRelativeResize="0"/>
          <p:nvPr/>
        </p:nvPicPr>
        <p:blipFill rotWithShape="1">
          <a:blip r:embed="rId2">
            <a:alphaModFix/>
          </a:blip>
          <a:srcRect b="0" l="0" r="0" t="0"/>
          <a:stretch/>
        </p:blipFill>
        <p:spPr>
          <a:xfrm>
            <a:off x="448391" y="6355530"/>
            <a:ext cx="1422432" cy="30982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Cover" type="title">
  <p:cSld name="TITLE">
    <p:bg>
      <p:bgPr>
        <a:solidFill>
          <a:srgbClr val="0E2BB8"/>
        </a:solidFill>
      </p:bgPr>
    </p:bg>
    <p:spTree>
      <p:nvGrpSpPr>
        <p:cNvPr id="120" name="Shape 120"/>
        <p:cNvGrpSpPr/>
        <p:nvPr/>
      </p:nvGrpSpPr>
      <p:grpSpPr>
        <a:xfrm>
          <a:off x="0" y="0"/>
          <a:ext cx="0" cy="0"/>
          <a:chOff x="0" y="0"/>
          <a:chExt cx="0" cy="0"/>
        </a:xfrm>
      </p:grpSpPr>
      <p:pic>
        <p:nvPicPr>
          <p:cNvPr id="121" name="Google Shape;121;p13"/>
          <p:cNvPicPr preferRelativeResize="0"/>
          <p:nvPr/>
        </p:nvPicPr>
        <p:blipFill rotWithShape="1">
          <a:blip r:embed="rId2">
            <a:alphaModFix/>
          </a:blip>
          <a:srcRect b="0" l="0" r="0" t="0"/>
          <a:stretch/>
        </p:blipFill>
        <p:spPr>
          <a:xfrm>
            <a:off x="0" y="0"/>
            <a:ext cx="12191695" cy="6858000"/>
          </a:xfrm>
          <a:prstGeom prst="rect">
            <a:avLst/>
          </a:prstGeom>
          <a:noFill/>
          <a:ln>
            <a:noFill/>
          </a:ln>
        </p:spPr>
      </p:pic>
      <p:sp>
        <p:nvSpPr>
          <p:cNvPr id="122" name="Google Shape;122;p13"/>
          <p:cNvSpPr/>
          <p:nvPr/>
        </p:nvSpPr>
        <p:spPr>
          <a:xfrm>
            <a:off x="-2095805" y="-2095805"/>
            <a:ext cx="7239305" cy="7239305"/>
          </a:xfrm>
          <a:prstGeom prst="ellipse">
            <a:avLst/>
          </a:prstGeom>
          <a:noFill/>
          <a:ln cap="flat" cmpd="sng" w="12700">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a:off x="-1047902" y="-1047902"/>
            <a:ext cx="5143500" cy="5143500"/>
          </a:xfrm>
          <a:prstGeom prst="ellipse">
            <a:avLst/>
          </a:prstGeom>
          <a:noFill/>
          <a:ln cap="flat" cmpd="sng" w="12700">
            <a:solidFill>
              <a:srgbClr val="FFFFFF">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10287000" y="761695"/>
            <a:ext cx="1143000" cy="1143000"/>
          </a:xfrm>
          <a:prstGeom prst="ellipse">
            <a:avLst/>
          </a:prstGeom>
          <a:noFill/>
          <a:ln cap="flat" cmpd="sng" w="25400">
            <a:solidFill>
              <a:srgbClr val="8FBDF8">
                <a:alpha val="3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MC Global" id="125" name="Google Shape;125;p13"/>
          <p:cNvPicPr preferRelativeResize="0"/>
          <p:nvPr/>
        </p:nvPicPr>
        <p:blipFill rotWithShape="1">
          <a:blip r:embed="rId3">
            <a:alphaModFix/>
          </a:blip>
          <a:srcRect b="0" l="0" r="0" t="0"/>
          <a:stretch/>
        </p:blipFill>
        <p:spPr>
          <a:xfrm>
            <a:off x="448056" y="562356"/>
            <a:ext cx="3105302" cy="657454"/>
          </a:xfrm>
          <a:prstGeom prst="rect">
            <a:avLst/>
          </a:prstGeom>
          <a:noFill/>
          <a:ln>
            <a:noFill/>
          </a:ln>
        </p:spPr>
      </p:pic>
      <p:sp>
        <p:nvSpPr>
          <p:cNvPr id="126" name="Google Shape;126;p13"/>
          <p:cNvSpPr txBox="1"/>
          <p:nvPr/>
        </p:nvSpPr>
        <p:spPr>
          <a:xfrm>
            <a:off x="629107" y="6286500"/>
            <a:ext cx="285750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Montserrat"/>
              <a:buNone/>
            </a:pPr>
            <a:r>
              <a:rPr lang="en-US" sz="1050">
                <a:solidFill>
                  <a:srgbClr val="FFFFFF"/>
                </a:solidFill>
                <a:latin typeface="Montserrat"/>
                <a:ea typeface="Montserrat"/>
                <a:cs typeface="Montserrat"/>
                <a:sym typeface="Montserrat"/>
              </a:rPr>
              <a:t>www.cmcglobal.co.kr</a:t>
            </a:r>
            <a:endParaRPr/>
          </a:p>
        </p:txBody>
      </p:sp>
      <p:sp>
        <p:nvSpPr>
          <p:cNvPr id="127" name="Google Shape;127;p13"/>
          <p:cNvSpPr txBox="1"/>
          <p:nvPr>
            <p:ph idx="1" type="body"/>
          </p:nvPr>
        </p:nvSpPr>
        <p:spPr>
          <a:xfrm>
            <a:off x="629107" y="3072384"/>
            <a:ext cx="10881360" cy="18288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A9C7EA"/>
              </a:buClr>
              <a:buSzPts val="900"/>
              <a:buFont typeface="Arial"/>
              <a:buNone/>
              <a:defRPr b="1" i="0" sz="900" u="none" cap="none" strike="noStrike">
                <a:solidFill>
                  <a:srgbClr val="A9C7EA"/>
                </a:solidFill>
                <a:latin typeface="Montserrat"/>
                <a:ea typeface="Montserrat"/>
                <a:cs typeface="Montserrat"/>
                <a:sym typeface="Montserrat"/>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28" name="Google Shape;128;p13"/>
          <p:cNvSpPr txBox="1"/>
          <p:nvPr>
            <p:ph type="ctrTitle"/>
          </p:nvPr>
        </p:nvSpPr>
        <p:spPr>
          <a:xfrm>
            <a:off x="629107" y="3364992"/>
            <a:ext cx="10881360" cy="1298448"/>
          </a:xfrm>
          <a:prstGeom prst="rect">
            <a:avLst/>
          </a:prstGeom>
          <a:noFill/>
          <a:ln>
            <a:noFill/>
          </a:ln>
        </p:spPr>
        <p:txBody>
          <a:bodyPr anchorCtr="0" anchor="t" bIns="0" lIns="0" spcFirstLastPara="1" rIns="0" wrap="square" tIns="0">
            <a:noAutofit/>
          </a:bodyPr>
          <a:lstStyle>
            <a:lvl1pPr lvl="0" marR="0" rtl="0" algn="l">
              <a:lnSpc>
                <a:spcPct val="103000"/>
              </a:lnSpc>
              <a:spcBef>
                <a:spcPts val="0"/>
              </a:spcBef>
              <a:spcAft>
                <a:spcPts val="0"/>
              </a:spcAft>
              <a:buClr>
                <a:srgbClr val="FFFFFF"/>
              </a:buClr>
              <a:buSzPts val="4050"/>
              <a:buFont typeface="Montserrat"/>
              <a:buNone/>
              <a:defRPr b="1" i="0" sz="4050" u="none" cap="none" strike="noStrike">
                <a:solidFill>
                  <a:srgbClr val="FFFFFF"/>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9" name="Google Shape;129;p13"/>
          <p:cNvSpPr txBox="1"/>
          <p:nvPr>
            <p:ph idx="2" type="subTitle"/>
          </p:nvPr>
        </p:nvSpPr>
        <p:spPr>
          <a:xfrm>
            <a:off x="629107" y="4743907"/>
            <a:ext cx="9601200" cy="246888"/>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DCE8F7"/>
              </a:buClr>
              <a:buSzPts val="1350"/>
              <a:buFont typeface="Arial"/>
              <a:buNone/>
              <a:defRPr b="0" i="0" sz="1350" u="none" cap="none" strike="noStrike">
                <a:solidFill>
                  <a:srgbClr val="DCE8F7"/>
                </a:solidFill>
                <a:latin typeface="Barlow"/>
                <a:ea typeface="Barlow"/>
                <a:cs typeface="Barlow"/>
                <a:sym typeface="Barlow"/>
              </a:defRPr>
            </a:lvl1pPr>
            <a:lvl2pPr lvl="1"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lvl="2"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lvl="3"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lvl="4"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lvl="5"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lvl="6"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lvl="7"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lvl="8"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30" name="Google Shape;130;p13"/>
          <p:cNvSpPr txBox="1"/>
          <p:nvPr>
            <p:ph idx="3" type="body"/>
          </p:nvPr>
        </p:nvSpPr>
        <p:spPr>
          <a:xfrm>
            <a:off x="629107" y="5120640"/>
            <a:ext cx="9601200" cy="219456"/>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A9C7EA"/>
              </a:buClr>
              <a:buSzPts val="1050"/>
              <a:buFont typeface="Arial"/>
              <a:buNone/>
              <a:defRPr b="0" i="0" sz="1050" u="none" cap="none" strike="noStrike">
                <a:solidFill>
                  <a:srgbClr val="A9C7EA"/>
                </a:solidFill>
                <a:latin typeface="Barlow"/>
                <a:ea typeface="Barlow"/>
                <a:cs typeface="Barlow"/>
                <a:sym typeface="Barlow"/>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Content">
  <p:cSld name="CMC Content">
    <p:bg>
      <p:bgPr>
        <a:solidFill>
          <a:srgbClr val="FFFFFF"/>
        </a:solidFill>
      </p:bgPr>
    </p:bg>
    <p:spTree>
      <p:nvGrpSpPr>
        <p:cNvPr id="131" name="Shape 131"/>
        <p:cNvGrpSpPr/>
        <p:nvPr/>
      </p:nvGrpSpPr>
      <p:grpSpPr>
        <a:xfrm>
          <a:off x="0" y="0"/>
          <a:ext cx="0" cy="0"/>
          <a:chOff x="0" y="0"/>
          <a:chExt cx="0" cy="0"/>
        </a:xfrm>
      </p:grpSpPr>
      <p:sp>
        <p:nvSpPr>
          <p:cNvPr id="132" name="Google Shape;132;p14"/>
          <p:cNvSpPr/>
          <p:nvPr/>
        </p:nvSpPr>
        <p:spPr>
          <a:xfrm>
            <a:off x="11839651" y="0"/>
            <a:ext cx="362102" cy="6858000"/>
          </a:xfrm>
          <a:prstGeom prst="rect">
            <a:avLst/>
          </a:prstGeom>
          <a:solidFill>
            <a:srgbClr val="1B4D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MC Global" id="133" name="Google Shape;133;p14"/>
          <p:cNvPicPr preferRelativeResize="0"/>
          <p:nvPr/>
        </p:nvPicPr>
        <p:blipFill rotWithShape="1">
          <a:blip r:embed="rId2">
            <a:alphaModFix/>
          </a:blip>
          <a:srcRect b="0" l="0" r="0" t="0"/>
          <a:stretch/>
        </p:blipFill>
        <p:spPr>
          <a:xfrm>
            <a:off x="9525305" y="6476695"/>
            <a:ext cx="1143000" cy="256946"/>
          </a:xfrm>
          <a:prstGeom prst="rect">
            <a:avLst/>
          </a:prstGeom>
          <a:noFill/>
          <a:ln>
            <a:noFill/>
          </a:ln>
        </p:spPr>
      </p:pic>
      <p:sp>
        <p:nvSpPr>
          <p:cNvPr id="134" name="Google Shape;134;p14"/>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1867DC"/>
              </a:buClr>
              <a:buSzPts val="825"/>
              <a:buFont typeface="Arial"/>
              <a:buNone/>
              <a:defRPr b="1" i="0" sz="825" u="none" cap="none" strike="noStrike">
                <a:solidFill>
                  <a:srgbClr val="1867DC"/>
                </a:solidFill>
                <a:latin typeface="Montserrat"/>
                <a:ea typeface="Montserrat"/>
                <a:cs typeface="Montserrat"/>
                <a:sym typeface="Montserrat"/>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35" name="Google Shape;135;p14"/>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B2F5B"/>
              </a:buClr>
              <a:buSzPts val="2000"/>
              <a:buFont typeface="Montserrat"/>
              <a:buNone/>
              <a:defRPr b="1" i="0" sz="2000" u="none" cap="none" strike="noStrike">
                <a:solidFill>
                  <a:srgbClr val="0B2F5B"/>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w/o Tittle">
  <p:cSld name="CMC w/o Tittle">
    <p:spTree>
      <p:nvGrpSpPr>
        <p:cNvPr id="137" name="Shape 137"/>
        <p:cNvGrpSpPr/>
        <p:nvPr/>
      </p:nvGrpSpPr>
      <p:grpSpPr>
        <a:xfrm>
          <a:off x="0" y="0"/>
          <a:ext cx="0" cy="0"/>
          <a:chOff x="0" y="0"/>
          <a:chExt cx="0" cy="0"/>
        </a:xfrm>
      </p:grpSpPr>
      <p:sp>
        <p:nvSpPr>
          <p:cNvPr id="138" name="Google Shape;138;p16"/>
          <p:cNvSpPr/>
          <p:nvPr/>
        </p:nvSpPr>
        <p:spPr>
          <a:xfrm>
            <a:off x="11836452" y="0"/>
            <a:ext cx="360250" cy="6858000"/>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139" name="Google Shape;139;p16"/>
          <p:cNvSpPr txBox="1"/>
          <p:nvPr/>
        </p:nvSpPr>
        <p:spPr>
          <a:xfrm>
            <a:off x="11835747" y="6458579"/>
            <a:ext cx="343364" cy="23160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905">
                <a:solidFill>
                  <a:schemeClr val="lt1"/>
                </a:solidFill>
                <a:latin typeface="Montserrat SemiBold"/>
                <a:ea typeface="Montserrat SemiBold"/>
                <a:cs typeface="Montserrat SemiBold"/>
                <a:sym typeface="Montserrat SemiBold"/>
              </a:rPr>
              <a:t>‹#›</a:t>
            </a:fld>
            <a:endParaRPr sz="905">
              <a:solidFill>
                <a:schemeClr val="lt1"/>
              </a:solidFill>
              <a:latin typeface="Montserrat SemiBold"/>
              <a:ea typeface="Montserrat SemiBold"/>
              <a:cs typeface="Montserrat SemiBold"/>
              <a:sym typeface="Montserrat SemiBold"/>
            </a:endParaRPr>
          </a:p>
        </p:txBody>
      </p:sp>
      <p:pic>
        <p:nvPicPr>
          <p:cNvPr id="140" name="Google Shape;140;p16"/>
          <p:cNvPicPr preferRelativeResize="0"/>
          <p:nvPr/>
        </p:nvPicPr>
        <p:blipFill rotWithShape="1">
          <a:blip r:embed="rId2">
            <a:alphaModFix/>
          </a:blip>
          <a:srcRect b="0" l="0" r="0" t="0"/>
          <a:stretch/>
        </p:blipFill>
        <p:spPr>
          <a:xfrm>
            <a:off x="448391" y="6355530"/>
            <a:ext cx="1422432" cy="30982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With BG">
  <p:cSld name="3_With BG">
    <p:spTree>
      <p:nvGrpSpPr>
        <p:cNvPr id="141" name="Shape 141"/>
        <p:cNvGrpSpPr/>
        <p:nvPr/>
      </p:nvGrpSpPr>
      <p:grpSpPr>
        <a:xfrm>
          <a:off x="0" y="0"/>
          <a:ext cx="0" cy="0"/>
          <a:chOff x="0" y="0"/>
          <a:chExt cx="0" cy="0"/>
        </a:xfrm>
      </p:grpSpPr>
      <p:sp>
        <p:nvSpPr>
          <p:cNvPr id="142" name="Google Shape;142;p17"/>
          <p:cNvSpPr/>
          <p:nvPr/>
        </p:nvSpPr>
        <p:spPr>
          <a:xfrm flipH="1">
            <a:off x="2" y="-10160"/>
            <a:ext cx="12191999" cy="6858000"/>
          </a:xfrm>
          <a:prstGeom prst="rect">
            <a:avLst/>
          </a:prstGeom>
          <a:gradFill>
            <a:gsLst>
              <a:gs pos="0">
                <a:srgbClr val="1D9AD6">
                  <a:alpha val="0"/>
                </a:srgbClr>
              </a:gs>
              <a:gs pos="100000">
                <a:srgbClr val="1D9AD6">
                  <a:alpha val="13725"/>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solidFill>
                <a:schemeClr val="lt1"/>
              </a:solidFill>
              <a:latin typeface="Calibri"/>
              <a:ea typeface="Calibri"/>
              <a:cs typeface="Calibri"/>
              <a:sym typeface="Calibri"/>
            </a:endParaRPr>
          </a:p>
        </p:txBody>
      </p:sp>
      <p:sp>
        <p:nvSpPr>
          <p:cNvPr id="143" name="Google Shape;143;p17"/>
          <p:cNvSpPr/>
          <p:nvPr/>
        </p:nvSpPr>
        <p:spPr>
          <a:xfrm rot="-5400000">
            <a:off x="5909233" y="580294"/>
            <a:ext cx="365760" cy="12199777"/>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latin typeface="Calibri"/>
              <a:ea typeface="Calibri"/>
              <a:cs typeface="Calibri"/>
              <a:sym typeface="Calibri"/>
            </a:endParaRPr>
          </a:p>
        </p:txBody>
      </p:sp>
      <p:pic>
        <p:nvPicPr>
          <p:cNvPr id="144" name="Google Shape;144;p17"/>
          <p:cNvPicPr preferRelativeResize="0"/>
          <p:nvPr/>
        </p:nvPicPr>
        <p:blipFill rotWithShape="1">
          <a:blip r:embed="rId2">
            <a:alphaModFix/>
          </a:blip>
          <a:srcRect b="0" l="0" r="0" t="0"/>
          <a:stretch/>
        </p:blipFill>
        <p:spPr>
          <a:xfrm>
            <a:off x="10761999" y="6555937"/>
            <a:ext cx="1119493" cy="243840"/>
          </a:xfrm>
          <a:prstGeom prst="rect">
            <a:avLst/>
          </a:prstGeom>
          <a:noFill/>
          <a:ln>
            <a:noFill/>
          </a:ln>
        </p:spPr>
      </p:pic>
      <p:sp>
        <p:nvSpPr>
          <p:cNvPr id="145" name="Google Shape;145;p17"/>
          <p:cNvSpPr txBox="1"/>
          <p:nvPr>
            <p:ph type="title"/>
          </p:nvPr>
        </p:nvSpPr>
        <p:spPr>
          <a:xfrm>
            <a:off x="544387" y="243835"/>
            <a:ext cx="10917186" cy="5608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1867DC"/>
              </a:buClr>
              <a:buSzPts val="2800"/>
              <a:buFont typeface="Calibri"/>
              <a:buNone/>
              <a:defRPr b="0" i="0" sz="2800" u="none" cap="none" strike="noStrike">
                <a:solidFill>
                  <a:srgbClr val="1867DC"/>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Cover" type="title">
  <p:cSld name="TITLE">
    <p:bg>
      <p:bgPr>
        <a:solidFill>
          <a:srgbClr val="0E2BB8"/>
        </a:solidFill>
      </p:bgPr>
    </p:bg>
    <p:spTree>
      <p:nvGrpSpPr>
        <p:cNvPr id="146" name="Shape 146"/>
        <p:cNvGrpSpPr/>
        <p:nvPr/>
      </p:nvGrpSpPr>
      <p:grpSpPr>
        <a:xfrm>
          <a:off x="0" y="0"/>
          <a:ext cx="0" cy="0"/>
          <a:chOff x="0" y="0"/>
          <a:chExt cx="0" cy="0"/>
        </a:xfrm>
      </p:grpSpPr>
      <p:pic>
        <p:nvPicPr>
          <p:cNvPr id="147" name="Google Shape;147;p18"/>
          <p:cNvPicPr preferRelativeResize="0"/>
          <p:nvPr/>
        </p:nvPicPr>
        <p:blipFill rotWithShape="1">
          <a:blip r:embed="rId2">
            <a:alphaModFix/>
          </a:blip>
          <a:srcRect b="0" l="0" r="0" t="0"/>
          <a:stretch/>
        </p:blipFill>
        <p:spPr>
          <a:xfrm>
            <a:off x="0" y="0"/>
            <a:ext cx="12191695" cy="6858000"/>
          </a:xfrm>
          <a:prstGeom prst="rect">
            <a:avLst/>
          </a:prstGeom>
          <a:noFill/>
          <a:ln>
            <a:noFill/>
          </a:ln>
        </p:spPr>
      </p:pic>
      <p:sp>
        <p:nvSpPr>
          <p:cNvPr id="148" name="Google Shape;148;p18"/>
          <p:cNvSpPr/>
          <p:nvPr/>
        </p:nvSpPr>
        <p:spPr>
          <a:xfrm>
            <a:off x="-2095805" y="-2095805"/>
            <a:ext cx="7239305" cy="7239305"/>
          </a:xfrm>
          <a:prstGeom prst="ellipse">
            <a:avLst/>
          </a:prstGeom>
          <a:noFill/>
          <a:ln cap="flat" cmpd="sng" w="12700">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1047902" y="-1047902"/>
            <a:ext cx="5143500" cy="5143500"/>
          </a:xfrm>
          <a:prstGeom prst="ellipse">
            <a:avLst/>
          </a:prstGeom>
          <a:noFill/>
          <a:ln cap="flat" cmpd="sng" w="12700">
            <a:solidFill>
              <a:srgbClr val="FFFFFF">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10287000" y="761695"/>
            <a:ext cx="1143000" cy="1143000"/>
          </a:xfrm>
          <a:prstGeom prst="ellipse">
            <a:avLst/>
          </a:prstGeom>
          <a:noFill/>
          <a:ln cap="flat" cmpd="sng" w="25400">
            <a:solidFill>
              <a:srgbClr val="8FBDF8">
                <a:alpha val="3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MC Global" id="151" name="Google Shape;151;p18"/>
          <p:cNvPicPr preferRelativeResize="0"/>
          <p:nvPr/>
        </p:nvPicPr>
        <p:blipFill rotWithShape="1">
          <a:blip r:embed="rId3">
            <a:alphaModFix/>
          </a:blip>
          <a:srcRect b="0" l="0" r="0" t="0"/>
          <a:stretch/>
        </p:blipFill>
        <p:spPr>
          <a:xfrm>
            <a:off x="448056" y="562356"/>
            <a:ext cx="3105302" cy="657454"/>
          </a:xfrm>
          <a:prstGeom prst="rect">
            <a:avLst/>
          </a:prstGeom>
          <a:noFill/>
          <a:ln>
            <a:noFill/>
          </a:ln>
        </p:spPr>
      </p:pic>
      <p:sp>
        <p:nvSpPr>
          <p:cNvPr id="152" name="Google Shape;152;p18"/>
          <p:cNvSpPr txBox="1"/>
          <p:nvPr/>
        </p:nvSpPr>
        <p:spPr>
          <a:xfrm>
            <a:off x="629107" y="6286500"/>
            <a:ext cx="285750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Montserrat"/>
              <a:buNone/>
            </a:pPr>
            <a:r>
              <a:rPr lang="en-US" sz="1050">
                <a:solidFill>
                  <a:srgbClr val="FFFFFF"/>
                </a:solidFill>
                <a:latin typeface="Montserrat"/>
                <a:ea typeface="Montserrat"/>
                <a:cs typeface="Montserrat"/>
                <a:sym typeface="Montserrat"/>
              </a:rPr>
              <a:t>www.cmcglobal.co.kr</a:t>
            </a:r>
            <a:endParaRPr/>
          </a:p>
        </p:txBody>
      </p:sp>
      <p:sp>
        <p:nvSpPr>
          <p:cNvPr id="153" name="Google Shape;153;p18"/>
          <p:cNvSpPr txBox="1"/>
          <p:nvPr/>
        </p:nvSpPr>
        <p:spPr>
          <a:xfrm rot="-5400000">
            <a:off x="10371125" y="5416906"/>
            <a:ext cx="2691079" cy="11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B4E3"/>
              </a:buClr>
              <a:buSzPts val="800"/>
              <a:buFont typeface="Montserrat"/>
              <a:buNone/>
            </a:pPr>
            <a:r>
              <a:rPr lang="en-US" sz="800">
                <a:solidFill>
                  <a:srgbClr val="8EB4E3"/>
                </a:solidFill>
                <a:latin typeface="Montserrat"/>
                <a:ea typeface="Montserrat"/>
                <a:cs typeface="Montserrat"/>
                <a:sym typeface="Montserrat"/>
              </a:rPr>
              <a:t>Copyright ©2026 CMC Global. All Rights Reserved</a:t>
            </a:r>
            <a:endParaRPr/>
          </a:p>
        </p:txBody>
      </p:sp>
      <p:sp>
        <p:nvSpPr>
          <p:cNvPr id="154" name="Google Shape;154;p18"/>
          <p:cNvSpPr txBox="1"/>
          <p:nvPr/>
        </p:nvSpPr>
        <p:spPr>
          <a:xfrm>
            <a:off x="9620402" y="6286500"/>
            <a:ext cx="1943100" cy="11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B4E3"/>
              </a:buClr>
              <a:buSzPts val="800"/>
              <a:buFont typeface="Montserrat"/>
              <a:buNone/>
            </a:pPr>
            <a:r>
              <a:rPr lang="en-US" sz="800">
                <a:solidFill>
                  <a:srgbClr val="8EB4E3"/>
                </a:solidFill>
                <a:latin typeface="Montserrat"/>
                <a:ea typeface="Montserrat"/>
                <a:cs typeface="Montserrat"/>
                <a:sym typeface="Montserrat"/>
              </a:rPr>
              <a:t>CONFIDENTIAL</a:t>
            </a:r>
            <a:endParaRPr/>
          </a:p>
        </p:txBody>
      </p:sp>
      <p:sp>
        <p:nvSpPr>
          <p:cNvPr id="155" name="Google Shape;155;p18"/>
          <p:cNvSpPr txBox="1"/>
          <p:nvPr>
            <p:ph idx="1" type="body"/>
          </p:nvPr>
        </p:nvSpPr>
        <p:spPr>
          <a:xfrm>
            <a:off x="629107" y="3072384"/>
            <a:ext cx="10881360" cy="18288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A9C7EA"/>
              </a:buClr>
              <a:buSzPts val="900"/>
              <a:buFont typeface="Arial"/>
              <a:buNone/>
              <a:defRPr b="1" i="0" sz="900" u="none" cap="none" strike="noStrike">
                <a:solidFill>
                  <a:srgbClr val="A9C7EA"/>
                </a:solidFill>
                <a:latin typeface="Montserrat"/>
                <a:ea typeface="Montserrat"/>
                <a:cs typeface="Montserrat"/>
                <a:sym typeface="Montserrat"/>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56" name="Google Shape;156;p18"/>
          <p:cNvSpPr txBox="1"/>
          <p:nvPr>
            <p:ph type="ctrTitle"/>
          </p:nvPr>
        </p:nvSpPr>
        <p:spPr>
          <a:xfrm>
            <a:off x="629107" y="3364992"/>
            <a:ext cx="10881360" cy="1298448"/>
          </a:xfrm>
          <a:prstGeom prst="rect">
            <a:avLst/>
          </a:prstGeom>
          <a:noFill/>
          <a:ln>
            <a:noFill/>
          </a:ln>
        </p:spPr>
        <p:txBody>
          <a:bodyPr anchorCtr="0" anchor="t" bIns="0" lIns="0" spcFirstLastPara="1" rIns="0" wrap="square" tIns="0">
            <a:noAutofit/>
          </a:bodyPr>
          <a:lstStyle>
            <a:lvl1pPr lvl="0" marR="0" rtl="0" algn="l">
              <a:lnSpc>
                <a:spcPct val="103000"/>
              </a:lnSpc>
              <a:spcBef>
                <a:spcPts val="0"/>
              </a:spcBef>
              <a:spcAft>
                <a:spcPts val="0"/>
              </a:spcAft>
              <a:buClr>
                <a:srgbClr val="FFFFFF"/>
              </a:buClr>
              <a:buSzPts val="4050"/>
              <a:buFont typeface="Montserrat"/>
              <a:buNone/>
              <a:defRPr b="1" i="0" sz="4050" u="none" cap="none" strike="noStrike">
                <a:solidFill>
                  <a:srgbClr val="FFFFFF"/>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p18"/>
          <p:cNvSpPr txBox="1"/>
          <p:nvPr>
            <p:ph idx="2" type="subTitle"/>
          </p:nvPr>
        </p:nvSpPr>
        <p:spPr>
          <a:xfrm>
            <a:off x="629107" y="4743907"/>
            <a:ext cx="9601200" cy="246888"/>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DCE8F7"/>
              </a:buClr>
              <a:buSzPts val="1350"/>
              <a:buFont typeface="Arial"/>
              <a:buNone/>
              <a:defRPr b="0" i="0" sz="1350" u="none" cap="none" strike="noStrike">
                <a:solidFill>
                  <a:srgbClr val="DCE8F7"/>
                </a:solidFill>
                <a:latin typeface="Barlow"/>
                <a:ea typeface="Barlow"/>
                <a:cs typeface="Barlow"/>
                <a:sym typeface="Barlow"/>
              </a:defRPr>
            </a:lvl1pPr>
            <a:lvl2pPr lvl="1"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lvl="2"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lvl="3"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lvl="4"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lvl="5"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lvl="6"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lvl="7"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lvl="8"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58" name="Google Shape;158;p18"/>
          <p:cNvSpPr txBox="1"/>
          <p:nvPr>
            <p:ph idx="3" type="body"/>
          </p:nvPr>
        </p:nvSpPr>
        <p:spPr>
          <a:xfrm>
            <a:off x="629107" y="5120640"/>
            <a:ext cx="9601200" cy="219456"/>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A9C7EA"/>
              </a:buClr>
              <a:buSzPts val="1050"/>
              <a:buFont typeface="Arial"/>
              <a:buNone/>
              <a:defRPr b="0" i="0" sz="1050" u="none" cap="none" strike="noStrike">
                <a:solidFill>
                  <a:srgbClr val="A9C7EA"/>
                </a:solidFill>
                <a:latin typeface="Barlow"/>
                <a:ea typeface="Barlow"/>
                <a:cs typeface="Barlow"/>
                <a:sym typeface="Barlow"/>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Content">
  <p:cSld name="CMC Content">
    <p:bg>
      <p:bgPr>
        <a:solidFill>
          <a:srgbClr val="FFFFFF"/>
        </a:solidFill>
      </p:bgPr>
    </p:bg>
    <p:spTree>
      <p:nvGrpSpPr>
        <p:cNvPr id="159" name="Shape 159"/>
        <p:cNvGrpSpPr/>
        <p:nvPr/>
      </p:nvGrpSpPr>
      <p:grpSpPr>
        <a:xfrm>
          <a:off x="0" y="0"/>
          <a:ext cx="0" cy="0"/>
          <a:chOff x="0" y="0"/>
          <a:chExt cx="0" cy="0"/>
        </a:xfrm>
      </p:grpSpPr>
      <p:sp>
        <p:nvSpPr>
          <p:cNvPr id="160" name="Google Shape;160;p19"/>
          <p:cNvSpPr/>
          <p:nvPr/>
        </p:nvSpPr>
        <p:spPr>
          <a:xfrm>
            <a:off x="11839651" y="0"/>
            <a:ext cx="362102" cy="6858000"/>
          </a:xfrm>
          <a:prstGeom prst="rect">
            <a:avLst/>
          </a:prstGeom>
          <a:solidFill>
            <a:srgbClr val="1B4D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MC Global" id="161" name="Google Shape;161;p19"/>
          <p:cNvPicPr preferRelativeResize="0"/>
          <p:nvPr/>
        </p:nvPicPr>
        <p:blipFill rotWithShape="1">
          <a:blip r:embed="rId2">
            <a:alphaModFix/>
          </a:blip>
          <a:srcRect b="0" l="0" r="0" t="0"/>
          <a:stretch/>
        </p:blipFill>
        <p:spPr>
          <a:xfrm>
            <a:off x="9525305" y="6476695"/>
            <a:ext cx="1143000" cy="256946"/>
          </a:xfrm>
          <a:prstGeom prst="rect">
            <a:avLst/>
          </a:prstGeom>
          <a:noFill/>
          <a:ln>
            <a:noFill/>
          </a:ln>
        </p:spPr>
      </p:pic>
      <p:sp>
        <p:nvSpPr>
          <p:cNvPr id="162" name="Google Shape;162;p19"/>
          <p:cNvSpPr txBox="1"/>
          <p:nvPr/>
        </p:nvSpPr>
        <p:spPr>
          <a:xfrm rot="-5400000">
            <a:off x="10557662" y="4223614"/>
            <a:ext cx="219456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97D"/>
              </a:buClr>
              <a:buSzPts val="825"/>
              <a:buFont typeface="Montserrat"/>
              <a:buNone/>
            </a:pPr>
            <a:r>
              <a:rPr lang="en-US" sz="825">
                <a:solidFill>
                  <a:srgbClr val="1F497D"/>
                </a:solidFill>
                <a:latin typeface="Montserrat"/>
                <a:ea typeface="Montserrat"/>
                <a:cs typeface="Montserrat"/>
                <a:sym typeface="Montserrat"/>
              </a:rPr>
              <a:t>Qcells CORE Pro · Technical Design</a:t>
            </a:r>
            <a:endParaRPr/>
          </a:p>
        </p:txBody>
      </p:sp>
      <p:sp>
        <p:nvSpPr>
          <p:cNvPr id="163" name="Google Shape;163;p19"/>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1867DC"/>
              </a:buClr>
              <a:buSzPts val="825"/>
              <a:buFont typeface="Arial"/>
              <a:buNone/>
              <a:defRPr b="1" i="0" sz="825" u="none" cap="none" strike="noStrike">
                <a:solidFill>
                  <a:srgbClr val="1867DC"/>
                </a:solidFill>
                <a:latin typeface="Montserrat"/>
                <a:ea typeface="Montserrat"/>
                <a:cs typeface="Montserrat"/>
                <a:sym typeface="Montserrat"/>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64" name="Google Shape;164;p19"/>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B2F5B"/>
              </a:buClr>
              <a:buSzPts val="2000"/>
              <a:buFont typeface="Montserrat"/>
              <a:buNone/>
              <a:defRPr b="1" i="0" sz="2000" u="none" cap="none" strike="noStrike">
                <a:solidFill>
                  <a:srgbClr val="0B2F5B"/>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5" name="Shape 165"/>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Section Header">
  <p:cSld name="CMC Section Header">
    <p:spTree>
      <p:nvGrpSpPr>
        <p:cNvPr id="166" name="Shape 166"/>
        <p:cNvGrpSpPr/>
        <p:nvPr/>
      </p:nvGrpSpPr>
      <p:grpSpPr>
        <a:xfrm>
          <a:off x="0" y="0"/>
          <a:ext cx="0" cy="0"/>
          <a:chOff x="0" y="0"/>
          <a:chExt cx="0" cy="0"/>
        </a:xfrm>
      </p:grpSpPr>
      <p:pic>
        <p:nvPicPr>
          <p:cNvPr id="167" name="Google Shape;167;p21"/>
          <p:cNvPicPr preferRelativeResize="0"/>
          <p:nvPr/>
        </p:nvPicPr>
        <p:blipFill rotWithShape="1">
          <a:blip r:embed="rId2">
            <a:alphaModFix/>
          </a:blip>
          <a:srcRect b="0" l="0" r="0" t="0"/>
          <a:stretch/>
        </p:blipFill>
        <p:spPr>
          <a:xfrm>
            <a:off x="240" y="135"/>
            <a:ext cx="12191521" cy="6857731"/>
          </a:xfrm>
          <a:prstGeom prst="rect">
            <a:avLst/>
          </a:prstGeom>
          <a:noFill/>
          <a:ln>
            <a:noFill/>
          </a:ln>
        </p:spPr>
      </p:pic>
      <p:sp>
        <p:nvSpPr>
          <p:cNvPr id="168" name="Google Shape;168;p21"/>
          <p:cNvSpPr txBox="1"/>
          <p:nvPr/>
        </p:nvSpPr>
        <p:spPr>
          <a:xfrm>
            <a:off x="628864" y="6292403"/>
            <a:ext cx="1856598" cy="2593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85">
                <a:solidFill>
                  <a:schemeClr val="lt1"/>
                </a:solidFill>
                <a:latin typeface="Montserrat"/>
                <a:ea typeface="Montserrat"/>
                <a:cs typeface="Montserrat"/>
                <a:sym typeface="Montserrat"/>
              </a:rPr>
              <a:t>www.cmcglobal.com.vn</a:t>
            </a:r>
            <a:endParaRPr/>
          </a:p>
        </p:txBody>
      </p:sp>
      <p:pic>
        <p:nvPicPr>
          <p:cNvPr id="169" name="Google Shape;169;p21"/>
          <p:cNvPicPr preferRelativeResize="0"/>
          <p:nvPr/>
        </p:nvPicPr>
        <p:blipFill rotWithShape="1">
          <a:blip r:embed="rId3">
            <a:alphaModFix/>
          </a:blip>
          <a:srcRect b="-8863" l="-4956" r="-6463" t="1"/>
          <a:stretch/>
        </p:blipFill>
        <p:spPr>
          <a:xfrm>
            <a:off x="445122" y="565598"/>
            <a:ext cx="3108522" cy="661498"/>
          </a:xfrm>
          <a:prstGeom prst="rect">
            <a:avLst/>
          </a:prstGeom>
          <a:noFill/>
          <a:ln>
            <a:noFill/>
          </a:ln>
        </p:spPr>
      </p:pic>
      <p:sp>
        <p:nvSpPr>
          <p:cNvPr id="170" name="Google Shape;170;p21"/>
          <p:cNvSpPr txBox="1"/>
          <p:nvPr/>
        </p:nvSpPr>
        <p:spPr>
          <a:xfrm rot="5400000">
            <a:off x="10595325" y="5212187"/>
            <a:ext cx="2470543" cy="194954"/>
          </a:xfrm>
          <a:prstGeom prst="rect">
            <a:avLst/>
          </a:prstGeom>
          <a:noFill/>
          <a:ln>
            <a:noFill/>
          </a:ln>
        </p:spPr>
        <p:txBody>
          <a:bodyPr anchorCtr="0" anchor="t" bIns="41350" lIns="82700" spcFirstLastPara="1" rIns="82700" wrap="square" tIns="41350">
            <a:spAutoFit/>
          </a:bodyPr>
          <a:lstStyle/>
          <a:p>
            <a:pPr indent="0" lvl="0" marL="0" marR="0" rtl="0" algn="r">
              <a:spcBef>
                <a:spcPts val="0"/>
              </a:spcBef>
              <a:spcAft>
                <a:spcPts val="0"/>
              </a:spcAft>
              <a:buNone/>
            </a:pPr>
            <a:r>
              <a:rPr lang="en-US" sz="724">
                <a:solidFill>
                  <a:srgbClr val="8CB3E3"/>
                </a:solidFill>
                <a:latin typeface="Montserrat"/>
                <a:ea typeface="Montserrat"/>
                <a:cs typeface="Montserrat"/>
                <a:sym typeface="Montserrat"/>
              </a:rPr>
              <a:t>Copyright ©2024 CMC Global. All Rights Reserved</a:t>
            </a:r>
            <a:endParaRPr/>
          </a:p>
        </p:txBody>
      </p:sp>
      <p:sp>
        <p:nvSpPr>
          <p:cNvPr id="171" name="Google Shape;171;p21"/>
          <p:cNvSpPr txBox="1"/>
          <p:nvPr>
            <p:ph idx="1" type="body"/>
          </p:nvPr>
        </p:nvSpPr>
        <p:spPr>
          <a:xfrm>
            <a:off x="628650" y="4074392"/>
            <a:ext cx="10959970" cy="221801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194"/>
              </a:spcBef>
              <a:spcAft>
                <a:spcPts val="0"/>
              </a:spcAft>
              <a:buClr>
                <a:schemeClr val="lt1"/>
              </a:buClr>
              <a:buSzPts val="5970"/>
              <a:buFont typeface="Arial"/>
              <a:buNone/>
              <a:defRPr b="0" i="0" sz="5970" u="none" cap="none" strike="noStrike">
                <a:solidFill>
                  <a:schemeClr val="lt1"/>
                </a:solidFill>
                <a:latin typeface="Montserrat ExtraBold"/>
                <a:ea typeface="Montserrat ExtraBold"/>
                <a:cs typeface="Montserrat ExtraBold"/>
                <a:sym typeface="Montserrat ExtraBold"/>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4246">
          <p15:clr>
            <a:srgbClr val="FBAE40"/>
          </p15:clr>
        </p15:guide>
        <p15:guide id="2" pos="8134">
          <p15:clr>
            <a:srgbClr val="FBAE40"/>
          </p15:clr>
        </p15:guide>
        <p15:guide id="3" pos="358">
          <p15:clr>
            <a:srgbClr val="FBAE40"/>
          </p15:clr>
        </p15:guide>
        <p15:guide id="4" orient="horz" pos="348">
          <p15:clr>
            <a:srgbClr val="FBAE40"/>
          </p15:clr>
        </p15:guide>
        <p15:guide id="5" orient="horz" pos="44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2" name="Shape 172"/>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73" name="Shape 173"/>
        <p:cNvGrpSpPr/>
        <p:nvPr/>
      </p:nvGrpSpPr>
      <p:grpSpPr>
        <a:xfrm>
          <a:off x="0" y="0"/>
          <a:ext cx="0" cy="0"/>
          <a:chOff x="0" y="0"/>
          <a:chExt cx="0" cy="0"/>
        </a:xfrm>
      </p:grpSpPr>
      <p:pic>
        <p:nvPicPr>
          <p:cNvPr id="174" name="Google Shape;174;p23"/>
          <p:cNvPicPr preferRelativeResize="0"/>
          <p:nvPr/>
        </p:nvPicPr>
        <p:blipFill rotWithShape="1">
          <a:blip r:embed="rId2">
            <a:alphaModFix amt="39000"/>
          </a:blip>
          <a:srcRect b="4791" l="0" r="0" t="4791"/>
          <a:stretch/>
        </p:blipFill>
        <p:spPr>
          <a:xfrm>
            <a:off x="952062" y="959685"/>
            <a:ext cx="3967164" cy="1717757"/>
          </a:xfrm>
          <a:prstGeom prst="roundRect">
            <a:avLst>
              <a:gd fmla="val 8908" name="adj"/>
            </a:avLst>
          </a:prstGeom>
          <a:solidFill>
            <a:schemeClr val="lt1"/>
          </a:solidFill>
          <a:ln>
            <a:noFill/>
          </a:ln>
        </p:spPr>
      </p:pic>
      <p:sp>
        <p:nvSpPr>
          <p:cNvPr id="175" name="Google Shape;175;p23"/>
          <p:cNvSpPr/>
          <p:nvPr/>
        </p:nvSpPr>
        <p:spPr>
          <a:xfrm>
            <a:off x="952062" y="956028"/>
            <a:ext cx="3967164" cy="1711784"/>
          </a:xfrm>
          <a:prstGeom prst="roundRect">
            <a:avLst>
              <a:gd fmla="val 8615" name="adj"/>
            </a:avLst>
          </a:prstGeom>
          <a:gradFill>
            <a:gsLst>
              <a:gs pos="0">
                <a:srgbClr val="2E6FF2">
                  <a:alpha val="0"/>
                </a:srgbClr>
              </a:gs>
              <a:gs pos="6000">
                <a:srgbClr val="2E6FF2">
                  <a:alpha val="0"/>
                </a:srgbClr>
              </a:gs>
              <a:gs pos="79000">
                <a:srgbClr val="0079F3"/>
              </a:gs>
              <a:gs pos="100000">
                <a:srgbClr val="0F9EE3">
                  <a:alpha val="94902"/>
                </a:srgbClr>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FFFFFF"/>
              </a:solidFill>
              <a:latin typeface="Calibri"/>
              <a:ea typeface="Calibri"/>
              <a:cs typeface="Calibri"/>
              <a:sym typeface="Calibri"/>
            </a:endParaRPr>
          </a:p>
        </p:txBody>
      </p:sp>
      <p:sp>
        <p:nvSpPr>
          <p:cNvPr id="176" name="Google Shape;176;p23"/>
          <p:cNvSpPr/>
          <p:nvPr/>
        </p:nvSpPr>
        <p:spPr>
          <a:xfrm>
            <a:off x="5451522" y="4387959"/>
            <a:ext cx="5561970" cy="2166354"/>
          </a:xfrm>
          <a:prstGeom prst="roundRect">
            <a:avLst>
              <a:gd fmla="val 1908" name="adj"/>
            </a:avLst>
          </a:prstGeom>
          <a:noFill/>
          <a:ln cap="flat" cmpd="sng" w="25400">
            <a:solidFill>
              <a:srgbClr val="F4F8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177" name="Google Shape;177;p23"/>
          <p:cNvGrpSpPr/>
          <p:nvPr/>
        </p:nvGrpSpPr>
        <p:grpSpPr>
          <a:xfrm>
            <a:off x="5645854" y="4103165"/>
            <a:ext cx="3070074" cy="576636"/>
            <a:chOff x="6606120" y="3381088"/>
            <a:chExt cx="3752849" cy="704850"/>
          </a:xfrm>
        </p:grpSpPr>
        <p:grpSp>
          <p:nvGrpSpPr>
            <p:cNvPr id="178" name="Google Shape;178;p23"/>
            <p:cNvGrpSpPr/>
            <p:nvPr/>
          </p:nvGrpSpPr>
          <p:grpSpPr>
            <a:xfrm>
              <a:off x="6606120" y="3381088"/>
              <a:ext cx="3752849" cy="704850"/>
              <a:chOff x="8686303" y="1547150"/>
              <a:chExt cx="3752849" cy="704850"/>
            </a:xfrm>
          </p:grpSpPr>
          <p:sp>
            <p:nvSpPr>
              <p:cNvPr id="179" name="Google Shape;179;p23"/>
              <p:cNvSpPr/>
              <p:nvPr/>
            </p:nvSpPr>
            <p:spPr>
              <a:xfrm>
                <a:off x="9202467" y="1665575"/>
                <a:ext cx="3236685" cy="468000"/>
              </a:xfrm>
              <a:prstGeom prst="roundRect">
                <a:avLst>
                  <a:gd fmla="val 16667" name="adj"/>
                </a:avLst>
              </a:prstGeom>
              <a:solidFill>
                <a:srgbClr val="00A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09">
                    <a:solidFill>
                      <a:schemeClr val="lt1"/>
                    </a:solidFill>
                    <a:latin typeface="Montserrat"/>
                    <a:ea typeface="Montserrat"/>
                    <a:cs typeface="Montserrat"/>
                    <a:sym typeface="Montserrat"/>
                  </a:rPr>
                  <a:t>Achievements</a:t>
                </a:r>
                <a:endParaRPr sz="1309">
                  <a:solidFill>
                    <a:schemeClr val="lt1"/>
                  </a:solidFill>
                  <a:latin typeface="Montserrat"/>
                  <a:ea typeface="Montserrat"/>
                  <a:cs typeface="Montserrat"/>
                  <a:sym typeface="Montserrat"/>
                </a:endParaRPr>
              </a:p>
            </p:txBody>
          </p:sp>
          <p:sp>
            <p:nvSpPr>
              <p:cNvPr id="180" name="Google Shape;180;p23"/>
              <p:cNvSpPr/>
              <p:nvPr/>
            </p:nvSpPr>
            <p:spPr>
              <a:xfrm>
                <a:off x="8686303" y="1547150"/>
                <a:ext cx="704850" cy="704850"/>
              </a:xfrm>
              <a:prstGeom prst="ellipse">
                <a:avLst/>
              </a:prstGeom>
              <a:solidFill>
                <a:srgbClr val="00A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9">
                  <a:solidFill>
                    <a:schemeClr val="lt1"/>
                  </a:solidFill>
                  <a:latin typeface="Montserrat"/>
                  <a:ea typeface="Montserrat"/>
                  <a:cs typeface="Montserrat"/>
                  <a:sym typeface="Montserrat"/>
                </a:endParaRPr>
              </a:p>
            </p:txBody>
          </p:sp>
        </p:grpSp>
        <p:sp>
          <p:nvSpPr>
            <p:cNvPr id="181" name="Google Shape;181;p23"/>
            <p:cNvSpPr/>
            <p:nvPr/>
          </p:nvSpPr>
          <p:spPr>
            <a:xfrm>
              <a:off x="6713131" y="3524229"/>
              <a:ext cx="490827" cy="432000"/>
            </a:xfrm>
            <a:custGeom>
              <a:rect b="b" l="l" r="r" t="t"/>
              <a:pathLst>
                <a:path extrusionOk="0" h="10741" w="8943">
                  <a:moveTo>
                    <a:pt x="8430" y="1013"/>
                  </a:moveTo>
                  <a:cubicBezTo>
                    <a:pt x="8466" y="1013"/>
                    <a:pt x="8514" y="1025"/>
                    <a:pt x="8549" y="1061"/>
                  </a:cubicBezTo>
                  <a:cubicBezTo>
                    <a:pt x="8573" y="1084"/>
                    <a:pt x="8585" y="1132"/>
                    <a:pt x="8585" y="1180"/>
                  </a:cubicBezTo>
                  <a:lnTo>
                    <a:pt x="8585" y="1846"/>
                  </a:lnTo>
                  <a:cubicBezTo>
                    <a:pt x="8585" y="2454"/>
                    <a:pt x="8454" y="2906"/>
                    <a:pt x="8192" y="3204"/>
                  </a:cubicBezTo>
                  <a:cubicBezTo>
                    <a:pt x="7954" y="3466"/>
                    <a:pt x="7633" y="3585"/>
                    <a:pt x="7323" y="3716"/>
                  </a:cubicBezTo>
                  <a:cubicBezTo>
                    <a:pt x="7180" y="3775"/>
                    <a:pt x="7025" y="3835"/>
                    <a:pt x="6894" y="3918"/>
                  </a:cubicBezTo>
                  <a:cubicBezTo>
                    <a:pt x="7037" y="3466"/>
                    <a:pt x="7121" y="2989"/>
                    <a:pt x="7121" y="2501"/>
                  </a:cubicBezTo>
                  <a:lnTo>
                    <a:pt x="7121" y="1811"/>
                  </a:lnTo>
                  <a:cubicBezTo>
                    <a:pt x="7335" y="1811"/>
                    <a:pt x="7549" y="1715"/>
                    <a:pt x="7680" y="1513"/>
                  </a:cubicBezTo>
                  <a:lnTo>
                    <a:pt x="7799" y="1334"/>
                  </a:lnTo>
                  <a:cubicBezTo>
                    <a:pt x="7954" y="1132"/>
                    <a:pt x="8168" y="1013"/>
                    <a:pt x="8430" y="1013"/>
                  </a:cubicBezTo>
                  <a:close/>
                  <a:moveTo>
                    <a:pt x="453" y="1025"/>
                  </a:moveTo>
                  <a:cubicBezTo>
                    <a:pt x="703" y="1025"/>
                    <a:pt x="929" y="1144"/>
                    <a:pt x="1072" y="1358"/>
                  </a:cubicBezTo>
                  <a:lnTo>
                    <a:pt x="1191" y="1537"/>
                  </a:lnTo>
                  <a:cubicBezTo>
                    <a:pt x="1322" y="1703"/>
                    <a:pt x="1537" y="1834"/>
                    <a:pt x="1763" y="1834"/>
                  </a:cubicBezTo>
                  <a:lnTo>
                    <a:pt x="1763" y="2513"/>
                  </a:lnTo>
                  <a:cubicBezTo>
                    <a:pt x="1763" y="2989"/>
                    <a:pt x="1834" y="3466"/>
                    <a:pt x="1977" y="3930"/>
                  </a:cubicBezTo>
                  <a:cubicBezTo>
                    <a:pt x="1846" y="3835"/>
                    <a:pt x="1703" y="3775"/>
                    <a:pt x="1548" y="3716"/>
                  </a:cubicBezTo>
                  <a:cubicBezTo>
                    <a:pt x="1239" y="3597"/>
                    <a:pt x="929" y="3466"/>
                    <a:pt x="691" y="3204"/>
                  </a:cubicBezTo>
                  <a:cubicBezTo>
                    <a:pt x="417" y="2906"/>
                    <a:pt x="286" y="2454"/>
                    <a:pt x="286" y="1846"/>
                  </a:cubicBezTo>
                  <a:lnTo>
                    <a:pt x="286" y="1191"/>
                  </a:lnTo>
                  <a:cubicBezTo>
                    <a:pt x="286" y="1144"/>
                    <a:pt x="298" y="1096"/>
                    <a:pt x="334" y="1072"/>
                  </a:cubicBezTo>
                  <a:cubicBezTo>
                    <a:pt x="358" y="1037"/>
                    <a:pt x="405" y="1025"/>
                    <a:pt x="453" y="1025"/>
                  </a:cubicBezTo>
                  <a:close/>
                  <a:moveTo>
                    <a:pt x="7097" y="299"/>
                  </a:moveTo>
                  <a:lnTo>
                    <a:pt x="7097" y="668"/>
                  </a:lnTo>
                  <a:lnTo>
                    <a:pt x="5739" y="668"/>
                  </a:lnTo>
                  <a:cubicBezTo>
                    <a:pt x="5656" y="668"/>
                    <a:pt x="5585" y="739"/>
                    <a:pt x="5585" y="834"/>
                  </a:cubicBezTo>
                  <a:cubicBezTo>
                    <a:pt x="5585" y="918"/>
                    <a:pt x="5656" y="1001"/>
                    <a:pt x="5739" y="1001"/>
                  </a:cubicBezTo>
                  <a:lnTo>
                    <a:pt x="6775" y="1001"/>
                  </a:lnTo>
                  <a:lnTo>
                    <a:pt x="6775" y="2513"/>
                  </a:lnTo>
                  <a:cubicBezTo>
                    <a:pt x="6787" y="3882"/>
                    <a:pt x="6132" y="5192"/>
                    <a:pt x="5013" y="6014"/>
                  </a:cubicBezTo>
                  <a:lnTo>
                    <a:pt x="4894" y="6097"/>
                  </a:lnTo>
                  <a:cubicBezTo>
                    <a:pt x="4870" y="6097"/>
                    <a:pt x="4835" y="6085"/>
                    <a:pt x="4811" y="6085"/>
                  </a:cubicBezTo>
                  <a:lnTo>
                    <a:pt x="4037" y="6085"/>
                  </a:lnTo>
                  <a:cubicBezTo>
                    <a:pt x="4001" y="6085"/>
                    <a:pt x="3977" y="6085"/>
                    <a:pt x="3942" y="6097"/>
                  </a:cubicBezTo>
                  <a:lnTo>
                    <a:pt x="3823" y="6014"/>
                  </a:lnTo>
                  <a:cubicBezTo>
                    <a:pt x="2727" y="5192"/>
                    <a:pt x="2060" y="3882"/>
                    <a:pt x="2060" y="2513"/>
                  </a:cubicBezTo>
                  <a:lnTo>
                    <a:pt x="2060" y="1001"/>
                  </a:lnTo>
                  <a:lnTo>
                    <a:pt x="5013" y="1001"/>
                  </a:lnTo>
                  <a:cubicBezTo>
                    <a:pt x="5108" y="1001"/>
                    <a:pt x="5180" y="918"/>
                    <a:pt x="5180" y="834"/>
                  </a:cubicBezTo>
                  <a:cubicBezTo>
                    <a:pt x="5180" y="739"/>
                    <a:pt x="5108" y="668"/>
                    <a:pt x="5013" y="668"/>
                  </a:cubicBezTo>
                  <a:lnTo>
                    <a:pt x="1727" y="668"/>
                  </a:lnTo>
                  <a:lnTo>
                    <a:pt x="1727" y="299"/>
                  </a:lnTo>
                  <a:close/>
                  <a:moveTo>
                    <a:pt x="4823" y="6395"/>
                  </a:moveTo>
                  <a:cubicBezTo>
                    <a:pt x="4882" y="6395"/>
                    <a:pt x="4930" y="6442"/>
                    <a:pt x="4930" y="6502"/>
                  </a:cubicBezTo>
                  <a:lnTo>
                    <a:pt x="4930" y="6621"/>
                  </a:lnTo>
                  <a:cubicBezTo>
                    <a:pt x="4930" y="6680"/>
                    <a:pt x="4882" y="6728"/>
                    <a:pt x="4823" y="6728"/>
                  </a:cubicBezTo>
                  <a:lnTo>
                    <a:pt x="4049" y="6728"/>
                  </a:lnTo>
                  <a:cubicBezTo>
                    <a:pt x="3989" y="6728"/>
                    <a:pt x="3942" y="6680"/>
                    <a:pt x="3942" y="6621"/>
                  </a:cubicBezTo>
                  <a:lnTo>
                    <a:pt x="3942" y="6502"/>
                  </a:lnTo>
                  <a:cubicBezTo>
                    <a:pt x="3942" y="6442"/>
                    <a:pt x="3989" y="6395"/>
                    <a:pt x="4049" y="6395"/>
                  </a:cubicBezTo>
                  <a:close/>
                  <a:moveTo>
                    <a:pt x="4620" y="7037"/>
                  </a:moveTo>
                  <a:lnTo>
                    <a:pt x="4620" y="8573"/>
                  </a:lnTo>
                  <a:lnTo>
                    <a:pt x="4239" y="8573"/>
                  </a:lnTo>
                  <a:lnTo>
                    <a:pt x="4239" y="7037"/>
                  </a:lnTo>
                  <a:close/>
                  <a:moveTo>
                    <a:pt x="5418" y="8883"/>
                  </a:moveTo>
                  <a:cubicBezTo>
                    <a:pt x="5525" y="8883"/>
                    <a:pt x="5608" y="8978"/>
                    <a:pt x="5608" y="9073"/>
                  </a:cubicBezTo>
                  <a:lnTo>
                    <a:pt x="5608" y="9252"/>
                  </a:lnTo>
                  <a:lnTo>
                    <a:pt x="4215" y="9252"/>
                  </a:lnTo>
                  <a:cubicBezTo>
                    <a:pt x="4120" y="9252"/>
                    <a:pt x="4049" y="9335"/>
                    <a:pt x="4049" y="9419"/>
                  </a:cubicBezTo>
                  <a:cubicBezTo>
                    <a:pt x="4049" y="9514"/>
                    <a:pt x="4120" y="9585"/>
                    <a:pt x="4215" y="9585"/>
                  </a:cubicBezTo>
                  <a:lnTo>
                    <a:pt x="6370" y="9585"/>
                  </a:lnTo>
                  <a:cubicBezTo>
                    <a:pt x="6382" y="9585"/>
                    <a:pt x="6406" y="9597"/>
                    <a:pt x="6418" y="9609"/>
                  </a:cubicBezTo>
                  <a:lnTo>
                    <a:pt x="6561" y="10371"/>
                  </a:lnTo>
                  <a:cubicBezTo>
                    <a:pt x="6561" y="10383"/>
                    <a:pt x="6561" y="10407"/>
                    <a:pt x="6549" y="10407"/>
                  </a:cubicBezTo>
                  <a:cubicBezTo>
                    <a:pt x="6549" y="10407"/>
                    <a:pt x="6537" y="10419"/>
                    <a:pt x="6525" y="10419"/>
                  </a:cubicBezTo>
                  <a:lnTo>
                    <a:pt x="2370" y="10419"/>
                  </a:lnTo>
                  <a:cubicBezTo>
                    <a:pt x="2358" y="10419"/>
                    <a:pt x="2334" y="10407"/>
                    <a:pt x="2334" y="10407"/>
                  </a:cubicBezTo>
                  <a:cubicBezTo>
                    <a:pt x="2334" y="10407"/>
                    <a:pt x="2322" y="10383"/>
                    <a:pt x="2322" y="10371"/>
                  </a:cubicBezTo>
                  <a:lnTo>
                    <a:pt x="2477" y="9609"/>
                  </a:lnTo>
                  <a:cubicBezTo>
                    <a:pt x="2477" y="9597"/>
                    <a:pt x="2489" y="9585"/>
                    <a:pt x="2513" y="9585"/>
                  </a:cubicBezTo>
                  <a:lnTo>
                    <a:pt x="3489" y="9585"/>
                  </a:lnTo>
                  <a:cubicBezTo>
                    <a:pt x="3573" y="9585"/>
                    <a:pt x="3644" y="9514"/>
                    <a:pt x="3644" y="9419"/>
                  </a:cubicBezTo>
                  <a:cubicBezTo>
                    <a:pt x="3644" y="9335"/>
                    <a:pt x="3573" y="9252"/>
                    <a:pt x="3489" y="9252"/>
                  </a:cubicBezTo>
                  <a:lnTo>
                    <a:pt x="3263" y="9252"/>
                  </a:lnTo>
                  <a:lnTo>
                    <a:pt x="3263" y="9073"/>
                  </a:lnTo>
                  <a:cubicBezTo>
                    <a:pt x="3263" y="8978"/>
                    <a:pt x="3346" y="8883"/>
                    <a:pt x="3453" y="8883"/>
                  </a:cubicBezTo>
                  <a:close/>
                  <a:moveTo>
                    <a:pt x="1739" y="1"/>
                  </a:moveTo>
                  <a:cubicBezTo>
                    <a:pt x="1572" y="1"/>
                    <a:pt x="1441" y="132"/>
                    <a:pt x="1441" y="299"/>
                  </a:cubicBezTo>
                  <a:lnTo>
                    <a:pt x="1441" y="703"/>
                  </a:lnTo>
                  <a:cubicBezTo>
                    <a:pt x="1441" y="858"/>
                    <a:pt x="1572" y="1001"/>
                    <a:pt x="1739" y="1001"/>
                  </a:cubicBezTo>
                  <a:lnTo>
                    <a:pt x="1775" y="1001"/>
                  </a:lnTo>
                  <a:lnTo>
                    <a:pt x="1775" y="1513"/>
                  </a:lnTo>
                  <a:cubicBezTo>
                    <a:pt x="1656" y="1513"/>
                    <a:pt x="1537" y="1453"/>
                    <a:pt x="1477" y="1358"/>
                  </a:cubicBezTo>
                  <a:lnTo>
                    <a:pt x="1358" y="1180"/>
                  </a:lnTo>
                  <a:cubicBezTo>
                    <a:pt x="1156" y="882"/>
                    <a:pt x="822" y="715"/>
                    <a:pt x="477" y="715"/>
                  </a:cubicBezTo>
                  <a:cubicBezTo>
                    <a:pt x="346" y="715"/>
                    <a:pt x="227" y="763"/>
                    <a:pt x="132" y="846"/>
                  </a:cubicBezTo>
                  <a:cubicBezTo>
                    <a:pt x="48" y="941"/>
                    <a:pt x="1" y="1049"/>
                    <a:pt x="1" y="1191"/>
                  </a:cubicBezTo>
                  <a:lnTo>
                    <a:pt x="1" y="1846"/>
                  </a:lnTo>
                  <a:cubicBezTo>
                    <a:pt x="1" y="3418"/>
                    <a:pt x="798" y="3751"/>
                    <a:pt x="1465" y="4013"/>
                  </a:cubicBezTo>
                  <a:cubicBezTo>
                    <a:pt x="1810" y="4168"/>
                    <a:pt x="2144" y="4299"/>
                    <a:pt x="2299" y="4609"/>
                  </a:cubicBezTo>
                  <a:cubicBezTo>
                    <a:pt x="2334" y="4704"/>
                    <a:pt x="2322" y="4775"/>
                    <a:pt x="2263" y="4847"/>
                  </a:cubicBezTo>
                  <a:cubicBezTo>
                    <a:pt x="2212" y="4914"/>
                    <a:pt x="2120" y="4946"/>
                    <a:pt x="2041" y="4946"/>
                  </a:cubicBezTo>
                  <a:cubicBezTo>
                    <a:pt x="2008" y="4946"/>
                    <a:pt x="1978" y="4940"/>
                    <a:pt x="1953" y="4930"/>
                  </a:cubicBezTo>
                  <a:cubicBezTo>
                    <a:pt x="1834" y="4882"/>
                    <a:pt x="1822" y="4728"/>
                    <a:pt x="1834" y="4632"/>
                  </a:cubicBezTo>
                  <a:cubicBezTo>
                    <a:pt x="1834" y="4537"/>
                    <a:pt x="1775" y="4466"/>
                    <a:pt x="1679" y="4466"/>
                  </a:cubicBezTo>
                  <a:cubicBezTo>
                    <a:pt x="1596" y="4466"/>
                    <a:pt x="1513" y="4525"/>
                    <a:pt x="1513" y="4609"/>
                  </a:cubicBezTo>
                  <a:cubicBezTo>
                    <a:pt x="1513" y="4740"/>
                    <a:pt x="1537" y="5085"/>
                    <a:pt x="1834" y="5228"/>
                  </a:cubicBezTo>
                  <a:cubicBezTo>
                    <a:pt x="1906" y="5252"/>
                    <a:pt x="1965" y="5263"/>
                    <a:pt x="2037" y="5263"/>
                  </a:cubicBezTo>
                  <a:cubicBezTo>
                    <a:pt x="2203" y="5263"/>
                    <a:pt x="2382" y="5192"/>
                    <a:pt x="2489" y="5073"/>
                  </a:cubicBezTo>
                  <a:cubicBezTo>
                    <a:pt x="2501" y="5061"/>
                    <a:pt x="2513" y="5049"/>
                    <a:pt x="2513" y="5025"/>
                  </a:cubicBezTo>
                  <a:cubicBezTo>
                    <a:pt x="2811" y="5502"/>
                    <a:pt x="3215" y="5942"/>
                    <a:pt x="3680" y="6275"/>
                  </a:cubicBezTo>
                  <a:lnTo>
                    <a:pt x="3703" y="6299"/>
                  </a:lnTo>
                  <a:cubicBezTo>
                    <a:pt x="3656" y="6347"/>
                    <a:pt x="3644" y="6430"/>
                    <a:pt x="3644" y="6514"/>
                  </a:cubicBezTo>
                  <a:lnTo>
                    <a:pt x="3644" y="6633"/>
                  </a:lnTo>
                  <a:cubicBezTo>
                    <a:pt x="3644" y="6835"/>
                    <a:pt x="3775" y="6990"/>
                    <a:pt x="3965" y="7037"/>
                  </a:cubicBezTo>
                  <a:lnTo>
                    <a:pt x="3965" y="8585"/>
                  </a:lnTo>
                  <a:lnTo>
                    <a:pt x="3489" y="8585"/>
                  </a:lnTo>
                  <a:cubicBezTo>
                    <a:pt x="3203" y="8585"/>
                    <a:pt x="2977" y="8811"/>
                    <a:pt x="2977" y="9085"/>
                  </a:cubicBezTo>
                  <a:lnTo>
                    <a:pt x="2977" y="9264"/>
                  </a:lnTo>
                  <a:lnTo>
                    <a:pt x="2549" y="9264"/>
                  </a:lnTo>
                  <a:cubicBezTo>
                    <a:pt x="2382" y="9264"/>
                    <a:pt x="2239" y="9383"/>
                    <a:pt x="2203" y="9550"/>
                  </a:cubicBezTo>
                  <a:lnTo>
                    <a:pt x="2060" y="10312"/>
                  </a:lnTo>
                  <a:cubicBezTo>
                    <a:pt x="2037" y="10419"/>
                    <a:pt x="2060" y="10514"/>
                    <a:pt x="2132" y="10609"/>
                  </a:cubicBezTo>
                  <a:cubicBezTo>
                    <a:pt x="2203" y="10693"/>
                    <a:pt x="2299" y="10740"/>
                    <a:pt x="2394" y="10740"/>
                  </a:cubicBezTo>
                  <a:lnTo>
                    <a:pt x="6549" y="10740"/>
                  </a:lnTo>
                  <a:cubicBezTo>
                    <a:pt x="6656" y="10740"/>
                    <a:pt x="6763" y="10693"/>
                    <a:pt x="6823" y="10609"/>
                  </a:cubicBezTo>
                  <a:cubicBezTo>
                    <a:pt x="6894" y="10514"/>
                    <a:pt x="6906" y="10419"/>
                    <a:pt x="6894" y="10312"/>
                  </a:cubicBezTo>
                  <a:lnTo>
                    <a:pt x="6740" y="9550"/>
                  </a:lnTo>
                  <a:cubicBezTo>
                    <a:pt x="6716" y="9383"/>
                    <a:pt x="6561" y="9264"/>
                    <a:pt x="6406" y="9264"/>
                  </a:cubicBezTo>
                  <a:lnTo>
                    <a:pt x="5966" y="9264"/>
                  </a:lnTo>
                  <a:lnTo>
                    <a:pt x="5966" y="9085"/>
                  </a:lnTo>
                  <a:cubicBezTo>
                    <a:pt x="5966" y="8811"/>
                    <a:pt x="5751" y="8585"/>
                    <a:pt x="5466" y="8585"/>
                  </a:cubicBezTo>
                  <a:lnTo>
                    <a:pt x="4989" y="8585"/>
                  </a:lnTo>
                  <a:lnTo>
                    <a:pt x="4989" y="7037"/>
                  </a:lnTo>
                  <a:cubicBezTo>
                    <a:pt x="5168" y="6990"/>
                    <a:pt x="5299" y="6835"/>
                    <a:pt x="5299" y="6633"/>
                  </a:cubicBezTo>
                  <a:lnTo>
                    <a:pt x="5299" y="6502"/>
                  </a:lnTo>
                  <a:cubicBezTo>
                    <a:pt x="5299" y="6430"/>
                    <a:pt x="5275" y="6359"/>
                    <a:pt x="5239" y="6275"/>
                  </a:cubicBezTo>
                  <a:lnTo>
                    <a:pt x="5275" y="6264"/>
                  </a:lnTo>
                  <a:cubicBezTo>
                    <a:pt x="5728" y="5918"/>
                    <a:pt x="6132" y="5490"/>
                    <a:pt x="6430" y="5013"/>
                  </a:cubicBezTo>
                  <a:cubicBezTo>
                    <a:pt x="6442" y="5025"/>
                    <a:pt x="6466" y="5049"/>
                    <a:pt x="6466" y="5061"/>
                  </a:cubicBezTo>
                  <a:cubicBezTo>
                    <a:pt x="6585" y="5180"/>
                    <a:pt x="6740" y="5252"/>
                    <a:pt x="6906" y="5252"/>
                  </a:cubicBezTo>
                  <a:cubicBezTo>
                    <a:pt x="6978" y="5252"/>
                    <a:pt x="7061" y="5240"/>
                    <a:pt x="7121" y="5204"/>
                  </a:cubicBezTo>
                  <a:cubicBezTo>
                    <a:pt x="7418" y="5073"/>
                    <a:pt x="7442" y="4751"/>
                    <a:pt x="7430" y="4597"/>
                  </a:cubicBezTo>
                  <a:cubicBezTo>
                    <a:pt x="7430" y="4513"/>
                    <a:pt x="7359" y="4454"/>
                    <a:pt x="7263" y="4454"/>
                  </a:cubicBezTo>
                  <a:cubicBezTo>
                    <a:pt x="7180" y="4454"/>
                    <a:pt x="7121" y="4525"/>
                    <a:pt x="7121" y="4609"/>
                  </a:cubicBezTo>
                  <a:cubicBezTo>
                    <a:pt x="7121" y="4716"/>
                    <a:pt x="7097" y="4871"/>
                    <a:pt x="7002" y="4906"/>
                  </a:cubicBezTo>
                  <a:cubicBezTo>
                    <a:pt x="6975" y="4920"/>
                    <a:pt x="6945" y="4925"/>
                    <a:pt x="6913" y="4925"/>
                  </a:cubicBezTo>
                  <a:cubicBezTo>
                    <a:pt x="6831" y="4925"/>
                    <a:pt x="6740" y="4886"/>
                    <a:pt x="6680" y="4835"/>
                  </a:cubicBezTo>
                  <a:cubicBezTo>
                    <a:pt x="6621" y="4775"/>
                    <a:pt x="6609" y="4692"/>
                    <a:pt x="6656" y="4597"/>
                  </a:cubicBezTo>
                  <a:cubicBezTo>
                    <a:pt x="6799" y="4287"/>
                    <a:pt x="7121" y="4156"/>
                    <a:pt x="7490" y="4001"/>
                  </a:cubicBezTo>
                  <a:cubicBezTo>
                    <a:pt x="8145" y="3739"/>
                    <a:pt x="8942" y="3406"/>
                    <a:pt x="8942" y="1834"/>
                  </a:cubicBezTo>
                  <a:lnTo>
                    <a:pt x="8942" y="1180"/>
                  </a:lnTo>
                  <a:cubicBezTo>
                    <a:pt x="8907" y="1061"/>
                    <a:pt x="8847" y="941"/>
                    <a:pt x="8752" y="846"/>
                  </a:cubicBezTo>
                  <a:cubicBezTo>
                    <a:pt x="8668" y="763"/>
                    <a:pt x="8549" y="715"/>
                    <a:pt x="8406" y="715"/>
                  </a:cubicBezTo>
                  <a:cubicBezTo>
                    <a:pt x="8049" y="715"/>
                    <a:pt x="7728" y="894"/>
                    <a:pt x="7537" y="1180"/>
                  </a:cubicBezTo>
                  <a:lnTo>
                    <a:pt x="7418" y="1358"/>
                  </a:lnTo>
                  <a:cubicBezTo>
                    <a:pt x="7335" y="1453"/>
                    <a:pt x="7240" y="1513"/>
                    <a:pt x="7121" y="1513"/>
                  </a:cubicBezTo>
                  <a:lnTo>
                    <a:pt x="7121" y="1001"/>
                  </a:lnTo>
                  <a:lnTo>
                    <a:pt x="7144" y="1001"/>
                  </a:lnTo>
                  <a:cubicBezTo>
                    <a:pt x="7311" y="1001"/>
                    <a:pt x="7442" y="858"/>
                    <a:pt x="7442" y="703"/>
                  </a:cubicBezTo>
                  <a:lnTo>
                    <a:pt x="7442" y="299"/>
                  </a:lnTo>
                  <a:cubicBezTo>
                    <a:pt x="7442" y="132"/>
                    <a:pt x="7311" y="1"/>
                    <a:pt x="7144"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grpSp>
      <p:sp>
        <p:nvSpPr>
          <p:cNvPr id="182" name="Google Shape;182;p23"/>
          <p:cNvSpPr/>
          <p:nvPr/>
        </p:nvSpPr>
        <p:spPr>
          <a:xfrm>
            <a:off x="5434239" y="1180931"/>
            <a:ext cx="5581500" cy="2825351"/>
          </a:xfrm>
          <a:prstGeom prst="roundRect">
            <a:avLst>
              <a:gd fmla="val 1908" name="adj"/>
            </a:avLst>
          </a:prstGeom>
          <a:noFill/>
          <a:ln cap="flat" cmpd="sng" w="25400">
            <a:solidFill>
              <a:srgbClr val="F4F8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183" name="Google Shape;183;p23"/>
          <p:cNvGrpSpPr/>
          <p:nvPr/>
        </p:nvGrpSpPr>
        <p:grpSpPr>
          <a:xfrm>
            <a:off x="5646267" y="933515"/>
            <a:ext cx="3261363" cy="576636"/>
            <a:chOff x="828947" y="1547150"/>
            <a:chExt cx="3986682" cy="704850"/>
          </a:xfrm>
        </p:grpSpPr>
        <p:sp>
          <p:nvSpPr>
            <p:cNvPr id="184" name="Google Shape;184;p23"/>
            <p:cNvSpPr/>
            <p:nvPr/>
          </p:nvSpPr>
          <p:spPr>
            <a:xfrm>
              <a:off x="1345111" y="1667352"/>
              <a:ext cx="3470518" cy="466223"/>
            </a:xfrm>
            <a:prstGeom prst="roundRect">
              <a:avLst>
                <a:gd fmla="val 16667" name="adj"/>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09">
                  <a:solidFill>
                    <a:srgbClr val="FFFFFF"/>
                  </a:solidFill>
                  <a:latin typeface="Montserrat"/>
                  <a:ea typeface="Montserrat"/>
                  <a:cs typeface="Montserrat"/>
                  <a:sym typeface="Montserrat"/>
                </a:rPr>
                <a:t>Pain Points</a:t>
              </a:r>
              <a:endParaRPr sz="1309">
                <a:solidFill>
                  <a:srgbClr val="FFFFFF"/>
                </a:solidFill>
                <a:latin typeface="Montserrat"/>
                <a:ea typeface="Montserrat"/>
                <a:cs typeface="Montserrat"/>
                <a:sym typeface="Montserrat"/>
              </a:endParaRPr>
            </a:p>
          </p:txBody>
        </p:sp>
        <p:sp>
          <p:nvSpPr>
            <p:cNvPr id="185" name="Google Shape;185;p23"/>
            <p:cNvSpPr/>
            <p:nvPr/>
          </p:nvSpPr>
          <p:spPr>
            <a:xfrm>
              <a:off x="828947" y="1547150"/>
              <a:ext cx="704850" cy="704850"/>
            </a:xfrm>
            <a:prstGeom prst="ellipse">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9">
                <a:solidFill>
                  <a:srgbClr val="FFFFFF"/>
                </a:solidFill>
                <a:latin typeface="Montserrat"/>
                <a:ea typeface="Montserrat"/>
                <a:cs typeface="Montserrat"/>
                <a:sym typeface="Montserrat"/>
              </a:endParaRPr>
            </a:p>
          </p:txBody>
        </p:sp>
        <p:grpSp>
          <p:nvGrpSpPr>
            <p:cNvPr id="186" name="Google Shape;186;p23"/>
            <p:cNvGrpSpPr/>
            <p:nvPr/>
          </p:nvGrpSpPr>
          <p:grpSpPr>
            <a:xfrm>
              <a:off x="962257" y="1678662"/>
              <a:ext cx="438229" cy="437800"/>
              <a:chOff x="3040984" y="3681059"/>
              <a:chExt cx="356164" cy="355815"/>
            </a:xfrm>
          </p:grpSpPr>
          <p:sp>
            <p:nvSpPr>
              <p:cNvPr id="187" name="Google Shape;187;p23"/>
              <p:cNvSpPr/>
              <p:nvPr/>
            </p:nvSpPr>
            <p:spPr>
              <a:xfrm>
                <a:off x="3040984" y="3681059"/>
                <a:ext cx="356164" cy="355815"/>
              </a:xfrm>
              <a:custGeom>
                <a:rect b="b" l="l" r="r" t="t"/>
                <a:pathLst>
                  <a:path extrusionOk="0" h="11205" w="11216">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sp>
            <p:nvSpPr>
              <p:cNvPr id="188" name="Google Shape;188;p23"/>
              <p:cNvSpPr/>
              <p:nvPr/>
            </p:nvSpPr>
            <p:spPr>
              <a:xfrm>
                <a:off x="3183120" y="3921508"/>
                <a:ext cx="59414" cy="59382"/>
              </a:xfrm>
              <a:custGeom>
                <a:rect b="b" l="l" r="r" t="t"/>
                <a:pathLst>
                  <a:path extrusionOk="0" h="1870" w="1871">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sp>
            <p:nvSpPr>
              <p:cNvPr id="189" name="Google Shape;189;p23"/>
              <p:cNvSpPr/>
              <p:nvPr/>
            </p:nvSpPr>
            <p:spPr>
              <a:xfrm>
                <a:off x="3149110" y="3735868"/>
                <a:ext cx="141056" cy="174716"/>
              </a:xfrm>
              <a:custGeom>
                <a:rect b="b" l="l" r="r" t="t"/>
                <a:pathLst>
                  <a:path extrusionOk="0" h="5502" w="4442">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grpSp>
      </p:grpSp>
      <p:sp>
        <p:nvSpPr>
          <p:cNvPr id="190" name="Google Shape;190;p23"/>
          <p:cNvSpPr/>
          <p:nvPr/>
        </p:nvSpPr>
        <p:spPr>
          <a:xfrm>
            <a:off x="971354" y="2727570"/>
            <a:ext cx="1649219" cy="58903"/>
          </a:xfrm>
          <a:prstGeom prst="roundRect">
            <a:avLst>
              <a:gd fmla="val 50000" name="adj"/>
            </a:avLst>
          </a:prstGeom>
          <a:solidFill>
            <a:srgbClr val="0576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191" name="Google Shape;191;p23"/>
          <p:cNvGrpSpPr/>
          <p:nvPr/>
        </p:nvGrpSpPr>
        <p:grpSpPr>
          <a:xfrm>
            <a:off x="1006404" y="2901025"/>
            <a:ext cx="142855" cy="142860"/>
            <a:chOff x="596900" y="4902200"/>
            <a:chExt cx="685800" cy="685800"/>
          </a:xfrm>
        </p:grpSpPr>
        <p:pic>
          <p:nvPicPr>
            <p:cNvPr descr="Question mark" id="192" name="Google Shape;192;p23"/>
            <p:cNvPicPr preferRelativeResize="0"/>
            <p:nvPr/>
          </p:nvPicPr>
          <p:blipFill rotWithShape="1">
            <a:blip r:embed="rId3">
              <a:alphaModFix/>
            </a:blip>
            <a:srcRect b="0" l="0" r="0" t="0"/>
            <a:stretch/>
          </p:blipFill>
          <p:spPr>
            <a:xfrm>
              <a:off x="641350" y="4946650"/>
              <a:ext cx="596900" cy="596900"/>
            </a:xfrm>
            <a:prstGeom prst="rect">
              <a:avLst/>
            </a:prstGeom>
            <a:noFill/>
            <a:ln>
              <a:noFill/>
            </a:ln>
          </p:spPr>
        </p:pic>
        <p:sp>
          <p:nvSpPr>
            <p:cNvPr id="193" name="Google Shape;193;p23"/>
            <p:cNvSpPr/>
            <p:nvPr/>
          </p:nvSpPr>
          <p:spPr>
            <a:xfrm>
              <a:off x="596900" y="4902200"/>
              <a:ext cx="685800" cy="685800"/>
            </a:xfrm>
            <a:prstGeom prst="ellipse">
              <a:avLst/>
            </a:prstGeom>
            <a:noFill/>
            <a:ln cap="flat" cmpd="sng" w="9525">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sp>
        <p:nvSpPr>
          <p:cNvPr id="194" name="Google Shape;194;p23"/>
          <p:cNvSpPr txBox="1"/>
          <p:nvPr/>
        </p:nvSpPr>
        <p:spPr>
          <a:xfrm>
            <a:off x="1158516" y="2837413"/>
            <a:ext cx="3594421" cy="2937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9">
                <a:solidFill>
                  <a:srgbClr val="00B1EF"/>
                </a:solidFill>
                <a:latin typeface="Montserrat"/>
                <a:ea typeface="Montserrat"/>
                <a:cs typeface="Montserrat"/>
                <a:sym typeface="Montserrat"/>
              </a:rPr>
              <a:t>Challenge Story</a:t>
            </a:r>
            <a:endParaRPr/>
          </a:p>
        </p:txBody>
      </p:sp>
      <p:sp>
        <p:nvSpPr>
          <p:cNvPr id="195" name="Google Shape;195;p23"/>
          <p:cNvSpPr txBox="1"/>
          <p:nvPr/>
        </p:nvSpPr>
        <p:spPr>
          <a:xfrm>
            <a:off x="1158516" y="5468010"/>
            <a:ext cx="2200095" cy="2937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9">
                <a:solidFill>
                  <a:srgbClr val="00B1EF"/>
                </a:solidFill>
                <a:latin typeface="Montserrat"/>
                <a:ea typeface="Montserrat"/>
                <a:cs typeface="Montserrat"/>
                <a:sym typeface="Montserrat"/>
              </a:rPr>
              <a:t>Return of Investment</a:t>
            </a:r>
            <a:endParaRPr b="1" sz="1309">
              <a:solidFill>
                <a:srgbClr val="00B1EF"/>
              </a:solidFill>
              <a:latin typeface="Montserrat"/>
              <a:ea typeface="Montserrat"/>
              <a:cs typeface="Montserrat"/>
              <a:sym typeface="Montserrat"/>
            </a:endParaRPr>
          </a:p>
        </p:txBody>
      </p:sp>
      <p:grpSp>
        <p:nvGrpSpPr>
          <p:cNvPr id="196" name="Google Shape;196;p23"/>
          <p:cNvGrpSpPr/>
          <p:nvPr/>
        </p:nvGrpSpPr>
        <p:grpSpPr>
          <a:xfrm>
            <a:off x="1015570" y="5535071"/>
            <a:ext cx="142855" cy="142860"/>
            <a:chOff x="596900" y="4902200"/>
            <a:chExt cx="685800" cy="685800"/>
          </a:xfrm>
        </p:grpSpPr>
        <p:pic>
          <p:nvPicPr>
            <p:cNvPr descr="Question mark" id="197" name="Google Shape;197;p23"/>
            <p:cNvPicPr preferRelativeResize="0"/>
            <p:nvPr/>
          </p:nvPicPr>
          <p:blipFill rotWithShape="1">
            <a:blip r:embed="rId3">
              <a:alphaModFix/>
            </a:blip>
            <a:srcRect b="0" l="0" r="0" t="0"/>
            <a:stretch/>
          </p:blipFill>
          <p:spPr>
            <a:xfrm>
              <a:off x="641350" y="4946650"/>
              <a:ext cx="596900" cy="596900"/>
            </a:xfrm>
            <a:prstGeom prst="rect">
              <a:avLst/>
            </a:prstGeom>
            <a:noFill/>
            <a:ln>
              <a:noFill/>
            </a:ln>
          </p:spPr>
        </p:pic>
        <p:sp>
          <p:nvSpPr>
            <p:cNvPr id="198" name="Google Shape;198;p23"/>
            <p:cNvSpPr/>
            <p:nvPr/>
          </p:nvSpPr>
          <p:spPr>
            <a:xfrm>
              <a:off x="596900" y="4902200"/>
              <a:ext cx="685800" cy="685800"/>
            </a:xfrm>
            <a:prstGeom prst="ellipse">
              <a:avLst/>
            </a:prstGeom>
            <a:noFill/>
            <a:ln cap="flat" cmpd="sng" w="9525">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sp>
        <p:nvSpPr>
          <p:cNvPr id="199" name="Google Shape;199;p23"/>
          <p:cNvSpPr/>
          <p:nvPr/>
        </p:nvSpPr>
        <p:spPr>
          <a:xfrm>
            <a:off x="1077990" y="5761753"/>
            <a:ext cx="1187362" cy="366474"/>
          </a:xfrm>
          <a:prstGeom prst="roundRect">
            <a:avLst>
              <a:gd fmla="val 16667" name="adj"/>
            </a:avLst>
          </a:prstGeom>
          <a:noFill/>
          <a:ln cap="flat" cmpd="sng" w="25400">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200" name="Google Shape;200;p23"/>
          <p:cNvSpPr/>
          <p:nvPr/>
        </p:nvSpPr>
        <p:spPr>
          <a:xfrm>
            <a:off x="3883430" y="5753646"/>
            <a:ext cx="1187362" cy="366474"/>
          </a:xfrm>
          <a:prstGeom prst="roundRect">
            <a:avLst>
              <a:gd fmla="val 16667" name="adj"/>
            </a:avLst>
          </a:prstGeom>
          <a:noFill/>
          <a:ln cap="flat" cmpd="sng" w="25400">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201" name="Google Shape;201;p23"/>
          <p:cNvSpPr txBox="1"/>
          <p:nvPr/>
        </p:nvSpPr>
        <p:spPr>
          <a:xfrm>
            <a:off x="2380028" y="5793913"/>
            <a:ext cx="1170213" cy="318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73">
                <a:solidFill>
                  <a:schemeClr val="lt1"/>
                </a:solidFill>
                <a:latin typeface="Arial Black"/>
                <a:ea typeface="Arial Black"/>
                <a:cs typeface="Arial Black"/>
                <a:sym typeface="Arial Black"/>
              </a:rPr>
              <a:t>40%</a:t>
            </a:r>
            <a:endParaRPr/>
          </a:p>
        </p:txBody>
      </p:sp>
      <p:sp>
        <p:nvSpPr>
          <p:cNvPr id="202" name="Google Shape;202;p23"/>
          <p:cNvSpPr txBox="1"/>
          <p:nvPr>
            <p:ph idx="1" type="body"/>
          </p:nvPr>
        </p:nvSpPr>
        <p:spPr>
          <a:xfrm>
            <a:off x="970650" y="6148290"/>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03" name="Google Shape;203;p23"/>
          <p:cNvSpPr txBox="1"/>
          <p:nvPr>
            <p:ph idx="2" type="body"/>
          </p:nvPr>
        </p:nvSpPr>
        <p:spPr>
          <a:xfrm>
            <a:off x="2380028" y="6144297"/>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04" name="Google Shape;204;p23"/>
          <p:cNvSpPr txBox="1"/>
          <p:nvPr>
            <p:ph idx="3" type="body"/>
          </p:nvPr>
        </p:nvSpPr>
        <p:spPr>
          <a:xfrm>
            <a:off x="3783877" y="6144297"/>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05" name="Google Shape;205;p23"/>
          <p:cNvSpPr/>
          <p:nvPr/>
        </p:nvSpPr>
        <p:spPr>
          <a:xfrm>
            <a:off x="2480711" y="5761752"/>
            <a:ext cx="1187361" cy="366474"/>
          </a:xfrm>
          <a:prstGeom prst="roundRect">
            <a:avLst>
              <a:gd fmla="val 16667" name="adj"/>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206" name="Google Shape;206;p23"/>
          <p:cNvSpPr/>
          <p:nvPr/>
        </p:nvSpPr>
        <p:spPr>
          <a:xfrm>
            <a:off x="1153288" y="1733779"/>
            <a:ext cx="165115" cy="21434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lt1"/>
          </a:solidFill>
          <a:ln>
            <a:noFill/>
          </a:ln>
        </p:spPr>
        <p:txBody>
          <a:bodyPr anchorCtr="0" anchor="ctr" bIns="82675" lIns="82675" spcFirstLastPara="1" rIns="82675" wrap="square" tIns="82675">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nvGrpSpPr>
          <p:cNvPr id="207" name="Google Shape;207;p23"/>
          <p:cNvGrpSpPr/>
          <p:nvPr/>
        </p:nvGrpSpPr>
        <p:grpSpPr>
          <a:xfrm flipH="1">
            <a:off x="1142480" y="2039536"/>
            <a:ext cx="187644" cy="191665"/>
            <a:chOff x="3979435" y="1976585"/>
            <a:chExt cx="345265" cy="349848"/>
          </a:xfrm>
        </p:grpSpPr>
        <p:sp>
          <p:nvSpPr>
            <p:cNvPr id="208" name="Google Shape;208;p23"/>
            <p:cNvSpPr/>
            <p:nvPr/>
          </p:nvSpPr>
          <p:spPr>
            <a:xfrm>
              <a:off x="3979435" y="1976585"/>
              <a:ext cx="345265" cy="349848"/>
            </a:xfrm>
            <a:custGeom>
              <a:rect b="b" l="l" r="r" t="t"/>
              <a:pathLst>
                <a:path extrusionOk="0" h="10992" w="10848">
                  <a:moveTo>
                    <a:pt x="6632" y="322"/>
                  </a:moveTo>
                  <a:cubicBezTo>
                    <a:pt x="6859" y="322"/>
                    <a:pt x="7013" y="501"/>
                    <a:pt x="7013" y="715"/>
                  </a:cubicBezTo>
                  <a:cubicBezTo>
                    <a:pt x="7013" y="929"/>
                    <a:pt x="6835" y="1096"/>
                    <a:pt x="6632" y="1096"/>
                  </a:cubicBezTo>
                  <a:lnTo>
                    <a:pt x="4906" y="1096"/>
                  </a:lnTo>
                  <a:cubicBezTo>
                    <a:pt x="4680" y="1096"/>
                    <a:pt x="4513" y="918"/>
                    <a:pt x="4513" y="715"/>
                  </a:cubicBezTo>
                  <a:cubicBezTo>
                    <a:pt x="4513" y="489"/>
                    <a:pt x="4692" y="322"/>
                    <a:pt x="4906" y="322"/>
                  </a:cubicBezTo>
                  <a:close/>
                  <a:moveTo>
                    <a:pt x="5966" y="1429"/>
                  </a:moveTo>
                  <a:lnTo>
                    <a:pt x="5966" y="1965"/>
                  </a:lnTo>
                  <a:lnTo>
                    <a:pt x="5561" y="1965"/>
                  </a:lnTo>
                  <a:lnTo>
                    <a:pt x="5561" y="1429"/>
                  </a:lnTo>
                  <a:close/>
                  <a:moveTo>
                    <a:pt x="5775" y="2289"/>
                  </a:moveTo>
                  <a:cubicBezTo>
                    <a:pt x="6988" y="2289"/>
                    <a:pt x="8193" y="2825"/>
                    <a:pt x="9026" y="3835"/>
                  </a:cubicBezTo>
                  <a:cubicBezTo>
                    <a:pt x="10466" y="5620"/>
                    <a:pt x="10204" y="8276"/>
                    <a:pt x="8407" y="9728"/>
                  </a:cubicBezTo>
                  <a:cubicBezTo>
                    <a:pt x="7623" y="10362"/>
                    <a:pt x="6686" y="10670"/>
                    <a:pt x="5757" y="10670"/>
                  </a:cubicBezTo>
                  <a:cubicBezTo>
                    <a:pt x="4540" y="10670"/>
                    <a:pt x="3337" y="10141"/>
                    <a:pt x="2513" y="9121"/>
                  </a:cubicBezTo>
                  <a:cubicBezTo>
                    <a:pt x="429" y="6561"/>
                    <a:pt x="2001" y="2715"/>
                    <a:pt x="5251" y="2322"/>
                  </a:cubicBezTo>
                  <a:cubicBezTo>
                    <a:pt x="5425" y="2300"/>
                    <a:pt x="5601" y="2289"/>
                    <a:pt x="5775" y="2289"/>
                  </a:cubicBezTo>
                  <a:close/>
                  <a:moveTo>
                    <a:pt x="4906" y="1"/>
                  </a:moveTo>
                  <a:cubicBezTo>
                    <a:pt x="4501" y="1"/>
                    <a:pt x="4192" y="322"/>
                    <a:pt x="4192" y="715"/>
                  </a:cubicBezTo>
                  <a:cubicBezTo>
                    <a:pt x="4192" y="1108"/>
                    <a:pt x="4513" y="1429"/>
                    <a:pt x="4906" y="1429"/>
                  </a:cubicBezTo>
                  <a:lnTo>
                    <a:pt x="5239" y="1429"/>
                  </a:lnTo>
                  <a:lnTo>
                    <a:pt x="5239" y="1989"/>
                  </a:lnTo>
                  <a:cubicBezTo>
                    <a:pt x="1727" y="2394"/>
                    <a:pt x="1" y="6561"/>
                    <a:pt x="2263" y="9323"/>
                  </a:cubicBezTo>
                  <a:cubicBezTo>
                    <a:pt x="3160" y="10423"/>
                    <a:pt x="4463" y="10991"/>
                    <a:pt x="5774" y="10991"/>
                  </a:cubicBezTo>
                  <a:cubicBezTo>
                    <a:pt x="6777" y="10991"/>
                    <a:pt x="7785" y="10659"/>
                    <a:pt x="8621" y="9978"/>
                  </a:cubicBezTo>
                  <a:cubicBezTo>
                    <a:pt x="10550" y="8407"/>
                    <a:pt x="10847" y="5549"/>
                    <a:pt x="9264" y="3632"/>
                  </a:cubicBezTo>
                  <a:cubicBezTo>
                    <a:pt x="8490" y="2680"/>
                    <a:pt x="7406" y="2120"/>
                    <a:pt x="6287" y="1989"/>
                  </a:cubicBezTo>
                  <a:lnTo>
                    <a:pt x="6287" y="1429"/>
                  </a:lnTo>
                  <a:lnTo>
                    <a:pt x="6632" y="1429"/>
                  </a:lnTo>
                  <a:cubicBezTo>
                    <a:pt x="7037" y="1429"/>
                    <a:pt x="7347" y="1096"/>
                    <a:pt x="7347" y="715"/>
                  </a:cubicBezTo>
                  <a:cubicBezTo>
                    <a:pt x="7347" y="310"/>
                    <a:pt x="7013" y="1"/>
                    <a:pt x="6632"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09" name="Google Shape;209;p23"/>
            <p:cNvSpPr/>
            <p:nvPr/>
          </p:nvSpPr>
          <p:spPr>
            <a:xfrm>
              <a:off x="4044236" y="2176685"/>
              <a:ext cx="144783" cy="123077"/>
            </a:xfrm>
            <a:custGeom>
              <a:rect b="b" l="l" r="r" t="t"/>
              <a:pathLst>
                <a:path extrusionOk="0" h="3867" w="4549">
                  <a:moveTo>
                    <a:pt x="203" y="0"/>
                  </a:moveTo>
                  <a:cubicBezTo>
                    <a:pt x="108" y="0"/>
                    <a:pt x="36" y="84"/>
                    <a:pt x="36" y="167"/>
                  </a:cubicBezTo>
                  <a:cubicBezTo>
                    <a:pt x="36" y="215"/>
                    <a:pt x="1" y="977"/>
                    <a:pt x="405" y="1822"/>
                  </a:cubicBezTo>
                  <a:cubicBezTo>
                    <a:pt x="667" y="2346"/>
                    <a:pt x="1048" y="2798"/>
                    <a:pt x="1525" y="3143"/>
                  </a:cubicBezTo>
                  <a:cubicBezTo>
                    <a:pt x="2186" y="3633"/>
                    <a:pt x="2944" y="3867"/>
                    <a:pt x="3694" y="3867"/>
                  </a:cubicBezTo>
                  <a:cubicBezTo>
                    <a:pt x="3929" y="3867"/>
                    <a:pt x="4164" y="3844"/>
                    <a:pt x="4394" y="3798"/>
                  </a:cubicBezTo>
                  <a:cubicBezTo>
                    <a:pt x="4489" y="3786"/>
                    <a:pt x="4549" y="3691"/>
                    <a:pt x="4537" y="3608"/>
                  </a:cubicBezTo>
                  <a:cubicBezTo>
                    <a:pt x="4526" y="3543"/>
                    <a:pt x="4446" y="3487"/>
                    <a:pt x="4368" y="3487"/>
                  </a:cubicBezTo>
                  <a:cubicBezTo>
                    <a:pt x="4361" y="3487"/>
                    <a:pt x="4354" y="3488"/>
                    <a:pt x="4346" y="3489"/>
                  </a:cubicBezTo>
                  <a:cubicBezTo>
                    <a:pt x="4139" y="3526"/>
                    <a:pt x="3932" y="3545"/>
                    <a:pt x="3725" y="3545"/>
                  </a:cubicBezTo>
                  <a:cubicBezTo>
                    <a:pt x="3018" y="3545"/>
                    <a:pt x="2326" y="3324"/>
                    <a:pt x="1727" y="2882"/>
                  </a:cubicBezTo>
                  <a:cubicBezTo>
                    <a:pt x="275" y="1810"/>
                    <a:pt x="370" y="167"/>
                    <a:pt x="370" y="167"/>
                  </a:cubicBezTo>
                  <a:cubicBezTo>
                    <a:pt x="370" y="84"/>
                    <a:pt x="298" y="0"/>
                    <a:pt x="20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0" name="Google Shape;210;p23"/>
            <p:cNvSpPr/>
            <p:nvPr/>
          </p:nvSpPr>
          <p:spPr>
            <a:xfrm>
              <a:off x="4046910" y="2065957"/>
              <a:ext cx="204269" cy="100893"/>
            </a:xfrm>
            <a:custGeom>
              <a:rect b="b" l="l" r="r" t="t"/>
              <a:pathLst>
                <a:path extrusionOk="0" h="3170" w="6418">
                  <a:moveTo>
                    <a:pt x="3655" y="1"/>
                  </a:moveTo>
                  <a:cubicBezTo>
                    <a:pt x="1971" y="1"/>
                    <a:pt x="367" y="1170"/>
                    <a:pt x="12" y="3003"/>
                  </a:cubicBezTo>
                  <a:cubicBezTo>
                    <a:pt x="0" y="3086"/>
                    <a:pt x="71" y="3170"/>
                    <a:pt x="179" y="3170"/>
                  </a:cubicBezTo>
                  <a:cubicBezTo>
                    <a:pt x="250" y="3170"/>
                    <a:pt x="333" y="3110"/>
                    <a:pt x="345" y="3039"/>
                  </a:cubicBezTo>
                  <a:cubicBezTo>
                    <a:pt x="667" y="1358"/>
                    <a:pt x="2122" y="299"/>
                    <a:pt x="3652" y="299"/>
                  </a:cubicBezTo>
                  <a:cubicBezTo>
                    <a:pt x="4332" y="299"/>
                    <a:pt x="5027" y="509"/>
                    <a:pt x="5644" y="967"/>
                  </a:cubicBezTo>
                  <a:cubicBezTo>
                    <a:pt x="5822" y="1098"/>
                    <a:pt x="5965" y="1241"/>
                    <a:pt x="6120" y="1396"/>
                  </a:cubicBezTo>
                  <a:cubicBezTo>
                    <a:pt x="6155" y="1431"/>
                    <a:pt x="6208" y="1454"/>
                    <a:pt x="6257" y="1454"/>
                  </a:cubicBezTo>
                  <a:cubicBezTo>
                    <a:pt x="6290" y="1454"/>
                    <a:pt x="6322" y="1443"/>
                    <a:pt x="6346" y="1419"/>
                  </a:cubicBezTo>
                  <a:cubicBezTo>
                    <a:pt x="6406" y="1360"/>
                    <a:pt x="6417" y="1253"/>
                    <a:pt x="6358" y="1193"/>
                  </a:cubicBezTo>
                  <a:cubicBezTo>
                    <a:pt x="6191" y="1027"/>
                    <a:pt x="6025" y="860"/>
                    <a:pt x="5834" y="729"/>
                  </a:cubicBezTo>
                  <a:cubicBezTo>
                    <a:pt x="5159" y="229"/>
                    <a:pt x="4399" y="1"/>
                    <a:pt x="3655"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1" name="Google Shape;211;p23"/>
            <p:cNvSpPr/>
            <p:nvPr/>
          </p:nvSpPr>
          <p:spPr>
            <a:xfrm>
              <a:off x="4195735" y="2118027"/>
              <a:ext cx="84247" cy="174224"/>
            </a:xfrm>
            <a:custGeom>
              <a:rect b="b" l="l" r="r" t="t"/>
              <a:pathLst>
                <a:path extrusionOk="0" h="5474" w="2647">
                  <a:moveTo>
                    <a:pt x="1952" y="0"/>
                  </a:moveTo>
                  <a:cubicBezTo>
                    <a:pt x="1920" y="0"/>
                    <a:pt x="1888" y="11"/>
                    <a:pt x="1861" y="33"/>
                  </a:cubicBezTo>
                  <a:cubicBezTo>
                    <a:pt x="1789" y="81"/>
                    <a:pt x="1753" y="176"/>
                    <a:pt x="1813" y="260"/>
                  </a:cubicBezTo>
                  <a:cubicBezTo>
                    <a:pt x="2158" y="795"/>
                    <a:pt x="2325" y="1403"/>
                    <a:pt x="2325" y="2046"/>
                  </a:cubicBezTo>
                  <a:cubicBezTo>
                    <a:pt x="2325" y="3451"/>
                    <a:pt x="1432" y="4689"/>
                    <a:pt x="182" y="5165"/>
                  </a:cubicBezTo>
                  <a:cubicBezTo>
                    <a:pt x="1" y="5229"/>
                    <a:pt x="67" y="5474"/>
                    <a:pt x="237" y="5474"/>
                  </a:cubicBezTo>
                  <a:cubicBezTo>
                    <a:pt x="257" y="5474"/>
                    <a:pt x="278" y="5470"/>
                    <a:pt x="301" y="5463"/>
                  </a:cubicBezTo>
                  <a:cubicBezTo>
                    <a:pt x="1682" y="4927"/>
                    <a:pt x="2646" y="3593"/>
                    <a:pt x="2646" y="2022"/>
                  </a:cubicBezTo>
                  <a:cubicBezTo>
                    <a:pt x="2646" y="1343"/>
                    <a:pt x="2456" y="653"/>
                    <a:pt x="2087" y="81"/>
                  </a:cubicBezTo>
                  <a:cubicBezTo>
                    <a:pt x="2057" y="29"/>
                    <a:pt x="2004" y="0"/>
                    <a:pt x="1952"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2" name="Google Shape;212;p23"/>
            <p:cNvSpPr/>
            <p:nvPr/>
          </p:nvSpPr>
          <p:spPr>
            <a:xfrm>
              <a:off x="4109037" y="2161153"/>
              <a:ext cx="81510" cy="55348"/>
            </a:xfrm>
            <a:custGeom>
              <a:rect b="b" l="l" r="r" t="t"/>
              <a:pathLst>
                <a:path extrusionOk="0" h="1739" w="2561">
                  <a:moveTo>
                    <a:pt x="1691" y="333"/>
                  </a:moveTo>
                  <a:cubicBezTo>
                    <a:pt x="1965" y="333"/>
                    <a:pt x="2144" y="655"/>
                    <a:pt x="1965" y="881"/>
                  </a:cubicBezTo>
                  <a:cubicBezTo>
                    <a:pt x="1900" y="968"/>
                    <a:pt x="1790" y="1020"/>
                    <a:pt x="1682" y="1020"/>
                  </a:cubicBezTo>
                  <a:cubicBezTo>
                    <a:pt x="1613" y="1020"/>
                    <a:pt x="1545" y="999"/>
                    <a:pt x="1489" y="953"/>
                  </a:cubicBezTo>
                  <a:cubicBezTo>
                    <a:pt x="1215" y="762"/>
                    <a:pt x="1370" y="333"/>
                    <a:pt x="1691" y="333"/>
                  </a:cubicBezTo>
                  <a:close/>
                  <a:moveTo>
                    <a:pt x="1691" y="0"/>
                  </a:moveTo>
                  <a:cubicBezTo>
                    <a:pt x="1584" y="0"/>
                    <a:pt x="1334" y="36"/>
                    <a:pt x="1156" y="274"/>
                  </a:cubicBezTo>
                  <a:cubicBezTo>
                    <a:pt x="1025" y="453"/>
                    <a:pt x="989" y="655"/>
                    <a:pt x="1048" y="845"/>
                  </a:cubicBezTo>
                  <a:lnTo>
                    <a:pt x="132" y="1441"/>
                  </a:lnTo>
                  <a:cubicBezTo>
                    <a:pt x="1" y="1536"/>
                    <a:pt x="60" y="1738"/>
                    <a:pt x="215" y="1738"/>
                  </a:cubicBezTo>
                  <a:cubicBezTo>
                    <a:pt x="310" y="1738"/>
                    <a:pt x="263" y="1726"/>
                    <a:pt x="1215" y="1131"/>
                  </a:cubicBezTo>
                  <a:cubicBezTo>
                    <a:pt x="1347" y="1275"/>
                    <a:pt x="1521" y="1344"/>
                    <a:pt x="1693" y="1344"/>
                  </a:cubicBezTo>
                  <a:cubicBezTo>
                    <a:pt x="1893" y="1344"/>
                    <a:pt x="2093" y="1251"/>
                    <a:pt x="2227" y="1072"/>
                  </a:cubicBezTo>
                  <a:cubicBezTo>
                    <a:pt x="2560" y="631"/>
                    <a:pt x="2251" y="0"/>
                    <a:pt x="169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3" name="Google Shape;213;p23"/>
            <p:cNvSpPr/>
            <p:nvPr/>
          </p:nvSpPr>
          <p:spPr>
            <a:xfrm>
              <a:off x="4157160" y="2083080"/>
              <a:ext cx="10662" cy="29218"/>
            </a:xfrm>
            <a:custGeom>
              <a:rect b="b" l="l" r="r" t="t"/>
              <a:pathLst>
                <a:path extrusionOk="0" h="918" w="335">
                  <a:moveTo>
                    <a:pt x="167" y="0"/>
                  </a:moveTo>
                  <a:cubicBezTo>
                    <a:pt x="72" y="0"/>
                    <a:pt x="1" y="72"/>
                    <a:pt x="1" y="167"/>
                  </a:cubicBezTo>
                  <a:lnTo>
                    <a:pt x="1" y="762"/>
                  </a:lnTo>
                  <a:cubicBezTo>
                    <a:pt x="1" y="846"/>
                    <a:pt x="72" y="917"/>
                    <a:pt x="167" y="917"/>
                  </a:cubicBezTo>
                  <a:cubicBezTo>
                    <a:pt x="275" y="917"/>
                    <a:pt x="334" y="846"/>
                    <a:pt x="334" y="762"/>
                  </a:cubicBezTo>
                  <a:lnTo>
                    <a:pt x="334" y="167"/>
                  </a:lnTo>
                  <a:cubicBezTo>
                    <a:pt x="334" y="72"/>
                    <a:pt x="263" y="0"/>
                    <a:pt x="167"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4" name="Google Shape;214;p23"/>
            <p:cNvSpPr/>
            <p:nvPr/>
          </p:nvSpPr>
          <p:spPr>
            <a:xfrm>
              <a:off x="4109419" y="2096034"/>
              <a:ext cx="21261" cy="26862"/>
            </a:xfrm>
            <a:custGeom>
              <a:rect b="b" l="l" r="r" t="t"/>
              <a:pathLst>
                <a:path extrusionOk="0" h="844" w="668">
                  <a:moveTo>
                    <a:pt x="183" y="0"/>
                  </a:moveTo>
                  <a:cubicBezTo>
                    <a:pt x="156" y="0"/>
                    <a:pt x="130" y="7"/>
                    <a:pt x="108" y="22"/>
                  </a:cubicBezTo>
                  <a:cubicBezTo>
                    <a:pt x="36" y="70"/>
                    <a:pt x="1" y="177"/>
                    <a:pt x="48" y="248"/>
                  </a:cubicBezTo>
                  <a:lnTo>
                    <a:pt x="346" y="772"/>
                  </a:lnTo>
                  <a:cubicBezTo>
                    <a:pt x="393" y="808"/>
                    <a:pt x="429" y="844"/>
                    <a:pt x="489" y="844"/>
                  </a:cubicBezTo>
                  <a:cubicBezTo>
                    <a:pt x="524" y="844"/>
                    <a:pt x="548" y="844"/>
                    <a:pt x="572" y="832"/>
                  </a:cubicBezTo>
                  <a:cubicBezTo>
                    <a:pt x="643" y="784"/>
                    <a:pt x="667" y="677"/>
                    <a:pt x="632" y="605"/>
                  </a:cubicBezTo>
                  <a:lnTo>
                    <a:pt x="334" y="82"/>
                  </a:lnTo>
                  <a:cubicBezTo>
                    <a:pt x="301" y="33"/>
                    <a:pt x="241" y="0"/>
                    <a:pt x="18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5" name="Google Shape;215;p23"/>
            <p:cNvSpPr/>
            <p:nvPr/>
          </p:nvSpPr>
          <p:spPr>
            <a:xfrm>
              <a:off x="4074950" y="2130121"/>
              <a:ext cx="28454" cy="19669"/>
            </a:xfrm>
            <a:custGeom>
              <a:rect b="b" l="l" r="r" t="t"/>
              <a:pathLst>
                <a:path extrusionOk="0" h="618" w="894">
                  <a:moveTo>
                    <a:pt x="188" y="1"/>
                  </a:moveTo>
                  <a:cubicBezTo>
                    <a:pt x="130" y="1"/>
                    <a:pt x="72" y="33"/>
                    <a:pt x="48" y="82"/>
                  </a:cubicBezTo>
                  <a:cubicBezTo>
                    <a:pt x="0" y="154"/>
                    <a:pt x="24" y="261"/>
                    <a:pt x="107" y="308"/>
                  </a:cubicBezTo>
                  <a:lnTo>
                    <a:pt x="619" y="606"/>
                  </a:lnTo>
                  <a:cubicBezTo>
                    <a:pt x="655" y="618"/>
                    <a:pt x="679" y="618"/>
                    <a:pt x="703" y="618"/>
                  </a:cubicBezTo>
                  <a:cubicBezTo>
                    <a:pt x="762" y="618"/>
                    <a:pt x="798" y="594"/>
                    <a:pt x="834" y="546"/>
                  </a:cubicBezTo>
                  <a:cubicBezTo>
                    <a:pt x="893" y="475"/>
                    <a:pt x="881" y="368"/>
                    <a:pt x="786" y="320"/>
                  </a:cubicBezTo>
                  <a:lnTo>
                    <a:pt x="262" y="23"/>
                  </a:lnTo>
                  <a:cubicBezTo>
                    <a:pt x="240" y="8"/>
                    <a:pt x="214" y="1"/>
                    <a:pt x="188"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6" name="Google Shape;216;p23"/>
            <p:cNvSpPr/>
            <p:nvPr/>
          </p:nvSpPr>
          <p:spPr>
            <a:xfrm>
              <a:off x="4063555" y="2177067"/>
              <a:ext cx="29218" cy="10630"/>
            </a:xfrm>
            <a:custGeom>
              <a:rect b="b" l="l" r="r" t="t"/>
              <a:pathLst>
                <a:path extrusionOk="0" h="334" w="918">
                  <a:moveTo>
                    <a:pt x="168" y="0"/>
                  </a:moveTo>
                  <a:cubicBezTo>
                    <a:pt x="72" y="0"/>
                    <a:pt x="1" y="83"/>
                    <a:pt x="1" y="167"/>
                  </a:cubicBezTo>
                  <a:cubicBezTo>
                    <a:pt x="1" y="262"/>
                    <a:pt x="72" y="334"/>
                    <a:pt x="168" y="334"/>
                  </a:cubicBezTo>
                  <a:lnTo>
                    <a:pt x="763" y="334"/>
                  </a:lnTo>
                  <a:cubicBezTo>
                    <a:pt x="846" y="334"/>
                    <a:pt x="918" y="262"/>
                    <a:pt x="918" y="167"/>
                  </a:cubicBezTo>
                  <a:cubicBezTo>
                    <a:pt x="918" y="83"/>
                    <a:pt x="846" y="0"/>
                    <a:pt x="76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7" name="Google Shape;217;p23"/>
            <p:cNvSpPr/>
            <p:nvPr/>
          </p:nvSpPr>
          <p:spPr>
            <a:xfrm>
              <a:off x="4073804" y="2215005"/>
              <a:ext cx="29600" cy="20051"/>
            </a:xfrm>
            <a:custGeom>
              <a:rect b="b" l="l" r="r" t="t"/>
              <a:pathLst>
                <a:path extrusionOk="0" h="630" w="930">
                  <a:moveTo>
                    <a:pt x="735" y="1"/>
                  </a:moveTo>
                  <a:cubicBezTo>
                    <a:pt x="709" y="1"/>
                    <a:pt x="681" y="8"/>
                    <a:pt x="655" y="23"/>
                  </a:cubicBezTo>
                  <a:lnTo>
                    <a:pt x="143" y="320"/>
                  </a:lnTo>
                  <a:cubicBezTo>
                    <a:pt x="0" y="404"/>
                    <a:pt x="60" y="630"/>
                    <a:pt x="227" y="630"/>
                  </a:cubicBezTo>
                  <a:cubicBezTo>
                    <a:pt x="298" y="630"/>
                    <a:pt x="298" y="606"/>
                    <a:pt x="822" y="308"/>
                  </a:cubicBezTo>
                  <a:cubicBezTo>
                    <a:pt x="893" y="261"/>
                    <a:pt x="929" y="154"/>
                    <a:pt x="881" y="82"/>
                  </a:cubicBezTo>
                  <a:cubicBezTo>
                    <a:pt x="849" y="33"/>
                    <a:pt x="794" y="1"/>
                    <a:pt x="735"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8" name="Google Shape;218;p23"/>
            <p:cNvSpPr/>
            <p:nvPr/>
          </p:nvSpPr>
          <p:spPr>
            <a:xfrm>
              <a:off x="4109419" y="2242472"/>
              <a:ext cx="21261" cy="26703"/>
            </a:xfrm>
            <a:custGeom>
              <a:rect b="b" l="l" r="r" t="t"/>
              <a:pathLst>
                <a:path extrusionOk="0" h="839" w="668">
                  <a:moveTo>
                    <a:pt x="496" y="0"/>
                  </a:moveTo>
                  <a:cubicBezTo>
                    <a:pt x="441" y="0"/>
                    <a:pt x="391" y="27"/>
                    <a:pt x="358" y="76"/>
                  </a:cubicBezTo>
                  <a:lnTo>
                    <a:pt x="60" y="600"/>
                  </a:lnTo>
                  <a:cubicBezTo>
                    <a:pt x="1" y="707"/>
                    <a:pt x="72" y="838"/>
                    <a:pt x="191" y="838"/>
                  </a:cubicBezTo>
                  <a:cubicBezTo>
                    <a:pt x="251" y="838"/>
                    <a:pt x="298" y="815"/>
                    <a:pt x="334" y="767"/>
                  </a:cubicBezTo>
                  <a:lnTo>
                    <a:pt x="632" y="243"/>
                  </a:lnTo>
                  <a:cubicBezTo>
                    <a:pt x="667" y="172"/>
                    <a:pt x="643" y="64"/>
                    <a:pt x="572" y="17"/>
                  </a:cubicBezTo>
                  <a:cubicBezTo>
                    <a:pt x="546" y="6"/>
                    <a:pt x="520" y="0"/>
                    <a:pt x="496"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9" name="Google Shape;219;p23"/>
            <p:cNvSpPr/>
            <p:nvPr/>
          </p:nvSpPr>
          <p:spPr>
            <a:xfrm>
              <a:off x="4157924" y="2252466"/>
              <a:ext cx="10248" cy="29600"/>
            </a:xfrm>
            <a:custGeom>
              <a:rect b="b" l="l" r="r" t="t"/>
              <a:pathLst>
                <a:path extrusionOk="0" h="930" w="322">
                  <a:moveTo>
                    <a:pt x="155" y="0"/>
                  </a:moveTo>
                  <a:cubicBezTo>
                    <a:pt x="72" y="0"/>
                    <a:pt x="1" y="84"/>
                    <a:pt x="1" y="167"/>
                  </a:cubicBezTo>
                  <a:lnTo>
                    <a:pt x="1" y="762"/>
                  </a:lnTo>
                  <a:cubicBezTo>
                    <a:pt x="1" y="858"/>
                    <a:pt x="72" y="929"/>
                    <a:pt x="155" y="929"/>
                  </a:cubicBezTo>
                  <a:cubicBezTo>
                    <a:pt x="251" y="929"/>
                    <a:pt x="322" y="858"/>
                    <a:pt x="322" y="762"/>
                  </a:cubicBezTo>
                  <a:lnTo>
                    <a:pt x="322" y="167"/>
                  </a:lnTo>
                  <a:cubicBezTo>
                    <a:pt x="322" y="84"/>
                    <a:pt x="251" y="0"/>
                    <a:pt x="155"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0" name="Google Shape;220;p23"/>
            <p:cNvSpPr/>
            <p:nvPr/>
          </p:nvSpPr>
          <p:spPr>
            <a:xfrm>
              <a:off x="4194685" y="2242472"/>
              <a:ext cx="21261" cy="27022"/>
            </a:xfrm>
            <a:custGeom>
              <a:rect b="b" l="l" r="r" t="t"/>
              <a:pathLst>
                <a:path extrusionOk="0" h="849" w="668">
                  <a:moveTo>
                    <a:pt x="181" y="0"/>
                  </a:moveTo>
                  <a:cubicBezTo>
                    <a:pt x="155" y="0"/>
                    <a:pt x="130" y="6"/>
                    <a:pt x="108" y="17"/>
                  </a:cubicBezTo>
                  <a:cubicBezTo>
                    <a:pt x="36" y="64"/>
                    <a:pt x="0" y="172"/>
                    <a:pt x="48" y="243"/>
                  </a:cubicBezTo>
                  <a:lnTo>
                    <a:pt x="346" y="767"/>
                  </a:lnTo>
                  <a:cubicBezTo>
                    <a:pt x="378" y="816"/>
                    <a:pt x="428" y="848"/>
                    <a:pt x="487" y="848"/>
                  </a:cubicBezTo>
                  <a:cubicBezTo>
                    <a:pt x="513" y="848"/>
                    <a:pt x="542" y="841"/>
                    <a:pt x="572" y="826"/>
                  </a:cubicBezTo>
                  <a:cubicBezTo>
                    <a:pt x="643" y="779"/>
                    <a:pt x="667" y="672"/>
                    <a:pt x="631" y="600"/>
                  </a:cubicBezTo>
                  <a:lnTo>
                    <a:pt x="334" y="76"/>
                  </a:lnTo>
                  <a:cubicBezTo>
                    <a:pt x="301" y="27"/>
                    <a:pt x="240" y="0"/>
                    <a:pt x="18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1" name="Google Shape;221;p23"/>
            <p:cNvSpPr/>
            <p:nvPr/>
          </p:nvSpPr>
          <p:spPr>
            <a:xfrm>
              <a:off x="4222343" y="2215387"/>
              <a:ext cx="27690" cy="19669"/>
            </a:xfrm>
            <a:custGeom>
              <a:rect b="b" l="l" r="r" t="t"/>
              <a:pathLst>
                <a:path extrusionOk="0" h="618" w="870">
                  <a:moveTo>
                    <a:pt x="176" y="1"/>
                  </a:moveTo>
                  <a:cubicBezTo>
                    <a:pt x="118" y="1"/>
                    <a:pt x="57" y="33"/>
                    <a:pt x="24" y="82"/>
                  </a:cubicBezTo>
                  <a:cubicBezTo>
                    <a:pt x="1" y="142"/>
                    <a:pt x="13" y="249"/>
                    <a:pt x="96" y="296"/>
                  </a:cubicBezTo>
                  <a:cubicBezTo>
                    <a:pt x="632" y="594"/>
                    <a:pt x="620" y="618"/>
                    <a:pt x="691" y="618"/>
                  </a:cubicBezTo>
                  <a:cubicBezTo>
                    <a:pt x="751" y="618"/>
                    <a:pt x="798" y="594"/>
                    <a:pt x="834" y="546"/>
                  </a:cubicBezTo>
                  <a:cubicBezTo>
                    <a:pt x="870" y="475"/>
                    <a:pt x="846" y="368"/>
                    <a:pt x="775" y="320"/>
                  </a:cubicBezTo>
                  <a:lnTo>
                    <a:pt x="251" y="22"/>
                  </a:lnTo>
                  <a:cubicBezTo>
                    <a:pt x="228" y="8"/>
                    <a:pt x="202" y="1"/>
                    <a:pt x="176"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2" name="Google Shape;222;p23"/>
            <p:cNvSpPr/>
            <p:nvPr/>
          </p:nvSpPr>
          <p:spPr>
            <a:xfrm>
              <a:off x="4232941" y="2177067"/>
              <a:ext cx="29600" cy="10630"/>
            </a:xfrm>
            <a:custGeom>
              <a:rect b="b" l="l" r="r" t="t"/>
              <a:pathLst>
                <a:path extrusionOk="0" h="334" w="930">
                  <a:moveTo>
                    <a:pt x="168" y="0"/>
                  </a:moveTo>
                  <a:cubicBezTo>
                    <a:pt x="72" y="0"/>
                    <a:pt x="1" y="83"/>
                    <a:pt x="1" y="167"/>
                  </a:cubicBezTo>
                  <a:cubicBezTo>
                    <a:pt x="1" y="262"/>
                    <a:pt x="72" y="334"/>
                    <a:pt x="168" y="334"/>
                  </a:cubicBezTo>
                  <a:lnTo>
                    <a:pt x="763" y="334"/>
                  </a:lnTo>
                  <a:cubicBezTo>
                    <a:pt x="858" y="334"/>
                    <a:pt x="930" y="262"/>
                    <a:pt x="930" y="167"/>
                  </a:cubicBezTo>
                  <a:cubicBezTo>
                    <a:pt x="930" y="83"/>
                    <a:pt x="858" y="0"/>
                    <a:pt x="76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3" name="Google Shape;223;p23"/>
            <p:cNvSpPr/>
            <p:nvPr/>
          </p:nvSpPr>
          <p:spPr>
            <a:xfrm>
              <a:off x="4221579" y="2130694"/>
              <a:ext cx="28454" cy="19478"/>
            </a:xfrm>
            <a:custGeom>
              <a:rect b="b" l="l" r="r" t="t"/>
              <a:pathLst>
                <a:path extrusionOk="0" h="612" w="894">
                  <a:moveTo>
                    <a:pt x="706" y="0"/>
                  </a:moveTo>
                  <a:cubicBezTo>
                    <a:pt x="679" y="0"/>
                    <a:pt x="654" y="5"/>
                    <a:pt x="632" y="16"/>
                  </a:cubicBezTo>
                  <a:lnTo>
                    <a:pt x="108" y="314"/>
                  </a:lnTo>
                  <a:cubicBezTo>
                    <a:pt x="37" y="362"/>
                    <a:pt x="1" y="469"/>
                    <a:pt x="48" y="540"/>
                  </a:cubicBezTo>
                  <a:cubicBezTo>
                    <a:pt x="96" y="588"/>
                    <a:pt x="144" y="612"/>
                    <a:pt x="203" y="612"/>
                  </a:cubicBezTo>
                  <a:cubicBezTo>
                    <a:pt x="227" y="612"/>
                    <a:pt x="263" y="612"/>
                    <a:pt x="275" y="600"/>
                  </a:cubicBezTo>
                  <a:lnTo>
                    <a:pt x="799" y="302"/>
                  </a:lnTo>
                  <a:cubicBezTo>
                    <a:pt x="870" y="255"/>
                    <a:pt x="894" y="159"/>
                    <a:pt x="858" y="76"/>
                  </a:cubicBezTo>
                  <a:cubicBezTo>
                    <a:pt x="825" y="27"/>
                    <a:pt x="764" y="0"/>
                    <a:pt x="706"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4" name="Google Shape;224;p23"/>
            <p:cNvSpPr/>
            <p:nvPr/>
          </p:nvSpPr>
          <p:spPr>
            <a:xfrm>
              <a:off x="4194685" y="2095652"/>
              <a:ext cx="20879" cy="26862"/>
            </a:xfrm>
            <a:custGeom>
              <a:rect b="b" l="l" r="r" t="t"/>
              <a:pathLst>
                <a:path extrusionOk="0" h="844" w="656">
                  <a:moveTo>
                    <a:pt x="479" y="0"/>
                  </a:moveTo>
                  <a:cubicBezTo>
                    <a:pt x="428" y="0"/>
                    <a:pt x="378" y="33"/>
                    <a:pt x="346" y="82"/>
                  </a:cubicBezTo>
                  <a:lnTo>
                    <a:pt x="48" y="606"/>
                  </a:lnTo>
                  <a:cubicBezTo>
                    <a:pt x="0" y="677"/>
                    <a:pt x="36" y="784"/>
                    <a:pt x="108" y="820"/>
                  </a:cubicBezTo>
                  <a:cubicBezTo>
                    <a:pt x="131" y="844"/>
                    <a:pt x="167" y="844"/>
                    <a:pt x="179" y="844"/>
                  </a:cubicBezTo>
                  <a:cubicBezTo>
                    <a:pt x="239" y="844"/>
                    <a:pt x="286" y="808"/>
                    <a:pt x="310" y="760"/>
                  </a:cubicBezTo>
                  <a:lnTo>
                    <a:pt x="608" y="248"/>
                  </a:lnTo>
                  <a:cubicBezTo>
                    <a:pt x="655" y="165"/>
                    <a:pt x="631" y="70"/>
                    <a:pt x="548" y="22"/>
                  </a:cubicBezTo>
                  <a:cubicBezTo>
                    <a:pt x="526" y="7"/>
                    <a:pt x="502" y="0"/>
                    <a:pt x="479"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sp>
        <p:nvSpPr>
          <p:cNvPr id="225" name="Google Shape;225;p23"/>
          <p:cNvSpPr txBox="1"/>
          <p:nvPr/>
        </p:nvSpPr>
        <p:spPr>
          <a:xfrm>
            <a:off x="1294202" y="1970338"/>
            <a:ext cx="786352" cy="29610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995">
                <a:solidFill>
                  <a:srgbClr val="FFFFFF"/>
                </a:solidFill>
                <a:latin typeface="Montserrat"/>
                <a:ea typeface="Montserrat"/>
                <a:cs typeface="Montserrat"/>
                <a:sym typeface="Montserrat"/>
              </a:rPr>
              <a:t>Duration:</a:t>
            </a:r>
            <a:endParaRPr/>
          </a:p>
        </p:txBody>
      </p:sp>
      <p:grpSp>
        <p:nvGrpSpPr>
          <p:cNvPr id="226" name="Google Shape;226;p23"/>
          <p:cNvGrpSpPr/>
          <p:nvPr/>
        </p:nvGrpSpPr>
        <p:grpSpPr>
          <a:xfrm>
            <a:off x="1141688" y="2339783"/>
            <a:ext cx="168509" cy="154837"/>
            <a:chOff x="1952836" y="2774422"/>
            <a:chExt cx="372835" cy="342573"/>
          </a:xfrm>
        </p:grpSpPr>
        <p:sp>
          <p:nvSpPr>
            <p:cNvPr id="227" name="Google Shape;227;p23"/>
            <p:cNvSpPr/>
            <p:nvPr/>
          </p:nvSpPr>
          <p:spPr>
            <a:xfrm>
              <a:off x="2076490" y="3057581"/>
              <a:ext cx="40869" cy="40869"/>
            </a:xfrm>
            <a:custGeom>
              <a:rect b="b" l="l" r="r" t="t"/>
              <a:pathLst>
                <a:path extrusionOk="0" h="1287" w="1287">
                  <a:moveTo>
                    <a:pt x="643" y="346"/>
                  </a:moveTo>
                  <a:cubicBezTo>
                    <a:pt x="810" y="346"/>
                    <a:pt x="941" y="477"/>
                    <a:pt x="941" y="644"/>
                  </a:cubicBezTo>
                  <a:cubicBezTo>
                    <a:pt x="941" y="811"/>
                    <a:pt x="810" y="941"/>
                    <a:pt x="643" y="941"/>
                  </a:cubicBezTo>
                  <a:cubicBezTo>
                    <a:pt x="476" y="941"/>
                    <a:pt x="345" y="811"/>
                    <a:pt x="345" y="644"/>
                  </a:cubicBezTo>
                  <a:cubicBezTo>
                    <a:pt x="345" y="477"/>
                    <a:pt x="476" y="346"/>
                    <a:pt x="643" y="346"/>
                  </a:cubicBezTo>
                  <a:close/>
                  <a:moveTo>
                    <a:pt x="643" y="1"/>
                  </a:moveTo>
                  <a:cubicBezTo>
                    <a:pt x="286" y="1"/>
                    <a:pt x="0" y="287"/>
                    <a:pt x="0" y="644"/>
                  </a:cubicBezTo>
                  <a:cubicBezTo>
                    <a:pt x="0" y="1001"/>
                    <a:pt x="286" y="1287"/>
                    <a:pt x="643" y="1287"/>
                  </a:cubicBezTo>
                  <a:cubicBezTo>
                    <a:pt x="1000" y="1287"/>
                    <a:pt x="1286" y="1001"/>
                    <a:pt x="1286" y="644"/>
                  </a:cubicBezTo>
                  <a:cubicBezTo>
                    <a:pt x="1286" y="287"/>
                    <a:pt x="1000" y="1"/>
                    <a:pt x="643" y="1"/>
                  </a:cubicBezTo>
                  <a:close/>
                </a:path>
              </a:pathLst>
            </a:custGeom>
            <a:solidFill>
              <a:srgbClr val="18375E"/>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8" name="Google Shape;228;p23"/>
            <p:cNvSpPr/>
            <p:nvPr/>
          </p:nvSpPr>
          <p:spPr>
            <a:xfrm>
              <a:off x="2208432" y="3057581"/>
              <a:ext cx="40869" cy="40869"/>
            </a:xfrm>
            <a:custGeom>
              <a:rect b="b" l="l" r="r" t="t"/>
              <a:pathLst>
                <a:path extrusionOk="0" h="1287" w="1287">
                  <a:moveTo>
                    <a:pt x="643" y="346"/>
                  </a:moveTo>
                  <a:cubicBezTo>
                    <a:pt x="810" y="346"/>
                    <a:pt x="941" y="477"/>
                    <a:pt x="941" y="644"/>
                  </a:cubicBezTo>
                  <a:cubicBezTo>
                    <a:pt x="941" y="811"/>
                    <a:pt x="810" y="941"/>
                    <a:pt x="643" y="941"/>
                  </a:cubicBezTo>
                  <a:cubicBezTo>
                    <a:pt x="477" y="941"/>
                    <a:pt x="346" y="811"/>
                    <a:pt x="346" y="644"/>
                  </a:cubicBezTo>
                  <a:cubicBezTo>
                    <a:pt x="346" y="477"/>
                    <a:pt x="477" y="346"/>
                    <a:pt x="643" y="346"/>
                  </a:cubicBezTo>
                  <a:close/>
                  <a:moveTo>
                    <a:pt x="643" y="1"/>
                  </a:moveTo>
                  <a:cubicBezTo>
                    <a:pt x="286" y="1"/>
                    <a:pt x="0" y="287"/>
                    <a:pt x="0" y="644"/>
                  </a:cubicBezTo>
                  <a:cubicBezTo>
                    <a:pt x="0" y="1001"/>
                    <a:pt x="286" y="1287"/>
                    <a:pt x="643" y="1287"/>
                  </a:cubicBezTo>
                  <a:cubicBezTo>
                    <a:pt x="1001" y="1287"/>
                    <a:pt x="1286" y="1001"/>
                    <a:pt x="1286" y="644"/>
                  </a:cubicBezTo>
                  <a:cubicBezTo>
                    <a:pt x="1286" y="287"/>
                    <a:pt x="1001" y="1"/>
                    <a:pt x="643" y="1"/>
                  </a:cubicBezTo>
                  <a:close/>
                </a:path>
              </a:pathLst>
            </a:custGeom>
            <a:solidFill>
              <a:srgbClr val="18375E"/>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9" name="Google Shape;229;p23"/>
            <p:cNvSpPr/>
            <p:nvPr/>
          </p:nvSpPr>
          <p:spPr>
            <a:xfrm>
              <a:off x="1952836" y="2774422"/>
              <a:ext cx="372835" cy="342573"/>
            </a:xfrm>
            <a:custGeom>
              <a:rect b="b" l="l" r="r" t="t"/>
              <a:pathLst>
                <a:path extrusionOk="0" h="10788" w="11741">
                  <a:moveTo>
                    <a:pt x="5382" y="1988"/>
                  </a:moveTo>
                  <a:lnTo>
                    <a:pt x="5382" y="3001"/>
                  </a:lnTo>
                  <a:lnTo>
                    <a:pt x="4359" y="3001"/>
                  </a:lnTo>
                  <a:lnTo>
                    <a:pt x="4359" y="1988"/>
                  </a:lnTo>
                  <a:close/>
                  <a:moveTo>
                    <a:pt x="6752" y="1988"/>
                  </a:moveTo>
                  <a:lnTo>
                    <a:pt x="6752" y="3001"/>
                  </a:lnTo>
                  <a:lnTo>
                    <a:pt x="5728" y="3001"/>
                  </a:lnTo>
                  <a:lnTo>
                    <a:pt x="5728" y="1988"/>
                  </a:lnTo>
                  <a:close/>
                  <a:moveTo>
                    <a:pt x="8121" y="1988"/>
                  </a:moveTo>
                  <a:lnTo>
                    <a:pt x="8121" y="3001"/>
                  </a:lnTo>
                  <a:lnTo>
                    <a:pt x="7097" y="3001"/>
                  </a:lnTo>
                  <a:lnTo>
                    <a:pt x="7097" y="1988"/>
                  </a:lnTo>
                  <a:close/>
                  <a:moveTo>
                    <a:pt x="9490" y="1988"/>
                  </a:moveTo>
                  <a:lnTo>
                    <a:pt x="9490" y="3001"/>
                  </a:lnTo>
                  <a:lnTo>
                    <a:pt x="8466" y="3001"/>
                  </a:lnTo>
                  <a:lnTo>
                    <a:pt x="8466" y="1988"/>
                  </a:lnTo>
                  <a:close/>
                  <a:moveTo>
                    <a:pt x="10324" y="1988"/>
                  </a:moveTo>
                  <a:lnTo>
                    <a:pt x="10085" y="3001"/>
                  </a:lnTo>
                  <a:lnTo>
                    <a:pt x="9847" y="3001"/>
                  </a:lnTo>
                  <a:lnTo>
                    <a:pt x="9847" y="1988"/>
                  </a:lnTo>
                  <a:close/>
                  <a:moveTo>
                    <a:pt x="4001" y="2000"/>
                  </a:moveTo>
                  <a:lnTo>
                    <a:pt x="4001" y="3012"/>
                  </a:lnTo>
                  <a:lnTo>
                    <a:pt x="3311" y="3012"/>
                  </a:lnTo>
                  <a:lnTo>
                    <a:pt x="2965" y="2000"/>
                  </a:lnTo>
                  <a:close/>
                  <a:moveTo>
                    <a:pt x="10014" y="3334"/>
                  </a:moveTo>
                  <a:lnTo>
                    <a:pt x="9847" y="4048"/>
                  </a:lnTo>
                  <a:lnTo>
                    <a:pt x="9847" y="3334"/>
                  </a:lnTo>
                  <a:close/>
                  <a:moveTo>
                    <a:pt x="4013" y="3334"/>
                  </a:moveTo>
                  <a:lnTo>
                    <a:pt x="4013" y="4370"/>
                  </a:lnTo>
                  <a:lnTo>
                    <a:pt x="3823" y="4370"/>
                  </a:lnTo>
                  <a:lnTo>
                    <a:pt x="3454" y="3334"/>
                  </a:lnTo>
                  <a:close/>
                  <a:moveTo>
                    <a:pt x="5371" y="3334"/>
                  </a:moveTo>
                  <a:lnTo>
                    <a:pt x="5371" y="4370"/>
                  </a:lnTo>
                  <a:lnTo>
                    <a:pt x="4347" y="4370"/>
                  </a:lnTo>
                  <a:lnTo>
                    <a:pt x="4347" y="3334"/>
                  </a:lnTo>
                  <a:close/>
                  <a:moveTo>
                    <a:pt x="6752" y="3334"/>
                  </a:moveTo>
                  <a:lnTo>
                    <a:pt x="6752" y="4370"/>
                  </a:lnTo>
                  <a:lnTo>
                    <a:pt x="5728" y="4370"/>
                  </a:lnTo>
                  <a:lnTo>
                    <a:pt x="5728" y="3334"/>
                  </a:lnTo>
                  <a:close/>
                  <a:moveTo>
                    <a:pt x="8121" y="3358"/>
                  </a:moveTo>
                  <a:lnTo>
                    <a:pt x="8121" y="4382"/>
                  </a:lnTo>
                  <a:lnTo>
                    <a:pt x="7097" y="4382"/>
                  </a:lnTo>
                  <a:lnTo>
                    <a:pt x="7097" y="3358"/>
                  </a:lnTo>
                  <a:close/>
                  <a:moveTo>
                    <a:pt x="9514" y="3358"/>
                  </a:moveTo>
                  <a:lnTo>
                    <a:pt x="9514" y="4382"/>
                  </a:lnTo>
                  <a:lnTo>
                    <a:pt x="8478" y="4382"/>
                  </a:lnTo>
                  <a:lnTo>
                    <a:pt x="8478" y="3358"/>
                  </a:lnTo>
                  <a:close/>
                  <a:moveTo>
                    <a:pt x="4001" y="4727"/>
                  </a:moveTo>
                  <a:lnTo>
                    <a:pt x="4001" y="4941"/>
                  </a:lnTo>
                  <a:lnTo>
                    <a:pt x="3930" y="4727"/>
                  </a:lnTo>
                  <a:close/>
                  <a:moveTo>
                    <a:pt x="5371" y="4715"/>
                  </a:moveTo>
                  <a:lnTo>
                    <a:pt x="5371" y="5525"/>
                  </a:lnTo>
                  <a:cubicBezTo>
                    <a:pt x="5297" y="5521"/>
                    <a:pt x="5230" y="5520"/>
                    <a:pt x="5167" y="5520"/>
                  </a:cubicBezTo>
                  <a:cubicBezTo>
                    <a:pt x="5049" y="5520"/>
                    <a:pt x="4947" y="5524"/>
                    <a:pt x="4854" y="5524"/>
                  </a:cubicBezTo>
                  <a:cubicBezTo>
                    <a:pt x="4666" y="5524"/>
                    <a:pt x="4516" y="5507"/>
                    <a:pt x="4347" y="5406"/>
                  </a:cubicBezTo>
                  <a:lnTo>
                    <a:pt x="4347" y="4715"/>
                  </a:lnTo>
                  <a:close/>
                  <a:moveTo>
                    <a:pt x="6752" y="4727"/>
                  </a:moveTo>
                  <a:lnTo>
                    <a:pt x="6752" y="5525"/>
                  </a:lnTo>
                  <a:lnTo>
                    <a:pt x="5728" y="5525"/>
                  </a:lnTo>
                  <a:lnTo>
                    <a:pt x="5728" y="4727"/>
                  </a:lnTo>
                  <a:close/>
                  <a:moveTo>
                    <a:pt x="8121" y="4727"/>
                  </a:moveTo>
                  <a:lnTo>
                    <a:pt x="8121" y="5525"/>
                  </a:lnTo>
                  <a:lnTo>
                    <a:pt x="7097" y="5525"/>
                  </a:lnTo>
                  <a:lnTo>
                    <a:pt x="7097" y="4727"/>
                  </a:lnTo>
                  <a:close/>
                  <a:moveTo>
                    <a:pt x="9490" y="4727"/>
                  </a:moveTo>
                  <a:lnTo>
                    <a:pt x="9490" y="5525"/>
                  </a:lnTo>
                  <a:lnTo>
                    <a:pt x="8466" y="5525"/>
                  </a:lnTo>
                  <a:lnTo>
                    <a:pt x="8466" y="4727"/>
                  </a:lnTo>
                  <a:close/>
                  <a:moveTo>
                    <a:pt x="4537" y="8680"/>
                  </a:moveTo>
                  <a:cubicBezTo>
                    <a:pt x="5025" y="8680"/>
                    <a:pt x="5418" y="9085"/>
                    <a:pt x="5418" y="9561"/>
                  </a:cubicBezTo>
                  <a:cubicBezTo>
                    <a:pt x="5418" y="10037"/>
                    <a:pt x="5025" y="10442"/>
                    <a:pt x="4537" y="10442"/>
                  </a:cubicBezTo>
                  <a:cubicBezTo>
                    <a:pt x="4049" y="10442"/>
                    <a:pt x="3656" y="10049"/>
                    <a:pt x="3656" y="9561"/>
                  </a:cubicBezTo>
                  <a:cubicBezTo>
                    <a:pt x="3656" y="9085"/>
                    <a:pt x="4049" y="8680"/>
                    <a:pt x="4537" y="8680"/>
                  </a:cubicBezTo>
                  <a:close/>
                  <a:moveTo>
                    <a:pt x="8692" y="8680"/>
                  </a:moveTo>
                  <a:cubicBezTo>
                    <a:pt x="9181" y="8680"/>
                    <a:pt x="9573" y="9085"/>
                    <a:pt x="9573" y="9561"/>
                  </a:cubicBezTo>
                  <a:cubicBezTo>
                    <a:pt x="9573" y="10037"/>
                    <a:pt x="9181" y="10442"/>
                    <a:pt x="8692" y="10442"/>
                  </a:cubicBezTo>
                  <a:cubicBezTo>
                    <a:pt x="8204" y="10442"/>
                    <a:pt x="7811" y="10049"/>
                    <a:pt x="7811" y="9561"/>
                  </a:cubicBezTo>
                  <a:cubicBezTo>
                    <a:pt x="7811" y="9085"/>
                    <a:pt x="8204" y="8680"/>
                    <a:pt x="8692" y="8680"/>
                  </a:cubicBezTo>
                  <a:close/>
                  <a:moveTo>
                    <a:pt x="620" y="0"/>
                  </a:moveTo>
                  <a:cubicBezTo>
                    <a:pt x="287" y="0"/>
                    <a:pt x="1" y="286"/>
                    <a:pt x="1" y="631"/>
                  </a:cubicBezTo>
                  <a:cubicBezTo>
                    <a:pt x="1" y="976"/>
                    <a:pt x="287" y="1250"/>
                    <a:pt x="620" y="1250"/>
                  </a:cubicBezTo>
                  <a:lnTo>
                    <a:pt x="1394" y="1250"/>
                  </a:lnTo>
                  <a:lnTo>
                    <a:pt x="2346" y="3965"/>
                  </a:lnTo>
                  <a:cubicBezTo>
                    <a:pt x="2374" y="4029"/>
                    <a:pt x="2444" y="4072"/>
                    <a:pt x="2513" y="4072"/>
                  </a:cubicBezTo>
                  <a:cubicBezTo>
                    <a:pt x="2533" y="4072"/>
                    <a:pt x="2553" y="4068"/>
                    <a:pt x="2573" y="4060"/>
                  </a:cubicBezTo>
                  <a:cubicBezTo>
                    <a:pt x="2668" y="4036"/>
                    <a:pt x="2704" y="3929"/>
                    <a:pt x="2680" y="3846"/>
                  </a:cubicBezTo>
                  <a:cubicBezTo>
                    <a:pt x="1739" y="1191"/>
                    <a:pt x="1692" y="1072"/>
                    <a:pt x="1692" y="1072"/>
                  </a:cubicBezTo>
                  <a:cubicBezTo>
                    <a:pt x="1656" y="965"/>
                    <a:pt x="1561" y="905"/>
                    <a:pt x="1441" y="905"/>
                  </a:cubicBezTo>
                  <a:lnTo>
                    <a:pt x="620" y="905"/>
                  </a:lnTo>
                  <a:cubicBezTo>
                    <a:pt x="465" y="905"/>
                    <a:pt x="346" y="774"/>
                    <a:pt x="346" y="631"/>
                  </a:cubicBezTo>
                  <a:cubicBezTo>
                    <a:pt x="346" y="464"/>
                    <a:pt x="477" y="345"/>
                    <a:pt x="620" y="345"/>
                  </a:cubicBezTo>
                  <a:lnTo>
                    <a:pt x="1441" y="345"/>
                  </a:lnTo>
                  <a:cubicBezTo>
                    <a:pt x="1787" y="345"/>
                    <a:pt x="2084" y="536"/>
                    <a:pt x="2215" y="845"/>
                  </a:cubicBezTo>
                  <a:cubicBezTo>
                    <a:pt x="2418" y="1429"/>
                    <a:pt x="3585" y="4703"/>
                    <a:pt x="3751" y="5191"/>
                  </a:cubicBezTo>
                  <a:cubicBezTo>
                    <a:pt x="3870" y="5548"/>
                    <a:pt x="4287" y="5882"/>
                    <a:pt x="4775" y="5882"/>
                  </a:cubicBezTo>
                  <a:lnTo>
                    <a:pt x="10978" y="5882"/>
                  </a:lnTo>
                  <a:cubicBezTo>
                    <a:pt x="11145" y="5882"/>
                    <a:pt x="11264" y="6013"/>
                    <a:pt x="11264" y="6168"/>
                  </a:cubicBezTo>
                  <a:cubicBezTo>
                    <a:pt x="11264" y="6322"/>
                    <a:pt x="11133" y="6441"/>
                    <a:pt x="10978" y="6441"/>
                  </a:cubicBezTo>
                  <a:lnTo>
                    <a:pt x="4775" y="6441"/>
                  </a:lnTo>
                  <a:cubicBezTo>
                    <a:pt x="4108" y="6441"/>
                    <a:pt x="3489" y="6049"/>
                    <a:pt x="3227" y="5417"/>
                  </a:cubicBezTo>
                  <a:lnTo>
                    <a:pt x="2882" y="4453"/>
                  </a:lnTo>
                  <a:cubicBezTo>
                    <a:pt x="2863" y="4377"/>
                    <a:pt x="2791" y="4339"/>
                    <a:pt x="2720" y="4339"/>
                  </a:cubicBezTo>
                  <a:cubicBezTo>
                    <a:pt x="2702" y="4339"/>
                    <a:pt x="2684" y="4341"/>
                    <a:pt x="2668" y="4346"/>
                  </a:cubicBezTo>
                  <a:cubicBezTo>
                    <a:pt x="2573" y="4382"/>
                    <a:pt x="2525" y="4477"/>
                    <a:pt x="2561" y="4572"/>
                  </a:cubicBezTo>
                  <a:cubicBezTo>
                    <a:pt x="2846" y="5275"/>
                    <a:pt x="2846" y="5596"/>
                    <a:pt x="3180" y="6013"/>
                  </a:cubicBezTo>
                  <a:lnTo>
                    <a:pt x="2799" y="6560"/>
                  </a:lnTo>
                  <a:cubicBezTo>
                    <a:pt x="2215" y="7394"/>
                    <a:pt x="2715" y="8549"/>
                    <a:pt x="3716" y="8680"/>
                  </a:cubicBezTo>
                  <a:cubicBezTo>
                    <a:pt x="2918" y="9418"/>
                    <a:pt x="3442" y="10787"/>
                    <a:pt x="4549" y="10787"/>
                  </a:cubicBezTo>
                  <a:cubicBezTo>
                    <a:pt x="5656" y="10787"/>
                    <a:pt x="6168" y="9454"/>
                    <a:pt x="5394" y="8692"/>
                  </a:cubicBezTo>
                  <a:lnTo>
                    <a:pt x="7871" y="8692"/>
                  </a:lnTo>
                  <a:cubicBezTo>
                    <a:pt x="7085" y="9454"/>
                    <a:pt x="7621" y="10787"/>
                    <a:pt x="8716" y="10787"/>
                  </a:cubicBezTo>
                  <a:cubicBezTo>
                    <a:pt x="9823" y="10787"/>
                    <a:pt x="10335" y="9454"/>
                    <a:pt x="9562" y="8692"/>
                  </a:cubicBezTo>
                  <a:lnTo>
                    <a:pt x="9788" y="8692"/>
                  </a:lnTo>
                  <a:cubicBezTo>
                    <a:pt x="10133" y="8692"/>
                    <a:pt x="10419" y="8406"/>
                    <a:pt x="10419" y="8073"/>
                  </a:cubicBezTo>
                  <a:cubicBezTo>
                    <a:pt x="10419" y="7727"/>
                    <a:pt x="10133" y="7442"/>
                    <a:pt x="9788" y="7442"/>
                  </a:cubicBezTo>
                  <a:lnTo>
                    <a:pt x="8228" y="7442"/>
                  </a:lnTo>
                  <a:cubicBezTo>
                    <a:pt x="8133" y="7442"/>
                    <a:pt x="8061" y="7513"/>
                    <a:pt x="8061" y="7608"/>
                  </a:cubicBezTo>
                  <a:cubicBezTo>
                    <a:pt x="8061" y="7692"/>
                    <a:pt x="8133" y="7775"/>
                    <a:pt x="8228" y="7775"/>
                  </a:cubicBezTo>
                  <a:lnTo>
                    <a:pt x="9788" y="7775"/>
                  </a:lnTo>
                  <a:cubicBezTo>
                    <a:pt x="9954" y="7775"/>
                    <a:pt x="10074" y="7906"/>
                    <a:pt x="10074" y="8049"/>
                  </a:cubicBezTo>
                  <a:cubicBezTo>
                    <a:pt x="10074" y="8215"/>
                    <a:pt x="9943" y="8335"/>
                    <a:pt x="9788" y="8335"/>
                  </a:cubicBezTo>
                  <a:lnTo>
                    <a:pt x="3930" y="8335"/>
                  </a:lnTo>
                  <a:cubicBezTo>
                    <a:pt x="3108" y="8335"/>
                    <a:pt x="2620" y="7418"/>
                    <a:pt x="3096" y="6739"/>
                  </a:cubicBezTo>
                  <a:lnTo>
                    <a:pt x="3442" y="6251"/>
                  </a:lnTo>
                  <a:cubicBezTo>
                    <a:pt x="3573" y="6382"/>
                    <a:pt x="3739" y="6489"/>
                    <a:pt x="3906" y="6560"/>
                  </a:cubicBezTo>
                  <a:lnTo>
                    <a:pt x="3573" y="7072"/>
                  </a:lnTo>
                  <a:cubicBezTo>
                    <a:pt x="3358" y="7370"/>
                    <a:pt x="3573" y="7775"/>
                    <a:pt x="3942" y="7775"/>
                  </a:cubicBezTo>
                  <a:lnTo>
                    <a:pt x="7609" y="7775"/>
                  </a:lnTo>
                  <a:cubicBezTo>
                    <a:pt x="7692" y="7775"/>
                    <a:pt x="7764" y="7692"/>
                    <a:pt x="7764" y="7608"/>
                  </a:cubicBezTo>
                  <a:cubicBezTo>
                    <a:pt x="7764" y="7513"/>
                    <a:pt x="7692" y="7442"/>
                    <a:pt x="7609" y="7442"/>
                  </a:cubicBezTo>
                  <a:lnTo>
                    <a:pt x="3942" y="7442"/>
                  </a:lnTo>
                  <a:cubicBezTo>
                    <a:pt x="3847" y="7442"/>
                    <a:pt x="3811" y="7334"/>
                    <a:pt x="3847" y="7263"/>
                  </a:cubicBezTo>
                  <a:lnTo>
                    <a:pt x="4251" y="6703"/>
                  </a:lnTo>
                  <a:cubicBezTo>
                    <a:pt x="4465" y="6762"/>
                    <a:pt x="4535" y="6775"/>
                    <a:pt x="5134" y="6775"/>
                  </a:cubicBezTo>
                  <a:cubicBezTo>
                    <a:pt x="5630" y="6775"/>
                    <a:pt x="6490" y="6766"/>
                    <a:pt x="8097" y="6766"/>
                  </a:cubicBezTo>
                  <a:cubicBezTo>
                    <a:pt x="8881" y="6766"/>
                    <a:pt x="9842" y="6768"/>
                    <a:pt x="11026" y="6775"/>
                  </a:cubicBezTo>
                  <a:cubicBezTo>
                    <a:pt x="11371" y="6775"/>
                    <a:pt x="11645" y="6489"/>
                    <a:pt x="11645" y="6144"/>
                  </a:cubicBezTo>
                  <a:cubicBezTo>
                    <a:pt x="11598" y="5810"/>
                    <a:pt x="11312" y="5525"/>
                    <a:pt x="10966" y="5525"/>
                  </a:cubicBezTo>
                  <a:lnTo>
                    <a:pt x="10788" y="5525"/>
                  </a:lnTo>
                  <a:lnTo>
                    <a:pt x="11598" y="2048"/>
                  </a:lnTo>
                  <a:cubicBezTo>
                    <a:pt x="11740" y="1393"/>
                    <a:pt x="11252" y="762"/>
                    <a:pt x="10562" y="762"/>
                  </a:cubicBezTo>
                  <a:lnTo>
                    <a:pt x="7252" y="762"/>
                  </a:lnTo>
                  <a:cubicBezTo>
                    <a:pt x="7156" y="762"/>
                    <a:pt x="7085" y="834"/>
                    <a:pt x="7085" y="929"/>
                  </a:cubicBezTo>
                  <a:cubicBezTo>
                    <a:pt x="7085" y="1012"/>
                    <a:pt x="7156" y="1096"/>
                    <a:pt x="7252" y="1096"/>
                  </a:cubicBezTo>
                  <a:lnTo>
                    <a:pt x="10562" y="1096"/>
                  </a:lnTo>
                  <a:cubicBezTo>
                    <a:pt x="11026" y="1096"/>
                    <a:pt x="11359" y="1524"/>
                    <a:pt x="11252" y="1953"/>
                  </a:cubicBezTo>
                  <a:lnTo>
                    <a:pt x="10431" y="5525"/>
                  </a:lnTo>
                  <a:lnTo>
                    <a:pt x="9847" y="5525"/>
                  </a:lnTo>
                  <a:cubicBezTo>
                    <a:pt x="9943" y="5144"/>
                    <a:pt x="10585" y="2369"/>
                    <a:pt x="10705" y="1869"/>
                  </a:cubicBezTo>
                  <a:cubicBezTo>
                    <a:pt x="10728" y="1762"/>
                    <a:pt x="10645" y="1655"/>
                    <a:pt x="10538" y="1655"/>
                  </a:cubicBezTo>
                  <a:lnTo>
                    <a:pt x="2858" y="1655"/>
                  </a:lnTo>
                  <a:lnTo>
                    <a:pt x="2668" y="1096"/>
                  </a:lnTo>
                  <a:lnTo>
                    <a:pt x="6621" y="1096"/>
                  </a:lnTo>
                  <a:cubicBezTo>
                    <a:pt x="6716" y="1096"/>
                    <a:pt x="6787" y="1012"/>
                    <a:pt x="6787" y="929"/>
                  </a:cubicBezTo>
                  <a:cubicBezTo>
                    <a:pt x="6787" y="834"/>
                    <a:pt x="6716" y="762"/>
                    <a:pt x="6621" y="762"/>
                  </a:cubicBezTo>
                  <a:lnTo>
                    <a:pt x="2549" y="762"/>
                  </a:lnTo>
                  <a:cubicBezTo>
                    <a:pt x="2394" y="334"/>
                    <a:pt x="1965" y="0"/>
                    <a:pt x="144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sp>
        <p:nvSpPr>
          <p:cNvPr id="230" name="Google Shape;230;p23"/>
          <p:cNvSpPr txBox="1"/>
          <p:nvPr>
            <p:ph idx="4" type="body"/>
          </p:nvPr>
        </p:nvSpPr>
        <p:spPr>
          <a:xfrm>
            <a:off x="1307843" y="1734878"/>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1" name="Google Shape;231;p23"/>
          <p:cNvSpPr txBox="1"/>
          <p:nvPr>
            <p:ph idx="5" type="body"/>
          </p:nvPr>
        </p:nvSpPr>
        <p:spPr>
          <a:xfrm>
            <a:off x="1914421" y="2038725"/>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2" name="Google Shape;232;p23"/>
          <p:cNvSpPr txBox="1"/>
          <p:nvPr/>
        </p:nvSpPr>
        <p:spPr>
          <a:xfrm>
            <a:off x="1288741" y="2240832"/>
            <a:ext cx="1154354" cy="29610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995">
                <a:solidFill>
                  <a:srgbClr val="FFFFFF"/>
                </a:solidFill>
                <a:latin typeface="Montserrat"/>
                <a:ea typeface="Montserrat"/>
                <a:cs typeface="Montserrat"/>
                <a:sym typeface="Montserrat"/>
              </a:rPr>
              <a:t>Team size:</a:t>
            </a:r>
            <a:endParaRPr/>
          </a:p>
        </p:txBody>
      </p:sp>
      <p:sp>
        <p:nvSpPr>
          <p:cNvPr id="233" name="Google Shape;233;p23"/>
          <p:cNvSpPr txBox="1"/>
          <p:nvPr>
            <p:ph idx="6" type="body"/>
          </p:nvPr>
        </p:nvSpPr>
        <p:spPr>
          <a:xfrm>
            <a:off x="1984171" y="2310085"/>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4" name="Google Shape;234;p23"/>
          <p:cNvSpPr txBox="1"/>
          <p:nvPr>
            <p:ph idx="7" type="body"/>
          </p:nvPr>
        </p:nvSpPr>
        <p:spPr>
          <a:xfrm>
            <a:off x="1073922" y="1112009"/>
            <a:ext cx="3593565" cy="616173"/>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26"/>
              </a:spcBef>
              <a:spcAft>
                <a:spcPts val="0"/>
              </a:spcAft>
              <a:buClr>
                <a:srgbClr val="FFFFFF"/>
              </a:buClr>
              <a:buSzPts val="1628"/>
              <a:buFont typeface="Arial"/>
              <a:buNone/>
              <a:defRPr b="1" i="0" sz="1628"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5" name="Google Shape;235;p23"/>
          <p:cNvSpPr txBox="1"/>
          <p:nvPr>
            <p:ph idx="8" type="body"/>
          </p:nvPr>
        </p:nvSpPr>
        <p:spPr>
          <a:xfrm>
            <a:off x="970650" y="3065510"/>
            <a:ext cx="4205673" cy="243637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262"/>
              </a:spcBef>
              <a:spcAft>
                <a:spcPts val="0"/>
              </a:spcAft>
              <a:buClr>
                <a:schemeClr val="dk1"/>
              </a:buClr>
              <a:buSzPts val="1309"/>
              <a:buFont typeface="Arial"/>
              <a:buNone/>
              <a:defRPr b="0" i="0" sz="1309" u="none" cap="none" strike="noStrike">
                <a:solidFill>
                  <a:schemeClr val="dk1"/>
                </a:solidFill>
                <a:latin typeface="Calibri"/>
                <a:ea typeface="Calibri"/>
                <a:cs typeface="Calibri"/>
                <a:sym typeface="Calibri"/>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6" name="Google Shape;236;p23"/>
          <p:cNvSpPr txBox="1"/>
          <p:nvPr>
            <p:ph idx="9" type="body"/>
          </p:nvPr>
        </p:nvSpPr>
        <p:spPr>
          <a:xfrm>
            <a:off x="5645854" y="1530935"/>
            <a:ext cx="5417550" cy="2413770"/>
          </a:xfrm>
          <a:prstGeom prst="rect">
            <a:avLst/>
          </a:prstGeom>
          <a:noFill/>
          <a:ln>
            <a:noFill/>
          </a:ln>
        </p:spPr>
        <p:txBody>
          <a:bodyPr anchorCtr="0" anchor="t" bIns="45700" lIns="91425" spcFirstLastPara="1" rIns="91425" wrap="square" tIns="45700">
            <a:normAutofit/>
          </a:bodyPr>
          <a:lstStyle>
            <a:lvl1pPr indent="-301308" lvl="0" marL="457200" marR="0" rtl="0" algn="l">
              <a:spcBef>
                <a:spcPts val="229"/>
              </a:spcBef>
              <a:spcAft>
                <a:spcPts val="0"/>
              </a:spcAft>
              <a:buClr>
                <a:schemeClr val="dk1"/>
              </a:buClr>
              <a:buSzPts val="1145"/>
              <a:buFont typeface="Arial"/>
              <a:buChar char="•"/>
              <a:defRPr b="0" i="0" sz="1145" u="none" cap="none" strike="noStrike">
                <a:solidFill>
                  <a:schemeClr val="dk1"/>
                </a:solidFill>
                <a:latin typeface="Calibri"/>
                <a:ea typeface="Calibri"/>
                <a:cs typeface="Calibri"/>
                <a:sym typeface="Calibri"/>
              </a:defRPr>
            </a:lvl1pPr>
            <a:lvl2pPr indent="-301307" lvl="1" marL="9144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2pPr>
            <a:lvl3pPr indent="-301307" lvl="2" marL="13716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3pPr>
            <a:lvl4pPr indent="-301307" lvl="3" marL="18288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4pPr>
            <a:lvl5pPr indent="-301308" lvl="4" marL="22860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7" name="Google Shape;237;p23"/>
          <p:cNvSpPr txBox="1"/>
          <p:nvPr>
            <p:ph idx="13" type="body"/>
          </p:nvPr>
        </p:nvSpPr>
        <p:spPr>
          <a:xfrm>
            <a:off x="5645854" y="4741376"/>
            <a:ext cx="5417550" cy="1767926"/>
          </a:xfrm>
          <a:prstGeom prst="rect">
            <a:avLst/>
          </a:prstGeom>
          <a:noFill/>
          <a:ln>
            <a:noFill/>
          </a:ln>
        </p:spPr>
        <p:txBody>
          <a:bodyPr anchorCtr="0" anchor="t" bIns="45700" lIns="91425" spcFirstLastPara="1" rIns="91425" wrap="square" tIns="45700">
            <a:normAutofit/>
          </a:bodyPr>
          <a:lstStyle>
            <a:lvl1pPr indent="-301308" lvl="0" marL="457200" marR="0" rtl="0" algn="l">
              <a:spcBef>
                <a:spcPts val="229"/>
              </a:spcBef>
              <a:spcAft>
                <a:spcPts val="0"/>
              </a:spcAft>
              <a:buClr>
                <a:schemeClr val="dk1"/>
              </a:buClr>
              <a:buSzPts val="1145"/>
              <a:buFont typeface="Arial"/>
              <a:buChar char="•"/>
              <a:defRPr b="0" i="0" sz="1145" u="none" cap="none" strike="noStrike">
                <a:solidFill>
                  <a:schemeClr val="dk1"/>
                </a:solidFill>
                <a:latin typeface="Calibri"/>
                <a:ea typeface="Calibri"/>
                <a:cs typeface="Calibri"/>
                <a:sym typeface="Calibri"/>
              </a:defRPr>
            </a:lvl1pPr>
            <a:lvl2pPr indent="-301307" lvl="1" marL="9144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2pPr>
            <a:lvl3pPr indent="-301307" lvl="2" marL="13716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3pPr>
            <a:lvl4pPr indent="-301307" lvl="3" marL="18288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4pPr>
            <a:lvl5pPr indent="-301308" lvl="4" marL="22860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8" name="Google Shape;238;p23"/>
          <p:cNvSpPr txBox="1"/>
          <p:nvPr>
            <p:ph idx="14" type="body"/>
          </p:nvPr>
        </p:nvSpPr>
        <p:spPr>
          <a:xfrm>
            <a:off x="952063" y="479299"/>
            <a:ext cx="10111341" cy="339306"/>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1D9AD6"/>
              </a:buClr>
              <a:buSzPts val="2000"/>
              <a:buFont typeface="Arial"/>
              <a:buNone/>
              <a:defRPr b="1" i="0" sz="2000" u="none" cap="none" strike="noStrike">
                <a:solidFill>
                  <a:srgbClr val="1D9AD6"/>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9" name="Google Shape;239;p23"/>
          <p:cNvSpPr txBox="1"/>
          <p:nvPr>
            <p:ph idx="15" type="body"/>
          </p:nvPr>
        </p:nvSpPr>
        <p:spPr>
          <a:xfrm>
            <a:off x="1097231" y="5810983"/>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rgbClr val="0874EA"/>
              </a:buClr>
              <a:buSzPts val="1473"/>
              <a:buFont typeface="Arial"/>
              <a:buNone/>
              <a:defRPr b="1" i="0" sz="1473" u="none" cap="none" strike="noStrike">
                <a:solidFill>
                  <a:srgbClr val="0874EA"/>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40" name="Google Shape;240;p23"/>
          <p:cNvSpPr txBox="1"/>
          <p:nvPr>
            <p:ph idx="16" type="body"/>
          </p:nvPr>
        </p:nvSpPr>
        <p:spPr>
          <a:xfrm>
            <a:off x="3898961" y="5794780"/>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rgbClr val="0874EA"/>
              </a:buClr>
              <a:buSzPts val="1473"/>
              <a:buFont typeface="Arial"/>
              <a:buNone/>
              <a:defRPr b="1" i="0" sz="1473" u="none" cap="none" strike="noStrike">
                <a:solidFill>
                  <a:srgbClr val="0874EA"/>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41" name="Google Shape;241;p23"/>
          <p:cNvSpPr txBox="1"/>
          <p:nvPr>
            <p:ph idx="17" type="body"/>
          </p:nvPr>
        </p:nvSpPr>
        <p:spPr>
          <a:xfrm>
            <a:off x="2493364" y="5810983"/>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chemeClr val="lt1"/>
              </a:buClr>
              <a:buSzPts val="1473"/>
              <a:buFont typeface="Arial"/>
              <a:buNone/>
              <a:defRPr b="1" i="0" sz="1473" u="none" cap="none" strike="noStrike">
                <a:solidFill>
                  <a:schemeClr val="lt1"/>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42" name="Google Shape;242;p23"/>
          <p:cNvSpPr/>
          <p:nvPr/>
        </p:nvSpPr>
        <p:spPr>
          <a:xfrm>
            <a:off x="1" y="522514"/>
            <a:ext cx="790575" cy="296092"/>
          </a:xfrm>
          <a:prstGeom prst="rect">
            <a:avLst/>
          </a:prstGeom>
          <a:solidFill>
            <a:srgbClr val="2E6F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43" name="Google Shape;243;p23"/>
          <p:cNvPicPr preferRelativeResize="0"/>
          <p:nvPr/>
        </p:nvPicPr>
        <p:blipFill rotWithShape="1">
          <a:blip r:embed="rId4">
            <a:alphaModFix/>
          </a:blip>
          <a:srcRect b="0" l="0" r="0" t="0"/>
          <a:stretch/>
        </p:blipFill>
        <p:spPr>
          <a:xfrm>
            <a:off x="10083298" y="552271"/>
            <a:ext cx="1135566" cy="306747"/>
          </a:xfrm>
          <a:prstGeom prst="rect">
            <a:avLst/>
          </a:prstGeom>
          <a:noFill/>
          <a:ln>
            <a:noFill/>
          </a:ln>
        </p:spPr>
      </p:pic>
      <p:sp>
        <p:nvSpPr>
          <p:cNvPr id="244" name="Google Shape;244;p23"/>
          <p:cNvSpPr/>
          <p:nvPr/>
        </p:nvSpPr>
        <p:spPr>
          <a:xfrm rot="-5400000">
            <a:off x="5909233" y="580294"/>
            <a:ext cx="365760" cy="12199777"/>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latin typeface="Calibri"/>
              <a:ea typeface="Calibri"/>
              <a:cs typeface="Calibri"/>
              <a:sym typeface="Calibri"/>
            </a:endParaRPr>
          </a:p>
        </p:txBody>
      </p:sp>
      <p:pic>
        <p:nvPicPr>
          <p:cNvPr id="245" name="Google Shape;245;p23"/>
          <p:cNvPicPr preferRelativeResize="0"/>
          <p:nvPr/>
        </p:nvPicPr>
        <p:blipFill rotWithShape="1">
          <a:blip r:embed="rId5">
            <a:alphaModFix/>
          </a:blip>
          <a:srcRect b="0" l="0" r="0" t="0"/>
          <a:stretch/>
        </p:blipFill>
        <p:spPr>
          <a:xfrm>
            <a:off x="10761999" y="6555937"/>
            <a:ext cx="1119493" cy="24384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246" name="Shape 246"/>
        <p:cNvGrpSpPr/>
        <p:nvPr/>
      </p:nvGrpSpPr>
      <p:grpSpPr>
        <a:xfrm>
          <a:off x="0" y="0"/>
          <a:ext cx="0" cy="0"/>
          <a:chOff x="0" y="0"/>
          <a:chExt cx="0" cy="0"/>
        </a:xfrm>
      </p:grpSpPr>
      <p:sp>
        <p:nvSpPr>
          <p:cNvPr id="247" name="Google Shape;247;p24"/>
          <p:cNvSpPr txBox="1"/>
          <p:nvPr>
            <p:ph idx="1" type="body"/>
          </p:nvPr>
        </p:nvSpPr>
        <p:spPr>
          <a:xfrm>
            <a:off x="323530" y="339510"/>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1080"/>
              </a:spcBef>
              <a:spcAft>
                <a:spcPts val="0"/>
              </a:spcAft>
              <a:buClr>
                <a:srgbClr val="262626"/>
              </a:buClr>
              <a:buSzPts val="5400"/>
              <a:buFont typeface="Arial"/>
              <a:buNone/>
              <a:defRPr b="0" i="0" sz="5400" u="none" cap="none" strike="noStrike">
                <a:solidFill>
                  <a:srgbClr val="262626"/>
                </a:solidFill>
                <a:latin typeface="Calibri"/>
                <a:ea typeface="Calibri"/>
                <a:cs typeface="Calibri"/>
                <a:sym typeface="Calibri"/>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48" name="Google Shape;248;p24"/>
          <p:cNvSpPr/>
          <p:nvPr>
            <p:ph idx="2" type="pic"/>
          </p:nvPr>
        </p:nvSpPr>
        <p:spPr>
          <a:xfrm>
            <a:off x="3650190" y="1769412"/>
            <a:ext cx="2124000" cy="2095028"/>
          </a:xfrm>
          <a:prstGeom prst="rect">
            <a:avLst/>
          </a:prstGeom>
          <a:solidFill>
            <a:srgbClr val="F2F2F2"/>
          </a:solidFill>
          <a:ln>
            <a:noFill/>
          </a:ln>
        </p:spPr>
      </p:sp>
      <p:sp>
        <p:nvSpPr>
          <p:cNvPr id="249" name="Google Shape;249;p24"/>
          <p:cNvSpPr/>
          <p:nvPr>
            <p:ph idx="3" type="pic"/>
          </p:nvPr>
        </p:nvSpPr>
        <p:spPr>
          <a:xfrm>
            <a:off x="6403397" y="1769412"/>
            <a:ext cx="2124000" cy="2095028"/>
          </a:xfrm>
          <a:prstGeom prst="rect">
            <a:avLst/>
          </a:prstGeom>
          <a:solidFill>
            <a:srgbClr val="F2F2F2"/>
          </a:solidFill>
          <a:ln>
            <a:noFill/>
          </a:ln>
        </p:spPr>
      </p:sp>
      <p:sp>
        <p:nvSpPr>
          <p:cNvPr id="250" name="Google Shape;250;p24"/>
          <p:cNvSpPr/>
          <p:nvPr>
            <p:ph idx="4" type="pic"/>
          </p:nvPr>
        </p:nvSpPr>
        <p:spPr>
          <a:xfrm>
            <a:off x="9156603" y="1769412"/>
            <a:ext cx="2124000" cy="2095028"/>
          </a:xfrm>
          <a:prstGeom prst="rect">
            <a:avLst/>
          </a:prstGeom>
          <a:solidFill>
            <a:srgbClr val="F2F2F2"/>
          </a:solidFill>
          <a:ln>
            <a:noFill/>
          </a:ln>
        </p:spPr>
      </p:sp>
      <p:sp>
        <p:nvSpPr>
          <p:cNvPr id="251" name="Google Shape;251;p24"/>
          <p:cNvSpPr/>
          <p:nvPr>
            <p:ph idx="5" type="pic"/>
          </p:nvPr>
        </p:nvSpPr>
        <p:spPr>
          <a:xfrm>
            <a:off x="896983" y="1769412"/>
            <a:ext cx="2124000" cy="2095028"/>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ontents slide layout">
  <p:cSld name="18_Contents slide layout">
    <p:bg>
      <p:bgPr>
        <a:solidFill>
          <a:schemeClr val="lt1"/>
        </a:solidFill>
      </p:bgPr>
    </p:bg>
    <p:spTree>
      <p:nvGrpSpPr>
        <p:cNvPr id="252" name="Shape 252"/>
        <p:cNvGrpSpPr/>
        <p:nvPr/>
      </p:nvGrpSpPr>
      <p:grpSpPr>
        <a:xfrm>
          <a:off x="0" y="0"/>
          <a:ext cx="0" cy="0"/>
          <a:chOff x="0" y="0"/>
          <a:chExt cx="0" cy="0"/>
        </a:xfrm>
      </p:grpSpPr>
      <p:sp>
        <p:nvSpPr>
          <p:cNvPr id="253" name="Google Shape;253;p25"/>
          <p:cNvSpPr/>
          <p:nvPr>
            <p:ph idx="2" type="pic"/>
          </p:nvPr>
        </p:nvSpPr>
        <p:spPr>
          <a:xfrm>
            <a:off x="5622522" y="0"/>
            <a:ext cx="6569479" cy="6858000"/>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54" name="Shape 254"/>
        <p:cNvGrpSpPr/>
        <p:nvPr/>
      </p:nvGrpSpPr>
      <p:grpSpPr>
        <a:xfrm>
          <a:off x="0" y="0"/>
          <a:ext cx="0" cy="0"/>
          <a:chOff x="0" y="0"/>
          <a:chExt cx="0" cy="0"/>
        </a:xfrm>
      </p:grpSpPr>
      <p:sp>
        <p:nvSpPr>
          <p:cNvPr id="255" name="Google Shape;255;p26"/>
          <p:cNvSpPr txBox="1"/>
          <p:nvPr>
            <p:ph type="title"/>
          </p:nvPr>
        </p:nvSpPr>
        <p:spPr>
          <a:xfrm>
            <a:off x="6586267" y="1717682"/>
            <a:ext cx="2540400" cy="1294000"/>
          </a:xfrm>
          <a:prstGeom prst="rect">
            <a:avLst/>
          </a:prstGeom>
          <a:noFill/>
          <a:ln>
            <a:noFill/>
          </a:ln>
        </p:spPr>
        <p:txBody>
          <a:bodyPr anchorCtr="0" anchor="b" bIns="91425" lIns="91425" spcFirstLastPara="1" rIns="91425" wrap="square" tIns="91425">
            <a:noAutofit/>
          </a:bodyPr>
          <a:lstStyle>
            <a:lvl1pPr lvl="0" marR="0" rtl="0" algn="ctr">
              <a:spcBef>
                <a:spcPts val="0"/>
              </a:spcBef>
              <a:spcAft>
                <a:spcPts val="0"/>
              </a:spcAft>
              <a:buClr>
                <a:schemeClr val="dk1"/>
              </a:buClr>
              <a:buSzPts val="2400"/>
              <a:buFont typeface="Calibri"/>
              <a:buNone/>
              <a:defRPr b="0" i="0" sz="3980" u="none" cap="none" strike="noStrike">
                <a:solidFill>
                  <a:schemeClr val="dk1"/>
                </a:solidFill>
                <a:latin typeface="Calibri"/>
                <a:ea typeface="Calibri"/>
                <a:cs typeface="Calibri"/>
                <a:sym typeface="Calibri"/>
              </a:defRPr>
            </a:lvl1pPr>
            <a:lvl2pPr lvl="1">
              <a:spcBef>
                <a:spcPts val="0"/>
              </a:spcBef>
              <a:spcAft>
                <a:spcPts val="0"/>
              </a:spcAft>
              <a:buSzPts val="2400"/>
              <a:buFont typeface="Arial"/>
              <a:buNone/>
              <a:defRPr sz="3200"/>
            </a:lvl2pPr>
            <a:lvl3pPr lvl="2">
              <a:spcBef>
                <a:spcPts val="0"/>
              </a:spcBef>
              <a:spcAft>
                <a:spcPts val="0"/>
              </a:spcAft>
              <a:buSzPts val="2400"/>
              <a:buFont typeface="Arial"/>
              <a:buNone/>
              <a:defRPr sz="3200"/>
            </a:lvl3pPr>
            <a:lvl4pPr lvl="3">
              <a:spcBef>
                <a:spcPts val="0"/>
              </a:spcBef>
              <a:spcAft>
                <a:spcPts val="0"/>
              </a:spcAft>
              <a:buSzPts val="2400"/>
              <a:buFont typeface="Arial"/>
              <a:buNone/>
              <a:defRPr sz="3200"/>
            </a:lvl4pPr>
            <a:lvl5pPr lvl="4">
              <a:spcBef>
                <a:spcPts val="0"/>
              </a:spcBef>
              <a:spcAft>
                <a:spcPts val="0"/>
              </a:spcAft>
              <a:buSzPts val="2400"/>
              <a:buFont typeface="Arial"/>
              <a:buNone/>
              <a:defRPr sz="3200"/>
            </a:lvl5pPr>
            <a:lvl6pPr lvl="5">
              <a:spcBef>
                <a:spcPts val="0"/>
              </a:spcBef>
              <a:spcAft>
                <a:spcPts val="0"/>
              </a:spcAft>
              <a:buSzPts val="2400"/>
              <a:buFont typeface="Arial"/>
              <a:buNone/>
              <a:defRPr sz="3200"/>
            </a:lvl6pPr>
            <a:lvl7pPr lvl="6">
              <a:spcBef>
                <a:spcPts val="0"/>
              </a:spcBef>
              <a:spcAft>
                <a:spcPts val="0"/>
              </a:spcAft>
              <a:buSzPts val="2400"/>
              <a:buFont typeface="Arial"/>
              <a:buNone/>
              <a:defRPr sz="3200"/>
            </a:lvl7pPr>
            <a:lvl8pPr lvl="7">
              <a:spcBef>
                <a:spcPts val="0"/>
              </a:spcBef>
              <a:spcAft>
                <a:spcPts val="0"/>
              </a:spcAft>
              <a:buSzPts val="2400"/>
              <a:buFont typeface="Arial"/>
              <a:buNone/>
              <a:defRPr sz="3200"/>
            </a:lvl8pPr>
            <a:lvl9pPr lvl="8">
              <a:spcBef>
                <a:spcPts val="0"/>
              </a:spcBef>
              <a:spcAft>
                <a:spcPts val="0"/>
              </a:spcAft>
              <a:buSzPts val="2400"/>
              <a:buFont typeface="Arial"/>
              <a:buNone/>
              <a:defRPr sz="3200"/>
            </a:lvl9pPr>
          </a:lstStyle>
          <a:p/>
        </p:txBody>
      </p:sp>
      <p:sp>
        <p:nvSpPr>
          <p:cNvPr id="256" name="Google Shape;256;p26"/>
          <p:cNvSpPr txBox="1"/>
          <p:nvPr>
            <p:ph idx="1" type="body"/>
          </p:nvPr>
        </p:nvSpPr>
        <p:spPr>
          <a:xfrm>
            <a:off x="6586267" y="2910051"/>
            <a:ext cx="2540400" cy="2404800"/>
          </a:xfrm>
          <a:prstGeom prst="rect">
            <a:avLst/>
          </a:prstGeom>
          <a:noFill/>
          <a:ln>
            <a:noFill/>
          </a:ln>
        </p:spPr>
        <p:txBody>
          <a:bodyPr anchorCtr="0" anchor="t" bIns="91425" lIns="91425" spcFirstLastPara="1" rIns="91425" wrap="square" tIns="91425">
            <a:noAutofit/>
          </a:bodyPr>
          <a:lstStyle>
            <a:lvl1pPr indent="-317500" lvl="0" marL="457200" marR="0" rtl="0" algn="l">
              <a:spcBef>
                <a:spcPts val="0"/>
              </a:spcBef>
              <a:spcAft>
                <a:spcPts val="0"/>
              </a:spcAft>
              <a:buClr>
                <a:schemeClr val="dk1"/>
              </a:buClr>
              <a:buSzPts val="1400"/>
              <a:buFont typeface="Arial"/>
              <a:buChar char="●"/>
              <a:defRPr b="0" i="0" sz="2894" u="none" cap="none" strike="noStrike">
                <a:solidFill>
                  <a:schemeClr val="dk1"/>
                </a:solidFill>
                <a:latin typeface="Calibri"/>
                <a:ea typeface="Calibri"/>
                <a:cs typeface="Calibri"/>
                <a:sym typeface="Calibri"/>
              </a:defRPr>
            </a:lvl1pPr>
            <a:lvl2pPr indent="-317500" lvl="1" marL="914400" marR="0" rtl="0" algn="l">
              <a:spcBef>
                <a:spcPts val="0"/>
              </a:spcBef>
              <a:spcAft>
                <a:spcPts val="0"/>
              </a:spcAft>
              <a:buClr>
                <a:schemeClr val="dk1"/>
              </a:buClr>
              <a:buSzPts val="1400"/>
              <a:buFont typeface="Arial"/>
              <a:buChar char="○"/>
              <a:defRPr b="0" i="0" sz="2533" u="none" cap="none" strike="noStrike">
                <a:solidFill>
                  <a:schemeClr val="dk1"/>
                </a:solidFill>
                <a:latin typeface="Calibri"/>
                <a:ea typeface="Calibri"/>
                <a:cs typeface="Calibri"/>
                <a:sym typeface="Calibri"/>
              </a:defRPr>
            </a:lvl2pPr>
            <a:lvl3pPr indent="-317500" lvl="2" marL="1371600" marR="0" rtl="0" algn="l">
              <a:spcBef>
                <a:spcPts val="2133"/>
              </a:spcBef>
              <a:spcAft>
                <a:spcPts val="0"/>
              </a:spcAft>
              <a:buClr>
                <a:schemeClr val="dk1"/>
              </a:buClr>
              <a:buSzPts val="1400"/>
              <a:buFont typeface="Arial"/>
              <a:buChar char="■"/>
              <a:defRPr b="0" i="0" sz="2171" u="none" cap="none" strike="noStrike">
                <a:solidFill>
                  <a:schemeClr val="dk1"/>
                </a:solidFill>
                <a:latin typeface="Calibri"/>
                <a:ea typeface="Calibri"/>
                <a:cs typeface="Calibri"/>
                <a:sym typeface="Calibri"/>
              </a:defRPr>
            </a:lvl3pPr>
            <a:lvl4pPr indent="-317500" lvl="3" marL="18288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4pPr>
            <a:lvl5pPr indent="-317500" lvl="4" marL="22860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5pPr>
            <a:lvl6pPr indent="-317500" lvl="5" marL="27432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6pPr>
            <a:lvl7pPr indent="-317500" lvl="6" marL="32004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7pPr>
            <a:lvl8pPr indent="-317500" lvl="7" marL="36576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8pPr>
            <a:lvl9pPr indent="-317500" lvl="8" marL="4114800" marR="0" rtl="0" algn="l">
              <a:spcBef>
                <a:spcPts val="2133"/>
              </a:spcBef>
              <a:spcAft>
                <a:spcPts val="2133"/>
              </a:spcAft>
              <a:buClr>
                <a:schemeClr val="dk1"/>
              </a:buClr>
              <a:buSzPts val="1400"/>
              <a:buFont typeface="Arial"/>
              <a:buChar char="■"/>
              <a:defRPr b="0" i="0" sz="1809" u="none" cap="none" strike="noStrike">
                <a:solidFill>
                  <a:schemeClr val="dk1"/>
                </a:solidFill>
                <a:latin typeface="Calibri"/>
                <a:ea typeface="Calibri"/>
                <a:cs typeface="Calibri"/>
                <a:sym typeface="Calibri"/>
              </a:defRPr>
            </a:lvl9pPr>
          </a:lstStyle>
          <a:p/>
        </p:txBody>
      </p:sp>
      <p:sp>
        <p:nvSpPr>
          <p:cNvPr id="257" name="Google Shape;257;p2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258" name="Shape 258"/>
        <p:cNvGrpSpPr/>
        <p:nvPr/>
      </p:nvGrpSpPr>
      <p:grpSpPr>
        <a:xfrm>
          <a:off x="0" y="0"/>
          <a:ext cx="0" cy="0"/>
          <a:chOff x="0" y="0"/>
          <a:chExt cx="0" cy="0"/>
        </a:xfrm>
      </p:grpSpPr>
      <p:sp>
        <p:nvSpPr>
          <p:cNvPr id="259" name="Google Shape;259;p27"/>
          <p:cNvSpPr txBox="1"/>
          <p:nvPr>
            <p:ph type="title"/>
          </p:nvPr>
        </p:nvSpPr>
        <p:spPr>
          <a:xfrm>
            <a:off x="560070" y="373644"/>
            <a:ext cx="11403330" cy="64008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Clr>
                <a:srgbClr val="155DF5"/>
              </a:buClr>
              <a:buSzPts val="3000"/>
              <a:buFont typeface="Calibri"/>
              <a:buNone/>
              <a:defRPr b="1" i="0" sz="3200" u="none" cap="none" strike="noStrike">
                <a:solidFill>
                  <a:srgbClr val="155DF5"/>
                </a:solidFill>
                <a:latin typeface="Calibri"/>
                <a:ea typeface="Calibri"/>
                <a:cs typeface="Calibri"/>
                <a:sym typeface="Calibri"/>
              </a:defRPr>
            </a:lvl1pPr>
            <a:lvl2pPr lvl="1" rtl="0">
              <a:spcBef>
                <a:spcPts val="0"/>
              </a:spcBef>
              <a:spcAft>
                <a:spcPts val="0"/>
              </a:spcAft>
              <a:buSzPts val="3500"/>
              <a:buFont typeface="Arial"/>
              <a:buNone/>
              <a:defRPr sz="1800"/>
            </a:lvl2pPr>
            <a:lvl3pPr lvl="2" rtl="0">
              <a:spcBef>
                <a:spcPts val="0"/>
              </a:spcBef>
              <a:spcAft>
                <a:spcPts val="0"/>
              </a:spcAft>
              <a:buSzPts val="3500"/>
              <a:buFont typeface="Arial"/>
              <a:buNone/>
              <a:defRPr sz="1800"/>
            </a:lvl3pPr>
            <a:lvl4pPr lvl="3" rtl="0">
              <a:spcBef>
                <a:spcPts val="0"/>
              </a:spcBef>
              <a:spcAft>
                <a:spcPts val="0"/>
              </a:spcAft>
              <a:buSzPts val="3500"/>
              <a:buFont typeface="Arial"/>
              <a:buNone/>
              <a:defRPr sz="1800"/>
            </a:lvl4pPr>
            <a:lvl5pPr lvl="4" rtl="0">
              <a:spcBef>
                <a:spcPts val="0"/>
              </a:spcBef>
              <a:spcAft>
                <a:spcPts val="0"/>
              </a:spcAft>
              <a:buSzPts val="3500"/>
              <a:buFont typeface="Arial"/>
              <a:buNone/>
              <a:defRPr sz="1800"/>
            </a:lvl5pPr>
            <a:lvl6pPr lvl="5" rtl="0">
              <a:spcBef>
                <a:spcPts val="0"/>
              </a:spcBef>
              <a:spcAft>
                <a:spcPts val="0"/>
              </a:spcAft>
              <a:buSzPts val="3500"/>
              <a:buFont typeface="Arial"/>
              <a:buNone/>
              <a:defRPr sz="1800"/>
            </a:lvl6pPr>
            <a:lvl7pPr lvl="6" rtl="0">
              <a:spcBef>
                <a:spcPts val="0"/>
              </a:spcBef>
              <a:spcAft>
                <a:spcPts val="0"/>
              </a:spcAft>
              <a:buSzPts val="3500"/>
              <a:buFont typeface="Arial"/>
              <a:buNone/>
              <a:defRPr sz="1800"/>
            </a:lvl7pPr>
            <a:lvl8pPr lvl="7" rtl="0">
              <a:spcBef>
                <a:spcPts val="0"/>
              </a:spcBef>
              <a:spcAft>
                <a:spcPts val="0"/>
              </a:spcAft>
              <a:buSzPts val="3500"/>
              <a:buFont typeface="Arial"/>
              <a:buNone/>
              <a:defRPr sz="1800"/>
            </a:lvl8pPr>
            <a:lvl9pPr lvl="8" rtl="0">
              <a:spcBef>
                <a:spcPts val="0"/>
              </a:spcBef>
              <a:spcAft>
                <a:spcPts val="0"/>
              </a:spcAft>
              <a:buSzPts val="3500"/>
              <a:buFont typeface="Arial"/>
              <a:buNone/>
              <a:defRPr sz="1800"/>
            </a:lvl9pPr>
          </a:lstStyle>
          <a:p/>
        </p:txBody>
      </p:sp>
      <p:pic>
        <p:nvPicPr>
          <p:cNvPr id="260" name="Google Shape;260;p27"/>
          <p:cNvPicPr preferRelativeResize="0"/>
          <p:nvPr/>
        </p:nvPicPr>
        <p:blipFill rotWithShape="1">
          <a:blip r:embed="rId2">
            <a:alphaModFix/>
          </a:blip>
          <a:srcRect b="34827" l="0" r="-24" t="34881"/>
          <a:stretch/>
        </p:blipFill>
        <p:spPr>
          <a:xfrm>
            <a:off x="10905270" y="486350"/>
            <a:ext cx="1225892" cy="371347"/>
          </a:xfrm>
          <a:prstGeom prst="rect">
            <a:avLst/>
          </a:prstGeom>
          <a:noFill/>
          <a:ln>
            <a:noFill/>
          </a:ln>
        </p:spPr>
      </p:pic>
      <p:sp>
        <p:nvSpPr>
          <p:cNvPr id="261" name="Google Shape;261;p27"/>
          <p:cNvSpPr/>
          <p:nvPr/>
        </p:nvSpPr>
        <p:spPr>
          <a:xfrm>
            <a:off x="1" y="6585628"/>
            <a:ext cx="1060314" cy="272372"/>
          </a:xfrm>
          <a:custGeom>
            <a:rect b="b" l="l" r="r" t="t"/>
            <a:pathLst>
              <a:path extrusionOk="0" h="272372" w="1060314">
                <a:moveTo>
                  <a:pt x="0" y="0"/>
                </a:moveTo>
                <a:lnTo>
                  <a:pt x="924128" y="0"/>
                </a:lnTo>
                <a:cubicBezTo>
                  <a:pt x="1002860" y="152"/>
                  <a:pt x="1060163" y="66978"/>
                  <a:pt x="1060314" y="136186"/>
                </a:cubicBezTo>
                <a:lnTo>
                  <a:pt x="1060314" y="272372"/>
                </a:lnTo>
                <a:lnTo>
                  <a:pt x="0" y="272372"/>
                </a:lnTo>
                <a:lnTo>
                  <a:pt x="0" y="0"/>
                </a:lnTo>
                <a:close/>
              </a:path>
            </a:pathLst>
          </a:custGeom>
          <a:solidFill>
            <a:srgbClr val="176CF3"/>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cmc-apac.sg</a:t>
            </a:r>
            <a:endParaRPr/>
          </a:p>
        </p:txBody>
      </p:sp>
      <p:sp>
        <p:nvSpPr>
          <p:cNvPr id="262" name="Google Shape;262;p27"/>
          <p:cNvSpPr/>
          <p:nvPr/>
        </p:nvSpPr>
        <p:spPr>
          <a:xfrm flipH="1">
            <a:off x="11747383" y="6585628"/>
            <a:ext cx="444616" cy="272372"/>
          </a:xfrm>
          <a:custGeom>
            <a:rect b="b" l="l" r="r" t="t"/>
            <a:pathLst>
              <a:path extrusionOk="0" h="272372" w="444616">
                <a:moveTo>
                  <a:pt x="0" y="0"/>
                </a:moveTo>
                <a:lnTo>
                  <a:pt x="308430" y="0"/>
                </a:lnTo>
                <a:cubicBezTo>
                  <a:pt x="396688" y="152"/>
                  <a:pt x="444464" y="40787"/>
                  <a:pt x="444616" y="136186"/>
                </a:cubicBezTo>
                <a:lnTo>
                  <a:pt x="444616" y="272372"/>
                </a:lnTo>
                <a:lnTo>
                  <a:pt x="0" y="272372"/>
                </a:lnTo>
                <a:lnTo>
                  <a:pt x="0" y="0"/>
                </a:lnTo>
                <a:close/>
              </a:path>
            </a:pathLst>
          </a:custGeom>
          <a:solidFill>
            <a:srgbClr val="176CF3"/>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t/>
            </a:r>
            <a:endParaRPr sz="1200">
              <a:solidFill>
                <a:schemeClr val="lt1"/>
              </a:solidFill>
              <a:latin typeface="Calibri"/>
              <a:ea typeface="Calibri"/>
              <a:cs typeface="Calibri"/>
              <a:sym typeface="Calibri"/>
            </a:endParaRPr>
          </a:p>
        </p:txBody>
      </p:sp>
      <p:sp>
        <p:nvSpPr>
          <p:cNvPr id="263" name="Google Shape;263;p27"/>
          <p:cNvSpPr txBox="1"/>
          <p:nvPr>
            <p:ph idx="12" type="sldNum"/>
          </p:nvPr>
        </p:nvSpPr>
        <p:spPr>
          <a:xfrm>
            <a:off x="11747383" y="6585628"/>
            <a:ext cx="444617" cy="272372"/>
          </a:xfrm>
          <a:prstGeom prst="rect">
            <a:avLst/>
          </a:prstGeom>
          <a:noFill/>
          <a:ln>
            <a:noFill/>
          </a:ln>
        </p:spPr>
        <p:txBody>
          <a:bodyPr anchorCtr="0" anchor="t" bIns="0" lIns="91425" spcFirstLastPara="1" rIns="91425" wrap="square" tIns="0">
            <a:noAutofit/>
          </a:bodyPr>
          <a:lstStyle>
            <a:lvl1pPr indent="0" lvl="0" marL="0" marR="0" rtl="0" algn="l">
              <a:spcBef>
                <a:spcPts val="0"/>
              </a:spcBef>
              <a:buNone/>
              <a:defRPr sz="1000">
                <a:solidFill>
                  <a:schemeClr val="lt1"/>
                </a:solidFill>
                <a:latin typeface="Calibri"/>
                <a:ea typeface="Calibri"/>
                <a:cs typeface="Calibri"/>
                <a:sym typeface="Calibri"/>
              </a:defRPr>
            </a:lvl1pPr>
            <a:lvl2pPr indent="0" lvl="1" marL="0" marR="0" rtl="0" algn="l">
              <a:spcBef>
                <a:spcPts val="0"/>
              </a:spcBef>
              <a:buNone/>
              <a:defRPr sz="1000">
                <a:solidFill>
                  <a:schemeClr val="lt1"/>
                </a:solidFill>
                <a:latin typeface="Calibri"/>
                <a:ea typeface="Calibri"/>
                <a:cs typeface="Calibri"/>
                <a:sym typeface="Calibri"/>
              </a:defRPr>
            </a:lvl2pPr>
            <a:lvl3pPr indent="0" lvl="2" marL="0" marR="0" rtl="0" algn="l">
              <a:spcBef>
                <a:spcPts val="0"/>
              </a:spcBef>
              <a:buNone/>
              <a:defRPr sz="1000">
                <a:solidFill>
                  <a:schemeClr val="lt1"/>
                </a:solidFill>
                <a:latin typeface="Calibri"/>
                <a:ea typeface="Calibri"/>
                <a:cs typeface="Calibri"/>
                <a:sym typeface="Calibri"/>
              </a:defRPr>
            </a:lvl3pPr>
            <a:lvl4pPr indent="0" lvl="3" marL="0" marR="0" rtl="0" algn="l">
              <a:spcBef>
                <a:spcPts val="0"/>
              </a:spcBef>
              <a:buNone/>
              <a:defRPr sz="1000">
                <a:solidFill>
                  <a:schemeClr val="lt1"/>
                </a:solidFill>
                <a:latin typeface="Calibri"/>
                <a:ea typeface="Calibri"/>
                <a:cs typeface="Calibri"/>
                <a:sym typeface="Calibri"/>
              </a:defRPr>
            </a:lvl4pPr>
            <a:lvl5pPr indent="0" lvl="4" marL="0" marR="0" rtl="0" algn="l">
              <a:spcBef>
                <a:spcPts val="0"/>
              </a:spcBef>
              <a:buNone/>
              <a:defRPr sz="1000">
                <a:solidFill>
                  <a:schemeClr val="lt1"/>
                </a:solidFill>
                <a:latin typeface="Calibri"/>
                <a:ea typeface="Calibri"/>
                <a:cs typeface="Calibri"/>
                <a:sym typeface="Calibri"/>
              </a:defRPr>
            </a:lvl5pPr>
            <a:lvl6pPr indent="0" lvl="5" marL="0" marR="0" rtl="0" algn="l">
              <a:spcBef>
                <a:spcPts val="0"/>
              </a:spcBef>
              <a:buNone/>
              <a:defRPr sz="1000">
                <a:solidFill>
                  <a:schemeClr val="lt1"/>
                </a:solidFill>
                <a:latin typeface="Calibri"/>
                <a:ea typeface="Calibri"/>
                <a:cs typeface="Calibri"/>
                <a:sym typeface="Calibri"/>
              </a:defRPr>
            </a:lvl6pPr>
            <a:lvl7pPr indent="0" lvl="6" marL="0" marR="0" rtl="0" algn="l">
              <a:spcBef>
                <a:spcPts val="0"/>
              </a:spcBef>
              <a:buNone/>
              <a:defRPr sz="1000">
                <a:solidFill>
                  <a:schemeClr val="lt1"/>
                </a:solidFill>
                <a:latin typeface="Calibri"/>
                <a:ea typeface="Calibri"/>
                <a:cs typeface="Calibri"/>
                <a:sym typeface="Calibri"/>
              </a:defRPr>
            </a:lvl7pPr>
            <a:lvl8pPr indent="0" lvl="7" marL="0" marR="0" rtl="0" algn="l">
              <a:spcBef>
                <a:spcPts val="0"/>
              </a:spcBef>
              <a:buNone/>
              <a:defRPr sz="1000">
                <a:solidFill>
                  <a:schemeClr val="lt1"/>
                </a:solidFill>
                <a:latin typeface="Calibri"/>
                <a:ea typeface="Calibri"/>
                <a:cs typeface="Calibri"/>
                <a:sym typeface="Calibri"/>
              </a:defRPr>
            </a:lvl8pPr>
            <a:lvl9pPr indent="0" lvl="8" marL="0" marR="0" rtl="0" algn="l">
              <a:spcBef>
                <a:spcPts val="0"/>
              </a:spcBef>
              <a:buNone/>
              <a:defRPr sz="10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64" name="Google Shape;264;p27"/>
          <p:cNvSpPr/>
          <p:nvPr/>
        </p:nvSpPr>
        <p:spPr>
          <a:xfrm>
            <a:off x="0" y="228504"/>
            <a:ext cx="330090" cy="914400"/>
          </a:xfrm>
          <a:custGeom>
            <a:rect b="b" l="l" r="r" t="t"/>
            <a:pathLst>
              <a:path extrusionOk="0" h="914400" w="330090">
                <a:moveTo>
                  <a:pt x="55770" y="0"/>
                </a:moveTo>
                <a:cubicBezTo>
                  <a:pt x="207273" y="0"/>
                  <a:pt x="330090" y="122817"/>
                  <a:pt x="330090" y="274320"/>
                </a:cubicBezTo>
                <a:lnTo>
                  <a:pt x="330090" y="640080"/>
                </a:lnTo>
                <a:cubicBezTo>
                  <a:pt x="330090" y="791583"/>
                  <a:pt x="207273" y="914400"/>
                  <a:pt x="55770" y="914400"/>
                </a:cubicBezTo>
                <a:cubicBezTo>
                  <a:pt x="36832" y="914400"/>
                  <a:pt x="18342" y="912481"/>
                  <a:pt x="485" y="908827"/>
                </a:cubicBezTo>
                <a:lnTo>
                  <a:pt x="0" y="908677"/>
                </a:lnTo>
                <a:lnTo>
                  <a:pt x="0" y="5724"/>
                </a:lnTo>
                <a:lnTo>
                  <a:pt x="485" y="5573"/>
                </a:lnTo>
                <a:cubicBezTo>
                  <a:pt x="18342" y="1919"/>
                  <a:pt x="36832" y="0"/>
                  <a:pt x="55770" y="0"/>
                </a:cubicBezTo>
                <a:close/>
              </a:path>
            </a:pathLst>
          </a:custGeom>
          <a:gradFill>
            <a:gsLst>
              <a:gs pos="0">
                <a:srgbClr val="113CF7"/>
              </a:gs>
              <a:gs pos="100000">
                <a:srgbClr val="1D9AD6"/>
              </a:gs>
            </a:gsLst>
            <a:lin ang="135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28"/>
              <a:buFont typeface="Calibri"/>
              <a:buNone/>
            </a:pPr>
            <a:r>
              <a:t/>
            </a:r>
            <a:endParaRPr b="0" i="0" sz="1628" u="none" cap="none" strike="noStrike">
              <a:solidFill>
                <a:srgbClr val="FFFFFF"/>
              </a:solidFill>
              <a:latin typeface="Calibri"/>
              <a:ea typeface="Calibri"/>
              <a:cs typeface="Calibri"/>
              <a:sym typeface="Calibri"/>
            </a:endParaRPr>
          </a:p>
        </p:txBody>
      </p:sp>
    </p:spTree>
  </p:cSld>
  <p:clrMapOvr>
    <a:masterClrMapping/>
  </p:clrMapOvr>
  <p:extLst>
    <p:ext uri="{DCECCB84-F9BA-43D5-87BE-67443E8EF086}">
      <p15:sldGuideLst>
        <p15:guide id="1" pos="3840">
          <p15:clr>
            <a:srgbClr val="FBAE40"/>
          </p15:clr>
        </p15:guide>
        <p15:guide id="2" orient="horz" pos="2160">
          <p15:clr>
            <a:srgbClr val="FBAE40"/>
          </p15:clr>
        </p15:guide>
        <p15:guide id="3" pos="384">
          <p15:clr>
            <a:srgbClr val="FBAE40"/>
          </p15:clr>
        </p15:guide>
        <p15:guide id="4" pos="7296">
          <p15:clr>
            <a:srgbClr val="FBAE40"/>
          </p15:clr>
        </p15:guide>
        <p15:guide id="5" orient="horz" pos="288">
          <p15:clr>
            <a:srgbClr val="FBAE40"/>
          </p15:clr>
        </p15:guide>
        <p15:guide id="6" orient="horz" pos="4032">
          <p15:clr>
            <a:srgbClr val="FBAE40"/>
          </p15:clr>
        </p15:guide>
        <p15:guide id="7"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With Separation">
  <p:cSld name="3_With Separation">
    <p:spTree>
      <p:nvGrpSpPr>
        <p:cNvPr id="265" name="Shape 265"/>
        <p:cNvGrpSpPr/>
        <p:nvPr/>
      </p:nvGrpSpPr>
      <p:grpSpPr>
        <a:xfrm>
          <a:off x="0" y="0"/>
          <a:ext cx="0" cy="0"/>
          <a:chOff x="0" y="0"/>
          <a:chExt cx="0" cy="0"/>
        </a:xfrm>
      </p:grpSpPr>
      <p:sp>
        <p:nvSpPr>
          <p:cNvPr id="266" name="Google Shape;266;p28"/>
          <p:cNvSpPr/>
          <p:nvPr/>
        </p:nvSpPr>
        <p:spPr>
          <a:xfrm>
            <a:off x="11836452" y="0"/>
            <a:ext cx="360250" cy="6858000"/>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267" name="Google Shape;267;p28"/>
          <p:cNvSpPr txBox="1"/>
          <p:nvPr/>
        </p:nvSpPr>
        <p:spPr>
          <a:xfrm>
            <a:off x="11835747" y="6458579"/>
            <a:ext cx="343364" cy="23160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905">
                <a:solidFill>
                  <a:schemeClr val="lt1"/>
                </a:solidFill>
                <a:latin typeface="Montserrat SemiBold"/>
                <a:ea typeface="Montserrat SemiBold"/>
                <a:cs typeface="Montserrat SemiBold"/>
                <a:sym typeface="Montserrat SemiBold"/>
              </a:rPr>
              <a:t>‹#›</a:t>
            </a:fld>
            <a:endParaRPr sz="905">
              <a:solidFill>
                <a:schemeClr val="lt1"/>
              </a:solidFill>
              <a:latin typeface="Montserrat SemiBold"/>
              <a:ea typeface="Montserrat SemiBold"/>
              <a:cs typeface="Montserrat SemiBold"/>
              <a:sym typeface="Montserrat SemiBold"/>
            </a:endParaRPr>
          </a:p>
        </p:txBody>
      </p:sp>
      <p:pic>
        <p:nvPicPr>
          <p:cNvPr id="268" name="Google Shape;268;p28"/>
          <p:cNvPicPr preferRelativeResize="0"/>
          <p:nvPr/>
        </p:nvPicPr>
        <p:blipFill rotWithShape="1">
          <a:blip r:embed="rId2">
            <a:alphaModFix/>
          </a:blip>
          <a:srcRect b="0" l="0" r="0" t="0"/>
          <a:stretch/>
        </p:blipFill>
        <p:spPr>
          <a:xfrm>
            <a:off x="448392" y="6355531"/>
            <a:ext cx="1422432" cy="309823"/>
          </a:xfrm>
          <a:prstGeom prst="rect">
            <a:avLst/>
          </a:prstGeom>
          <a:noFill/>
          <a:ln>
            <a:noFill/>
          </a:ln>
        </p:spPr>
      </p:pic>
      <p:sp>
        <p:nvSpPr>
          <p:cNvPr id="269" name="Google Shape;269;p28"/>
          <p:cNvSpPr/>
          <p:nvPr/>
        </p:nvSpPr>
        <p:spPr>
          <a:xfrm>
            <a:off x="448390" y="764020"/>
            <a:ext cx="927240" cy="24813"/>
          </a:xfrm>
          <a:prstGeom prst="rect">
            <a:avLst/>
          </a:prstGeom>
          <a:gradFill>
            <a:gsLst>
              <a:gs pos="0">
                <a:srgbClr val="1D9AD6">
                  <a:alpha val="0"/>
                </a:srgbClr>
              </a:gs>
              <a:gs pos="35000">
                <a:srgbClr val="1D9AD6"/>
              </a:gs>
              <a:gs pos="67000">
                <a:srgbClr val="4A9FEA"/>
              </a:gs>
              <a:gs pos="100000">
                <a:srgbClr val="3276F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270" name="Google Shape;270;p28"/>
          <p:cNvSpPr txBox="1"/>
          <p:nvPr>
            <p:ph idx="1" type="body"/>
          </p:nvPr>
        </p:nvSpPr>
        <p:spPr>
          <a:xfrm>
            <a:off x="327371" y="240298"/>
            <a:ext cx="4955203" cy="424732"/>
          </a:xfrm>
          <a:prstGeom prst="rect">
            <a:avLst/>
          </a:prstGeom>
          <a:noFill/>
          <a:ln>
            <a:noFill/>
          </a:ln>
        </p:spPr>
        <p:txBody>
          <a:bodyPr anchorCtr="0" anchor="t" bIns="45700" lIns="91425" spcFirstLastPara="1" rIns="91425" wrap="square" tIns="45700">
            <a:spAutoFit/>
          </a:bodyPr>
          <a:lstStyle>
            <a:lvl1pPr indent="-228600" lvl="0" marL="457200" marR="0" rtl="0" algn="l">
              <a:spcBef>
                <a:spcPts val="480"/>
              </a:spcBef>
              <a:spcAft>
                <a:spcPts val="0"/>
              </a:spcAft>
              <a:buClr>
                <a:srgbClr val="1867DC"/>
              </a:buClr>
              <a:buSzPts val="2400"/>
              <a:buFont typeface="Arial"/>
              <a:buNone/>
              <a:defRPr b="0" i="0" sz="2400" u="none" cap="none" strike="noStrike">
                <a:solidFill>
                  <a:srgbClr val="1867DC"/>
                </a:solidFill>
                <a:latin typeface="Montserrat SemiBold"/>
                <a:ea typeface="Montserrat SemiBold"/>
                <a:cs typeface="Montserrat SemiBold"/>
                <a:sym typeface="Montserrat SemiBold"/>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72" name="Shape 272"/>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3" name="Shape 273"/>
        <p:cNvGrpSpPr/>
        <p:nvPr/>
      </p:nvGrpSpPr>
      <p:grpSpPr>
        <a:xfrm>
          <a:off x="0" y="0"/>
          <a:ext cx="0" cy="0"/>
          <a:chOff x="0" y="0"/>
          <a:chExt cx="0" cy="0"/>
        </a:xfrm>
      </p:grpSpPr>
      <p:sp>
        <p:nvSpPr>
          <p:cNvPr id="274" name="Google Shape;274;p3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Font typeface="Arial"/>
              <a:buNone/>
              <a:defRPr sz="1800"/>
            </a:lvl2pPr>
            <a:lvl3pPr lvl="2">
              <a:spcBef>
                <a:spcPts val="0"/>
              </a:spcBef>
              <a:spcAft>
                <a:spcPts val="0"/>
              </a:spcAft>
              <a:buSzPts val="1400"/>
              <a:buFont typeface="Arial"/>
              <a:buNone/>
              <a:defRPr sz="1800"/>
            </a:lvl3pPr>
            <a:lvl4pPr lvl="3">
              <a:spcBef>
                <a:spcPts val="0"/>
              </a:spcBef>
              <a:spcAft>
                <a:spcPts val="0"/>
              </a:spcAft>
              <a:buSzPts val="1400"/>
              <a:buFont typeface="Arial"/>
              <a:buNone/>
              <a:defRPr sz="1800"/>
            </a:lvl4pPr>
            <a:lvl5pPr lvl="4">
              <a:spcBef>
                <a:spcPts val="0"/>
              </a:spcBef>
              <a:spcAft>
                <a:spcPts val="0"/>
              </a:spcAft>
              <a:buSzPts val="1400"/>
              <a:buFont typeface="Arial"/>
              <a:buNone/>
              <a:defRPr sz="1800"/>
            </a:lvl5pPr>
            <a:lvl6pPr lvl="5">
              <a:spcBef>
                <a:spcPts val="0"/>
              </a:spcBef>
              <a:spcAft>
                <a:spcPts val="0"/>
              </a:spcAft>
              <a:buSzPts val="1400"/>
              <a:buFont typeface="Arial"/>
              <a:buNone/>
              <a:defRPr sz="1800"/>
            </a:lvl6pPr>
            <a:lvl7pPr lvl="6">
              <a:spcBef>
                <a:spcPts val="0"/>
              </a:spcBef>
              <a:spcAft>
                <a:spcPts val="0"/>
              </a:spcAft>
              <a:buSzPts val="1400"/>
              <a:buFont typeface="Arial"/>
              <a:buNone/>
              <a:defRPr sz="1800"/>
            </a:lvl7pPr>
            <a:lvl8pPr lvl="7">
              <a:spcBef>
                <a:spcPts val="0"/>
              </a:spcBef>
              <a:spcAft>
                <a:spcPts val="0"/>
              </a:spcAft>
              <a:buSzPts val="1400"/>
              <a:buFont typeface="Arial"/>
              <a:buNone/>
              <a:defRPr sz="1800"/>
            </a:lvl8pPr>
            <a:lvl9pPr lvl="8">
              <a:spcBef>
                <a:spcPts val="0"/>
              </a:spcBef>
              <a:spcAft>
                <a:spcPts val="0"/>
              </a:spcAft>
              <a:buSzPts val="1400"/>
              <a:buFont typeface="Arial"/>
              <a:buNone/>
              <a:defRPr sz="1800"/>
            </a:lvl9pPr>
          </a:lstStyle>
          <a:p/>
        </p:txBody>
      </p:sp>
      <p:sp>
        <p:nvSpPr>
          <p:cNvPr id="275" name="Google Shape;275;p3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276" name="Google Shape;276;p31"/>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1"/>
              </a:buClr>
              <a:buSzPts val="1400"/>
              <a:buFont typeface="Calibri"/>
              <a:buNone/>
              <a:defRPr sz="1800">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77" name="Google Shape;277;p3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1400"/>
              <a:buFont typeface="Calibri"/>
              <a:buNone/>
              <a:defRPr sz="1800">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78" name="Google Shape;278;p31"/>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1pPr>
            <a:lvl2pPr indent="0" lvl="1"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2pPr>
            <a:lvl3pPr indent="0" lvl="2"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3pPr>
            <a:lvl4pPr indent="0" lvl="3"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4pPr>
            <a:lvl5pPr indent="0" lvl="4"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5pPr>
            <a:lvl6pPr indent="0" lvl="5"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6pPr>
            <a:lvl7pPr indent="0" lvl="6"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7pPr>
            <a:lvl8pPr indent="0" lvl="7"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8pPr>
            <a:lvl9pPr indent="0" lvl="8"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 name="Shape 27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4" r:id="rId1"/>
    <p:sldLayoutId id="214748367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12.png"/><Relationship Id="rId13" Type="http://schemas.openxmlformats.org/officeDocument/2006/relationships/image" Target="../media/image16.png"/><Relationship Id="rId12" Type="http://schemas.openxmlformats.org/officeDocument/2006/relationships/image" Target="../media/image14.png"/><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63.png"/><Relationship Id="rId4" Type="http://schemas.openxmlformats.org/officeDocument/2006/relationships/image" Target="../media/image11.png"/><Relationship Id="rId9" Type="http://schemas.openxmlformats.org/officeDocument/2006/relationships/image" Target="../media/image13.png"/><Relationship Id="rId15" Type="http://schemas.openxmlformats.org/officeDocument/2006/relationships/image" Target="../media/image22.png"/><Relationship Id="rId14" Type="http://schemas.openxmlformats.org/officeDocument/2006/relationships/image" Target="../media/image41.png"/><Relationship Id="rId5" Type="http://schemas.openxmlformats.org/officeDocument/2006/relationships/image" Target="../media/image23.png"/><Relationship Id="rId6" Type="http://schemas.openxmlformats.org/officeDocument/2006/relationships/image" Target="../media/image8.png"/><Relationship Id="rId7" Type="http://schemas.openxmlformats.org/officeDocument/2006/relationships/image" Target="../media/image15.png"/><Relationship Id="rId8"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5.png"/><Relationship Id="rId9" Type="http://schemas.openxmlformats.org/officeDocument/2006/relationships/image" Target="../media/image35.png"/><Relationship Id="rId5" Type="http://schemas.openxmlformats.org/officeDocument/2006/relationships/image" Target="../media/image18.png"/><Relationship Id="rId6" Type="http://schemas.openxmlformats.org/officeDocument/2006/relationships/image" Target="../media/image47.png"/><Relationship Id="rId7" Type="http://schemas.openxmlformats.org/officeDocument/2006/relationships/image" Target="../media/image27.png"/><Relationship Id="rId8" Type="http://schemas.openxmlformats.org/officeDocument/2006/relationships/image" Target="../media/image28.png"/></Relationships>
</file>

<file path=ppt/slides/_rels/slide15.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44.png"/><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54.png"/><Relationship Id="rId5" Type="http://schemas.openxmlformats.org/officeDocument/2006/relationships/image" Target="../media/image32.png"/><Relationship Id="rId6" Type="http://schemas.openxmlformats.org/officeDocument/2006/relationships/image" Target="../media/image52.png"/><Relationship Id="rId7" Type="http://schemas.openxmlformats.org/officeDocument/2006/relationships/image" Target="../media/image58.png"/><Relationship Id="rId8"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17.png"/><Relationship Id="rId5" Type="http://schemas.openxmlformats.org/officeDocument/2006/relationships/image" Target="../media/image39.png"/><Relationship Id="rId6"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57.png"/><Relationship Id="rId4" Type="http://schemas.openxmlformats.org/officeDocument/2006/relationships/image" Target="../media/image46.png"/><Relationship Id="rId5" Type="http://schemas.openxmlformats.org/officeDocument/2006/relationships/image" Target="../media/image45.png"/><Relationship Id="rId6"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53.png"/><Relationship Id="rId5" Type="http://schemas.openxmlformats.org/officeDocument/2006/relationships/image" Target="../media/image49.png"/><Relationship Id="rId6"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42.pn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45.png"/><Relationship Id="rId4" Type="http://schemas.openxmlformats.org/officeDocument/2006/relationships/image" Target="../media/image50.png"/><Relationship Id="rId5" Type="http://schemas.openxmlformats.org/officeDocument/2006/relationships/image" Target="../media/image24.png"/><Relationship Id="rId6"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65.png"/><Relationship Id="rId4" Type="http://schemas.openxmlformats.org/officeDocument/2006/relationships/image" Target="../media/image62.png"/><Relationship Id="rId5"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53.png"/><Relationship Id="rId4" Type="http://schemas.openxmlformats.org/officeDocument/2006/relationships/image" Target="../media/image60.png"/><Relationship Id="rId5" Type="http://schemas.openxmlformats.org/officeDocument/2006/relationships/image" Target="../media/image49.png"/><Relationship Id="rId6"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 Id="rId3" Type="http://schemas.openxmlformats.org/officeDocument/2006/relationships/image" Target="../media/image5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57.png"/><Relationship Id="rId4" Type="http://schemas.openxmlformats.org/officeDocument/2006/relationships/image" Target="../media/image46.png"/><Relationship Id="rId5" Type="http://schemas.openxmlformats.org/officeDocument/2006/relationships/image" Target="../media/image45.png"/><Relationship Id="rId6"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4.xml"/><Relationship Id="rId3" Type="http://schemas.openxmlformats.org/officeDocument/2006/relationships/image" Target="../media/image59.jpg"/><Relationship Id="rId4" Type="http://schemas.openxmlformats.org/officeDocument/2006/relationships/image" Target="../media/image61.png"/><Relationship Id="rId5" Type="http://schemas.openxmlformats.org/officeDocument/2006/relationships/image" Target="../media/image66.png"/><Relationship Id="rId6"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BB8"/>
        </a:solidFill>
      </p:bgPr>
    </p:bg>
    <p:spTree>
      <p:nvGrpSpPr>
        <p:cNvPr id="283" name="Shape 283"/>
        <p:cNvGrpSpPr/>
        <p:nvPr/>
      </p:nvGrpSpPr>
      <p:grpSpPr>
        <a:xfrm>
          <a:off x="0" y="0"/>
          <a:ext cx="0" cy="0"/>
          <a:chOff x="0" y="0"/>
          <a:chExt cx="0" cy="0"/>
        </a:xfrm>
      </p:grpSpPr>
      <p:pic>
        <p:nvPicPr>
          <p:cNvPr descr="gen-dedup-290cd3d1bb77bdab57ed63a9be0e9731.jpg" id="284" name="Google Shape;284;p32"/>
          <p:cNvPicPr preferRelativeResize="0"/>
          <p:nvPr/>
        </p:nvPicPr>
        <p:blipFill rotWithShape="1">
          <a:blip r:embed="rId3">
            <a:alphaModFix/>
          </a:blip>
          <a:srcRect b="-1" l="0" r="0" t="-1"/>
          <a:stretch/>
        </p:blipFill>
        <p:spPr>
          <a:xfrm>
            <a:off x="0" y="0"/>
            <a:ext cx="12191695" cy="6858000"/>
          </a:xfrm>
          <a:prstGeom prst="rect">
            <a:avLst/>
          </a:prstGeom>
          <a:noFill/>
          <a:ln>
            <a:noFill/>
          </a:ln>
        </p:spPr>
      </p:pic>
      <p:sp>
        <p:nvSpPr>
          <p:cNvPr id="285" name="Google Shape;285;p32"/>
          <p:cNvSpPr/>
          <p:nvPr/>
        </p:nvSpPr>
        <p:spPr>
          <a:xfrm>
            <a:off x="-2095805" y="-2095805"/>
            <a:ext cx="7239305" cy="7239305"/>
          </a:xfrm>
          <a:prstGeom prst="ellipse">
            <a:avLst/>
          </a:prstGeom>
          <a:noFill/>
          <a:ln cap="flat" cmpd="sng" w="12700">
            <a:solidFill>
              <a:srgbClr val="FFFFFF">
                <a:alpha val="1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32"/>
          <p:cNvSpPr/>
          <p:nvPr/>
        </p:nvSpPr>
        <p:spPr>
          <a:xfrm>
            <a:off x="-1047902" y="-1047902"/>
            <a:ext cx="5143500" cy="5143500"/>
          </a:xfrm>
          <a:prstGeom prst="ellipse">
            <a:avLst/>
          </a:prstGeom>
          <a:noFill/>
          <a:ln cap="flat" cmpd="sng" w="12700">
            <a:solidFill>
              <a:srgbClr val="FFFFFF">
                <a:alpha val="1607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32"/>
          <p:cNvSpPr/>
          <p:nvPr/>
        </p:nvSpPr>
        <p:spPr>
          <a:xfrm>
            <a:off x="10287000" y="761695"/>
            <a:ext cx="1143000" cy="1143000"/>
          </a:xfrm>
          <a:prstGeom prst="ellipse">
            <a:avLst/>
          </a:prstGeom>
          <a:noFill/>
          <a:ln cap="flat" cmpd="sng" w="25400">
            <a:solidFill>
              <a:srgbClr val="8FBDF8">
                <a:alpha val="3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7eae289c03ac4160a052cb51e7171e49.png" id="288" name="Google Shape;288;p32"/>
          <p:cNvPicPr preferRelativeResize="0"/>
          <p:nvPr/>
        </p:nvPicPr>
        <p:blipFill rotWithShape="1">
          <a:blip r:embed="rId4">
            <a:alphaModFix/>
          </a:blip>
          <a:srcRect b="0" l="0" r="0" t="0"/>
          <a:stretch/>
        </p:blipFill>
        <p:spPr>
          <a:xfrm>
            <a:off x="448056" y="562356"/>
            <a:ext cx="3105302" cy="657454"/>
          </a:xfrm>
          <a:prstGeom prst="rect">
            <a:avLst/>
          </a:prstGeom>
          <a:noFill/>
          <a:ln>
            <a:noFill/>
          </a:ln>
        </p:spPr>
      </p:pic>
      <p:sp>
        <p:nvSpPr>
          <p:cNvPr id="289" name="Google Shape;289;p32"/>
          <p:cNvSpPr txBox="1"/>
          <p:nvPr/>
        </p:nvSpPr>
        <p:spPr>
          <a:xfrm>
            <a:off x="629107" y="3143707"/>
            <a:ext cx="7239305"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C7EA"/>
              </a:buClr>
              <a:buSzPts val="1000"/>
              <a:buFont typeface="Montserrat"/>
              <a:buNone/>
            </a:pPr>
            <a:r>
              <a:rPr b="1" lang="en-US" sz="1000">
                <a:solidFill>
                  <a:srgbClr val="A9C7EA"/>
                </a:solidFill>
                <a:latin typeface="Montserrat"/>
                <a:ea typeface="Montserrat"/>
                <a:cs typeface="Montserrat"/>
                <a:sym typeface="Montserrat"/>
              </a:rPr>
              <a:t>RFP RESPONSE · 02 OCTOBER 2026</a:t>
            </a:r>
            <a:endParaRPr sz="1000">
              <a:solidFill>
                <a:schemeClr val="dk1"/>
              </a:solidFill>
              <a:latin typeface="Calibri"/>
              <a:ea typeface="Calibri"/>
              <a:cs typeface="Calibri"/>
              <a:sym typeface="Calibri"/>
            </a:endParaRPr>
          </a:p>
        </p:txBody>
      </p:sp>
      <p:sp>
        <p:nvSpPr>
          <p:cNvPr id="290" name="Google Shape;290;p32"/>
          <p:cNvSpPr txBox="1"/>
          <p:nvPr/>
        </p:nvSpPr>
        <p:spPr>
          <a:xfrm>
            <a:off x="629107" y="3448202"/>
            <a:ext cx="10935310" cy="5431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50"/>
              <a:buFont typeface="Montserrat"/>
              <a:buNone/>
            </a:pPr>
            <a:r>
              <a:rPr b="1" lang="en-US" sz="4050">
                <a:solidFill>
                  <a:srgbClr val="FFFFFF"/>
                </a:solidFill>
                <a:latin typeface="Montserrat"/>
                <a:ea typeface="Montserrat"/>
                <a:cs typeface="Montserrat"/>
                <a:sym typeface="Montserrat"/>
              </a:rPr>
              <a:t>Onsite Native Mobile Engineers</a:t>
            </a:r>
            <a:endParaRPr sz="4050">
              <a:solidFill>
                <a:schemeClr val="dk1"/>
              </a:solidFill>
              <a:latin typeface="Calibri"/>
              <a:ea typeface="Calibri"/>
              <a:cs typeface="Calibri"/>
              <a:sym typeface="Calibri"/>
            </a:endParaRPr>
          </a:p>
        </p:txBody>
      </p:sp>
      <p:sp>
        <p:nvSpPr>
          <p:cNvPr id="291" name="Google Shape;291;p32"/>
          <p:cNvSpPr txBox="1"/>
          <p:nvPr/>
        </p:nvSpPr>
        <p:spPr>
          <a:xfrm>
            <a:off x="629107" y="4064508"/>
            <a:ext cx="10935310" cy="5431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50"/>
              <a:buFont typeface="Montserrat"/>
              <a:buNone/>
            </a:pPr>
            <a:r>
              <a:rPr b="1" lang="en-US" sz="4050">
                <a:solidFill>
                  <a:srgbClr val="FFFFFF"/>
                </a:solidFill>
                <a:latin typeface="Montserrat"/>
                <a:ea typeface="Montserrat"/>
                <a:cs typeface="Montserrat"/>
                <a:sym typeface="Montserrat"/>
              </a:rPr>
              <a:t>for the </a:t>
            </a:r>
            <a:r>
              <a:rPr b="1" lang="en-US" sz="4050">
                <a:solidFill>
                  <a:srgbClr val="8FBDF8"/>
                </a:solidFill>
                <a:latin typeface="Montserrat"/>
                <a:ea typeface="Montserrat"/>
                <a:cs typeface="Montserrat"/>
                <a:sym typeface="Montserrat"/>
              </a:rPr>
              <a:t>Qcells Installer App</a:t>
            </a:r>
            <a:endParaRPr sz="4050">
              <a:solidFill>
                <a:schemeClr val="dk1"/>
              </a:solidFill>
              <a:latin typeface="Calibri"/>
              <a:ea typeface="Calibri"/>
              <a:cs typeface="Calibri"/>
              <a:sym typeface="Calibri"/>
            </a:endParaRPr>
          </a:p>
        </p:txBody>
      </p:sp>
      <p:sp>
        <p:nvSpPr>
          <p:cNvPr id="292" name="Google Shape;292;p32"/>
          <p:cNvSpPr txBox="1"/>
          <p:nvPr/>
        </p:nvSpPr>
        <p:spPr>
          <a:xfrm>
            <a:off x="629107" y="4743907"/>
            <a:ext cx="74295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E8F7"/>
              </a:buClr>
              <a:buSzPts val="1350"/>
              <a:buFont typeface="Barlow"/>
              <a:buNone/>
            </a:pPr>
            <a:r>
              <a:rPr lang="en-US" sz="1350">
                <a:solidFill>
                  <a:srgbClr val="DCE8F7"/>
                </a:solidFill>
                <a:latin typeface="Barlow"/>
                <a:ea typeface="Barlow"/>
                <a:cs typeface="Barlow"/>
                <a:sym typeface="Barlow"/>
              </a:rPr>
              <a:t>Proposal to Qcells Korea (Hanwha Solutions)</a:t>
            </a:r>
            <a:endParaRPr sz="1350">
              <a:solidFill>
                <a:schemeClr val="dk1"/>
              </a:solidFill>
              <a:latin typeface="Calibri"/>
              <a:ea typeface="Calibri"/>
              <a:cs typeface="Calibri"/>
              <a:sym typeface="Calibri"/>
            </a:endParaRPr>
          </a:p>
        </p:txBody>
      </p:sp>
      <p:sp>
        <p:nvSpPr>
          <p:cNvPr id="293" name="Google Shape;293;p32"/>
          <p:cNvSpPr txBox="1"/>
          <p:nvPr/>
        </p:nvSpPr>
        <p:spPr>
          <a:xfrm>
            <a:off x="629107" y="5143500"/>
            <a:ext cx="8382305"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C7EA"/>
              </a:buClr>
              <a:buSzPts val="1050"/>
              <a:buFont typeface="Barlow"/>
              <a:buNone/>
            </a:pPr>
            <a:r>
              <a:rPr lang="en-US" sz="1050">
                <a:solidFill>
                  <a:srgbClr val="A9C7EA"/>
                </a:solidFill>
                <a:latin typeface="Barlow"/>
                <a:ea typeface="Barlow"/>
                <a:cs typeface="Barlow"/>
                <a:sym typeface="Barlow"/>
              </a:rPr>
              <a:t>1 Team Leader + 3 engineers · 2 Android &amp; 2 iOS · 100% onsite in Seoul · Business Korean · T&amp;M to 31 Dec 2026</a:t>
            </a:r>
            <a:endParaRPr sz="1050">
              <a:solidFill>
                <a:schemeClr val="dk1"/>
              </a:solidFill>
              <a:latin typeface="Calibri"/>
              <a:ea typeface="Calibri"/>
              <a:cs typeface="Calibri"/>
              <a:sym typeface="Calibri"/>
            </a:endParaRPr>
          </a:p>
        </p:txBody>
      </p:sp>
      <p:sp>
        <p:nvSpPr>
          <p:cNvPr id="294" name="Google Shape;294;p32"/>
          <p:cNvSpPr txBox="1"/>
          <p:nvPr/>
        </p:nvSpPr>
        <p:spPr>
          <a:xfrm>
            <a:off x="629107" y="6286500"/>
            <a:ext cx="285750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Montserrat"/>
              <a:buNone/>
            </a:pPr>
            <a:r>
              <a:rPr lang="en-US" sz="1050">
                <a:solidFill>
                  <a:srgbClr val="FFFFFF"/>
                </a:solidFill>
                <a:latin typeface="Montserrat"/>
                <a:ea typeface="Montserrat"/>
                <a:cs typeface="Montserrat"/>
                <a:sym typeface="Montserrat"/>
              </a:rPr>
              <a:t>www.cmcglobal.co.kr</a:t>
            </a:r>
            <a:endParaRPr sz="10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33"/>
          <p:cNvPicPr preferRelativeResize="0"/>
          <p:nvPr/>
        </p:nvPicPr>
        <p:blipFill rotWithShape="1">
          <a:blip r:embed="rId3">
            <a:alphaModFix/>
          </a:blip>
          <a:srcRect b="0" l="0" r="0" t="0"/>
          <a:stretch/>
        </p:blipFill>
        <p:spPr>
          <a:xfrm>
            <a:off x="857255" y="590702"/>
            <a:ext cx="9951644" cy="5600776"/>
          </a:xfrm>
          <a:prstGeom prst="rect">
            <a:avLst/>
          </a:prstGeom>
          <a:noFill/>
          <a:ln>
            <a:noFill/>
          </a:ln>
        </p:spPr>
      </p:pic>
      <p:sp>
        <p:nvSpPr>
          <p:cNvPr id="300" name="Google Shape;300;p33"/>
          <p:cNvSpPr txBox="1"/>
          <p:nvPr/>
        </p:nvSpPr>
        <p:spPr>
          <a:xfrm>
            <a:off x="457200" y="323698"/>
            <a:ext cx="7239305"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02 · MOBILE DEVELOPMENT EXPERIENCE</a:t>
            </a:r>
            <a:endParaRPr sz="1000">
              <a:solidFill>
                <a:schemeClr val="dk1"/>
              </a:solidFill>
              <a:latin typeface="Calibri"/>
              <a:ea typeface="Calibri"/>
              <a:cs typeface="Calibri"/>
              <a:sym typeface="Calibri"/>
            </a:endParaRPr>
          </a:p>
        </p:txBody>
      </p:sp>
      <p:sp>
        <p:nvSpPr>
          <p:cNvPr id="301" name="Google Shape;301;p33"/>
          <p:cNvSpPr txBox="1"/>
          <p:nvPr/>
        </p:nvSpPr>
        <p:spPr>
          <a:xfrm>
            <a:off x="457200" y="590702"/>
            <a:ext cx="10478110" cy="5715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Our understanding: offline-first field commissioning with BLE / Wi-Fi device integration</a:t>
            </a:r>
            <a:endParaRPr sz="1950">
              <a:solidFill>
                <a:schemeClr val="dk1"/>
              </a:solidFill>
              <a:latin typeface="Calibri"/>
              <a:ea typeface="Calibri"/>
              <a:cs typeface="Calibri"/>
              <a:sym typeface="Calibri"/>
            </a:endParaRPr>
          </a:p>
        </p:txBody>
      </p:sp>
      <p:sp>
        <p:nvSpPr>
          <p:cNvPr id="302" name="Google Shape;302;p33"/>
          <p:cNvSpPr txBox="1"/>
          <p:nvPr/>
        </p:nvSpPr>
        <p:spPr>
          <a:xfrm>
            <a:off x="1135467" y="4932273"/>
            <a:ext cx="3177503"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Engineering principles we bring to this design</a:t>
            </a:r>
            <a:endParaRPr sz="1000">
              <a:solidFill>
                <a:schemeClr val="dk1"/>
              </a:solidFill>
              <a:latin typeface="Calibri"/>
              <a:ea typeface="Calibri"/>
              <a:cs typeface="Calibri"/>
              <a:sym typeface="Calibri"/>
            </a:endParaRPr>
          </a:p>
        </p:txBody>
      </p:sp>
      <p:sp>
        <p:nvSpPr>
          <p:cNvPr id="303" name="Google Shape;303;p33"/>
          <p:cNvSpPr txBox="1"/>
          <p:nvPr/>
        </p:nvSpPr>
        <p:spPr>
          <a:xfrm>
            <a:off x="1100671" y="5711719"/>
            <a:ext cx="1886407" cy="44127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Local source of truth, </a:t>
            </a:r>
            <a:endParaRPr/>
          </a:p>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conflict-safe sync</a:t>
            </a:r>
            <a:endParaRPr sz="1000">
              <a:solidFill>
                <a:schemeClr val="dk1"/>
              </a:solidFill>
              <a:latin typeface="Calibri"/>
              <a:ea typeface="Calibri"/>
              <a:cs typeface="Calibri"/>
              <a:sym typeface="Calibri"/>
            </a:endParaRPr>
          </a:p>
        </p:txBody>
      </p:sp>
      <p:sp>
        <p:nvSpPr>
          <p:cNvPr id="304" name="Google Shape;304;p33"/>
          <p:cNvSpPr txBox="1"/>
          <p:nvPr/>
        </p:nvSpPr>
        <p:spPr>
          <a:xfrm>
            <a:off x="2987079" y="5825016"/>
            <a:ext cx="1737322" cy="2521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Retries, timeouts, </a:t>
            </a:r>
            <a:endParaRPr/>
          </a:p>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explicit state machine</a:t>
            </a:r>
            <a:endParaRPr sz="1000">
              <a:solidFill>
                <a:schemeClr val="dk1"/>
              </a:solidFill>
              <a:latin typeface="Calibri"/>
              <a:ea typeface="Calibri"/>
              <a:cs typeface="Calibri"/>
              <a:sym typeface="Calibri"/>
            </a:endParaRPr>
          </a:p>
        </p:txBody>
      </p:sp>
      <p:sp>
        <p:nvSpPr>
          <p:cNvPr id="305" name="Google Shape;305;p33"/>
          <p:cNvSpPr txBox="1"/>
          <p:nvPr/>
        </p:nvSpPr>
        <p:spPr>
          <a:xfrm>
            <a:off x="4962222" y="5825016"/>
            <a:ext cx="2134210" cy="2712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Device auth, </a:t>
            </a:r>
            <a:endParaRPr/>
          </a:p>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encrypted local storage</a:t>
            </a:r>
            <a:endParaRPr sz="1000">
              <a:solidFill>
                <a:schemeClr val="dk1"/>
              </a:solidFill>
              <a:latin typeface="Calibri"/>
              <a:ea typeface="Calibri"/>
              <a:cs typeface="Calibri"/>
              <a:sym typeface="Calibri"/>
            </a:endParaRPr>
          </a:p>
        </p:txBody>
      </p:sp>
      <p:sp>
        <p:nvSpPr>
          <p:cNvPr id="306" name="Google Shape;306;p33"/>
          <p:cNvSpPr txBox="1"/>
          <p:nvPr/>
        </p:nvSpPr>
        <p:spPr>
          <a:xfrm>
            <a:off x="6931384" y="5826739"/>
            <a:ext cx="1905610" cy="124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Unit + UI tests on every change</a:t>
            </a:r>
            <a:endParaRPr sz="1000">
              <a:solidFill>
                <a:schemeClr val="dk1"/>
              </a:solidFill>
              <a:latin typeface="Calibri"/>
              <a:ea typeface="Calibri"/>
              <a:cs typeface="Calibri"/>
              <a:sym typeface="Calibri"/>
            </a:endParaRPr>
          </a:p>
        </p:txBody>
      </p:sp>
      <p:sp>
        <p:nvSpPr>
          <p:cNvPr id="307" name="Google Shape;307;p33"/>
          <p:cNvSpPr txBox="1"/>
          <p:nvPr/>
        </p:nvSpPr>
        <p:spPr>
          <a:xfrm>
            <a:off x="8849570" y="5864649"/>
            <a:ext cx="1886407" cy="124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Build · test · sign · distribute</a:t>
            </a:r>
            <a:endParaRPr sz="1000">
              <a:solidFill>
                <a:schemeClr val="dk1"/>
              </a:solidFill>
              <a:latin typeface="Calibri"/>
              <a:ea typeface="Calibri"/>
              <a:cs typeface="Calibri"/>
              <a:sym typeface="Calibri"/>
            </a:endParaRPr>
          </a:p>
        </p:txBody>
      </p:sp>
      <p:sp>
        <p:nvSpPr>
          <p:cNvPr id="308" name="Google Shape;308;p33"/>
          <p:cNvSpPr txBox="1"/>
          <p:nvPr/>
        </p:nvSpPr>
        <p:spPr>
          <a:xfrm>
            <a:off x="1030960" y="1458330"/>
            <a:ext cx="1276502" cy="277063"/>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Installer</a:t>
            </a:r>
            <a:endParaRPr sz="1000">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(on site)</a:t>
            </a:r>
            <a:endParaRPr sz="1000">
              <a:solidFill>
                <a:schemeClr val="dk1"/>
              </a:solidFill>
              <a:latin typeface="Calibri"/>
              <a:ea typeface="Calibri"/>
              <a:cs typeface="Calibri"/>
              <a:sym typeface="Calibri"/>
            </a:endParaRPr>
          </a:p>
        </p:txBody>
      </p:sp>
      <p:sp>
        <p:nvSpPr>
          <p:cNvPr id="309" name="Google Shape;309;p33"/>
          <p:cNvSpPr txBox="1"/>
          <p:nvPr/>
        </p:nvSpPr>
        <p:spPr>
          <a:xfrm>
            <a:off x="6284551" y="1522814"/>
            <a:ext cx="2000707" cy="47183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Inverter · storage · gateway</a:t>
            </a:r>
            <a:endParaRPr sz="1000">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pairing, configuration,</a:t>
            </a:r>
            <a:endParaRPr sz="1000">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commissioning, diagnostics</a:t>
            </a:r>
            <a:endParaRPr sz="1000">
              <a:solidFill>
                <a:schemeClr val="dk1"/>
              </a:solidFill>
              <a:latin typeface="Calibri"/>
              <a:ea typeface="Calibri"/>
              <a:cs typeface="Calibri"/>
              <a:sym typeface="Calibri"/>
            </a:endParaRPr>
          </a:p>
        </p:txBody>
      </p:sp>
      <p:sp>
        <p:nvSpPr>
          <p:cNvPr id="310" name="Google Shape;310;p33"/>
          <p:cNvSpPr txBox="1"/>
          <p:nvPr/>
        </p:nvSpPr>
        <p:spPr>
          <a:xfrm>
            <a:off x="8685313" y="1458330"/>
            <a:ext cx="2000707" cy="47183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APIs for installation records,</a:t>
            </a:r>
            <a:endParaRPr sz="1000">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warranty, monitoring —</a:t>
            </a:r>
            <a:endParaRPr sz="1000">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background sync when online</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34"/>
          <p:cNvSpPr/>
          <p:nvPr/>
        </p:nvSpPr>
        <p:spPr>
          <a:xfrm>
            <a:off x="780898" y="1324051"/>
            <a:ext cx="2286000" cy="714146"/>
          </a:xfrm>
          <a:prstGeom prst="rect">
            <a:avLst/>
          </a:prstGeom>
          <a:solidFill>
            <a:srgbClr val="EAF2FB"/>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3444d98513d4d611770faa1cf2fb9098.png" id="317" name="Google Shape;317;p34"/>
          <p:cNvPicPr preferRelativeResize="0"/>
          <p:nvPr/>
        </p:nvPicPr>
        <p:blipFill rotWithShape="1">
          <a:blip r:embed="rId3">
            <a:alphaModFix/>
          </a:blip>
          <a:srcRect b="-400" l="0" r="0" t="-400"/>
          <a:stretch/>
        </p:blipFill>
        <p:spPr>
          <a:xfrm>
            <a:off x="3066898" y="1676095"/>
            <a:ext cx="914400" cy="19202"/>
          </a:xfrm>
          <a:prstGeom prst="rect">
            <a:avLst/>
          </a:prstGeom>
          <a:noFill/>
          <a:ln>
            <a:noFill/>
          </a:ln>
        </p:spPr>
      </p:pic>
      <p:sp>
        <p:nvSpPr>
          <p:cNvPr id="318" name="Google Shape;318;p34"/>
          <p:cNvSpPr/>
          <p:nvPr/>
        </p:nvSpPr>
        <p:spPr>
          <a:xfrm>
            <a:off x="3981298" y="1324051"/>
            <a:ext cx="2790749" cy="714146"/>
          </a:xfrm>
          <a:prstGeom prst="rect">
            <a:avLst/>
          </a:prstGeom>
          <a:solidFill>
            <a:srgbClr val="0B2F5B"/>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e3546d157aa9ffdc0747b62dc25b3cf5.png" id="319" name="Google Shape;319;p34"/>
          <p:cNvPicPr preferRelativeResize="0"/>
          <p:nvPr/>
        </p:nvPicPr>
        <p:blipFill rotWithShape="1">
          <a:blip r:embed="rId4">
            <a:alphaModFix/>
          </a:blip>
          <a:srcRect b="0" l="-360" r="-360" t="0"/>
          <a:stretch/>
        </p:blipFill>
        <p:spPr>
          <a:xfrm>
            <a:off x="5362956" y="2038198"/>
            <a:ext cx="19202" cy="381305"/>
          </a:xfrm>
          <a:prstGeom prst="rect">
            <a:avLst/>
          </a:prstGeom>
          <a:noFill/>
          <a:ln>
            <a:noFill/>
          </a:ln>
        </p:spPr>
      </p:pic>
      <p:pic>
        <p:nvPicPr>
          <p:cNvPr descr="gen-dedup-5b9b1ab462a5730aa23abe1e0abd6603.png" id="320" name="Google Shape;320;p34"/>
          <p:cNvPicPr preferRelativeResize="0"/>
          <p:nvPr/>
        </p:nvPicPr>
        <p:blipFill rotWithShape="1">
          <a:blip r:embed="rId5">
            <a:alphaModFix/>
          </a:blip>
          <a:srcRect b="-402" l="0" r="0" t="-402"/>
          <a:stretch/>
        </p:blipFill>
        <p:spPr>
          <a:xfrm flipH="1" rot="10800000">
            <a:off x="3937000" y="2373781"/>
            <a:ext cx="2457602" cy="45719"/>
          </a:xfrm>
          <a:prstGeom prst="rect">
            <a:avLst/>
          </a:prstGeom>
          <a:noFill/>
          <a:ln>
            <a:noFill/>
          </a:ln>
        </p:spPr>
      </p:pic>
      <p:pic>
        <p:nvPicPr>
          <p:cNvPr descr="gen-dedup-ee49ba211c2d020ab97ef7fdd83d819b.png" id="321" name="Google Shape;321;p34"/>
          <p:cNvPicPr preferRelativeResize="0"/>
          <p:nvPr/>
        </p:nvPicPr>
        <p:blipFill rotWithShape="1">
          <a:blip r:embed="rId6">
            <a:alphaModFix/>
          </a:blip>
          <a:srcRect b="0" l="-400" r="-400" t="0"/>
          <a:stretch/>
        </p:blipFill>
        <p:spPr>
          <a:xfrm>
            <a:off x="3937000" y="2419502"/>
            <a:ext cx="19202" cy="228600"/>
          </a:xfrm>
          <a:prstGeom prst="rect">
            <a:avLst/>
          </a:prstGeom>
          <a:noFill/>
          <a:ln>
            <a:noFill/>
          </a:ln>
        </p:spPr>
      </p:pic>
      <p:sp>
        <p:nvSpPr>
          <p:cNvPr id="322" name="Google Shape;322;p34"/>
          <p:cNvSpPr/>
          <p:nvPr/>
        </p:nvSpPr>
        <p:spPr>
          <a:xfrm>
            <a:off x="3416300" y="2648102"/>
            <a:ext cx="1066800" cy="1009498"/>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ee49ba211c2d020ab97ef7fdd83d819b.png" id="323" name="Google Shape;323;p34"/>
          <p:cNvPicPr preferRelativeResize="0"/>
          <p:nvPr/>
        </p:nvPicPr>
        <p:blipFill rotWithShape="1">
          <a:blip r:embed="rId6">
            <a:alphaModFix/>
          </a:blip>
          <a:srcRect b="0" l="-400" r="-400" t="0"/>
          <a:stretch/>
        </p:blipFill>
        <p:spPr>
          <a:xfrm>
            <a:off x="5156200" y="2419502"/>
            <a:ext cx="19202" cy="228600"/>
          </a:xfrm>
          <a:prstGeom prst="rect">
            <a:avLst/>
          </a:prstGeom>
          <a:noFill/>
          <a:ln>
            <a:noFill/>
          </a:ln>
        </p:spPr>
      </p:pic>
      <p:sp>
        <p:nvSpPr>
          <p:cNvPr id="324" name="Google Shape;324;p34"/>
          <p:cNvSpPr/>
          <p:nvPr/>
        </p:nvSpPr>
        <p:spPr>
          <a:xfrm>
            <a:off x="4635500" y="2648102"/>
            <a:ext cx="1066800" cy="1009498"/>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34"/>
          <p:cNvSpPr/>
          <p:nvPr/>
        </p:nvSpPr>
        <p:spPr>
          <a:xfrm>
            <a:off x="457200" y="3771900"/>
            <a:ext cx="6305702" cy="295351"/>
          </a:xfrm>
          <a:prstGeom prst="rect">
            <a:avLst/>
          </a:prstGeom>
          <a:solidFill>
            <a:srgbClr val="EAF2FB"/>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34"/>
          <p:cNvSpPr/>
          <p:nvPr/>
        </p:nvSpPr>
        <p:spPr>
          <a:xfrm>
            <a:off x="457200" y="4343400"/>
            <a:ext cx="6305702" cy="1828800"/>
          </a:xfrm>
          <a:prstGeom prst="rect">
            <a:avLst/>
          </a:prstGeom>
          <a:solidFill>
            <a:srgbClr val="F5F8FC"/>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34"/>
          <p:cNvSpPr/>
          <p:nvPr/>
        </p:nvSpPr>
        <p:spPr>
          <a:xfrm>
            <a:off x="7086600" y="1324051"/>
            <a:ext cx="4647895" cy="4848149"/>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34"/>
          <p:cNvSpPr/>
          <p:nvPr/>
        </p:nvSpPr>
        <p:spPr>
          <a:xfrm>
            <a:off x="7315200" y="2009851"/>
            <a:ext cx="504749" cy="504749"/>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34"/>
          <p:cNvSpPr/>
          <p:nvPr/>
        </p:nvSpPr>
        <p:spPr>
          <a:xfrm>
            <a:off x="7315200" y="3057754"/>
            <a:ext cx="504749" cy="504749"/>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34"/>
          <p:cNvSpPr/>
          <p:nvPr/>
        </p:nvSpPr>
        <p:spPr>
          <a:xfrm>
            <a:off x="7315200" y="4076395"/>
            <a:ext cx="504749" cy="504749"/>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34"/>
          <p:cNvSpPr/>
          <p:nvPr/>
        </p:nvSpPr>
        <p:spPr>
          <a:xfrm>
            <a:off x="7315200" y="5105095"/>
            <a:ext cx="504749" cy="504749"/>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4cea9d55ac73ceb87f9d434a137ac334.png" id="332" name="Google Shape;332;p34"/>
          <p:cNvPicPr preferRelativeResize="0"/>
          <p:nvPr/>
        </p:nvPicPr>
        <p:blipFill rotWithShape="1">
          <a:blip r:embed="rId7">
            <a:alphaModFix/>
          </a:blip>
          <a:srcRect b="0" l="0" r="0" t="0"/>
          <a:stretch/>
        </p:blipFill>
        <p:spPr>
          <a:xfrm>
            <a:off x="5029200" y="2762402"/>
            <a:ext cx="276149" cy="276149"/>
          </a:xfrm>
          <a:prstGeom prst="rect">
            <a:avLst/>
          </a:prstGeom>
          <a:noFill/>
          <a:ln>
            <a:noFill/>
          </a:ln>
        </p:spPr>
      </p:pic>
      <p:pic>
        <p:nvPicPr>
          <p:cNvPr descr="gen-dedup-3089d98ba100676462818f6f6dbbf8f0.png" id="333" name="Google Shape;333;p34"/>
          <p:cNvPicPr preferRelativeResize="0"/>
          <p:nvPr/>
        </p:nvPicPr>
        <p:blipFill rotWithShape="1">
          <a:blip r:embed="rId8">
            <a:alphaModFix/>
          </a:blip>
          <a:srcRect b="0" l="0" r="0" t="0"/>
          <a:stretch/>
        </p:blipFill>
        <p:spPr>
          <a:xfrm>
            <a:off x="3810000" y="2762402"/>
            <a:ext cx="276149" cy="276149"/>
          </a:xfrm>
          <a:prstGeom prst="rect">
            <a:avLst/>
          </a:prstGeom>
          <a:noFill/>
          <a:ln>
            <a:noFill/>
          </a:ln>
        </p:spPr>
      </p:pic>
      <p:pic>
        <p:nvPicPr>
          <p:cNvPr descr="gen-dedup-12e370bf7d4c25516b52403967cf4cd6.png" id="334" name="Google Shape;334;p34"/>
          <p:cNvPicPr preferRelativeResize="0"/>
          <p:nvPr/>
        </p:nvPicPr>
        <p:blipFill rotWithShape="1">
          <a:blip r:embed="rId9">
            <a:alphaModFix/>
          </a:blip>
          <a:srcRect b="0" l="0" r="0" t="0"/>
          <a:stretch/>
        </p:blipFill>
        <p:spPr>
          <a:xfrm>
            <a:off x="638251" y="4848149"/>
            <a:ext cx="342900" cy="342900"/>
          </a:xfrm>
          <a:prstGeom prst="rect">
            <a:avLst/>
          </a:prstGeom>
          <a:noFill/>
          <a:ln>
            <a:noFill/>
          </a:ln>
        </p:spPr>
      </p:pic>
      <p:pic>
        <p:nvPicPr>
          <p:cNvPr descr="gen-dedup-5b83c5dc3378b12ad13048add3ebbd95.png" id="335" name="Google Shape;335;p34"/>
          <p:cNvPicPr preferRelativeResize="0"/>
          <p:nvPr/>
        </p:nvPicPr>
        <p:blipFill rotWithShape="1">
          <a:blip r:embed="rId10">
            <a:alphaModFix/>
          </a:blip>
          <a:srcRect b="0" l="0" r="0" t="0"/>
          <a:stretch/>
        </p:blipFill>
        <p:spPr>
          <a:xfrm>
            <a:off x="2648102" y="4848149"/>
            <a:ext cx="342900" cy="342900"/>
          </a:xfrm>
          <a:prstGeom prst="rect">
            <a:avLst/>
          </a:prstGeom>
          <a:noFill/>
          <a:ln>
            <a:noFill/>
          </a:ln>
        </p:spPr>
      </p:pic>
      <p:pic>
        <p:nvPicPr>
          <p:cNvPr descr="gen-dedup-69fd188f54af51847ab249ecdcf52da0.png" id="336" name="Google Shape;336;p34"/>
          <p:cNvPicPr preferRelativeResize="0"/>
          <p:nvPr/>
        </p:nvPicPr>
        <p:blipFill rotWithShape="1">
          <a:blip r:embed="rId11">
            <a:alphaModFix/>
          </a:blip>
          <a:srcRect b="0" l="0" r="0" t="0"/>
          <a:stretch/>
        </p:blipFill>
        <p:spPr>
          <a:xfrm>
            <a:off x="4667098" y="4848149"/>
            <a:ext cx="342900" cy="342900"/>
          </a:xfrm>
          <a:prstGeom prst="rect">
            <a:avLst/>
          </a:prstGeom>
          <a:noFill/>
          <a:ln>
            <a:noFill/>
          </a:ln>
        </p:spPr>
      </p:pic>
      <p:pic>
        <p:nvPicPr>
          <p:cNvPr descr="gen-dedup-2db8469e8264f14683deb2d362f515fa.png" id="337" name="Google Shape;337;p34"/>
          <p:cNvPicPr preferRelativeResize="0"/>
          <p:nvPr/>
        </p:nvPicPr>
        <p:blipFill rotWithShape="1">
          <a:blip r:embed="rId12">
            <a:alphaModFix/>
          </a:blip>
          <a:srcRect b="0" l="0" r="0" t="0"/>
          <a:stretch/>
        </p:blipFill>
        <p:spPr>
          <a:xfrm>
            <a:off x="7448702" y="2162556"/>
            <a:ext cx="237744" cy="237744"/>
          </a:xfrm>
          <a:prstGeom prst="rect">
            <a:avLst/>
          </a:prstGeom>
          <a:noFill/>
          <a:ln>
            <a:noFill/>
          </a:ln>
        </p:spPr>
      </p:pic>
      <p:pic>
        <p:nvPicPr>
          <p:cNvPr descr="gen-dedup-54b3a1529c1978bbb46d2227ed447ba1.png" id="338" name="Google Shape;338;p34"/>
          <p:cNvPicPr preferRelativeResize="0"/>
          <p:nvPr/>
        </p:nvPicPr>
        <p:blipFill rotWithShape="1">
          <a:blip r:embed="rId13">
            <a:alphaModFix/>
          </a:blip>
          <a:srcRect b="0" l="0" r="0" t="0"/>
          <a:stretch/>
        </p:blipFill>
        <p:spPr>
          <a:xfrm>
            <a:off x="7448702" y="3181198"/>
            <a:ext cx="237744" cy="237744"/>
          </a:xfrm>
          <a:prstGeom prst="rect">
            <a:avLst/>
          </a:prstGeom>
          <a:noFill/>
          <a:ln>
            <a:noFill/>
          </a:ln>
        </p:spPr>
      </p:pic>
      <p:pic>
        <p:nvPicPr>
          <p:cNvPr descr="gen-dedup-3b4c9c1206268e6174e62fdee30e9841.png" id="339" name="Google Shape;339;p34"/>
          <p:cNvPicPr preferRelativeResize="0"/>
          <p:nvPr/>
        </p:nvPicPr>
        <p:blipFill rotWithShape="1">
          <a:blip r:embed="rId14">
            <a:alphaModFix/>
          </a:blip>
          <a:srcRect b="0" l="0" r="0" t="0"/>
          <a:stretch/>
        </p:blipFill>
        <p:spPr>
          <a:xfrm>
            <a:off x="7448702" y="4209898"/>
            <a:ext cx="237744" cy="237744"/>
          </a:xfrm>
          <a:prstGeom prst="rect">
            <a:avLst/>
          </a:prstGeom>
          <a:noFill/>
          <a:ln>
            <a:noFill/>
          </a:ln>
        </p:spPr>
      </p:pic>
      <p:pic>
        <p:nvPicPr>
          <p:cNvPr descr="gen-dedup-d6d0fc48eafe4c4fb7d26a2308f98977.png" id="340" name="Google Shape;340;p34"/>
          <p:cNvPicPr preferRelativeResize="0"/>
          <p:nvPr/>
        </p:nvPicPr>
        <p:blipFill rotWithShape="1">
          <a:blip r:embed="rId15">
            <a:alphaModFix/>
          </a:blip>
          <a:srcRect b="0" l="0" r="0" t="0"/>
          <a:stretch/>
        </p:blipFill>
        <p:spPr>
          <a:xfrm>
            <a:off x="7448702" y="5229454"/>
            <a:ext cx="237744" cy="237744"/>
          </a:xfrm>
          <a:prstGeom prst="rect">
            <a:avLst/>
          </a:prstGeom>
          <a:noFill/>
          <a:ln>
            <a:noFill/>
          </a:ln>
        </p:spPr>
      </p:pic>
      <p:sp>
        <p:nvSpPr>
          <p:cNvPr id="341" name="Google Shape;341;p34"/>
          <p:cNvSpPr txBox="1"/>
          <p:nvPr/>
        </p:nvSpPr>
        <p:spPr>
          <a:xfrm>
            <a:off x="457200" y="323698"/>
            <a:ext cx="7239305"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04 · TEAM STRUCTURE &amp; ESCALATION</a:t>
            </a:r>
            <a:endParaRPr sz="1000">
              <a:solidFill>
                <a:schemeClr val="dk1"/>
              </a:solidFill>
              <a:latin typeface="Calibri"/>
              <a:ea typeface="Calibri"/>
              <a:cs typeface="Calibri"/>
              <a:sym typeface="Calibri"/>
            </a:endParaRPr>
          </a:p>
        </p:txBody>
      </p:sp>
      <p:sp>
        <p:nvSpPr>
          <p:cNvPr id="342" name="Google Shape;342;p34"/>
          <p:cNvSpPr txBox="1"/>
          <p:nvPr/>
        </p:nvSpPr>
        <p:spPr>
          <a:xfrm>
            <a:off x="457200" y="590702"/>
            <a:ext cx="11117275"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Team structure: one Delivery Manager, one Team Leader and three embedded engineers</a:t>
            </a:r>
            <a:endParaRPr sz="1950">
              <a:solidFill>
                <a:schemeClr val="dk1"/>
              </a:solidFill>
              <a:latin typeface="Calibri"/>
              <a:ea typeface="Calibri"/>
              <a:cs typeface="Calibri"/>
              <a:sym typeface="Calibri"/>
            </a:endParaRPr>
          </a:p>
        </p:txBody>
      </p:sp>
      <p:sp>
        <p:nvSpPr>
          <p:cNvPr id="343" name="Google Shape;343;p34"/>
          <p:cNvSpPr txBox="1"/>
          <p:nvPr/>
        </p:nvSpPr>
        <p:spPr>
          <a:xfrm>
            <a:off x="886054" y="1447495"/>
            <a:ext cx="2067458" cy="1335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Qcells Korea</a:t>
            </a:r>
            <a:endParaRPr sz="1000">
              <a:solidFill>
                <a:schemeClr val="dk1"/>
              </a:solidFill>
              <a:latin typeface="Calibri"/>
              <a:ea typeface="Calibri"/>
              <a:cs typeface="Calibri"/>
              <a:sym typeface="Calibri"/>
            </a:endParaRPr>
          </a:p>
        </p:txBody>
      </p:sp>
      <p:sp>
        <p:nvSpPr>
          <p:cNvPr id="344" name="Google Shape;344;p34"/>
          <p:cNvSpPr txBox="1"/>
          <p:nvPr/>
        </p:nvSpPr>
        <p:spPr>
          <a:xfrm>
            <a:off x="886054" y="1695298"/>
            <a:ext cx="2067458"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1000"/>
              <a:buFont typeface="Barlow"/>
              <a:buNone/>
            </a:pPr>
            <a:r>
              <a:rPr lang="en-US" sz="1000">
                <a:solidFill>
                  <a:srgbClr val="5F6B7A"/>
                </a:solidFill>
                <a:latin typeface="Barlow"/>
                <a:ea typeface="Barlow"/>
                <a:cs typeface="Barlow"/>
                <a:sym typeface="Barlow"/>
              </a:rPr>
              <a:t>Product Owner · Mobile Lead</a:t>
            </a:r>
            <a:endParaRPr sz="1000">
              <a:solidFill>
                <a:schemeClr val="dk1"/>
              </a:solidFill>
              <a:latin typeface="Calibri"/>
              <a:ea typeface="Calibri"/>
              <a:cs typeface="Calibri"/>
              <a:sym typeface="Calibri"/>
            </a:endParaRPr>
          </a:p>
        </p:txBody>
      </p:sp>
      <p:sp>
        <p:nvSpPr>
          <p:cNvPr id="345" name="Google Shape;345;p34"/>
          <p:cNvSpPr txBox="1"/>
          <p:nvPr/>
        </p:nvSpPr>
        <p:spPr>
          <a:xfrm>
            <a:off x="3066898" y="1193800"/>
            <a:ext cx="914400" cy="4318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F6B7A"/>
              </a:buClr>
              <a:buSzPts val="1000"/>
              <a:buFont typeface="Barlow"/>
              <a:buNone/>
            </a:pPr>
            <a:r>
              <a:rPr i="1" lang="en-US" sz="1000">
                <a:solidFill>
                  <a:srgbClr val="5F6B7A"/>
                </a:solidFill>
                <a:latin typeface="Barlow"/>
                <a:ea typeface="Barlow"/>
                <a:cs typeface="Barlow"/>
                <a:sym typeface="Barlow"/>
              </a:rPr>
              <a:t>escalation</a:t>
            </a:r>
            <a:endParaRPr sz="1000">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5F6B7A"/>
              </a:buClr>
              <a:buSzPts val="1000"/>
              <a:buFont typeface="Barlow"/>
              <a:buNone/>
            </a:pPr>
            <a:r>
              <a:rPr i="1" lang="en-US" sz="1000">
                <a:solidFill>
                  <a:srgbClr val="5F6B7A"/>
                </a:solidFill>
                <a:latin typeface="Barlow"/>
                <a:ea typeface="Barlow"/>
                <a:cs typeface="Barlow"/>
                <a:sym typeface="Barlow"/>
              </a:rPr>
              <a:t>only</a:t>
            </a:r>
            <a:endParaRPr sz="1000">
              <a:solidFill>
                <a:schemeClr val="dk1"/>
              </a:solidFill>
              <a:latin typeface="Calibri"/>
              <a:ea typeface="Calibri"/>
              <a:cs typeface="Calibri"/>
              <a:sym typeface="Calibri"/>
            </a:endParaRPr>
          </a:p>
        </p:txBody>
      </p:sp>
      <p:sp>
        <p:nvSpPr>
          <p:cNvPr id="346" name="Google Shape;346;p34"/>
          <p:cNvSpPr txBox="1"/>
          <p:nvPr/>
        </p:nvSpPr>
        <p:spPr>
          <a:xfrm>
            <a:off x="4648200" y="1447495"/>
            <a:ext cx="2032000" cy="1335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ontserrat"/>
              <a:buNone/>
            </a:pPr>
            <a:r>
              <a:rPr b="1" lang="en-US" sz="1000">
                <a:solidFill>
                  <a:srgbClr val="FFFFFF"/>
                </a:solidFill>
                <a:latin typeface="Montserrat"/>
                <a:ea typeface="Montserrat"/>
                <a:cs typeface="Montserrat"/>
                <a:sym typeface="Montserrat"/>
              </a:rPr>
              <a:t>CMC TL · iOS (Cand. A)</a:t>
            </a:r>
            <a:endParaRPr sz="1000">
              <a:solidFill>
                <a:schemeClr val="dk1"/>
              </a:solidFill>
              <a:latin typeface="Calibri"/>
              <a:ea typeface="Calibri"/>
              <a:cs typeface="Calibri"/>
              <a:sym typeface="Calibri"/>
            </a:endParaRPr>
          </a:p>
        </p:txBody>
      </p:sp>
      <p:sp>
        <p:nvSpPr>
          <p:cNvPr id="347" name="Google Shape;347;p34"/>
          <p:cNvSpPr txBox="1"/>
          <p:nvPr/>
        </p:nvSpPr>
        <p:spPr>
          <a:xfrm>
            <a:off x="4648200" y="1695298"/>
            <a:ext cx="20320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E6F5"/>
              </a:buClr>
              <a:buSzPts val="1000"/>
              <a:buFont typeface="Barlow"/>
              <a:buNone/>
            </a:pPr>
            <a:r>
              <a:rPr lang="en-US" sz="1000">
                <a:solidFill>
                  <a:srgbClr val="DCE6F5"/>
                </a:solidFill>
                <a:latin typeface="Barlow"/>
                <a:ea typeface="Barlow"/>
                <a:cs typeface="Barlow"/>
                <a:sym typeface="Barlow"/>
              </a:rPr>
              <a:t>Escalation · reviews</a:t>
            </a:r>
            <a:endParaRPr sz="1000">
              <a:solidFill>
                <a:schemeClr val="dk1"/>
              </a:solidFill>
              <a:latin typeface="Calibri"/>
              <a:ea typeface="Calibri"/>
              <a:cs typeface="Calibri"/>
              <a:sym typeface="Calibri"/>
            </a:endParaRPr>
          </a:p>
        </p:txBody>
      </p:sp>
      <p:sp>
        <p:nvSpPr>
          <p:cNvPr id="348" name="Google Shape;348;p34"/>
          <p:cNvSpPr txBox="1"/>
          <p:nvPr/>
        </p:nvSpPr>
        <p:spPr>
          <a:xfrm>
            <a:off x="3416300" y="3124505"/>
            <a:ext cx="1066800" cy="1335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iOS</a:t>
            </a:r>
            <a:endParaRPr sz="1000">
              <a:solidFill>
                <a:schemeClr val="dk1"/>
              </a:solidFill>
              <a:latin typeface="Calibri"/>
              <a:ea typeface="Calibri"/>
              <a:cs typeface="Calibri"/>
              <a:sym typeface="Calibri"/>
            </a:endParaRPr>
          </a:p>
        </p:txBody>
      </p:sp>
      <p:sp>
        <p:nvSpPr>
          <p:cNvPr id="349" name="Google Shape;349;p34"/>
          <p:cNvSpPr txBox="1"/>
          <p:nvPr/>
        </p:nvSpPr>
        <p:spPr>
          <a:xfrm>
            <a:off x="3416300" y="3353105"/>
            <a:ext cx="10668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1000"/>
              <a:buFont typeface="Barlow"/>
              <a:buNone/>
            </a:pPr>
            <a:r>
              <a:rPr lang="en-US" sz="1000">
                <a:solidFill>
                  <a:srgbClr val="5F6B7A"/>
                </a:solidFill>
                <a:latin typeface="Barlow"/>
                <a:ea typeface="Barlow"/>
                <a:cs typeface="Barlow"/>
                <a:sym typeface="Barlow"/>
              </a:rPr>
              <a:t>Cand. B (Sr)</a:t>
            </a:r>
            <a:endParaRPr sz="1000">
              <a:solidFill>
                <a:schemeClr val="dk1"/>
              </a:solidFill>
              <a:latin typeface="Calibri"/>
              <a:ea typeface="Calibri"/>
              <a:cs typeface="Calibri"/>
              <a:sym typeface="Calibri"/>
            </a:endParaRPr>
          </a:p>
        </p:txBody>
      </p:sp>
      <p:sp>
        <p:nvSpPr>
          <p:cNvPr id="350" name="Google Shape;350;p34"/>
          <p:cNvSpPr txBox="1"/>
          <p:nvPr/>
        </p:nvSpPr>
        <p:spPr>
          <a:xfrm>
            <a:off x="4635500" y="3124505"/>
            <a:ext cx="1066800" cy="1335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Android</a:t>
            </a:r>
            <a:endParaRPr sz="1000">
              <a:solidFill>
                <a:schemeClr val="dk1"/>
              </a:solidFill>
              <a:latin typeface="Calibri"/>
              <a:ea typeface="Calibri"/>
              <a:cs typeface="Calibri"/>
              <a:sym typeface="Calibri"/>
            </a:endParaRPr>
          </a:p>
        </p:txBody>
      </p:sp>
      <p:sp>
        <p:nvSpPr>
          <p:cNvPr id="351" name="Google Shape;351;p34"/>
          <p:cNvSpPr txBox="1"/>
          <p:nvPr/>
        </p:nvSpPr>
        <p:spPr>
          <a:xfrm>
            <a:off x="4635500" y="3353105"/>
            <a:ext cx="10668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1000"/>
              <a:buFont typeface="Barlow"/>
              <a:buNone/>
            </a:pPr>
            <a:r>
              <a:rPr lang="en-US" sz="1000">
                <a:solidFill>
                  <a:srgbClr val="5F6B7A"/>
                </a:solidFill>
                <a:latin typeface="Barlow"/>
                <a:ea typeface="Barlow"/>
                <a:cs typeface="Barlow"/>
                <a:sym typeface="Barlow"/>
              </a:rPr>
              <a:t>Cand. C (Sr)</a:t>
            </a:r>
            <a:endParaRPr sz="1000">
              <a:solidFill>
                <a:schemeClr val="dk1"/>
              </a:solidFill>
              <a:latin typeface="Calibri"/>
              <a:ea typeface="Calibri"/>
              <a:cs typeface="Calibri"/>
              <a:sym typeface="Calibri"/>
            </a:endParaRPr>
          </a:p>
        </p:txBody>
      </p:sp>
      <p:sp>
        <p:nvSpPr>
          <p:cNvPr id="352" name="Google Shape;352;p34"/>
          <p:cNvSpPr txBox="1"/>
          <p:nvPr/>
        </p:nvSpPr>
        <p:spPr>
          <a:xfrm>
            <a:off x="457200" y="3838651"/>
            <a:ext cx="6305702" cy="124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1 Team Leader + 3 engineers (4 HC), 100% onsite in Seoul · Team Leader sends the daily report to Qcells</a:t>
            </a:r>
            <a:endParaRPr sz="1000">
              <a:solidFill>
                <a:schemeClr val="dk1"/>
              </a:solidFill>
              <a:latin typeface="Calibri"/>
              <a:ea typeface="Calibri"/>
              <a:cs typeface="Calibri"/>
              <a:sym typeface="Calibri"/>
            </a:endParaRPr>
          </a:p>
        </p:txBody>
      </p:sp>
      <p:sp>
        <p:nvSpPr>
          <p:cNvPr id="353" name="Google Shape;353;p34"/>
          <p:cNvSpPr txBox="1"/>
          <p:nvPr/>
        </p:nvSpPr>
        <p:spPr>
          <a:xfrm>
            <a:off x="638251" y="4496105"/>
            <a:ext cx="59436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CMC Global support (Vietnam) — not billed, not onsite</a:t>
            </a:r>
            <a:endParaRPr sz="1000">
              <a:solidFill>
                <a:schemeClr val="dk1"/>
              </a:solidFill>
              <a:latin typeface="Calibri"/>
              <a:ea typeface="Calibri"/>
              <a:cs typeface="Calibri"/>
              <a:sym typeface="Calibri"/>
            </a:endParaRPr>
          </a:p>
        </p:txBody>
      </p:sp>
      <p:sp>
        <p:nvSpPr>
          <p:cNvPr id="354" name="Google Shape;354;p34"/>
          <p:cNvSpPr txBox="1"/>
          <p:nvPr/>
        </p:nvSpPr>
        <p:spPr>
          <a:xfrm>
            <a:off x="638251" y="5277002"/>
            <a:ext cx="1877263" cy="124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Backup / replacement bench</a:t>
            </a:r>
            <a:endParaRPr sz="1000">
              <a:solidFill>
                <a:schemeClr val="dk1"/>
              </a:solidFill>
              <a:latin typeface="Calibri"/>
              <a:ea typeface="Calibri"/>
              <a:cs typeface="Calibri"/>
              <a:sym typeface="Calibri"/>
            </a:endParaRPr>
          </a:p>
        </p:txBody>
      </p:sp>
      <p:sp>
        <p:nvSpPr>
          <p:cNvPr id="355" name="Google Shape;355;p34"/>
          <p:cNvSpPr txBox="1"/>
          <p:nvPr/>
        </p:nvSpPr>
        <p:spPr>
          <a:xfrm>
            <a:off x="638251" y="5524805"/>
            <a:ext cx="1877263" cy="2670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Korean-speaking mobile engineers on standby</a:t>
            </a:r>
            <a:endParaRPr sz="1000">
              <a:solidFill>
                <a:schemeClr val="dk1"/>
              </a:solidFill>
              <a:latin typeface="Calibri"/>
              <a:ea typeface="Calibri"/>
              <a:cs typeface="Calibri"/>
              <a:sym typeface="Calibri"/>
            </a:endParaRPr>
          </a:p>
        </p:txBody>
      </p:sp>
      <p:sp>
        <p:nvSpPr>
          <p:cNvPr id="356" name="Google Shape;356;p34"/>
          <p:cNvSpPr txBox="1"/>
          <p:nvPr/>
        </p:nvSpPr>
        <p:spPr>
          <a:xfrm>
            <a:off x="2648102" y="5277002"/>
            <a:ext cx="1877263" cy="124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Mobile technical advisors</a:t>
            </a:r>
            <a:endParaRPr sz="1000">
              <a:solidFill>
                <a:schemeClr val="dk1"/>
              </a:solidFill>
              <a:latin typeface="Calibri"/>
              <a:ea typeface="Calibri"/>
              <a:cs typeface="Calibri"/>
              <a:sym typeface="Calibri"/>
            </a:endParaRPr>
          </a:p>
        </p:txBody>
      </p:sp>
      <p:sp>
        <p:nvSpPr>
          <p:cNvPr id="357" name="Google Shape;357;p34"/>
          <p:cNvSpPr txBox="1"/>
          <p:nvPr/>
        </p:nvSpPr>
        <p:spPr>
          <a:xfrm>
            <a:off x="2648102" y="5524805"/>
            <a:ext cx="1877263" cy="2670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Architecture and BLE/offline-sync reviews on request</a:t>
            </a:r>
            <a:endParaRPr sz="1000">
              <a:solidFill>
                <a:schemeClr val="dk1"/>
              </a:solidFill>
              <a:latin typeface="Calibri"/>
              <a:ea typeface="Calibri"/>
              <a:cs typeface="Calibri"/>
              <a:sym typeface="Calibri"/>
            </a:endParaRPr>
          </a:p>
        </p:txBody>
      </p:sp>
      <p:sp>
        <p:nvSpPr>
          <p:cNvPr id="358" name="Google Shape;358;p34"/>
          <p:cNvSpPr txBox="1"/>
          <p:nvPr/>
        </p:nvSpPr>
        <p:spPr>
          <a:xfrm>
            <a:off x="4667098" y="5277002"/>
            <a:ext cx="1877263" cy="124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QA &amp; CI/CD support</a:t>
            </a:r>
            <a:endParaRPr sz="1000">
              <a:solidFill>
                <a:schemeClr val="dk1"/>
              </a:solidFill>
              <a:latin typeface="Calibri"/>
              <a:ea typeface="Calibri"/>
              <a:cs typeface="Calibri"/>
              <a:sym typeface="Calibri"/>
            </a:endParaRPr>
          </a:p>
        </p:txBody>
      </p:sp>
      <p:sp>
        <p:nvSpPr>
          <p:cNvPr id="359" name="Google Shape;359;p34"/>
          <p:cNvSpPr txBox="1"/>
          <p:nvPr/>
        </p:nvSpPr>
        <p:spPr>
          <a:xfrm>
            <a:off x="4667098" y="5524805"/>
            <a:ext cx="1877263" cy="2670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Test automation and pipeline help if Qcells requests it</a:t>
            </a:r>
            <a:endParaRPr sz="1000">
              <a:solidFill>
                <a:schemeClr val="dk1"/>
              </a:solidFill>
              <a:latin typeface="Calibri"/>
              <a:ea typeface="Calibri"/>
              <a:cs typeface="Calibri"/>
              <a:sym typeface="Calibri"/>
            </a:endParaRPr>
          </a:p>
        </p:txBody>
      </p:sp>
      <p:sp>
        <p:nvSpPr>
          <p:cNvPr id="360" name="Google Shape;360;p34"/>
          <p:cNvSpPr txBox="1"/>
          <p:nvPr/>
        </p:nvSpPr>
        <p:spPr>
          <a:xfrm>
            <a:off x="7315200" y="1524305"/>
            <a:ext cx="421081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Montserrat"/>
              <a:buNone/>
            </a:pPr>
            <a:r>
              <a:rPr b="1" lang="en-US" sz="1050">
                <a:solidFill>
                  <a:srgbClr val="0B2F5B"/>
                </a:solidFill>
                <a:latin typeface="Montserrat"/>
                <a:ea typeface="Montserrat"/>
                <a:cs typeface="Montserrat"/>
                <a:sym typeface="Montserrat"/>
              </a:rPr>
              <a:t>Single points of contact</a:t>
            </a:r>
            <a:endParaRPr sz="1050">
              <a:solidFill>
                <a:schemeClr val="dk1"/>
              </a:solidFill>
              <a:latin typeface="Calibri"/>
              <a:ea typeface="Calibri"/>
              <a:cs typeface="Calibri"/>
              <a:sym typeface="Calibri"/>
            </a:endParaRPr>
          </a:p>
        </p:txBody>
      </p:sp>
      <p:sp>
        <p:nvSpPr>
          <p:cNvPr id="361" name="Google Shape;361;p34"/>
          <p:cNvSpPr txBox="1"/>
          <p:nvPr/>
        </p:nvSpPr>
        <p:spPr>
          <a:xfrm>
            <a:off x="8001000" y="2009851"/>
            <a:ext cx="3562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Onboarding</a:t>
            </a:r>
            <a:endParaRPr sz="1000">
              <a:solidFill>
                <a:schemeClr val="dk1"/>
              </a:solidFill>
              <a:latin typeface="Calibri"/>
              <a:ea typeface="Calibri"/>
              <a:cs typeface="Calibri"/>
              <a:sym typeface="Calibri"/>
            </a:endParaRPr>
          </a:p>
        </p:txBody>
      </p:sp>
      <p:sp>
        <p:nvSpPr>
          <p:cNvPr id="362" name="Google Shape;362;p34"/>
          <p:cNvSpPr txBox="1"/>
          <p:nvPr/>
        </p:nvSpPr>
        <p:spPr>
          <a:xfrm>
            <a:off x="8001000" y="2257654"/>
            <a:ext cx="3762756"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Team Leader (Cand. A) onsite + 3 members</a:t>
            </a:r>
            <a:endParaRPr sz="1000">
              <a:solidFill>
                <a:schemeClr val="dk1"/>
              </a:solidFill>
              <a:latin typeface="Calibri"/>
              <a:ea typeface="Calibri"/>
              <a:cs typeface="Calibri"/>
              <a:sym typeface="Calibri"/>
            </a:endParaRPr>
          </a:p>
        </p:txBody>
      </p:sp>
      <p:sp>
        <p:nvSpPr>
          <p:cNvPr id="363" name="Google Shape;363;p34"/>
          <p:cNvSpPr txBox="1"/>
          <p:nvPr/>
        </p:nvSpPr>
        <p:spPr>
          <a:xfrm>
            <a:off x="8001000" y="3038551"/>
            <a:ext cx="3562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Performance management</a:t>
            </a:r>
            <a:endParaRPr sz="1000">
              <a:solidFill>
                <a:schemeClr val="dk1"/>
              </a:solidFill>
              <a:latin typeface="Calibri"/>
              <a:ea typeface="Calibri"/>
              <a:cs typeface="Calibri"/>
              <a:sym typeface="Calibri"/>
            </a:endParaRPr>
          </a:p>
        </p:txBody>
      </p:sp>
      <p:sp>
        <p:nvSpPr>
          <p:cNvPr id="364" name="Google Shape;364;p34"/>
          <p:cNvSpPr txBox="1"/>
          <p:nvPr/>
        </p:nvSpPr>
        <p:spPr>
          <a:xfrm>
            <a:off x="8001000" y="3286354"/>
            <a:ext cx="35560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Delivery Manager — monthly review with Qcells lead</a:t>
            </a:r>
            <a:endParaRPr sz="1000">
              <a:solidFill>
                <a:schemeClr val="dk1"/>
              </a:solidFill>
              <a:latin typeface="Calibri"/>
              <a:ea typeface="Calibri"/>
              <a:cs typeface="Calibri"/>
              <a:sym typeface="Calibri"/>
            </a:endParaRPr>
          </a:p>
        </p:txBody>
      </p:sp>
      <p:sp>
        <p:nvSpPr>
          <p:cNvPr id="365" name="Google Shape;365;p34"/>
          <p:cNvSpPr txBox="1"/>
          <p:nvPr/>
        </p:nvSpPr>
        <p:spPr>
          <a:xfrm>
            <a:off x="8001000" y="4058107"/>
            <a:ext cx="3562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Escalation</a:t>
            </a:r>
            <a:endParaRPr sz="1000">
              <a:solidFill>
                <a:schemeClr val="dk1"/>
              </a:solidFill>
              <a:latin typeface="Calibri"/>
              <a:ea typeface="Calibri"/>
              <a:cs typeface="Calibri"/>
              <a:sym typeface="Calibri"/>
            </a:endParaRPr>
          </a:p>
        </p:txBody>
      </p:sp>
      <p:sp>
        <p:nvSpPr>
          <p:cNvPr id="366" name="Google Shape;366;p34"/>
          <p:cNvSpPr txBox="1"/>
          <p:nvPr/>
        </p:nvSpPr>
        <p:spPr>
          <a:xfrm>
            <a:off x="8001000" y="4267047"/>
            <a:ext cx="3556000" cy="33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L1: Team Leader (Cand. A) · L2: Delivery Manager, on Qcells' escalation</a:t>
            </a:r>
            <a:endParaRPr sz="1000">
              <a:solidFill>
                <a:schemeClr val="dk1"/>
              </a:solidFill>
              <a:latin typeface="Calibri"/>
              <a:ea typeface="Calibri"/>
              <a:cs typeface="Calibri"/>
              <a:sym typeface="Calibri"/>
            </a:endParaRPr>
          </a:p>
        </p:txBody>
      </p:sp>
      <p:sp>
        <p:nvSpPr>
          <p:cNvPr id="367" name="Google Shape;367;p34"/>
          <p:cNvSpPr txBox="1"/>
          <p:nvPr/>
        </p:nvSpPr>
        <p:spPr>
          <a:xfrm>
            <a:off x="8001000" y="5086807"/>
            <a:ext cx="3562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Invoicing</a:t>
            </a:r>
            <a:endParaRPr sz="1000">
              <a:solidFill>
                <a:schemeClr val="dk1"/>
              </a:solidFill>
              <a:latin typeface="Calibri"/>
              <a:ea typeface="Calibri"/>
              <a:cs typeface="Calibri"/>
              <a:sym typeface="Calibri"/>
            </a:endParaRPr>
          </a:p>
        </p:txBody>
      </p:sp>
      <p:sp>
        <p:nvSpPr>
          <p:cNvPr id="368" name="Google Shape;368;p34"/>
          <p:cNvSpPr txBox="1"/>
          <p:nvPr/>
        </p:nvSpPr>
        <p:spPr>
          <a:xfrm>
            <a:off x="8001000" y="5333695"/>
            <a:ext cx="35560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To be provided after Hanwha's feedback on this proposal</a:t>
            </a:r>
            <a:endParaRPr sz="1000">
              <a:solidFill>
                <a:schemeClr val="dk1"/>
              </a:solidFill>
              <a:latin typeface="Calibri"/>
              <a:ea typeface="Calibri"/>
              <a:cs typeface="Calibri"/>
              <a:sym typeface="Calibri"/>
            </a:endParaRPr>
          </a:p>
        </p:txBody>
      </p:sp>
      <p:sp>
        <p:nvSpPr>
          <p:cNvPr id="369" name="Google Shape;369;p34"/>
          <p:cNvSpPr txBox="1"/>
          <p:nvPr/>
        </p:nvSpPr>
        <p:spPr>
          <a:xfrm>
            <a:off x="11277295" y="6476695"/>
            <a:ext cx="457200" cy="11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Barlow"/>
              <a:buNone/>
            </a:pPr>
            <a:r>
              <a:rPr lang="en-US" sz="1000">
                <a:solidFill>
                  <a:srgbClr val="FFFFFF"/>
                </a:solidFill>
                <a:latin typeface="Barlow"/>
                <a:ea typeface="Barlow"/>
                <a:cs typeface="Barlow"/>
                <a:sym typeface="Barlow"/>
              </a:rPr>
              <a:t>11 / 20</a:t>
            </a:r>
            <a:endParaRPr sz="1000">
              <a:solidFill>
                <a:schemeClr val="dk1"/>
              </a:solidFill>
              <a:latin typeface="Calibri"/>
              <a:ea typeface="Calibri"/>
              <a:cs typeface="Calibri"/>
              <a:sym typeface="Calibri"/>
            </a:endParaRPr>
          </a:p>
        </p:txBody>
      </p:sp>
      <p:sp>
        <p:nvSpPr>
          <p:cNvPr id="370" name="Google Shape;370;p34"/>
          <p:cNvSpPr/>
          <p:nvPr/>
        </p:nvSpPr>
        <p:spPr>
          <a:xfrm>
            <a:off x="4019702" y="1428120"/>
            <a:ext cx="504749" cy="504749"/>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2db8469e8264f14683deb2d362f515fa.png" id="371" name="Google Shape;371;p34"/>
          <p:cNvPicPr preferRelativeResize="0"/>
          <p:nvPr/>
        </p:nvPicPr>
        <p:blipFill rotWithShape="1">
          <a:blip r:embed="rId12">
            <a:alphaModFix/>
          </a:blip>
          <a:srcRect b="0" l="0" r="0" t="0"/>
          <a:stretch/>
        </p:blipFill>
        <p:spPr>
          <a:xfrm>
            <a:off x="4153204" y="1580825"/>
            <a:ext cx="237744" cy="237744"/>
          </a:xfrm>
          <a:prstGeom prst="rect">
            <a:avLst/>
          </a:prstGeom>
          <a:noFill/>
          <a:ln>
            <a:noFill/>
          </a:ln>
        </p:spPr>
      </p:pic>
      <p:sp>
        <p:nvSpPr>
          <p:cNvPr id="372" name="Google Shape;372;p34"/>
          <p:cNvSpPr/>
          <p:nvPr/>
        </p:nvSpPr>
        <p:spPr>
          <a:xfrm>
            <a:off x="5854700" y="2648102"/>
            <a:ext cx="1066800" cy="1009498"/>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ee49ba211c2d020ab97ef7fdd83d819b.png" id="373" name="Google Shape;373;p34"/>
          <p:cNvPicPr preferRelativeResize="0"/>
          <p:nvPr/>
        </p:nvPicPr>
        <p:blipFill rotWithShape="1">
          <a:blip r:embed="rId6">
            <a:alphaModFix/>
          </a:blip>
          <a:srcRect b="0" l="-400" r="-400" t="0"/>
          <a:stretch/>
        </p:blipFill>
        <p:spPr>
          <a:xfrm>
            <a:off x="6375400" y="2419502"/>
            <a:ext cx="19202" cy="228600"/>
          </a:xfrm>
          <a:prstGeom prst="rect">
            <a:avLst/>
          </a:prstGeom>
          <a:noFill/>
          <a:ln>
            <a:noFill/>
          </a:ln>
        </p:spPr>
      </p:pic>
      <p:pic>
        <p:nvPicPr>
          <p:cNvPr descr="gen-dedup-3089d98ba100676462818f6f6dbbf8f0.png" id="374" name="Google Shape;374;p34"/>
          <p:cNvPicPr preferRelativeResize="0"/>
          <p:nvPr/>
        </p:nvPicPr>
        <p:blipFill rotWithShape="1">
          <a:blip r:embed="rId8">
            <a:alphaModFix/>
          </a:blip>
          <a:srcRect b="0" l="0" r="0" t="0"/>
          <a:stretch/>
        </p:blipFill>
        <p:spPr>
          <a:xfrm>
            <a:off x="6248400" y="2762402"/>
            <a:ext cx="276149" cy="276149"/>
          </a:xfrm>
          <a:prstGeom prst="rect">
            <a:avLst/>
          </a:prstGeom>
          <a:noFill/>
          <a:ln>
            <a:noFill/>
          </a:ln>
        </p:spPr>
      </p:pic>
      <p:sp>
        <p:nvSpPr>
          <p:cNvPr id="375" name="Google Shape;375;p34"/>
          <p:cNvSpPr txBox="1"/>
          <p:nvPr/>
        </p:nvSpPr>
        <p:spPr>
          <a:xfrm>
            <a:off x="5854700" y="3124505"/>
            <a:ext cx="1066800" cy="1335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Android</a:t>
            </a:r>
            <a:endParaRPr sz="1000">
              <a:solidFill>
                <a:schemeClr val="dk1"/>
              </a:solidFill>
              <a:latin typeface="Calibri"/>
              <a:ea typeface="Calibri"/>
              <a:cs typeface="Calibri"/>
              <a:sym typeface="Calibri"/>
            </a:endParaRPr>
          </a:p>
        </p:txBody>
      </p:sp>
      <p:sp>
        <p:nvSpPr>
          <p:cNvPr id="376" name="Google Shape;376;p34"/>
          <p:cNvSpPr txBox="1"/>
          <p:nvPr/>
        </p:nvSpPr>
        <p:spPr>
          <a:xfrm>
            <a:off x="5854700" y="3353105"/>
            <a:ext cx="10668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1000"/>
              <a:buFont typeface="Barlow"/>
              <a:buNone/>
            </a:pPr>
            <a:r>
              <a:rPr lang="en-US" sz="1000">
                <a:solidFill>
                  <a:srgbClr val="5F6B7A"/>
                </a:solidFill>
                <a:latin typeface="Barlow"/>
                <a:ea typeface="Barlow"/>
                <a:cs typeface="Barlow"/>
                <a:sym typeface="Barlow"/>
              </a:rPr>
              <a:t>Cand. D (Mid-Sr)</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cxnSp>
        <p:nvCxnSpPr>
          <p:cNvPr id="381" name="Google Shape;381;p35"/>
          <p:cNvCxnSpPr/>
          <p:nvPr/>
        </p:nvCxnSpPr>
        <p:spPr>
          <a:xfrm>
            <a:off x="457200" y="1840000"/>
            <a:ext cx="11277600" cy="0"/>
          </a:xfrm>
          <a:prstGeom prst="straightConnector1">
            <a:avLst/>
          </a:prstGeom>
          <a:noFill/>
          <a:ln cap="flat" cmpd="sng" w="12700">
            <a:solidFill>
              <a:srgbClr val="0B2F5B"/>
            </a:solidFill>
            <a:prstDash val="solid"/>
            <a:round/>
            <a:headEnd len="sm" w="sm" type="none"/>
            <a:tailEnd len="sm" w="sm" type="none"/>
          </a:ln>
        </p:spPr>
      </p:cxnSp>
      <p:cxnSp>
        <p:nvCxnSpPr>
          <p:cNvPr id="382" name="Google Shape;382;p35"/>
          <p:cNvCxnSpPr/>
          <p:nvPr/>
        </p:nvCxnSpPr>
        <p:spPr>
          <a:xfrm>
            <a:off x="6246391" y="1540000"/>
            <a:ext cx="0" cy="3560000"/>
          </a:xfrm>
          <a:prstGeom prst="straightConnector1">
            <a:avLst/>
          </a:prstGeom>
          <a:noFill/>
          <a:ln cap="flat" cmpd="sng" w="9525">
            <a:solidFill>
              <a:srgbClr val="D9DEE5"/>
            </a:solidFill>
            <a:prstDash val="solid"/>
            <a:round/>
            <a:headEnd len="sm" w="sm" type="none"/>
            <a:tailEnd len="sm" w="sm" type="none"/>
          </a:ln>
        </p:spPr>
      </p:cxnSp>
      <p:cxnSp>
        <p:nvCxnSpPr>
          <p:cNvPr id="383" name="Google Shape;383;p35"/>
          <p:cNvCxnSpPr/>
          <p:nvPr/>
        </p:nvCxnSpPr>
        <p:spPr>
          <a:xfrm>
            <a:off x="8945609" y="1540000"/>
            <a:ext cx="0" cy="3560000"/>
          </a:xfrm>
          <a:prstGeom prst="straightConnector1">
            <a:avLst/>
          </a:prstGeom>
          <a:noFill/>
          <a:ln cap="flat" cmpd="sng" w="9525">
            <a:solidFill>
              <a:srgbClr val="D9DEE5"/>
            </a:solidFill>
            <a:prstDash val="solid"/>
            <a:round/>
            <a:headEnd len="sm" w="sm" type="none"/>
            <a:tailEnd len="sm" w="sm" type="none"/>
          </a:ln>
        </p:spPr>
      </p:cxnSp>
      <p:cxnSp>
        <p:nvCxnSpPr>
          <p:cNvPr id="384" name="Google Shape;384;p35"/>
          <p:cNvCxnSpPr/>
          <p:nvPr/>
        </p:nvCxnSpPr>
        <p:spPr>
          <a:xfrm>
            <a:off x="4446913" y="1300000"/>
            <a:ext cx="0" cy="3380000"/>
          </a:xfrm>
          <a:prstGeom prst="straightConnector1">
            <a:avLst/>
          </a:prstGeom>
          <a:noFill/>
          <a:ln cap="flat" cmpd="sng" w="9525">
            <a:solidFill>
              <a:srgbClr val="1867DC"/>
            </a:solidFill>
            <a:prstDash val="dash"/>
            <a:round/>
            <a:headEnd len="sm" w="sm" type="none"/>
            <a:tailEnd len="sm" w="sm" type="none"/>
          </a:ln>
        </p:spPr>
      </p:cxnSp>
      <p:cxnSp>
        <p:nvCxnSpPr>
          <p:cNvPr id="385" name="Google Shape;385;p35"/>
          <p:cNvCxnSpPr/>
          <p:nvPr/>
        </p:nvCxnSpPr>
        <p:spPr>
          <a:xfrm>
            <a:off x="6336365" y="1300000"/>
            <a:ext cx="0" cy="3380000"/>
          </a:xfrm>
          <a:prstGeom prst="straightConnector1">
            <a:avLst/>
          </a:prstGeom>
          <a:noFill/>
          <a:ln cap="flat" cmpd="sng" w="9525">
            <a:solidFill>
              <a:srgbClr val="1867DC"/>
            </a:solidFill>
            <a:prstDash val="dash"/>
            <a:round/>
            <a:headEnd len="sm" w="sm" type="none"/>
            <a:tailEnd len="sm" w="sm" type="none"/>
          </a:ln>
        </p:spPr>
      </p:cxnSp>
      <p:cxnSp>
        <p:nvCxnSpPr>
          <p:cNvPr id="386" name="Google Shape;386;p35"/>
          <p:cNvCxnSpPr/>
          <p:nvPr/>
        </p:nvCxnSpPr>
        <p:spPr>
          <a:xfrm>
            <a:off x="457200" y="2580000"/>
            <a:ext cx="11277600" cy="0"/>
          </a:xfrm>
          <a:prstGeom prst="straightConnector1">
            <a:avLst/>
          </a:prstGeom>
          <a:noFill/>
          <a:ln cap="flat" cmpd="sng" w="9525">
            <a:solidFill>
              <a:srgbClr val="D9DEE5"/>
            </a:solidFill>
            <a:prstDash val="solid"/>
            <a:round/>
            <a:headEnd len="sm" w="sm" type="none"/>
            <a:tailEnd len="sm" w="sm" type="none"/>
          </a:ln>
        </p:spPr>
      </p:cxnSp>
      <p:cxnSp>
        <p:nvCxnSpPr>
          <p:cNvPr id="387" name="Google Shape;387;p35"/>
          <p:cNvCxnSpPr/>
          <p:nvPr/>
        </p:nvCxnSpPr>
        <p:spPr>
          <a:xfrm>
            <a:off x="457200" y="3280000"/>
            <a:ext cx="11277600" cy="0"/>
          </a:xfrm>
          <a:prstGeom prst="straightConnector1">
            <a:avLst/>
          </a:prstGeom>
          <a:noFill/>
          <a:ln cap="flat" cmpd="sng" w="9525">
            <a:solidFill>
              <a:srgbClr val="D9DEE5"/>
            </a:solidFill>
            <a:prstDash val="solid"/>
            <a:round/>
            <a:headEnd len="sm" w="sm" type="none"/>
            <a:tailEnd len="sm" w="sm" type="none"/>
          </a:ln>
        </p:spPr>
      </p:cxnSp>
      <p:cxnSp>
        <p:nvCxnSpPr>
          <p:cNvPr id="388" name="Google Shape;388;p35"/>
          <p:cNvCxnSpPr/>
          <p:nvPr/>
        </p:nvCxnSpPr>
        <p:spPr>
          <a:xfrm>
            <a:off x="457200" y="3980000"/>
            <a:ext cx="11277600" cy="0"/>
          </a:xfrm>
          <a:prstGeom prst="straightConnector1">
            <a:avLst/>
          </a:prstGeom>
          <a:noFill/>
          <a:ln cap="flat" cmpd="sng" w="9525">
            <a:solidFill>
              <a:srgbClr val="D9DEE5"/>
            </a:solidFill>
            <a:prstDash val="solid"/>
            <a:round/>
            <a:headEnd len="sm" w="sm" type="none"/>
            <a:tailEnd len="sm" w="sm" type="none"/>
          </a:ln>
        </p:spPr>
      </p:cxnSp>
      <p:cxnSp>
        <p:nvCxnSpPr>
          <p:cNvPr id="389" name="Google Shape;389;p35"/>
          <p:cNvCxnSpPr/>
          <p:nvPr/>
        </p:nvCxnSpPr>
        <p:spPr>
          <a:xfrm>
            <a:off x="457200" y="4680000"/>
            <a:ext cx="11277600" cy="0"/>
          </a:xfrm>
          <a:prstGeom prst="straightConnector1">
            <a:avLst/>
          </a:prstGeom>
          <a:noFill/>
          <a:ln cap="flat" cmpd="sng" w="9525">
            <a:solidFill>
              <a:srgbClr val="D9DEE5"/>
            </a:solidFill>
            <a:prstDash val="solid"/>
            <a:round/>
            <a:headEnd len="sm" w="sm" type="none"/>
            <a:tailEnd len="sm" w="sm" type="none"/>
          </a:ln>
        </p:spPr>
      </p:cxnSp>
      <p:sp>
        <p:nvSpPr>
          <p:cNvPr id="390" name="Google Shape;390;p35"/>
          <p:cNvSpPr txBox="1"/>
          <p:nvPr/>
        </p:nvSpPr>
        <p:spPr>
          <a:xfrm>
            <a:off x="457200" y="4720000"/>
            <a:ext cx="11277600" cy="380000"/>
          </a:xfrm>
          <a:prstGeom prst="rect">
            <a:avLst/>
          </a:prstGeom>
          <a:solidFill>
            <a:srgbClr val="E8F0F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391" name="Google Shape;391;p35"/>
          <p:cNvSpPr txBox="1"/>
          <p:nvPr/>
        </p:nvSpPr>
        <p:spPr>
          <a:xfrm>
            <a:off x="457200" y="323698"/>
            <a:ext cx="9000000" cy="133502"/>
          </a:xfrm>
          <a:prstGeom prst="rect">
            <a:avLst/>
          </a:prstGeom>
          <a:noFill/>
          <a:ln>
            <a:noFill/>
          </a:ln>
        </p:spPr>
        <p:txBody>
          <a:bodyPr anchorCtr="0" anchor="ctr" bIns="0" lIns="0" spcFirstLastPara="1" rIns="0" wrap="square" tIns="0">
            <a:normAutofit fontScale="92500" lnSpcReduction="10000"/>
          </a:bodyPr>
          <a:lstStyle/>
          <a:p>
            <a:pPr indent="0" lvl="0" marL="0" marR="0" rtl="0" algn="l">
              <a:spcBef>
                <a:spcPts val="0"/>
              </a:spcBef>
              <a:spcAft>
                <a:spcPts val="0"/>
              </a:spcAft>
              <a:buClr>
                <a:srgbClr val="1867DC"/>
              </a:buClr>
              <a:buSzPct val="100000"/>
              <a:buFont typeface="Montserrat"/>
              <a:buNone/>
            </a:pPr>
            <a:r>
              <a:rPr b="1" lang="en-US" sz="1000">
                <a:solidFill>
                  <a:srgbClr val="1867DC"/>
                </a:solidFill>
                <a:latin typeface="Montserrat"/>
                <a:ea typeface="Montserrat"/>
                <a:cs typeface="Montserrat"/>
                <a:sym typeface="Montserrat"/>
              </a:rPr>
              <a:t>06 · RESOURCE ROADMAP</a:t>
            </a:r>
            <a:endParaRPr/>
          </a:p>
        </p:txBody>
      </p:sp>
      <p:sp>
        <p:nvSpPr>
          <p:cNvPr id="392" name="Google Shape;392;p35"/>
          <p:cNvSpPr txBox="1"/>
          <p:nvPr/>
        </p:nvSpPr>
        <p:spPr>
          <a:xfrm>
            <a:off x="457200" y="590702"/>
            <a:ext cx="11277600" cy="286207"/>
          </a:xfrm>
          <a:prstGeom prst="rect">
            <a:avLst/>
          </a:prstGeom>
          <a:noFill/>
          <a:ln>
            <a:noFill/>
          </a:ln>
        </p:spPr>
        <p:txBody>
          <a:bodyPr anchorCtr="0" anchor="ctr" bIns="0" lIns="0" spcFirstLastPara="1" rIns="0" wrap="square" tIns="0">
            <a:normAutofit lnSpcReduction="10000"/>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Resource roadmap: 3 engineers from 12 Oct 2026, all 4 onsite from 2 Nov to 31 Dec</a:t>
            </a:r>
            <a:endParaRPr/>
          </a:p>
        </p:txBody>
      </p:sp>
      <p:sp>
        <p:nvSpPr>
          <p:cNvPr id="393" name="Google Shape;393;p35"/>
          <p:cNvSpPr txBox="1"/>
          <p:nvPr/>
        </p:nvSpPr>
        <p:spPr>
          <a:xfrm>
            <a:off x="457200" y="1050000"/>
            <a:ext cx="11277600" cy="17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050"/>
              <a:buFont typeface="Montserrat"/>
              <a:buNone/>
            </a:pPr>
            <a:r>
              <a:rPr b="1" lang="en-US" sz="1050">
                <a:solidFill>
                  <a:srgbClr val="0B2F5B"/>
                </a:solidFill>
                <a:latin typeface="Montserrat"/>
                <a:ea typeface="Montserrat"/>
                <a:cs typeface="Montserrat"/>
                <a:sym typeface="Montserrat"/>
              </a:rPr>
              <a:t>Resource roadmap by engineer, onsite at Qcells Korea (Seoul), Oct–Dec 2026</a:t>
            </a:r>
            <a:endParaRPr/>
          </a:p>
        </p:txBody>
      </p:sp>
      <p:sp>
        <p:nvSpPr>
          <p:cNvPr id="394" name="Google Shape;394;p35"/>
          <p:cNvSpPr txBox="1"/>
          <p:nvPr/>
        </p:nvSpPr>
        <p:spPr>
          <a:xfrm>
            <a:off x="4506913" y="1300000"/>
            <a:ext cx="1750000" cy="19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867DC"/>
              </a:buClr>
              <a:buSzPts val="850"/>
              <a:buFont typeface="Montserrat"/>
              <a:buNone/>
            </a:pPr>
            <a:r>
              <a:rPr b="1" lang="en-US" sz="850">
                <a:solidFill>
                  <a:srgbClr val="1867DC"/>
                </a:solidFill>
                <a:latin typeface="Montserrat"/>
                <a:ea typeface="Montserrat"/>
                <a:cs typeface="Montserrat"/>
                <a:sym typeface="Montserrat"/>
              </a:rPr>
              <a:t>12 OCT · WAVE 1 · 3 HC</a:t>
            </a:r>
            <a:endParaRPr/>
          </a:p>
        </p:txBody>
      </p:sp>
      <p:sp>
        <p:nvSpPr>
          <p:cNvPr id="395" name="Google Shape;395;p35"/>
          <p:cNvSpPr txBox="1"/>
          <p:nvPr/>
        </p:nvSpPr>
        <p:spPr>
          <a:xfrm>
            <a:off x="6396365" y="1300000"/>
            <a:ext cx="1750000" cy="19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867DC"/>
              </a:buClr>
              <a:buSzPts val="850"/>
              <a:buFont typeface="Montserrat"/>
              <a:buNone/>
            </a:pPr>
            <a:r>
              <a:rPr b="1" lang="en-US" sz="850">
                <a:solidFill>
                  <a:srgbClr val="1867DC"/>
                </a:solidFill>
                <a:latin typeface="Montserrat"/>
                <a:ea typeface="Montserrat"/>
                <a:cs typeface="Montserrat"/>
                <a:sym typeface="Montserrat"/>
              </a:rPr>
              <a:t>2 NOV · WAVE 2 · 4 HC</a:t>
            </a:r>
            <a:endParaRPr/>
          </a:p>
        </p:txBody>
      </p:sp>
      <p:sp>
        <p:nvSpPr>
          <p:cNvPr id="396" name="Google Shape;396;p35"/>
          <p:cNvSpPr txBox="1"/>
          <p:nvPr/>
        </p:nvSpPr>
        <p:spPr>
          <a:xfrm>
            <a:off x="457200" y="1540000"/>
            <a:ext cx="3000000" cy="300000"/>
          </a:xfrm>
          <a:prstGeom prst="rect">
            <a:avLst/>
          </a:prstGeom>
          <a:noFill/>
          <a:ln>
            <a:noFill/>
          </a:ln>
        </p:spPr>
        <p:txBody>
          <a:bodyPr anchorCtr="0" anchor="ctr" bIns="0" lIns="72000" spcFirstLastPara="1" rIns="72000" wrap="square" tIns="0">
            <a:normAutofit/>
          </a:bodyPr>
          <a:lstStyle/>
          <a:p>
            <a:pPr indent="0" lvl="0" marL="0" marR="0" rtl="0" algn="l">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Engineer · platform</a:t>
            </a:r>
            <a:endParaRPr/>
          </a:p>
        </p:txBody>
      </p:sp>
      <p:sp>
        <p:nvSpPr>
          <p:cNvPr id="397" name="Google Shape;397;p35"/>
          <p:cNvSpPr txBox="1"/>
          <p:nvPr/>
        </p:nvSpPr>
        <p:spPr>
          <a:xfrm>
            <a:off x="3457200" y="1540000"/>
            <a:ext cx="2789191" cy="3000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Oct 2026</a:t>
            </a:r>
            <a:endParaRPr/>
          </a:p>
        </p:txBody>
      </p:sp>
      <p:sp>
        <p:nvSpPr>
          <p:cNvPr id="398" name="Google Shape;398;p35"/>
          <p:cNvSpPr txBox="1"/>
          <p:nvPr/>
        </p:nvSpPr>
        <p:spPr>
          <a:xfrm>
            <a:off x="6246391" y="1540000"/>
            <a:ext cx="2699217" cy="3000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Nov 2026</a:t>
            </a:r>
            <a:endParaRPr/>
          </a:p>
        </p:txBody>
      </p:sp>
      <p:sp>
        <p:nvSpPr>
          <p:cNvPr id="399" name="Google Shape;399;p35"/>
          <p:cNvSpPr txBox="1"/>
          <p:nvPr/>
        </p:nvSpPr>
        <p:spPr>
          <a:xfrm>
            <a:off x="8945609" y="1540000"/>
            <a:ext cx="2789191" cy="3000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Dec 2026</a:t>
            </a:r>
            <a:endParaRPr/>
          </a:p>
        </p:txBody>
      </p:sp>
      <p:sp>
        <p:nvSpPr>
          <p:cNvPr id="400" name="Google Shape;400;p35"/>
          <p:cNvSpPr txBox="1"/>
          <p:nvPr/>
        </p:nvSpPr>
        <p:spPr>
          <a:xfrm>
            <a:off x="457200" y="2750000"/>
            <a:ext cx="60000" cy="360000"/>
          </a:xfrm>
          <a:prstGeom prst="rect">
            <a:avLst/>
          </a:prstGeom>
          <a:solidFill>
            <a:srgbClr val="1867DC"/>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01" name="Google Shape;401;p35"/>
          <p:cNvSpPr txBox="1"/>
          <p:nvPr/>
        </p:nvSpPr>
        <p:spPr>
          <a:xfrm>
            <a:off x="597200" y="2580000"/>
            <a:ext cx="2860000" cy="70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150"/>
              <a:buFont typeface="Barlow"/>
              <a:buNone/>
            </a:pPr>
            <a:r>
              <a:rPr b="1" lang="en-US" sz="1150">
                <a:solidFill>
                  <a:srgbClr val="0B2F5B"/>
                </a:solidFill>
                <a:latin typeface="Barlow"/>
                <a:ea typeface="Barlow"/>
                <a:cs typeface="Barlow"/>
                <a:sym typeface="Barlow"/>
              </a:rPr>
              <a:t>Jinhee Kim</a:t>
            </a:r>
            <a:endParaRPr/>
          </a:p>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Senior iOS Engineer </a:t>
            </a:r>
            <a:endParaRPr/>
          </a:p>
        </p:txBody>
      </p:sp>
      <p:sp>
        <p:nvSpPr>
          <p:cNvPr id="402" name="Google Shape;402;p35"/>
          <p:cNvSpPr/>
          <p:nvPr/>
        </p:nvSpPr>
        <p:spPr>
          <a:xfrm>
            <a:off x="4446913" y="2750000"/>
            <a:ext cx="7287887" cy="360000"/>
          </a:xfrm>
          <a:prstGeom prst="roundRect">
            <a:avLst>
              <a:gd fmla="val 15000" name="adj"/>
            </a:avLst>
          </a:prstGeom>
          <a:solidFill>
            <a:srgbClr val="1867DC"/>
          </a:solidFill>
          <a:ln>
            <a:noFill/>
          </a:ln>
        </p:spPr>
        <p:txBody>
          <a:bodyPr anchorCtr="0" anchor="ctr" bIns="0" lIns="120000" spcFirstLastPara="1" rIns="12000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12 Oct 2026  →  31 Dec 2026</a:t>
            </a:r>
            <a:endParaRPr/>
          </a:p>
        </p:txBody>
      </p:sp>
      <p:sp>
        <p:nvSpPr>
          <p:cNvPr id="403" name="Google Shape;403;p35"/>
          <p:cNvSpPr txBox="1"/>
          <p:nvPr/>
        </p:nvSpPr>
        <p:spPr>
          <a:xfrm>
            <a:off x="457200" y="2050000"/>
            <a:ext cx="60000" cy="360000"/>
          </a:xfrm>
          <a:prstGeom prst="rect">
            <a:avLst/>
          </a:prstGeom>
          <a:solidFill>
            <a:srgbClr val="1867DC"/>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04" name="Google Shape;404;p35"/>
          <p:cNvSpPr txBox="1"/>
          <p:nvPr/>
        </p:nvSpPr>
        <p:spPr>
          <a:xfrm>
            <a:off x="597200" y="1880000"/>
            <a:ext cx="2860000" cy="70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150"/>
              <a:buFont typeface="Barlow"/>
              <a:buNone/>
            </a:pPr>
            <a:r>
              <a:rPr b="1" lang="en-US" sz="1150">
                <a:solidFill>
                  <a:srgbClr val="0B2F5B"/>
                </a:solidFill>
                <a:latin typeface="Barlow"/>
                <a:ea typeface="Barlow"/>
                <a:cs typeface="Barlow"/>
                <a:sym typeface="Barlow"/>
              </a:rPr>
              <a:t>Young-jun Lee</a:t>
            </a:r>
            <a:endParaRPr/>
          </a:p>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Senior iOS Engineer – </a:t>
            </a:r>
            <a:r>
              <a:rPr b="1" lang="en-US" sz="950">
                <a:solidFill>
                  <a:srgbClr val="5A6472"/>
                </a:solidFill>
                <a:latin typeface="Barlow"/>
                <a:ea typeface="Barlow"/>
                <a:cs typeface="Barlow"/>
                <a:sym typeface="Barlow"/>
              </a:rPr>
              <a:t>Team Lead</a:t>
            </a:r>
            <a:endParaRPr/>
          </a:p>
        </p:txBody>
      </p:sp>
      <p:sp>
        <p:nvSpPr>
          <p:cNvPr id="405" name="Google Shape;405;p35"/>
          <p:cNvSpPr/>
          <p:nvPr/>
        </p:nvSpPr>
        <p:spPr>
          <a:xfrm>
            <a:off x="4446913" y="2050000"/>
            <a:ext cx="7287887" cy="360000"/>
          </a:xfrm>
          <a:prstGeom prst="roundRect">
            <a:avLst>
              <a:gd fmla="val 15000" name="adj"/>
            </a:avLst>
          </a:prstGeom>
          <a:solidFill>
            <a:srgbClr val="1867DC"/>
          </a:solidFill>
          <a:ln>
            <a:noFill/>
          </a:ln>
        </p:spPr>
        <p:txBody>
          <a:bodyPr anchorCtr="0" anchor="ctr" bIns="0" lIns="120000" spcFirstLastPara="1" rIns="12000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12 Oct 2026  →  31 Dec 2026</a:t>
            </a:r>
            <a:endParaRPr/>
          </a:p>
        </p:txBody>
      </p:sp>
      <p:sp>
        <p:nvSpPr>
          <p:cNvPr id="406" name="Google Shape;406;p35"/>
          <p:cNvSpPr txBox="1"/>
          <p:nvPr/>
        </p:nvSpPr>
        <p:spPr>
          <a:xfrm>
            <a:off x="457200" y="3450000"/>
            <a:ext cx="60000" cy="360000"/>
          </a:xfrm>
          <a:prstGeom prst="rect">
            <a:avLst/>
          </a:prstGeom>
          <a:solidFill>
            <a:srgbClr val="0B2F5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07" name="Google Shape;407;p35"/>
          <p:cNvSpPr txBox="1"/>
          <p:nvPr/>
        </p:nvSpPr>
        <p:spPr>
          <a:xfrm>
            <a:off x="597200" y="3280000"/>
            <a:ext cx="2860000" cy="70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150"/>
              <a:buFont typeface="Barlow"/>
              <a:buNone/>
            </a:pPr>
            <a:r>
              <a:rPr b="1" lang="en-US" sz="1150">
                <a:solidFill>
                  <a:srgbClr val="0B2F5B"/>
                </a:solidFill>
                <a:latin typeface="Barlow"/>
                <a:ea typeface="Barlow"/>
                <a:cs typeface="Barlow"/>
                <a:sym typeface="Barlow"/>
              </a:rPr>
              <a:t>Jaehyun Ahn</a:t>
            </a:r>
            <a:endParaRPr/>
          </a:p>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Senior Android Engineer</a:t>
            </a:r>
            <a:endParaRPr/>
          </a:p>
        </p:txBody>
      </p:sp>
      <p:sp>
        <p:nvSpPr>
          <p:cNvPr id="408" name="Google Shape;408;p35"/>
          <p:cNvSpPr/>
          <p:nvPr/>
        </p:nvSpPr>
        <p:spPr>
          <a:xfrm>
            <a:off x="4446913" y="3450000"/>
            <a:ext cx="7287887" cy="360000"/>
          </a:xfrm>
          <a:prstGeom prst="roundRect">
            <a:avLst>
              <a:gd fmla="val 15000" name="adj"/>
            </a:avLst>
          </a:prstGeom>
          <a:solidFill>
            <a:srgbClr val="0B2F5B"/>
          </a:solidFill>
          <a:ln>
            <a:noFill/>
          </a:ln>
        </p:spPr>
        <p:txBody>
          <a:bodyPr anchorCtr="0" anchor="ctr" bIns="0" lIns="120000" spcFirstLastPara="1" rIns="12000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12 Oct 2026  →  31 Dec 2026</a:t>
            </a:r>
            <a:endParaRPr/>
          </a:p>
        </p:txBody>
      </p:sp>
      <p:sp>
        <p:nvSpPr>
          <p:cNvPr id="409" name="Google Shape;409;p35"/>
          <p:cNvSpPr txBox="1"/>
          <p:nvPr/>
        </p:nvSpPr>
        <p:spPr>
          <a:xfrm>
            <a:off x="457200" y="4150000"/>
            <a:ext cx="60000" cy="360000"/>
          </a:xfrm>
          <a:prstGeom prst="rect">
            <a:avLst/>
          </a:prstGeom>
          <a:solidFill>
            <a:srgbClr val="0B2F5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10" name="Google Shape;410;p35"/>
          <p:cNvSpPr txBox="1"/>
          <p:nvPr/>
        </p:nvSpPr>
        <p:spPr>
          <a:xfrm>
            <a:off x="597200" y="3980000"/>
            <a:ext cx="2860000" cy="70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150"/>
              <a:buFont typeface="Barlow"/>
              <a:buNone/>
            </a:pPr>
            <a:r>
              <a:rPr b="1" lang="en-US" sz="1150">
                <a:solidFill>
                  <a:srgbClr val="0B2F5B"/>
                </a:solidFill>
                <a:latin typeface="Barlow"/>
                <a:ea typeface="Barlow"/>
                <a:cs typeface="Barlow"/>
                <a:sym typeface="Barlow"/>
              </a:rPr>
              <a:t>JiYoung Lim</a:t>
            </a:r>
            <a:endParaRPr/>
          </a:p>
          <a:p>
            <a:pPr indent="0" lvl="0" marL="0" marR="0" rtl="0" algn="l">
              <a:spcBef>
                <a:spcPts val="0"/>
              </a:spcBef>
              <a:spcAft>
                <a:spcPts val="0"/>
              </a:spcAft>
              <a:buClr>
                <a:srgbClr val="0B2F5B"/>
              </a:buClr>
              <a:buSzPts val="1000"/>
              <a:buFont typeface="Barlow"/>
              <a:buNone/>
            </a:pPr>
            <a:r>
              <a:rPr b="0" lang="en-US" sz="1000">
                <a:solidFill>
                  <a:srgbClr val="0B2F5B"/>
                </a:solidFill>
                <a:latin typeface="Barlow"/>
                <a:ea typeface="Barlow"/>
                <a:cs typeface="Barlow"/>
                <a:sym typeface="Barlow"/>
              </a:rPr>
              <a:t>Mid-Senio</a:t>
            </a:r>
            <a:r>
              <a:rPr b="0" lang="en-US" sz="950">
                <a:solidFill>
                  <a:srgbClr val="5A6472"/>
                </a:solidFill>
                <a:latin typeface="Barlow"/>
                <a:ea typeface="Barlow"/>
                <a:cs typeface="Barlow"/>
                <a:sym typeface="Barlow"/>
              </a:rPr>
              <a:t>r </a:t>
            </a:r>
            <a:r>
              <a:rPr lang="en-US" sz="950">
                <a:solidFill>
                  <a:srgbClr val="5A6472"/>
                </a:solidFill>
                <a:latin typeface="Barlow"/>
                <a:ea typeface="Barlow"/>
                <a:cs typeface="Barlow"/>
                <a:sym typeface="Barlow"/>
              </a:rPr>
              <a:t>Android Engineer</a:t>
            </a:r>
            <a:endParaRPr/>
          </a:p>
        </p:txBody>
      </p:sp>
      <p:sp>
        <p:nvSpPr>
          <p:cNvPr id="411" name="Google Shape;411;p35"/>
          <p:cNvSpPr/>
          <p:nvPr/>
        </p:nvSpPr>
        <p:spPr>
          <a:xfrm>
            <a:off x="6336365" y="4150000"/>
            <a:ext cx="5398435" cy="360000"/>
          </a:xfrm>
          <a:prstGeom prst="roundRect">
            <a:avLst>
              <a:gd fmla="val 15000" name="adj"/>
            </a:avLst>
          </a:prstGeom>
          <a:solidFill>
            <a:srgbClr val="0B2F5B"/>
          </a:solidFill>
          <a:ln>
            <a:noFill/>
          </a:ln>
        </p:spPr>
        <p:txBody>
          <a:bodyPr anchorCtr="0" anchor="ctr" bIns="0" lIns="120000" spcFirstLastPara="1" rIns="12000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2 Nov 2026  →  31 Dec 2026</a:t>
            </a:r>
            <a:endParaRPr/>
          </a:p>
        </p:txBody>
      </p:sp>
      <p:sp>
        <p:nvSpPr>
          <p:cNvPr id="412" name="Google Shape;412;p35"/>
          <p:cNvSpPr txBox="1"/>
          <p:nvPr/>
        </p:nvSpPr>
        <p:spPr>
          <a:xfrm>
            <a:off x="457200" y="4720000"/>
            <a:ext cx="3000000" cy="380000"/>
          </a:xfrm>
          <a:prstGeom prst="rect">
            <a:avLst/>
          </a:prstGeom>
          <a:noFill/>
          <a:ln>
            <a:noFill/>
          </a:ln>
        </p:spPr>
        <p:txBody>
          <a:bodyPr anchorCtr="0" anchor="ctr" bIns="0" lIns="140000" spcFirstLastPara="1" rIns="140000" wrap="square" tIns="0">
            <a:normAutofit/>
          </a:bodyPr>
          <a:lstStyle/>
          <a:p>
            <a:pPr indent="0" lvl="0" marL="0" marR="0" rtl="0" algn="l">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Onsite headcount</a:t>
            </a:r>
            <a:endParaRPr/>
          </a:p>
        </p:txBody>
      </p:sp>
      <p:sp>
        <p:nvSpPr>
          <p:cNvPr id="413" name="Google Shape;413;p35"/>
          <p:cNvSpPr txBox="1"/>
          <p:nvPr/>
        </p:nvSpPr>
        <p:spPr>
          <a:xfrm>
            <a:off x="3457200" y="4720000"/>
            <a:ext cx="2789191" cy="3800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3 HC (from 12 Oct)</a:t>
            </a:r>
            <a:endParaRPr/>
          </a:p>
        </p:txBody>
      </p:sp>
      <p:sp>
        <p:nvSpPr>
          <p:cNvPr id="414" name="Google Shape;414;p35"/>
          <p:cNvSpPr txBox="1"/>
          <p:nvPr/>
        </p:nvSpPr>
        <p:spPr>
          <a:xfrm>
            <a:off x="6246391" y="4720000"/>
            <a:ext cx="2699217" cy="3800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4 HC</a:t>
            </a:r>
            <a:endParaRPr/>
          </a:p>
        </p:txBody>
      </p:sp>
      <p:sp>
        <p:nvSpPr>
          <p:cNvPr id="415" name="Google Shape;415;p35"/>
          <p:cNvSpPr txBox="1"/>
          <p:nvPr/>
        </p:nvSpPr>
        <p:spPr>
          <a:xfrm>
            <a:off x="8945609" y="4720000"/>
            <a:ext cx="2789191" cy="3800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4 HC</a:t>
            </a:r>
            <a:endParaRPr/>
          </a:p>
        </p:txBody>
      </p:sp>
      <p:sp>
        <p:nvSpPr>
          <p:cNvPr id="416" name="Google Shape;416;p35"/>
          <p:cNvSpPr txBox="1"/>
          <p:nvPr/>
        </p:nvSpPr>
        <p:spPr>
          <a:xfrm>
            <a:off x="457200" y="5330000"/>
            <a:ext cx="120000" cy="120000"/>
          </a:xfrm>
          <a:prstGeom prst="rect">
            <a:avLst/>
          </a:prstGeom>
          <a:solidFill>
            <a:srgbClr val="1867DC"/>
          </a:solidFill>
          <a:ln>
            <a:noFill/>
          </a:ln>
        </p:spPr>
        <p:txBody>
          <a:bodyPr anchorCtr="0" anchor="ctr" bIns="0" lIns="0" spcFirstLastPara="1" rIns="0" wrap="square" tIns="0">
            <a:normAutofit lnSpcReduction="10000"/>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17" name="Google Shape;417;p35"/>
          <p:cNvSpPr txBox="1"/>
          <p:nvPr/>
        </p:nvSpPr>
        <p:spPr>
          <a:xfrm>
            <a:off x="637200" y="5300000"/>
            <a:ext cx="1400000" cy="18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iOS Engineer</a:t>
            </a:r>
            <a:endParaRPr/>
          </a:p>
        </p:txBody>
      </p:sp>
      <p:sp>
        <p:nvSpPr>
          <p:cNvPr id="418" name="Google Shape;418;p35"/>
          <p:cNvSpPr txBox="1"/>
          <p:nvPr/>
        </p:nvSpPr>
        <p:spPr>
          <a:xfrm>
            <a:off x="2157200" y="5330000"/>
            <a:ext cx="120000" cy="120000"/>
          </a:xfrm>
          <a:prstGeom prst="rect">
            <a:avLst/>
          </a:prstGeom>
          <a:solidFill>
            <a:srgbClr val="0B2F5B"/>
          </a:solidFill>
          <a:ln>
            <a:noFill/>
          </a:ln>
        </p:spPr>
        <p:txBody>
          <a:bodyPr anchorCtr="0" anchor="ctr" bIns="0" lIns="0" spcFirstLastPara="1" rIns="0" wrap="square" tIns="0">
            <a:normAutofit lnSpcReduction="10000"/>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19" name="Google Shape;419;p35"/>
          <p:cNvSpPr txBox="1"/>
          <p:nvPr/>
        </p:nvSpPr>
        <p:spPr>
          <a:xfrm>
            <a:off x="2337200" y="5300000"/>
            <a:ext cx="1400000" cy="18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Android Engineer</a:t>
            </a:r>
            <a:endParaRPr/>
          </a:p>
        </p:txBody>
      </p:sp>
      <p:sp>
        <p:nvSpPr>
          <p:cNvPr id="420" name="Google Shape;420;p35"/>
          <p:cNvSpPr txBox="1"/>
          <p:nvPr/>
        </p:nvSpPr>
        <p:spPr>
          <a:xfrm>
            <a:off x="3857200" y="5300000"/>
            <a:ext cx="4000000" cy="18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Dashed line = onboarding wave start date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6"/>
          <p:cNvSpPr txBox="1"/>
          <p:nvPr/>
        </p:nvSpPr>
        <p:spPr>
          <a:xfrm>
            <a:off x="457200" y="323698"/>
            <a:ext cx="9000000" cy="133502"/>
          </a:xfrm>
          <a:prstGeom prst="rect">
            <a:avLst/>
          </a:prstGeom>
          <a:noFill/>
          <a:ln>
            <a:noFill/>
          </a:ln>
        </p:spPr>
        <p:txBody>
          <a:bodyPr anchorCtr="0" anchor="ctr" bIns="0" lIns="0" spcFirstLastPara="1" rIns="0" wrap="square" tIns="0">
            <a:normAutofit fontScale="92500" lnSpcReduction="10000"/>
          </a:bodyPr>
          <a:lstStyle/>
          <a:p>
            <a:pPr indent="0" lvl="0" marL="0" marR="0" rtl="0" algn="l">
              <a:spcBef>
                <a:spcPts val="0"/>
              </a:spcBef>
              <a:spcAft>
                <a:spcPts val="0"/>
              </a:spcAft>
              <a:buClr>
                <a:srgbClr val="1867DC"/>
              </a:buClr>
              <a:buSzPct val="100000"/>
              <a:buFont typeface="Montserrat"/>
              <a:buNone/>
            </a:pPr>
            <a:r>
              <a:rPr b="1" lang="en-US" sz="1000">
                <a:solidFill>
                  <a:srgbClr val="1867DC"/>
                </a:solidFill>
                <a:latin typeface="Montserrat"/>
                <a:ea typeface="Montserrat"/>
                <a:cs typeface="Montserrat"/>
                <a:sym typeface="Montserrat"/>
              </a:rPr>
              <a:t>07 · PROPOSED ENGINEERS · CANDIDATE MATRIX (1/2)</a:t>
            </a:r>
            <a:endParaRPr/>
          </a:p>
        </p:txBody>
      </p:sp>
      <p:sp>
        <p:nvSpPr>
          <p:cNvPr id="426" name="Google Shape;426;p36"/>
          <p:cNvSpPr txBox="1"/>
          <p:nvPr/>
        </p:nvSpPr>
        <p:spPr>
          <a:xfrm>
            <a:off x="457200" y="590702"/>
            <a:ext cx="11277600" cy="286207"/>
          </a:xfrm>
          <a:prstGeom prst="rect">
            <a:avLst/>
          </a:prstGeom>
          <a:noFill/>
          <a:ln>
            <a:noFill/>
          </a:ln>
        </p:spPr>
        <p:txBody>
          <a:bodyPr anchorCtr="0" anchor="ctr" bIns="0" lIns="0" spcFirstLastPara="1" rIns="0" wrap="square" tIns="0">
            <a:normAutofit lnSpcReduction="10000"/>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Candidate matrix: two iOS and two Android engineers, led by an on-site iOS Tech Lead</a:t>
            </a:r>
            <a:endParaRPr/>
          </a:p>
        </p:txBody>
      </p:sp>
      <p:sp>
        <p:nvSpPr>
          <p:cNvPr id="427" name="Google Shape;427;p36"/>
          <p:cNvSpPr txBox="1"/>
          <p:nvPr/>
        </p:nvSpPr>
        <p:spPr>
          <a:xfrm>
            <a:off x="457200" y="1050000"/>
            <a:ext cx="11277600" cy="17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050"/>
              <a:buFont typeface="Montserrat"/>
              <a:buNone/>
            </a:pPr>
            <a:r>
              <a:rPr b="1" lang="en-US" sz="1050">
                <a:solidFill>
                  <a:srgbClr val="0B2F5B"/>
                </a:solidFill>
                <a:latin typeface="Montserrat"/>
                <a:ea typeface="Montserrat"/>
                <a:cs typeface="Montserrat"/>
                <a:sym typeface="Montserrat"/>
              </a:rPr>
              <a:t>Candidate matrix, platform and technical qualification (Appendix A, 2 Oct 2026)</a:t>
            </a:r>
            <a:endParaRPr/>
          </a:p>
        </p:txBody>
      </p:sp>
      <p:graphicFrame>
        <p:nvGraphicFramePr>
          <p:cNvPr id="428" name="Google Shape;428;p36"/>
          <p:cNvGraphicFramePr/>
          <p:nvPr/>
        </p:nvGraphicFramePr>
        <p:xfrm>
          <a:off x="457200" y="1280000"/>
          <a:ext cx="3000000" cy="3000000"/>
        </p:xfrm>
        <a:graphic>
          <a:graphicData uri="http://schemas.openxmlformats.org/drawingml/2006/table">
            <a:tbl>
              <a:tblPr>
                <a:noFill/>
                <a:tableStyleId>{0B7F4635-5916-4133-9C0B-B74CECAF450B}</a:tableStyleId>
              </a:tblPr>
              <a:tblGrid>
                <a:gridCol w="2000000"/>
                <a:gridCol w="2319400"/>
                <a:gridCol w="2319400"/>
                <a:gridCol w="2319400"/>
                <a:gridCol w="2319400"/>
              </a:tblGrid>
              <a:tr h="300000">
                <a:tc>
                  <a:txBody>
                    <a:bodyPr/>
                    <a:lstStyle/>
                    <a:p>
                      <a:pPr indent="0" lvl="0" marL="0" marR="0" rtl="0" algn="l">
                        <a:spcBef>
                          <a:spcPts val="0"/>
                        </a:spcBef>
                        <a:spcAft>
                          <a:spcPts val="0"/>
                        </a:spcAft>
                        <a:buNone/>
                      </a:pPr>
                      <a:r>
                        <a:rPr b="1" lang="en-US" sz="1100" u="none" cap="none" strike="noStrike">
                          <a:solidFill>
                            <a:srgbClr val="0B2F5B"/>
                          </a:solidFill>
                          <a:latin typeface="Barlow"/>
                          <a:ea typeface="Barlow"/>
                          <a:cs typeface="Barlow"/>
                          <a:sym typeface="Barlow"/>
                        </a:rPr>
                        <a:t>Field</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u="none" cap="none" strike="noStrike">
                          <a:solidFill>
                            <a:srgbClr val="0B2F5B"/>
                          </a:solidFill>
                          <a:latin typeface="Barlow"/>
                          <a:ea typeface="Barlow"/>
                          <a:cs typeface="Barlow"/>
                          <a:sym typeface="Barlow"/>
                        </a:rPr>
                        <a:t>Young-jun Lee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u="none" cap="none" strike="noStrike">
                          <a:solidFill>
                            <a:srgbClr val="0B2F5B"/>
                          </a:solidFill>
                          <a:latin typeface="Barlow"/>
                          <a:ea typeface="Barlow"/>
                          <a:cs typeface="Barlow"/>
                          <a:sym typeface="Barlow"/>
                        </a:rPr>
                        <a:t>Jinhee Kim</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u="none" cap="none" strike="noStrike">
                          <a:solidFill>
                            <a:srgbClr val="0B2F5B"/>
                          </a:solidFill>
                          <a:latin typeface="Barlow"/>
                          <a:ea typeface="Barlow"/>
                          <a:cs typeface="Barlow"/>
                          <a:sym typeface="Barlow"/>
                        </a:rPr>
                        <a:t>Jaehyun Ahn</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u="none" cap="none" strike="noStrike">
                          <a:solidFill>
                            <a:srgbClr val="0B2F5B"/>
                          </a:solidFill>
                          <a:latin typeface="Barlow"/>
                          <a:ea typeface="Barlow"/>
                          <a:cs typeface="Barlow"/>
                          <a:sym typeface="Barlow"/>
                        </a:rPr>
                        <a:t>JiYoung Lim</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Name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Young-jun Lee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Jinhee Kim (김진희)</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Jaehyun Ahn (안재현)</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JiYoung Lim (Laura Lim)</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Platform / role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Senior iOS Engineer · proposed on-site Mobile Tech Lead</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Senior iOS Engineer · connected products, persistence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Senior Android Engineer · Kotlin, Compose, native UI</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Mid-Senior Android Engineer · provisioning, device integration</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Proposed lead?</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Yes · Tech Lead of the four-person team</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No</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No</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No</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Legal employer / employment type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Contractor · direct contract with CMC Global; long-term hire if scope expands</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Full-time Sotatek employee · subcontracted through CMC Global</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Full-time Sotatek employee · subcontracted through CMC Global</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Contractor · direct contract with CMC Global; long-term hire if scope expands</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Years with vendor</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N/A</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N/A</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N/A</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N/A</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Mobile experience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8+ yrs mobile, 5+ yrs iOS; 15+ yrs software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iOS 8 yrs (IT 18 yrs); iOS projects 2016–2026</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Android 7 yrs; projects 2017–2026</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Android since 2021 (connected car); 6 yrs software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Kotlin/Compose or Swift/SwiftUI</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Swift, Swift Concurrency, Combine, MVVM; production SwiftUI widget</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Swift, RxSwift, Combine, MVVM; 1 SwiftUI project (2024)</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Kotlin; 2 Compose projects (2024–25); Clean Architecture, MVVM</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Kotlin/Java; Android Automotive provisioning; Compose to verify</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BLE/Wi-Fi/device experience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BLE e-bike and helmet locks (Core Bluetooth); Wi-Fi positioning</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LG SmartThinQ IoT; serial/network, RS232/485; BLE to verify</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Mobile app development and operations; BLE/Wi-Fi to verify</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AAOS/IVI provisioning, device protocols, diagnostics; BLE to verify</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Offline/sync experience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Offline lecture downloads and playback; location caching</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Realm persistence (LG SmartThinQ)</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Native app rebuild and operations; offline sync to verify</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Vehicle and account profile sync; offline persistence to verify</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Testing and CI/CD</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XCTest, XCUITest, Jest; Fastlane, GitHub Actions, GitLab CI</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Device and regression testing; CI/CD to verify</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Analytics-driven error management; CI/CD to verify</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Integration testing, static analysis, QA coordination; Jenkins</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7"/>
          <p:cNvSpPr txBox="1"/>
          <p:nvPr/>
        </p:nvSpPr>
        <p:spPr>
          <a:xfrm>
            <a:off x="457200" y="323698"/>
            <a:ext cx="9000000" cy="133502"/>
          </a:xfrm>
          <a:prstGeom prst="rect">
            <a:avLst/>
          </a:prstGeom>
          <a:noFill/>
          <a:ln>
            <a:noFill/>
          </a:ln>
        </p:spPr>
        <p:txBody>
          <a:bodyPr anchorCtr="0" anchor="ctr" bIns="0" lIns="0" spcFirstLastPara="1" rIns="0" wrap="square" tIns="0">
            <a:normAutofit fontScale="92500" lnSpcReduction="10000"/>
          </a:bodyPr>
          <a:lstStyle/>
          <a:p>
            <a:pPr indent="0" lvl="0" marL="0" marR="0" rtl="0" algn="l">
              <a:spcBef>
                <a:spcPts val="0"/>
              </a:spcBef>
              <a:spcAft>
                <a:spcPts val="0"/>
              </a:spcAft>
              <a:buClr>
                <a:srgbClr val="1867DC"/>
              </a:buClr>
              <a:buSzPct val="100000"/>
              <a:buFont typeface="Montserrat"/>
              <a:buNone/>
            </a:pPr>
            <a:r>
              <a:rPr b="1" lang="en-US" sz="1000">
                <a:solidFill>
                  <a:srgbClr val="1867DC"/>
                </a:solidFill>
                <a:latin typeface="Montserrat"/>
                <a:ea typeface="Montserrat"/>
                <a:cs typeface="Montserrat"/>
                <a:sym typeface="Montserrat"/>
              </a:rPr>
              <a:t>07 · PROPOSED ENGINEERS · CANDIDATE MATRIX (2/2)</a:t>
            </a:r>
            <a:endParaRPr/>
          </a:p>
        </p:txBody>
      </p:sp>
      <p:sp>
        <p:nvSpPr>
          <p:cNvPr id="434" name="Google Shape;434;p37"/>
          <p:cNvSpPr txBox="1"/>
          <p:nvPr/>
        </p:nvSpPr>
        <p:spPr>
          <a:xfrm>
            <a:off x="457200" y="590702"/>
            <a:ext cx="11277600" cy="286207"/>
          </a:xfrm>
          <a:prstGeom prst="rect">
            <a:avLst/>
          </a:prstGeom>
          <a:noFill/>
          <a:ln>
            <a:noFill/>
          </a:ln>
        </p:spPr>
        <p:txBody>
          <a:bodyPr anchorCtr="0" anchor="ctr" bIns="0" lIns="0" spcFirstLastPara="1" rIns="0" wrap="square" tIns="0">
            <a:normAutofit lnSpcReduction="10000"/>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Candidate matrix: all four are native Korean speakers in Seoul, 100% on-site from 12 Oct</a:t>
            </a:r>
            <a:endParaRPr/>
          </a:p>
        </p:txBody>
      </p:sp>
      <p:sp>
        <p:nvSpPr>
          <p:cNvPr id="435" name="Google Shape;435;p37"/>
          <p:cNvSpPr txBox="1"/>
          <p:nvPr/>
        </p:nvSpPr>
        <p:spPr>
          <a:xfrm>
            <a:off x="457200" y="1050000"/>
            <a:ext cx="11277600" cy="17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050"/>
              <a:buFont typeface="Montserrat"/>
              <a:buNone/>
            </a:pPr>
            <a:r>
              <a:rPr b="1" lang="en-US" sz="1050">
                <a:solidFill>
                  <a:srgbClr val="0B2F5B"/>
                </a:solidFill>
                <a:latin typeface="Montserrat"/>
                <a:ea typeface="Montserrat"/>
                <a:cs typeface="Montserrat"/>
                <a:sym typeface="Montserrat"/>
              </a:rPr>
              <a:t>Candidate matrix, language, location, availability and commercial terms (Appendix A, 2 Oct 2026)</a:t>
            </a:r>
            <a:endParaRPr/>
          </a:p>
        </p:txBody>
      </p:sp>
      <p:graphicFrame>
        <p:nvGraphicFramePr>
          <p:cNvPr id="436" name="Google Shape;436;p37"/>
          <p:cNvGraphicFramePr/>
          <p:nvPr/>
        </p:nvGraphicFramePr>
        <p:xfrm>
          <a:off x="457200" y="1280000"/>
          <a:ext cx="3000000" cy="3000000"/>
        </p:xfrm>
        <a:graphic>
          <a:graphicData uri="http://schemas.openxmlformats.org/drawingml/2006/table">
            <a:tbl>
              <a:tblPr>
                <a:noFill/>
                <a:tableStyleId>{0B7F4635-5916-4133-9C0B-B74CECAF450B}</a:tableStyleId>
              </a:tblPr>
              <a:tblGrid>
                <a:gridCol w="2000000"/>
                <a:gridCol w="2319400"/>
                <a:gridCol w="2319400"/>
                <a:gridCol w="2319400"/>
                <a:gridCol w="2319400"/>
              </a:tblGrid>
              <a:tr h="300000">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Field</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Young-jun Lee · iOS · Team Lead</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Jinhee Kim · iOS</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Jaehyun Ahn · Android</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JiYoung Lim · Android</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Korean proficiency</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Native</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Native</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Native</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Native</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Current location</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Seoul</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Seoul</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Seoul</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Seoul</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Earliest start date</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12 Oct 2026</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12 Oct 2026</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12 Oct 2026</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2 Nov 2026</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r>
              <a:tr h="580000">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Committed allocation</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100% on-site, Qcells Korea office</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100% on-site, Qcells Korea office</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100% on-site, Qcells Korea office</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100% on-site, Qcells Korea office</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Planned leave / conflicts</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None planned through 31 Dec 2026</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None planned through 31 Dec 2026</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None planned through 31 Dec 2026</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None planned through 31 Dec 2026</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u="none" cap="none" strike="noStrike">
                          <a:solidFill>
                            <a:srgbClr val="0B2F5B"/>
                          </a:solidFill>
                          <a:latin typeface="Barlow"/>
                          <a:ea typeface="Barlow"/>
                          <a:cs typeface="Barlow"/>
                          <a:sym typeface="Barlow"/>
                        </a:rPr>
                        <a:t>Monthly rate (KRW)</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See Quotation</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See Quotation</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See Quotation</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See Quotation</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8"/>
          <p:cNvSpPr txBox="1"/>
          <p:nvPr/>
        </p:nvSpPr>
        <p:spPr>
          <a:xfrm>
            <a:off x="457200" y="323698"/>
            <a:ext cx="6667805"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PROPOSED ENGINEERS</a:t>
            </a:r>
            <a:endParaRPr/>
          </a:p>
        </p:txBody>
      </p:sp>
      <p:sp>
        <p:nvSpPr>
          <p:cNvPr id="443" name="Google Shape;443;p38"/>
          <p:cNvSpPr txBox="1"/>
          <p:nvPr/>
        </p:nvSpPr>
        <p:spPr>
          <a:xfrm>
            <a:off x="457200" y="590702"/>
            <a:ext cx="11277600"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Candidate A — Lee Young-jun, Team Leader: 15+ years in software, 5+ years iOS, BLE</a:t>
            </a:r>
            <a:endParaRPr/>
          </a:p>
        </p:txBody>
      </p:sp>
      <p:sp>
        <p:nvSpPr>
          <p:cNvPr id="444" name="Google Shape;444;p38"/>
          <p:cNvSpPr/>
          <p:nvPr/>
        </p:nvSpPr>
        <p:spPr>
          <a:xfrm>
            <a:off x="457200" y="1238098"/>
            <a:ext cx="3886200"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38"/>
          <p:cNvSpPr/>
          <p:nvPr/>
        </p:nvSpPr>
        <p:spPr>
          <a:xfrm>
            <a:off x="629107" y="1390802"/>
            <a:ext cx="590702" cy="590702"/>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38"/>
          <p:cNvSpPr txBox="1"/>
          <p:nvPr/>
        </p:nvSpPr>
        <p:spPr>
          <a:xfrm>
            <a:off x="629107" y="1390802"/>
            <a:ext cx="590702" cy="5907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Montserrat"/>
              <a:buNone/>
            </a:pPr>
            <a:r>
              <a:rPr b="1" lang="en-US" sz="1350">
                <a:solidFill>
                  <a:srgbClr val="FFFFFF"/>
                </a:solidFill>
                <a:latin typeface="Montserrat"/>
                <a:ea typeface="Montserrat"/>
                <a:cs typeface="Montserrat"/>
                <a:sym typeface="Montserrat"/>
              </a:rPr>
              <a:t>YL</a:t>
            </a:r>
            <a:endParaRPr/>
          </a:p>
        </p:txBody>
      </p:sp>
      <p:sp>
        <p:nvSpPr>
          <p:cNvPr id="447" name="Google Shape;447;p38"/>
          <p:cNvSpPr txBox="1"/>
          <p:nvPr/>
        </p:nvSpPr>
        <p:spPr>
          <a:xfrm>
            <a:off x="1320000" y="1400000"/>
            <a:ext cx="29000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125"/>
              <a:buFont typeface="Montserrat"/>
              <a:buNone/>
            </a:pPr>
            <a:r>
              <a:rPr b="1" lang="en-US" sz="1125">
                <a:solidFill>
                  <a:srgbClr val="0B2F5B"/>
                </a:solidFill>
                <a:latin typeface="Montserrat"/>
                <a:ea typeface="Montserrat"/>
                <a:cs typeface="Montserrat"/>
                <a:sym typeface="Montserrat"/>
              </a:rPr>
              <a:t>Candidate A — Lee Young-jun</a:t>
            </a:r>
            <a:endParaRPr/>
          </a:p>
        </p:txBody>
      </p:sp>
      <p:sp>
        <p:nvSpPr>
          <p:cNvPr id="448" name="Google Shape;448;p38"/>
          <p:cNvSpPr txBox="1"/>
          <p:nvPr/>
        </p:nvSpPr>
        <p:spPr>
          <a:xfrm>
            <a:off x="1320000" y="1700000"/>
            <a:ext cx="290000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Barlow"/>
              <a:buNone/>
            </a:pPr>
            <a:r>
              <a:rPr lang="en-US" sz="1000">
                <a:solidFill>
                  <a:srgbClr val="1867DC"/>
                </a:solidFill>
                <a:latin typeface="Barlow"/>
                <a:ea typeface="Barlow"/>
                <a:cs typeface="Barlow"/>
                <a:sym typeface="Barlow"/>
              </a:rPr>
              <a:t>Team Leader · Senior iOS Engineer</a:t>
            </a:r>
            <a:endParaRPr/>
          </a:p>
        </p:txBody>
      </p:sp>
      <p:sp>
        <p:nvSpPr>
          <p:cNvPr id="449" name="Google Shape;449;p38"/>
          <p:cNvSpPr/>
          <p:nvPr/>
        </p:nvSpPr>
        <p:spPr>
          <a:xfrm>
            <a:off x="629107" y="21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38"/>
          <p:cNvSpPr txBox="1"/>
          <p:nvPr/>
        </p:nvSpPr>
        <p:spPr>
          <a:xfrm>
            <a:off x="700000" y="2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ROLE ON PROJECT</a:t>
            </a:r>
            <a:endParaRPr/>
          </a:p>
        </p:txBody>
      </p:sp>
      <p:sp>
        <p:nvSpPr>
          <p:cNvPr id="451" name="Google Shape;451;p38"/>
          <p:cNvSpPr txBox="1"/>
          <p:nvPr/>
        </p:nvSpPr>
        <p:spPr>
          <a:xfrm>
            <a:off x="1980000" y="2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Team Leader · iOS lead · BLE integration</a:t>
            </a:r>
            <a:endParaRPr/>
          </a:p>
        </p:txBody>
      </p:sp>
      <p:sp>
        <p:nvSpPr>
          <p:cNvPr id="452" name="Google Shape;452;p38"/>
          <p:cNvSpPr txBox="1"/>
          <p:nvPr/>
        </p:nvSpPr>
        <p:spPr>
          <a:xfrm>
            <a:off x="700000" y="2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GRADE</a:t>
            </a:r>
            <a:endParaRPr/>
          </a:p>
        </p:txBody>
      </p:sp>
      <p:sp>
        <p:nvSpPr>
          <p:cNvPr id="453" name="Google Shape;453;p38"/>
          <p:cNvSpPr txBox="1"/>
          <p:nvPr/>
        </p:nvSpPr>
        <p:spPr>
          <a:xfrm>
            <a:off x="1980000" y="2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Senior · ex-Mobile Tech Lead</a:t>
            </a:r>
            <a:endParaRPr/>
          </a:p>
        </p:txBody>
      </p:sp>
      <p:sp>
        <p:nvSpPr>
          <p:cNvPr id="454" name="Google Shape;454;p38"/>
          <p:cNvSpPr/>
          <p:nvPr/>
        </p:nvSpPr>
        <p:spPr>
          <a:xfrm>
            <a:off x="629107" y="29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38"/>
          <p:cNvSpPr txBox="1"/>
          <p:nvPr/>
        </p:nvSpPr>
        <p:spPr>
          <a:xfrm>
            <a:off x="700000" y="29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CAREER</a:t>
            </a:r>
            <a:endParaRPr/>
          </a:p>
        </p:txBody>
      </p:sp>
      <p:sp>
        <p:nvSpPr>
          <p:cNvPr id="456" name="Google Shape;456;p38"/>
          <p:cNvSpPr txBox="1"/>
          <p:nvPr/>
        </p:nvSpPr>
        <p:spPr>
          <a:xfrm>
            <a:off x="1980000" y="29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2009.08 – 2025.10 · 15+ yrs</a:t>
            </a:r>
            <a:endParaRPr/>
          </a:p>
        </p:txBody>
      </p:sp>
      <p:sp>
        <p:nvSpPr>
          <p:cNvPr id="457" name="Google Shape;457;p38"/>
          <p:cNvSpPr txBox="1"/>
          <p:nvPr/>
        </p:nvSpPr>
        <p:spPr>
          <a:xfrm>
            <a:off x="700000" y="33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MOBILE SINCE</a:t>
            </a:r>
            <a:endParaRPr/>
          </a:p>
        </p:txBody>
      </p:sp>
      <p:sp>
        <p:nvSpPr>
          <p:cNvPr id="458" name="Google Shape;458;p38"/>
          <p:cNvSpPr txBox="1"/>
          <p:nvPr/>
        </p:nvSpPr>
        <p:spPr>
          <a:xfrm>
            <a:off x="1980000" y="33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iOS since 2017 (5+ yrs) · mobile 8+ yrs</a:t>
            </a:r>
            <a:endParaRPr/>
          </a:p>
        </p:txBody>
      </p:sp>
      <p:sp>
        <p:nvSpPr>
          <p:cNvPr id="459" name="Google Shape;459;p38"/>
          <p:cNvSpPr/>
          <p:nvPr/>
        </p:nvSpPr>
        <p:spPr>
          <a:xfrm>
            <a:off x="629107" y="37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38"/>
          <p:cNvSpPr txBox="1"/>
          <p:nvPr/>
        </p:nvSpPr>
        <p:spPr>
          <a:xfrm>
            <a:off x="700000" y="37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PROJECTS</a:t>
            </a:r>
            <a:endParaRPr/>
          </a:p>
        </p:txBody>
      </p:sp>
      <p:sp>
        <p:nvSpPr>
          <p:cNvPr id="461" name="Google Shape;461;p38"/>
          <p:cNvSpPr txBox="1"/>
          <p:nvPr/>
        </p:nvSpPr>
        <p:spPr>
          <a:xfrm>
            <a:off x="1980000" y="37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30+ · telecom, mobility, edtech</a:t>
            </a:r>
            <a:endParaRPr/>
          </a:p>
        </p:txBody>
      </p:sp>
      <p:sp>
        <p:nvSpPr>
          <p:cNvPr id="462" name="Google Shape;462;p38"/>
          <p:cNvSpPr txBox="1"/>
          <p:nvPr/>
        </p:nvSpPr>
        <p:spPr>
          <a:xfrm>
            <a:off x="700000" y="4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EDUCATION</a:t>
            </a:r>
            <a:endParaRPr/>
          </a:p>
        </p:txBody>
      </p:sp>
      <p:sp>
        <p:nvSpPr>
          <p:cNvPr id="463" name="Google Shape;463;p38"/>
          <p:cNvSpPr txBox="1"/>
          <p:nvPr/>
        </p:nvSpPr>
        <p:spPr>
          <a:xfrm>
            <a:off x="1980000" y="4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Seoil Univ., Software Engineering</a:t>
            </a:r>
            <a:endParaRPr/>
          </a:p>
        </p:txBody>
      </p:sp>
      <p:sp>
        <p:nvSpPr>
          <p:cNvPr id="464" name="Google Shape;464;p38"/>
          <p:cNvSpPr/>
          <p:nvPr/>
        </p:nvSpPr>
        <p:spPr>
          <a:xfrm>
            <a:off x="629107" y="45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38"/>
          <p:cNvSpPr txBox="1"/>
          <p:nvPr/>
        </p:nvSpPr>
        <p:spPr>
          <a:xfrm>
            <a:off x="700000" y="4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BASED IN</a:t>
            </a:r>
            <a:endParaRPr/>
          </a:p>
        </p:txBody>
      </p:sp>
      <p:sp>
        <p:nvSpPr>
          <p:cNvPr id="466" name="Google Shape;466;p38"/>
          <p:cNvSpPr txBox="1"/>
          <p:nvPr/>
        </p:nvSpPr>
        <p:spPr>
          <a:xfrm>
            <a:off x="1980000" y="4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Seoul</a:t>
            </a:r>
            <a:endParaRPr/>
          </a:p>
        </p:txBody>
      </p:sp>
      <p:sp>
        <p:nvSpPr>
          <p:cNvPr id="467" name="Google Shape;467;p38"/>
          <p:cNvSpPr/>
          <p:nvPr/>
        </p:nvSpPr>
        <p:spPr>
          <a:xfrm>
            <a:off x="629107" y="5120000"/>
            <a:ext cx="3542400" cy="80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38"/>
          <p:cNvSpPr txBox="1"/>
          <p:nvPr/>
        </p:nvSpPr>
        <p:spPr>
          <a:xfrm>
            <a:off x="730000" y="5170000"/>
            <a:ext cx="3340000" cy="7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lang="en-US" sz="1050">
                <a:solidFill>
                  <a:srgbClr val="0B2F5B"/>
                </a:solidFill>
                <a:latin typeface="Barlow"/>
                <a:ea typeface="Barlow"/>
                <a:cs typeface="Barlow"/>
                <a:sym typeface="Barlow"/>
              </a:rPr>
              <a:t>Team Leader — owns delivery quality for all CMC work: code review, release gate, iOS lead, single technical contact for Qcells.</a:t>
            </a:r>
            <a:endParaRPr/>
          </a:p>
        </p:txBody>
      </p:sp>
      <p:sp>
        <p:nvSpPr>
          <p:cNvPr id="469" name="Google Shape;469;p38"/>
          <p:cNvSpPr/>
          <p:nvPr/>
        </p:nvSpPr>
        <p:spPr>
          <a:xfrm>
            <a:off x="4495800" y="1238098"/>
            <a:ext cx="7239195"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38"/>
          <p:cNvSpPr txBox="1"/>
          <p:nvPr/>
        </p:nvSpPr>
        <p:spPr>
          <a:xfrm>
            <a:off x="4667707" y="1390802"/>
            <a:ext cx="3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Skills matching the RFP</a:t>
            </a:r>
            <a:endParaRPr/>
          </a:p>
        </p:txBody>
      </p:sp>
      <p:sp>
        <p:nvSpPr>
          <p:cNvPr id="471" name="Google Shape;471;p38"/>
          <p:cNvSpPr/>
          <p:nvPr/>
        </p:nvSpPr>
        <p:spPr>
          <a:xfrm>
            <a:off x="46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38"/>
          <p:cNvSpPr txBox="1"/>
          <p:nvPr/>
        </p:nvSpPr>
        <p:spPr>
          <a:xfrm>
            <a:off x="46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Swift · SwiftUI</a:t>
            </a:r>
            <a:endParaRPr/>
          </a:p>
        </p:txBody>
      </p:sp>
      <p:sp>
        <p:nvSpPr>
          <p:cNvPr id="473" name="Google Shape;473;p38"/>
          <p:cNvSpPr/>
          <p:nvPr/>
        </p:nvSpPr>
        <p:spPr>
          <a:xfrm>
            <a:off x="582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38"/>
          <p:cNvSpPr txBox="1"/>
          <p:nvPr/>
        </p:nvSpPr>
        <p:spPr>
          <a:xfrm>
            <a:off x="582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Concurrency</a:t>
            </a:r>
            <a:endParaRPr/>
          </a:p>
        </p:txBody>
      </p:sp>
      <p:sp>
        <p:nvSpPr>
          <p:cNvPr id="475" name="Google Shape;475;p38"/>
          <p:cNvSpPr/>
          <p:nvPr/>
        </p:nvSpPr>
        <p:spPr>
          <a:xfrm>
            <a:off x="698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38"/>
          <p:cNvSpPr txBox="1"/>
          <p:nvPr/>
        </p:nvSpPr>
        <p:spPr>
          <a:xfrm>
            <a:off x="698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Combine · Rx</a:t>
            </a:r>
            <a:endParaRPr/>
          </a:p>
        </p:txBody>
      </p:sp>
      <p:sp>
        <p:nvSpPr>
          <p:cNvPr id="477" name="Google Shape;477;p38"/>
          <p:cNvSpPr/>
          <p:nvPr/>
        </p:nvSpPr>
        <p:spPr>
          <a:xfrm>
            <a:off x="814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38"/>
          <p:cNvSpPr txBox="1"/>
          <p:nvPr/>
        </p:nvSpPr>
        <p:spPr>
          <a:xfrm>
            <a:off x="814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Core Bluetooth</a:t>
            </a:r>
            <a:endParaRPr/>
          </a:p>
        </p:txBody>
      </p:sp>
      <p:sp>
        <p:nvSpPr>
          <p:cNvPr id="479" name="Google Shape;479;p38"/>
          <p:cNvSpPr/>
          <p:nvPr/>
        </p:nvSpPr>
        <p:spPr>
          <a:xfrm>
            <a:off x="930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38"/>
          <p:cNvSpPr txBox="1"/>
          <p:nvPr/>
        </p:nvSpPr>
        <p:spPr>
          <a:xfrm>
            <a:off x="930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XCTest · XCUI</a:t>
            </a:r>
            <a:endParaRPr/>
          </a:p>
        </p:txBody>
      </p:sp>
      <p:sp>
        <p:nvSpPr>
          <p:cNvPr id="481" name="Google Shape;481;p38"/>
          <p:cNvSpPr/>
          <p:nvPr/>
        </p:nvSpPr>
        <p:spPr>
          <a:xfrm>
            <a:off x="104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38"/>
          <p:cNvSpPr txBox="1"/>
          <p:nvPr/>
        </p:nvSpPr>
        <p:spPr>
          <a:xfrm>
            <a:off x="104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Fastlane · CI</a:t>
            </a:r>
            <a:endParaRPr/>
          </a:p>
        </p:txBody>
      </p:sp>
      <p:sp>
        <p:nvSpPr>
          <p:cNvPr id="483" name="Google Shape;483;p38"/>
          <p:cNvSpPr txBox="1"/>
          <p:nvPr/>
        </p:nvSpPr>
        <p:spPr>
          <a:xfrm>
            <a:off x="4667707" y="2080000"/>
            <a:ext cx="5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Selected projects (from technical career sheet, latest first)</a:t>
            </a:r>
            <a:endParaRPr/>
          </a:p>
        </p:txBody>
      </p:sp>
      <p:sp>
        <p:nvSpPr>
          <p:cNvPr id="484" name="Google Shape;484;p38"/>
          <p:cNvSpPr/>
          <p:nvPr/>
        </p:nvSpPr>
        <p:spPr>
          <a:xfrm>
            <a:off x="4667707" y="2340000"/>
            <a:ext cx="6912293" cy="280000"/>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38"/>
          <p:cNvSpPr txBox="1"/>
          <p:nvPr/>
        </p:nvSpPr>
        <p:spPr>
          <a:xfrm>
            <a:off x="4727707" y="2340000"/>
            <a:ext cx="109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Period</a:t>
            </a:r>
            <a:endParaRPr/>
          </a:p>
        </p:txBody>
      </p:sp>
      <p:sp>
        <p:nvSpPr>
          <p:cNvPr id="486" name="Google Shape;486;p38"/>
          <p:cNvSpPr txBox="1"/>
          <p:nvPr/>
        </p:nvSpPr>
        <p:spPr>
          <a:xfrm>
            <a:off x="5940000" y="2340000"/>
            <a:ext cx="256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Project</a:t>
            </a:r>
            <a:endParaRPr/>
          </a:p>
        </p:txBody>
      </p:sp>
      <p:sp>
        <p:nvSpPr>
          <p:cNvPr id="487" name="Google Shape;487;p38"/>
          <p:cNvSpPr txBox="1"/>
          <p:nvPr/>
        </p:nvSpPr>
        <p:spPr>
          <a:xfrm>
            <a:off x="8620000" y="2340000"/>
            <a:ext cx="134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Client</a:t>
            </a:r>
            <a:endParaRPr/>
          </a:p>
        </p:txBody>
      </p:sp>
      <p:sp>
        <p:nvSpPr>
          <p:cNvPr id="488" name="Google Shape;488;p38"/>
          <p:cNvSpPr txBox="1"/>
          <p:nvPr/>
        </p:nvSpPr>
        <p:spPr>
          <a:xfrm>
            <a:off x="10080000" y="2340000"/>
            <a:ext cx="150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Role · Stack</a:t>
            </a:r>
            <a:endParaRPr/>
          </a:p>
        </p:txBody>
      </p:sp>
      <p:sp>
        <p:nvSpPr>
          <p:cNvPr id="489" name="Google Shape;489;p38"/>
          <p:cNvSpPr txBox="1"/>
          <p:nvPr/>
        </p:nvSpPr>
        <p:spPr>
          <a:xfrm>
            <a:off x="4727707" y="2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2024.06–2025.10</a:t>
            </a:r>
            <a:endParaRPr/>
          </a:p>
        </p:txBody>
      </p:sp>
      <p:sp>
        <p:nvSpPr>
          <p:cNvPr id="490" name="Google Shape;490;p38"/>
          <p:cNvSpPr txBox="1"/>
          <p:nvPr/>
        </p:nvSpPr>
        <p:spPr>
          <a:xfrm>
            <a:off x="5940000" y="2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T world, SWING, AI Layer SDK (3 SKT iOS apps)</a:t>
            </a:r>
            <a:endParaRPr/>
          </a:p>
        </p:txBody>
      </p:sp>
      <p:sp>
        <p:nvSpPr>
          <p:cNvPr id="491" name="Google Shape;491;p38"/>
          <p:cNvSpPr txBox="1"/>
          <p:nvPr/>
        </p:nvSpPr>
        <p:spPr>
          <a:xfrm>
            <a:off x="8620000" y="2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SK AX (SKT)</a:t>
            </a:r>
            <a:endParaRPr/>
          </a:p>
        </p:txBody>
      </p:sp>
      <p:sp>
        <p:nvSpPr>
          <p:cNvPr id="492" name="Google Shape;492;p38"/>
          <p:cNvSpPr txBox="1"/>
          <p:nvPr/>
        </p:nvSpPr>
        <p:spPr>
          <a:xfrm>
            <a:off x="10080000" y="2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iOS dev · Swift Concurrency, Combine</a:t>
            </a:r>
            <a:endParaRPr/>
          </a:p>
        </p:txBody>
      </p:sp>
      <p:sp>
        <p:nvSpPr>
          <p:cNvPr id="493" name="Google Shape;493;p38"/>
          <p:cNvSpPr/>
          <p:nvPr/>
        </p:nvSpPr>
        <p:spPr>
          <a:xfrm>
            <a:off x="4667707" y="30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38"/>
          <p:cNvSpPr txBox="1"/>
          <p:nvPr/>
        </p:nvSpPr>
        <p:spPr>
          <a:xfrm>
            <a:off x="4727707" y="3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2021.06–2023.10</a:t>
            </a:r>
            <a:endParaRPr/>
          </a:p>
        </p:txBody>
      </p:sp>
      <p:sp>
        <p:nvSpPr>
          <p:cNvPr id="495" name="Google Shape;495;p38"/>
          <p:cNvSpPr txBox="1"/>
          <p:nvPr/>
        </p:nvSpPr>
        <p:spPr>
          <a:xfrm>
            <a:off x="5940000" y="3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Kickgoing shared e-scooter/e-bike app, BLE locks</a:t>
            </a:r>
            <a:endParaRPr/>
          </a:p>
        </p:txBody>
      </p:sp>
      <p:sp>
        <p:nvSpPr>
          <p:cNvPr id="496" name="Google Shape;496;p38"/>
          <p:cNvSpPr txBox="1"/>
          <p:nvPr/>
        </p:nvSpPr>
        <p:spPr>
          <a:xfrm>
            <a:off x="8620000" y="3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Olulo</a:t>
            </a:r>
            <a:endParaRPr/>
          </a:p>
        </p:txBody>
      </p:sp>
      <p:sp>
        <p:nvSpPr>
          <p:cNvPr id="497" name="Google Shape;497;p38"/>
          <p:cNvSpPr txBox="1"/>
          <p:nvPr/>
        </p:nvSpPr>
        <p:spPr>
          <a:xfrm>
            <a:off x="10080000" y="3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Mobile Tech Lead · React Native, BLE</a:t>
            </a:r>
            <a:endParaRPr/>
          </a:p>
        </p:txBody>
      </p:sp>
      <p:sp>
        <p:nvSpPr>
          <p:cNvPr id="498" name="Google Shape;498;p38"/>
          <p:cNvSpPr txBox="1"/>
          <p:nvPr/>
        </p:nvSpPr>
        <p:spPr>
          <a:xfrm>
            <a:off x="4727707" y="34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2018.06–2021.05</a:t>
            </a:r>
            <a:endParaRPr/>
          </a:p>
        </p:txBody>
      </p:sp>
      <p:sp>
        <p:nvSpPr>
          <p:cNvPr id="499" name="Google Shape;499;p38"/>
          <p:cNvSpPr txBox="1"/>
          <p:nvPr/>
        </p:nvSpPr>
        <p:spPr>
          <a:xfrm>
            <a:off x="5940000" y="34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Siwonschool app: lecture download, offline playback</a:t>
            </a:r>
            <a:endParaRPr/>
          </a:p>
        </p:txBody>
      </p:sp>
      <p:sp>
        <p:nvSpPr>
          <p:cNvPr id="500" name="Google Shape;500;p38"/>
          <p:cNvSpPr txBox="1"/>
          <p:nvPr/>
        </p:nvSpPr>
        <p:spPr>
          <a:xfrm>
            <a:off x="8620000" y="34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SJW International</a:t>
            </a:r>
            <a:endParaRPr/>
          </a:p>
        </p:txBody>
      </p:sp>
      <p:sp>
        <p:nvSpPr>
          <p:cNvPr id="501" name="Google Shape;501;p38"/>
          <p:cNvSpPr txBox="1"/>
          <p:nvPr/>
        </p:nvSpPr>
        <p:spPr>
          <a:xfrm>
            <a:off x="10080000" y="34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iOS dev · Swift, MVVM, RxSwift</a:t>
            </a:r>
            <a:endParaRPr/>
          </a:p>
        </p:txBody>
      </p:sp>
      <p:sp>
        <p:nvSpPr>
          <p:cNvPr id="502" name="Google Shape;502;p38"/>
          <p:cNvSpPr/>
          <p:nvPr/>
        </p:nvSpPr>
        <p:spPr>
          <a:xfrm>
            <a:off x="4667707" y="38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38"/>
          <p:cNvSpPr txBox="1"/>
          <p:nvPr/>
        </p:nvSpPr>
        <p:spPr>
          <a:xfrm>
            <a:off x="4727707" y="38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2017.02–2018.06</a:t>
            </a:r>
            <a:endParaRPr/>
          </a:p>
        </p:txBody>
      </p:sp>
      <p:sp>
        <p:nvSpPr>
          <p:cNvPr id="504" name="Google Shape;504;p38"/>
          <p:cNvSpPr txBox="1"/>
          <p:nvPr/>
        </p:nvSpPr>
        <p:spPr>
          <a:xfrm>
            <a:off x="5940000" y="38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Related Stocks Finder, ShowNote (iPad PDF)</a:t>
            </a:r>
            <a:endParaRPr/>
          </a:p>
        </p:txBody>
      </p:sp>
      <p:sp>
        <p:nvSpPr>
          <p:cNvPr id="505" name="Google Shape;505;p38"/>
          <p:cNvSpPr txBox="1"/>
          <p:nvPr/>
        </p:nvSpPr>
        <p:spPr>
          <a:xfrm>
            <a:off x="8620000" y="38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Independent</a:t>
            </a:r>
            <a:endParaRPr/>
          </a:p>
        </p:txBody>
      </p:sp>
      <p:sp>
        <p:nvSpPr>
          <p:cNvPr id="506" name="Google Shape;506;p38"/>
          <p:cNvSpPr txBox="1"/>
          <p:nvPr/>
        </p:nvSpPr>
        <p:spPr>
          <a:xfrm>
            <a:off x="10080000" y="38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iOS dev · Swift, Firebase</a:t>
            </a:r>
            <a:endParaRPr/>
          </a:p>
        </p:txBody>
      </p:sp>
      <p:sp>
        <p:nvSpPr>
          <p:cNvPr id="507" name="Google Shape;507;p38"/>
          <p:cNvSpPr txBox="1"/>
          <p:nvPr/>
        </p:nvSpPr>
        <p:spPr>
          <a:xfrm>
            <a:off x="4727707" y="42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2009.08–2017.02</a:t>
            </a:r>
            <a:endParaRPr/>
          </a:p>
        </p:txBody>
      </p:sp>
      <p:sp>
        <p:nvSpPr>
          <p:cNvPr id="508" name="Google Shape;508;p38"/>
          <p:cNvSpPr txBox="1"/>
          <p:nvPr/>
        </p:nvSpPr>
        <p:spPr>
          <a:xfrm>
            <a:off x="5940000" y="42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SKT O2O Beacon Android SDK, Wi-Fi indoor positioning</a:t>
            </a:r>
            <a:endParaRPr/>
          </a:p>
        </p:txBody>
      </p:sp>
      <p:sp>
        <p:nvSpPr>
          <p:cNvPr id="509" name="Google Shape;509;p38"/>
          <p:cNvSpPr txBox="1"/>
          <p:nvPr/>
        </p:nvSpPr>
        <p:spPr>
          <a:xfrm>
            <a:off x="8620000" y="42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CREDiF (SKT)</a:t>
            </a:r>
            <a:endParaRPr/>
          </a:p>
        </p:txBody>
      </p:sp>
      <p:sp>
        <p:nvSpPr>
          <p:cNvPr id="510" name="Google Shape;510;p38"/>
          <p:cNvSpPr txBox="1"/>
          <p:nvPr/>
        </p:nvSpPr>
        <p:spPr>
          <a:xfrm>
            <a:off x="10080000" y="42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Developer · Java, AIDL, Beacon</a:t>
            </a:r>
            <a:endParaRPr/>
          </a:p>
        </p:txBody>
      </p:sp>
      <p:sp>
        <p:nvSpPr>
          <p:cNvPr id="511" name="Google Shape;511;p38"/>
          <p:cNvSpPr/>
          <p:nvPr/>
        </p:nvSpPr>
        <p:spPr>
          <a:xfrm>
            <a:off x="4667707" y="46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38"/>
          <p:cNvSpPr txBox="1"/>
          <p:nvPr/>
        </p:nvSpPr>
        <p:spPr>
          <a:xfrm>
            <a:off x="4727707" y="4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2009.08–2017.02</a:t>
            </a:r>
            <a:endParaRPr/>
          </a:p>
        </p:txBody>
      </p:sp>
      <p:sp>
        <p:nvSpPr>
          <p:cNvPr id="513" name="Google Shape;513;p38"/>
          <p:cNvSpPr txBox="1"/>
          <p:nvPr/>
        </p:nvSpPr>
        <p:spPr>
          <a:xfrm>
            <a:off x="5940000" y="4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30+ SI/SM projects, server to mobile clients</a:t>
            </a:r>
            <a:endParaRPr/>
          </a:p>
        </p:txBody>
      </p:sp>
      <p:sp>
        <p:nvSpPr>
          <p:cNvPr id="514" name="Google Shape;514;p38"/>
          <p:cNvSpPr txBox="1"/>
          <p:nvPr/>
        </p:nvSpPr>
        <p:spPr>
          <a:xfrm>
            <a:off x="8620000" y="4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CREDiF</a:t>
            </a:r>
            <a:endParaRPr/>
          </a:p>
        </p:txBody>
      </p:sp>
      <p:sp>
        <p:nvSpPr>
          <p:cNvPr id="515" name="Google Shape;515;p38"/>
          <p:cNvSpPr txBox="1"/>
          <p:nvPr/>
        </p:nvSpPr>
        <p:spPr>
          <a:xfrm>
            <a:off x="10080000" y="4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Full-stack · C, C#, Java</a:t>
            </a:r>
            <a:endParaRPr/>
          </a:p>
        </p:txBody>
      </p:sp>
      <p:sp>
        <p:nvSpPr>
          <p:cNvPr id="516" name="Google Shape;516;p38"/>
          <p:cNvSpPr txBox="1"/>
          <p:nvPr/>
        </p:nvSpPr>
        <p:spPr>
          <a:xfrm>
            <a:off x="4727707" y="5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2023–2026</a:t>
            </a:r>
            <a:endParaRPr/>
          </a:p>
        </p:txBody>
      </p:sp>
      <p:sp>
        <p:nvSpPr>
          <p:cNvPr id="517" name="Google Shape;517;p38"/>
          <p:cNvSpPr txBox="1"/>
          <p:nvPr/>
        </p:nvSpPr>
        <p:spPr>
          <a:xfrm>
            <a:off x="5940000" y="5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SwiftUI migration agent skill, Tuist, Clean Architecture</a:t>
            </a:r>
            <a:endParaRPr/>
          </a:p>
        </p:txBody>
      </p:sp>
      <p:sp>
        <p:nvSpPr>
          <p:cNvPr id="518" name="Google Shape;518;p38"/>
          <p:cNvSpPr txBox="1"/>
          <p:nvPr/>
        </p:nvSpPr>
        <p:spPr>
          <a:xfrm>
            <a:off x="8620000" y="5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Personal apps · OSS</a:t>
            </a:r>
            <a:endParaRPr/>
          </a:p>
        </p:txBody>
      </p:sp>
      <p:sp>
        <p:nvSpPr>
          <p:cNvPr id="519" name="Google Shape;519;p38"/>
          <p:cNvSpPr txBox="1"/>
          <p:nvPr/>
        </p:nvSpPr>
        <p:spPr>
          <a:xfrm>
            <a:off x="10080000" y="5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iOS · SwiftUI, TCA, Tuist</a:t>
            </a:r>
            <a:endParaRPr/>
          </a:p>
        </p:txBody>
      </p:sp>
      <p:sp>
        <p:nvSpPr>
          <p:cNvPr id="520" name="Google Shape;520;p38"/>
          <p:cNvSpPr txBox="1"/>
          <p:nvPr/>
        </p:nvSpPr>
        <p:spPr>
          <a:xfrm>
            <a:off x="4667707" y="5760000"/>
            <a:ext cx="6912293" cy="33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00"/>
              <a:buFont typeface="Barlow"/>
              <a:buNone/>
            </a:pPr>
            <a:r>
              <a:rPr lang="en-US" sz="1000">
                <a:solidFill>
                  <a:srgbClr val="5B6B7F"/>
                </a:solidFill>
                <a:latin typeface="Barlow"/>
                <a:ea typeface="Barlow"/>
                <a:cs typeface="Barlow"/>
                <a:sym typeface="Barlow"/>
              </a:rPr>
              <a:t>Contractor via CMC Global Korea · available 12 Oct 2026 · Korean native.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9"/>
          <p:cNvSpPr txBox="1"/>
          <p:nvPr/>
        </p:nvSpPr>
        <p:spPr>
          <a:xfrm>
            <a:off x="457200" y="323698"/>
            <a:ext cx="6667805"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PROPOSED ENGINEERS</a:t>
            </a:r>
            <a:endParaRPr/>
          </a:p>
        </p:txBody>
      </p:sp>
      <p:sp>
        <p:nvSpPr>
          <p:cNvPr id="527" name="Google Shape;527;p39"/>
          <p:cNvSpPr txBox="1"/>
          <p:nvPr/>
        </p:nvSpPr>
        <p:spPr>
          <a:xfrm>
            <a:off x="457200" y="590702"/>
            <a:ext cx="11277600"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Candidate B — Kim Jin-hee, Senior iOS: 15 years of iOS, 35 projects</a:t>
            </a:r>
            <a:endParaRPr/>
          </a:p>
        </p:txBody>
      </p:sp>
      <p:sp>
        <p:nvSpPr>
          <p:cNvPr id="528" name="Google Shape;528;p39"/>
          <p:cNvSpPr/>
          <p:nvPr/>
        </p:nvSpPr>
        <p:spPr>
          <a:xfrm>
            <a:off x="457200" y="1238098"/>
            <a:ext cx="3886200"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39"/>
          <p:cNvSpPr/>
          <p:nvPr/>
        </p:nvSpPr>
        <p:spPr>
          <a:xfrm>
            <a:off x="629107" y="1390802"/>
            <a:ext cx="590702" cy="590702"/>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39"/>
          <p:cNvSpPr txBox="1"/>
          <p:nvPr/>
        </p:nvSpPr>
        <p:spPr>
          <a:xfrm>
            <a:off x="629107" y="1390802"/>
            <a:ext cx="590702" cy="5907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Montserrat"/>
              <a:buNone/>
            </a:pPr>
            <a:r>
              <a:rPr b="1" lang="en-US" sz="1350">
                <a:solidFill>
                  <a:srgbClr val="FFFFFF"/>
                </a:solidFill>
                <a:latin typeface="Montserrat"/>
                <a:ea typeface="Montserrat"/>
                <a:cs typeface="Montserrat"/>
                <a:sym typeface="Montserrat"/>
              </a:rPr>
              <a:t>KJ</a:t>
            </a:r>
            <a:endParaRPr/>
          </a:p>
        </p:txBody>
      </p:sp>
      <p:sp>
        <p:nvSpPr>
          <p:cNvPr id="531" name="Google Shape;531;p39"/>
          <p:cNvSpPr txBox="1"/>
          <p:nvPr/>
        </p:nvSpPr>
        <p:spPr>
          <a:xfrm>
            <a:off x="1320000" y="1400000"/>
            <a:ext cx="29000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125"/>
              <a:buFont typeface="Montserrat"/>
              <a:buNone/>
            </a:pPr>
            <a:r>
              <a:rPr b="1" lang="en-US" sz="1125">
                <a:solidFill>
                  <a:srgbClr val="0B2F5B"/>
                </a:solidFill>
                <a:latin typeface="Montserrat"/>
                <a:ea typeface="Montserrat"/>
                <a:cs typeface="Montserrat"/>
                <a:sym typeface="Montserrat"/>
              </a:rPr>
              <a:t>Candidate B — Kim Jin-hee (김진희)</a:t>
            </a:r>
            <a:endParaRPr/>
          </a:p>
        </p:txBody>
      </p:sp>
      <p:sp>
        <p:nvSpPr>
          <p:cNvPr id="532" name="Google Shape;532;p39"/>
          <p:cNvSpPr txBox="1"/>
          <p:nvPr/>
        </p:nvSpPr>
        <p:spPr>
          <a:xfrm>
            <a:off x="1320000" y="1700000"/>
            <a:ext cx="290000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Barlow"/>
              <a:buNone/>
            </a:pPr>
            <a:r>
              <a:rPr lang="en-US" sz="1000">
                <a:solidFill>
                  <a:srgbClr val="1867DC"/>
                </a:solidFill>
                <a:latin typeface="Barlow"/>
                <a:ea typeface="Barlow"/>
                <a:cs typeface="Barlow"/>
                <a:sym typeface="Barlow"/>
              </a:rPr>
              <a:t>Senior iOS Engineer</a:t>
            </a:r>
            <a:endParaRPr/>
          </a:p>
        </p:txBody>
      </p:sp>
      <p:sp>
        <p:nvSpPr>
          <p:cNvPr id="533" name="Google Shape;533;p39"/>
          <p:cNvSpPr/>
          <p:nvPr/>
        </p:nvSpPr>
        <p:spPr>
          <a:xfrm>
            <a:off x="629107" y="21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39"/>
          <p:cNvSpPr txBox="1"/>
          <p:nvPr/>
        </p:nvSpPr>
        <p:spPr>
          <a:xfrm>
            <a:off x="700000" y="2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ROLE ON PROJECT</a:t>
            </a:r>
            <a:endParaRPr/>
          </a:p>
        </p:txBody>
      </p:sp>
      <p:sp>
        <p:nvSpPr>
          <p:cNvPr id="535" name="Google Shape;535;p39"/>
          <p:cNvSpPr txBox="1"/>
          <p:nvPr/>
        </p:nvSpPr>
        <p:spPr>
          <a:xfrm>
            <a:off x="1980000" y="2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Senior iOS Engineer · iOS lead</a:t>
            </a:r>
            <a:endParaRPr/>
          </a:p>
        </p:txBody>
      </p:sp>
      <p:sp>
        <p:nvSpPr>
          <p:cNvPr id="536" name="Google Shape;536;p39"/>
          <p:cNvSpPr txBox="1"/>
          <p:nvPr/>
        </p:nvSpPr>
        <p:spPr>
          <a:xfrm>
            <a:off x="700000" y="2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GRADE</a:t>
            </a:r>
            <a:endParaRPr/>
          </a:p>
        </p:txBody>
      </p:sp>
      <p:sp>
        <p:nvSpPr>
          <p:cNvPr id="537" name="Google Shape;537;p39"/>
          <p:cNvSpPr txBox="1"/>
          <p:nvPr/>
        </p:nvSpPr>
        <p:spPr>
          <a:xfrm>
            <a:off x="1980000" y="2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Advanced / Expert (고급/특급)</a:t>
            </a:r>
            <a:endParaRPr/>
          </a:p>
        </p:txBody>
      </p:sp>
      <p:sp>
        <p:nvSpPr>
          <p:cNvPr id="538" name="Google Shape;538;p39"/>
          <p:cNvSpPr/>
          <p:nvPr/>
        </p:nvSpPr>
        <p:spPr>
          <a:xfrm>
            <a:off x="629107" y="29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39"/>
          <p:cNvSpPr txBox="1"/>
          <p:nvPr/>
        </p:nvSpPr>
        <p:spPr>
          <a:xfrm>
            <a:off x="700000" y="29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CAREER</a:t>
            </a:r>
            <a:endParaRPr/>
          </a:p>
        </p:txBody>
      </p:sp>
      <p:sp>
        <p:nvSpPr>
          <p:cNvPr id="540" name="Google Shape;540;p39"/>
          <p:cNvSpPr txBox="1"/>
          <p:nvPr/>
        </p:nvSpPr>
        <p:spPr>
          <a:xfrm>
            <a:off x="1980000" y="29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1996.03 – 2026.04 · 18 yrs in IT</a:t>
            </a:r>
            <a:endParaRPr/>
          </a:p>
        </p:txBody>
      </p:sp>
      <p:sp>
        <p:nvSpPr>
          <p:cNvPr id="541" name="Google Shape;541;p39"/>
          <p:cNvSpPr txBox="1"/>
          <p:nvPr/>
        </p:nvSpPr>
        <p:spPr>
          <a:xfrm>
            <a:off x="700000" y="33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MOBILE SINCE</a:t>
            </a:r>
            <a:endParaRPr/>
          </a:p>
        </p:txBody>
      </p:sp>
      <p:sp>
        <p:nvSpPr>
          <p:cNvPr id="542" name="Google Shape;542;p39"/>
          <p:cNvSpPr txBox="1"/>
          <p:nvPr/>
        </p:nvSpPr>
        <p:spPr>
          <a:xfrm>
            <a:off x="1980000" y="33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iOS since 2011 (~15 yrs), watchOS</a:t>
            </a:r>
            <a:endParaRPr/>
          </a:p>
        </p:txBody>
      </p:sp>
      <p:sp>
        <p:nvSpPr>
          <p:cNvPr id="543" name="Google Shape;543;p39"/>
          <p:cNvSpPr/>
          <p:nvPr/>
        </p:nvSpPr>
        <p:spPr>
          <a:xfrm>
            <a:off x="629107" y="37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39"/>
          <p:cNvSpPr txBox="1"/>
          <p:nvPr/>
        </p:nvSpPr>
        <p:spPr>
          <a:xfrm>
            <a:off x="700000" y="37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PROJECTS</a:t>
            </a:r>
            <a:endParaRPr/>
          </a:p>
        </p:txBody>
      </p:sp>
      <p:sp>
        <p:nvSpPr>
          <p:cNvPr id="545" name="Google Shape;545;p39"/>
          <p:cNvSpPr txBox="1"/>
          <p:nvPr/>
        </p:nvSpPr>
        <p:spPr>
          <a:xfrm>
            <a:off x="1980000" y="37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35 · finance, airline, IoT</a:t>
            </a:r>
            <a:endParaRPr/>
          </a:p>
        </p:txBody>
      </p:sp>
      <p:sp>
        <p:nvSpPr>
          <p:cNvPr id="546" name="Google Shape;546;p39"/>
          <p:cNvSpPr txBox="1"/>
          <p:nvPr/>
        </p:nvSpPr>
        <p:spPr>
          <a:xfrm>
            <a:off x="700000" y="4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EDUCATION</a:t>
            </a:r>
            <a:endParaRPr/>
          </a:p>
        </p:txBody>
      </p:sp>
      <p:sp>
        <p:nvSpPr>
          <p:cNvPr id="547" name="Google Shape;547;p39"/>
          <p:cNvSpPr txBox="1"/>
          <p:nvPr/>
        </p:nvSpPr>
        <p:spPr>
          <a:xfrm>
            <a:off x="1980000" y="4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Seokyeong Univ., Computer Science</a:t>
            </a:r>
            <a:endParaRPr/>
          </a:p>
        </p:txBody>
      </p:sp>
      <p:sp>
        <p:nvSpPr>
          <p:cNvPr id="548" name="Google Shape;548;p39"/>
          <p:cNvSpPr/>
          <p:nvPr/>
        </p:nvSpPr>
        <p:spPr>
          <a:xfrm>
            <a:off x="629107" y="45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39"/>
          <p:cNvSpPr txBox="1"/>
          <p:nvPr/>
        </p:nvSpPr>
        <p:spPr>
          <a:xfrm>
            <a:off x="700000" y="4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BASED IN</a:t>
            </a:r>
            <a:endParaRPr/>
          </a:p>
        </p:txBody>
      </p:sp>
      <p:sp>
        <p:nvSpPr>
          <p:cNvPr id="550" name="Google Shape;550;p39"/>
          <p:cNvSpPr txBox="1"/>
          <p:nvPr/>
        </p:nvSpPr>
        <p:spPr>
          <a:xfrm>
            <a:off x="1980000" y="4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Seoul (Eunpyeong-gu)</a:t>
            </a:r>
            <a:endParaRPr/>
          </a:p>
        </p:txBody>
      </p:sp>
      <p:sp>
        <p:nvSpPr>
          <p:cNvPr id="551" name="Google Shape;551;p39"/>
          <p:cNvSpPr/>
          <p:nvPr/>
        </p:nvSpPr>
        <p:spPr>
          <a:xfrm>
            <a:off x="629107" y="5120000"/>
            <a:ext cx="3542400" cy="80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39"/>
          <p:cNvSpPr txBox="1"/>
          <p:nvPr/>
        </p:nvSpPr>
        <p:spPr>
          <a:xfrm>
            <a:off x="730000" y="5170000"/>
            <a:ext cx="3340000" cy="7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lang="en-US" sz="1050">
                <a:solidFill>
                  <a:srgbClr val="0B2F5B"/>
                </a:solidFill>
                <a:latin typeface="Barlow"/>
                <a:ea typeface="Barlow"/>
                <a:cs typeface="Barlow"/>
                <a:sym typeface="Barlow"/>
              </a:rPr>
              <a:t>Senior iOS Engineer — owns the iOS codebase, architecture (MVVM, Combine) and App Store releases; shares iOS delivery with Candidate A (Team Leader).</a:t>
            </a:r>
            <a:endParaRPr/>
          </a:p>
        </p:txBody>
      </p:sp>
      <p:sp>
        <p:nvSpPr>
          <p:cNvPr id="553" name="Google Shape;553;p39"/>
          <p:cNvSpPr/>
          <p:nvPr/>
        </p:nvSpPr>
        <p:spPr>
          <a:xfrm>
            <a:off x="4495800" y="1238098"/>
            <a:ext cx="7239195"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39"/>
          <p:cNvSpPr txBox="1"/>
          <p:nvPr/>
        </p:nvSpPr>
        <p:spPr>
          <a:xfrm>
            <a:off x="4667707" y="1390802"/>
            <a:ext cx="3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Skills matching the RFP</a:t>
            </a:r>
            <a:endParaRPr/>
          </a:p>
        </p:txBody>
      </p:sp>
      <p:sp>
        <p:nvSpPr>
          <p:cNvPr id="555" name="Google Shape;555;p39"/>
          <p:cNvSpPr/>
          <p:nvPr/>
        </p:nvSpPr>
        <p:spPr>
          <a:xfrm>
            <a:off x="46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39"/>
          <p:cNvSpPr txBox="1"/>
          <p:nvPr/>
        </p:nvSpPr>
        <p:spPr>
          <a:xfrm>
            <a:off x="46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Swift</a:t>
            </a:r>
            <a:endParaRPr/>
          </a:p>
        </p:txBody>
      </p:sp>
      <p:sp>
        <p:nvSpPr>
          <p:cNvPr id="557" name="Google Shape;557;p39"/>
          <p:cNvSpPr/>
          <p:nvPr/>
        </p:nvSpPr>
        <p:spPr>
          <a:xfrm>
            <a:off x="582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39"/>
          <p:cNvSpPr txBox="1"/>
          <p:nvPr/>
        </p:nvSpPr>
        <p:spPr>
          <a:xfrm>
            <a:off x="582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Objective-C</a:t>
            </a:r>
            <a:endParaRPr/>
          </a:p>
        </p:txBody>
      </p:sp>
      <p:sp>
        <p:nvSpPr>
          <p:cNvPr id="559" name="Google Shape;559;p39"/>
          <p:cNvSpPr/>
          <p:nvPr/>
        </p:nvSpPr>
        <p:spPr>
          <a:xfrm>
            <a:off x="698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39"/>
          <p:cNvSpPr txBox="1"/>
          <p:nvPr/>
        </p:nvSpPr>
        <p:spPr>
          <a:xfrm>
            <a:off x="698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SwiftUI</a:t>
            </a:r>
            <a:endParaRPr/>
          </a:p>
        </p:txBody>
      </p:sp>
      <p:sp>
        <p:nvSpPr>
          <p:cNvPr id="561" name="Google Shape;561;p39"/>
          <p:cNvSpPr/>
          <p:nvPr/>
        </p:nvSpPr>
        <p:spPr>
          <a:xfrm>
            <a:off x="814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39"/>
          <p:cNvSpPr txBox="1"/>
          <p:nvPr/>
        </p:nvSpPr>
        <p:spPr>
          <a:xfrm>
            <a:off x="814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RxSwift · Combine</a:t>
            </a:r>
            <a:endParaRPr/>
          </a:p>
        </p:txBody>
      </p:sp>
      <p:sp>
        <p:nvSpPr>
          <p:cNvPr id="563" name="Google Shape;563;p39"/>
          <p:cNvSpPr/>
          <p:nvPr/>
        </p:nvSpPr>
        <p:spPr>
          <a:xfrm>
            <a:off x="930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39"/>
          <p:cNvSpPr txBox="1"/>
          <p:nvPr/>
        </p:nvSpPr>
        <p:spPr>
          <a:xfrm>
            <a:off x="930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MVVM</a:t>
            </a:r>
            <a:endParaRPr/>
          </a:p>
        </p:txBody>
      </p:sp>
      <p:sp>
        <p:nvSpPr>
          <p:cNvPr id="565" name="Google Shape;565;p39"/>
          <p:cNvSpPr/>
          <p:nvPr/>
        </p:nvSpPr>
        <p:spPr>
          <a:xfrm>
            <a:off x="104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39"/>
          <p:cNvSpPr txBox="1"/>
          <p:nvPr/>
        </p:nvSpPr>
        <p:spPr>
          <a:xfrm>
            <a:off x="104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watchOS</a:t>
            </a:r>
            <a:endParaRPr/>
          </a:p>
        </p:txBody>
      </p:sp>
      <p:sp>
        <p:nvSpPr>
          <p:cNvPr id="567" name="Google Shape;567;p39"/>
          <p:cNvSpPr txBox="1"/>
          <p:nvPr/>
        </p:nvSpPr>
        <p:spPr>
          <a:xfrm>
            <a:off x="4667707" y="2080000"/>
            <a:ext cx="5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Selected projects (from technical career sheet, latest first)</a:t>
            </a:r>
            <a:endParaRPr/>
          </a:p>
        </p:txBody>
      </p:sp>
      <p:sp>
        <p:nvSpPr>
          <p:cNvPr id="568" name="Google Shape;568;p39"/>
          <p:cNvSpPr/>
          <p:nvPr/>
        </p:nvSpPr>
        <p:spPr>
          <a:xfrm>
            <a:off x="4667707" y="2340000"/>
            <a:ext cx="6912293" cy="280000"/>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39"/>
          <p:cNvSpPr txBox="1"/>
          <p:nvPr/>
        </p:nvSpPr>
        <p:spPr>
          <a:xfrm>
            <a:off x="4727707" y="2340000"/>
            <a:ext cx="109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Period</a:t>
            </a:r>
            <a:endParaRPr/>
          </a:p>
        </p:txBody>
      </p:sp>
      <p:sp>
        <p:nvSpPr>
          <p:cNvPr id="570" name="Google Shape;570;p39"/>
          <p:cNvSpPr txBox="1"/>
          <p:nvPr/>
        </p:nvSpPr>
        <p:spPr>
          <a:xfrm>
            <a:off x="5940000" y="2340000"/>
            <a:ext cx="256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Project</a:t>
            </a:r>
            <a:endParaRPr/>
          </a:p>
        </p:txBody>
      </p:sp>
      <p:sp>
        <p:nvSpPr>
          <p:cNvPr id="571" name="Google Shape;571;p39"/>
          <p:cNvSpPr txBox="1"/>
          <p:nvPr/>
        </p:nvSpPr>
        <p:spPr>
          <a:xfrm>
            <a:off x="8620000" y="2340000"/>
            <a:ext cx="134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Client</a:t>
            </a:r>
            <a:endParaRPr/>
          </a:p>
        </p:txBody>
      </p:sp>
      <p:sp>
        <p:nvSpPr>
          <p:cNvPr id="572" name="Google Shape;572;p39"/>
          <p:cNvSpPr txBox="1"/>
          <p:nvPr/>
        </p:nvSpPr>
        <p:spPr>
          <a:xfrm>
            <a:off x="10080000" y="2340000"/>
            <a:ext cx="150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Role · Stack</a:t>
            </a:r>
            <a:endParaRPr/>
          </a:p>
        </p:txBody>
      </p:sp>
      <p:sp>
        <p:nvSpPr>
          <p:cNvPr id="573" name="Google Shape;573;p39"/>
          <p:cNvSpPr txBox="1"/>
          <p:nvPr/>
        </p:nvSpPr>
        <p:spPr>
          <a:xfrm>
            <a:off x="4727707" y="2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2026.02–04</a:t>
            </a:r>
            <a:endParaRPr/>
          </a:p>
        </p:txBody>
      </p:sp>
      <p:sp>
        <p:nvSpPr>
          <p:cNvPr id="574" name="Google Shape;574;p39"/>
          <p:cNvSpPr txBox="1"/>
          <p:nvPr/>
        </p:nvSpPr>
        <p:spPr>
          <a:xfrm>
            <a:off x="5940000" y="2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Senior Living mobile app</a:t>
            </a:r>
            <a:endParaRPr/>
          </a:p>
        </p:txBody>
      </p:sp>
      <p:sp>
        <p:nvSpPr>
          <p:cNvPr id="575" name="Google Shape;575;p39"/>
          <p:cNvSpPr txBox="1"/>
          <p:nvPr/>
        </p:nvSpPr>
        <p:spPr>
          <a:xfrm>
            <a:off x="8620000" y="2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Samsung C&amp;T</a:t>
            </a:r>
            <a:endParaRPr/>
          </a:p>
        </p:txBody>
      </p:sp>
      <p:sp>
        <p:nvSpPr>
          <p:cNvPr id="576" name="Google Shape;576;p39"/>
          <p:cNvSpPr txBox="1"/>
          <p:nvPr/>
        </p:nvSpPr>
        <p:spPr>
          <a:xfrm>
            <a:off x="10080000" y="2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Kotlin</a:t>
            </a:r>
            <a:endParaRPr/>
          </a:p>
        </p:txBody>
      </p:sp>
      <p:sp>
        <p:nvSpPr>
          <p:cNvPr id="577" name="Google Shape;577;p39"/>
          <p:cNvSpPr/>
          <p:nvPr/>
        </p:nvSpPr>
        <p:spPr>
          <a:xfrm>
            <a:off x="4667707" y="30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39"/>
          <p:cNvSpPr txBox="1"/>
          <p:nvPr/>
        </p:nvSpPr>
        <p:spPr>
          <a:xfrm>
            <a:off x="4727707" y="3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2025.08–10</a:t>
            </a:r>
            <a:endParaRPr/>
          </a:p>
        </p:txBody>
      </p:sp>
      <p:sp>
        <p:nvSpPr>
          <p:cNvPr id="579" name="Google Shape;579;p39"/>
          <p:cNvSpPr txBox="1"/>
          <p:nvPr/>
        </p:nvSpPr>
        <p:spPr>
          <a:xfrm>
            <a:off x="5940000" y="3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MDM removal mobile app</a:t>
            </a:r>
            <a:endParaRPr/>
          </a:p>
        </p:txBody>
      </p:sp>
      <p:sp>
        <p:nvSpPr>
          <p:cNvPr id="580" name="Google Shape;580;p39"/>
          <p:cNvSpPr txBox="1"/>
          <p:nvPr/>
        </p:nvSpPr>
        <p:spPr>
          <a:xfrm>
            <a:off x="8620000" y="3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Jeju Air</a:t>
            </a:r>
            <a:endParaRPr/>
          </a:p>
        </p:txBody>
      </p:sp>
      <p:sp>
        <p:nvSpPr>
          <p:cNvPr id="581" name="Google Shape;581;p39"/>
          <p:cNvSpPr txBox="1"/>
          <p:nvPr/>
        </p:nvSpPr>
        <p:spPr>
          <a:xfrm>
            <a:off x="10080000" y="3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MDM</a:t>
            </a:r>
            <a:endParaRPr/>
          </a:p>
        </p:txBody>
      </p:sp>
      <p:sp>
        <p:nvSpPr>
          <p:cNvPr id="582" name="Google Shape;582;p39"/>
          <p:cNvSpPr txBox="1"/>
          <p:nvPr/>
        </p:nvSpPr>
        <p:spPr>
          <a:xfrm>
            <a:off x="4727707" y="34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2025.04–07</a:t>
            </a:r>
            <a:endParaRPr/>
          </a:p>
        </p:txBody>
      </p:sp>
      <p:sp>
        <p:nvSpPr>
          <p:cNvPr id="583" name="Google Shape;583;p39"/>
          <p:cNvSpPr txBox="1"/>
          <p:nvPr/>
        </p:nvSpPr>
        <p:spPr>
          <a:xfrm>
            <a:off x="5940000" y="34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Korail Talk renewal (iOS)</a:t>
            </a:r>
            <a:endParaRPr/>
          </a:p>
        </p:txBody>
      </p:sp>
      <p:sp>
        <p:nvSpPr>
          <p:cNvPr id="584" name="Google Shape;584;p39"/>
          <p:cNvSpPr txBox="1"/>
          <p:nvPr/>
        </p:nvSpPr>
        <p:spPr>
          <a:xfrm>
            <a:off x="8620000" y="34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Korail</a:t>
            </a:r>
            <a:endParaRPr/>
          </a:p>
        </p:txBody>
      </p:sp>
      <p:sp>
        <p:nvSpPr>
          <p:cNvPr id="585" name="Google Shape;585;p39"/>
          <p:cNvSpPr txBox="1"/>
          <p:nvPr/>
        </p:nvSpPr>
        <p:spPr>
          <a:xfrm>
            <a:off x="10080000" y="34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Combine</a:t>
            </a:r>
            <a:endParaRPr/>
          </a:p>
        </p:txBody>
      </p:sp>
      <p:sp>
        <p:nvSpPr>
          <p:cNvPr id="586" name="Google Shape;586;p39"/>
          <p:cNvSpPr/>
          <p:nvPr/>
        </p:nvSpPr>
        <p:spPr>
          <a:xfrm>
            <a:off x="4667707" y="38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39"/>
          <p:cNvSpPr txBox="1"/>
          <p:nvPr/>
        </p:nvSpPr>
        <p:spPr>
          <a:xfrm>
            <a:off x="4727707" y="38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2024.11–2025.02</a:t>
            </a:r>
            <a:endParaRPr/>
          </a:p>
        </p:txBody>
      </p:sp>
      <p:sp>
        <p:nvSpPr>
          <p:cNvPr id="588" name="Google Shape;588;p39"/>
          <p:cNvSpPr txBox="1"/>
          <p:nvPr/>
        </p:nvSpPr>
        <p:spPr>
          <a:xfrm>
            <a:off x="5940000" y="38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D2C channel upgrade app</a:t>
            </a:r>
            <a:endParaRPr/>
          </a:p>
        </p:txBody>
      </p:sp>
      <p:sp>
        <p:nvSpPr>
          <p:cNvPr id="589" name="Google Shape;589;p39"/>
          <p:cNvSpPr txBox="1"/>
          <p:nvPr/>
        </p:nvSpPr>
        <p:spPr>
          <a:xfrm>
            <a:off x="8620000" y="38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Jeju Air</a:t>
            </a:r>
            <a:endParaRPr/>
          </a:p>
        </p:txBody>
      </p:sp>
      <p:sp>
        <p:nvSpPr>
          <p:cNvPr id="590" name="Google Shape;590;p39"/>
          <p:cNvSpPr txBox="1"/>
          <p:nvPr/>
        </p:nvSpPr>
        <p:spPr>
          <a:xfrm>
            <a:off x="10080000" y="38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RxSwift</a:t>
            </a:r>
            <a:endParaRPr/>
          </a:p>
        </p:txBody>
      </p:sp>
      <p:sp>
        <p:nvSpPr>
          <p:cNvPr id="591" name="Google Shape;591;p39"/>
          <p:cNvSpPr txBox="1"/>
          <p:nvPr/>
        </p:nvSpPr>
        <p:spPr>
          <a:xfrm>
            <a:off x="4727707" y="42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2024.02–05</a:t>
            </a:r>
            <a:endParaRPr/>
          </a:p>
        </p:txBody>
      </p:sp>
      <p:sp>
        <p:nvSpPr>
          <p:cNvPr id="592" name="Google Shape;592;p39"/>
          <p:cNvSpPr txBox="1"/>
          <p:nvPr/>
        </p:nvSpPr>
        <p:spPr>
          <a:xfrm>
            <a:off x="5940000" y="42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Smart device management app</a:t>
            </a:r>
            <a:endParaRPr/>
          </a:p>
        </p:txBody>
      </p:sp>
      <p:sp>
        <p:nvSpPr>
          <p:cNvPr id="593" name="Google Shape;593;p39"/>
          <p:cNvSpPr txBox="1"/>
          <p:nvPr/>
        </p:nvSpPr>
        <p:spPr>
          <a:xfrm>
            <a:off x="8620000" y="42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Gyeonggi / Seoul Education Office</a:t>
            </a:r>
            <a:endParaRPr/>
          </a:p>
        </p:txBody>
      </p:sp>
      <p:sp>
        <p:nvSpPr>
          <p:cNvPr id="594" name="Google Shape;594;p39"/>
          <p:cNvSpPr txBox="1"/>
          <p:nvPr/>
        </p:nvSpPr>
        <p:spPr>
          <a:xfrm>
            <a:off x="10080000" y="42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SwiftUI, MVVM</a:t>
            </a:r>
            <a:endParaRPr/>
          </a:p>
        </p:txBody>
      </p:sp>
      <p:sp>
        <p:nvSpPr>
          <p:cNvPr id="595" name="Google Shape;595;p39"/>
          <p:cNvSpPr/>
          <p:nvPr/>
        </p:nvSpPr>
        <p:spPr>
          <a:xfrm>
            <a:off x="4667707" y="46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39"/>
          <p:cNvSpPr txBox="1"/>
          <p:nvPr/>
        </p:nvSpPr>
        <p:spPr>
          <a:xfrm>
            <a:off x="4727707" y="4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2023.05–11</a:t>
            </a:r>
            <a:endParaRPr/>
          </a:p>
        </p:txBody>
      </p:sp>
      <p:sp>
        <p:nvSpPr>
          <p:cNvPr id="597" name="Google Shape;597;p39"/>
          <p:cNvSpPr txBox="1"/>
          <p:nvPr/>
        </p:nvSpPr>
        <p:spPr>
          <a:xfrm>
            <a:off x="5940000" y="4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DIVE app</a:t>
            </a:r>
            <a:endParaRPr/>
          </a:p>
        </p:txBody>
      </p:sp>
      <p:sp>
        <p:nvSpPr>
          <p:cNvPr id="598" name="Google Shape;598;p39"/>
          <p:cNvSpPr txBox="1"/>
          <p:nvPr/>
        </p:nvSpPr>
        <p:spPr>
          <a:xfrm>
            <a:off x="8620000" y="4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Hyundai Card</a:t>
            </a:r>
            <a:endParaRPr/>
          </a:p>
        </p:txBody>
      </p:sp>
      <p:sp>
        <p:nvSpPr>
          <p:cNvPr id="599" name="Google Shape;599;p39"/>
          <p:cNvSpPr txBox="1"/>
          <p:nvPr/>
        </p:nvSpPr>
        <p:spPr>
          <a:xfrm>
            <a:off x="10080000" y="4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Objective-C, Swift</a:t>
            </a:r>
            <a:endParaRPr/>
          </a:p>
        </p:txBody>
      </p:sp>
      <p:sp>
        <p:nvSpPr>
          <p:cNvPr id="600" name="Google Shape;600;p39"/>
          <p:cNvSpPr txBox="1"/>
          <p:nvPr/>
        </p:nvSpPr>
        <p:spPr>
          <a:xfrm>
            <a:off x="4727707" y="5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2019.04–2021.09</a:t>
            </a:r>
            <a:endParaRPr/>
          </a:p>
        </p:txBody>
      </p:sp>
      <p:sp>
        <p:nvSpPr>
          <p:cNvPr id="601" name="Google Shape;601;p39"/>
          <p:cNvSpPr txBox="1"/>
          <p:nvPr/>
        </p:nvSpPr>
        <p:spPr>
          <a:xfrm>
            <a:off x="5940000" y="5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SmartThinQ IoT appliance app (iOS)</a:t>
            </a:r>
            <a:endParaRPr/>
          </a:p>
        </p:txBody>
      </p:sp>
      <p:sp>
        <p:nvSpPr>
          <p:cNvPr id="602" name="Google Shape;602;p39"/>
          <p:cNvSpPr txBox="1"/>
          <p:nvPr/>
        </p:nvSpPr>
        <p:spPr>
          <a:xfrm>
            <a:off x="8620000" y="5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LG Electronics</a:t>
            </a:r>
            <a:endParaRPr/>
          </a:p>
        </p:txBody>
      </p:sp>
      <p:sp>
        <p:nvSpPr>
          <p:cNvPr id="603" name="Google Shape;603;p39"/>
          <p:cNvSpPr txBox="1"/>
          <p:nvPr/>
        </p:nvSpPr>
        <p:spPr>
          <a:xfrm>
            <a:off x="10080000" y="5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RxSwift, Realm</a:t>
            </a:r>
            <a:endParaRPr/>
          </a:p>
        </p:txBody>
      </p:sp>
      <p:sp>
        <p:nvSpPr>
          <p:cNvPr id="604" name="Google Shape;604;p39"/>
          <p:cNvSpPr txBox="1"/>
          <p:nvPr/>
        </p:nvSpPr>
        <p:spPr>
          <a:xfrm>
            <a:off x="4667707" y="5760000"/>
            <a:ext cx="6912293" cy="33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00"/>
              <a:buFont typeface="Barlow"/>
              <a:buNone/>
            </a:pPr>
            <a:r>
              <a:rPr lang="en-US" sz="1000">
                <a:solidFill>
                  <a:srgbClr val="5B6B7F"/>
                </a:solidFill>
                <a:latin typeface="Barlow"/>
                <a:ea typeface="Barlow"/>
                <a:cs typeface="Barlow"/>
                <a:sym typeface="Barlow"/>
              </a:rPr>
              <a:t>Partner company staff via CMC Global Korea · available 12 Oct 2026 · Korean native.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40"/>
          <p:cNvSpPr txBox="1"/>
          <p:nvPr/>
        </p:nvSpPr>
        <p:spPr>
          <a:xfrm>
            <a:off x="457200" y="323698"/>
            <a:ext cx="6667805"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PROPOSED ENGINEERS</a:t>
            </a:r>
            <a:endParaRPr/>
          </a:p>
        </p:txBody>
      </p:sp>
      <p:sp>
        <p:nvSpPr>
          <p:cNvPr id="611" name="Google Shape;611;p40"/>
          <p:cNvSpPr txBox="1"/>
          <p:nvPr/>
        </p:nvSpPr>
        <p:spPr>
          <a:xfrm>
            <a:off x="457200" y="590702"/>
            <a:ext cx="11277600"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Candidate C — Ahn Jae-hyun, Senior Android: 9 years, Kotlin and Compose, 11 projects</a:t>
            </a:r>
            <a:endParaRPr/>
          </a:p>
        </p:txBody>
      </p:sp>
      <p:sp>
        <p:nvSpPr>
          <p:cNvPr id="612" name="Google Shape;612;p40"/>
          <p:cNvSpPr/>
          <p:nvPr/>
        </p:nvSpPr>
        <p:spPr>
          <a:xfrm>
            <a:off x="457200" y="1238098"/>
            <a:ext cx="3886200"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40"/>
          <p:cNvSpPr/>
          <p:nvPr/>
        </p:nvSpPr>
        <p:spPr>
          <a:xfrm>
            <a:off x="629107" y="1390802"/>
            <a:ext cx="590702" cy="590702"/>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40"/>
          <p:cNvSpPr txBox="1"/>
          <p:nvPr/>
        </p:nvSpPr>
        <p:spPr>
          <a:xfrm>
            <a:off x="629107" y="1390802"/>
            <a:ext cx="590702" cy="5907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Montserrat"/>
              <a:buNone/>
            </a:pPr>
            <a:r>
              <a:rPr b="1" lang="en-US" sz="1350">
                <a:solidFill>
                  <a:srgbClr val="FFFFFF"/>
                </a:solidFill>
                <a:latin typeface="Montserrat"/>
                <a:ea typeface="Montserrat"/>
                <a:cs typeface="Montserrat"/>
                <a:sym typeface="Montserrat"/>
              </a:rPr>
              <a:t>AJ</a:t>
            </a:r>
            <a:endParaRPr/>
          </a:p>
        </p:txBody>
      </p:sp>
      <p:sp>
        <p:nvSpPr>
          <p:cNvPr id="615" name="Google Shape;615;p40"/>
          <p:cNvSpPr txBox="1"/>
          <p:nvPr/>
        </p:nvSpPr>
        <p:spPr>
          <a:xfrm>
            <a:off x="1320000" y="1400000"/>
            <a:ext cx="29000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125"/>
              <a:buFont typeface="Montserrat"/>
              <a:buNone/>
            </a:pPr>
            <a:r>
              <a:rPr b="1" lang="en-US" sz="1125">
                <a:solidFill>
                  <a:srgbClr val="0B2F5B"/>
                </a:solidFill>
                <a:latin typeface="Montserrat"/>
                <a:ea typeface="Montserrat"/>
                <a:cs typeface="Montserrat"/>
                <a:sym typeface="Montserrat"/>
              </a:rPr>
              <a:t>Candidate C — Ahn Jae-hyun (안재현)</a:t>
            </a:r>
            <a:endParaRPr/>
          </a:p>
        </p:txBody>
      </p:sp>
      <p:sp>
        <p:nvSpPr>
          <p:cNvPr id="616" name="Google Shape;616;p40"/>
          <p:cNvSpPr txBox="1"/>
          <p:nvPr/>
        </p:nvSpPr>
        <p:spPr>
          <a:xfrm>
            <a:off x="1320000" y="1700000"/>
            <a:ext cx="290000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Barlow"/>
              <a:buNone/>
            </a:pPr>
            <a:r>
              <a:rPr lang="en-US" sz="1000">
                <a:solidFill>
                  <a:srgbClr val="1867DC"/>
                </a:solidFill>
                <a:latin typeface="Barlow"/>
                <a:ea typeface="Barlow"/>
                <a:cs typeface="Barlow"/>
                <a:sym typeface="Barlow"/>
              </a:rPr>
              <a:t>Senior Android Engineer</a:t>
            </a:r>
            <a:endParaRPr/>
          </a:p>
        </p:txBody>
      </p:sp>
      <p:sp>
        <p:nvSpPr>
          <p:cNvPr id="617" name="Google Shape;617;p40"/>
          <p:cNvSpPr/>
          <p:nvPr/>
        </p:nvSpPr>
        <p:spPr>
          <a:xfrm>
            <a:off x="629107" y="21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40"/>
          <p:cNvSpPr txBox="1"/>
          <p:nvPr/>
        </p:nvSpPr>
        <p:spPr>
          <a:xfrm>
            <a:off x="700000" y="2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ROLE ON PROJECT</a:t>
            </a:r>
            <a:endParaRPr/>
          </a:p>
        </p:txBody>
      </p:sp>
      <p:sp>
        <p:nvSpPr>
          <p:cNvPr id="619" name="Google Shape;619;p40"/>
          <p:cNvSpPr txBox="1"/>
          <p:nvPr/>
        </p:nvSpPr>
        <p:spPr>
          <a:xfrm>
            <a:off x="1980000" y="2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Senior Android Engineer</a:t>
            </a:r>
            <a:endParaRPr/>
          </a:p>
        </p:txBody>
      </p:sp>
      <p:sp>
        <p:nvSpPr>
          <p:cNvPr id="620" name="Google Shape;620;p40"/>
          <p:cNvSpPr txBox="1"/>
          <p:nvPr/>
        </p:nvSpPr>
        <p:spPr>
          <a:xfrm>
            <a:off x="700000" y="2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GRADE</a:t>
            </a:r>
            <a:endParaRPr/>
          </a:p>
        </p:txBody>
      </p:sp>
      <p:sp>
        <p:nvSpPr>
          <p:cNvPr id="621" name="Google Shape;621;p40"/>
          <p:cNvSpPr txBox="1"/>
          <p:nvPr/>
        </p:nvSpPr>
        <p:spPr>
          <a:xfrm>
            <a:off x="1980000" y="2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Intermediate (중급)</a:t>
            </a:r>
            <a:endParaRPr/>
          </a:p>
        </p:txBody>
      </p:sp>
      <p:sp>
        <p:nvSpPr>
          <p:cNvPr id="622" name="Google Shape;622;p40"/>
          <p:cNvSpPr/>
          <p:nvPr/>
        </p:nvSpPr>
        <p:spPr>
          <a:xfrm>
            <a:off x="629107" y="29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40"/>
          <p:cNvSpPr txBox="1"/>
          <p:nvPr/>
        </p:nvSpPr>
        <p:spPr>
          <a:xfrm>
            <a:off x="700000" y="29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CAREER</a:t>
            </a:r>
            <a:endParaRPr/>
          </a:p>
        </p:txBody>
      </p:sp>
      <p:sp>
        <p:nvSpPr>
          <p:cNvPr id="624" name="Google Shape;624;p40"/>
          <p:cNvSpPr txBox="1"/>
          <p:nvPr/>
        </p:nvSpPr>
        <p:spPr>
          <a:xfrm>
            <a:off x="1980000" y="29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2017.01 – 2026.02 · 9 yrs</a:t>
            </a:r>
            <a:endParaRPr/>
          </a:p>
        </p:txBody>
      </p:sp>
      <p:sp>
        <p:nvSpPr>
          <p:cNvPr id="625" name="Google Shape;625;p40"/>
          <p:cNvSpPr txBox="1"/>
          <p:nvPr/>
        </p:nvSpPr>
        <p:spPr>
          <a:xfrm>
            <a:off x="700000" y="33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MOBILE SINCE</a:t>
            </a:r>
            <a:endParaRPr/>
          </a:p>
        </p:txBody>
      </p:sp>
      <p:sp>
        <p:nvSpPr>
          <p:cNvPr id="626" name="Google Shape;626;p40"/>
          <p:cNvSpPr txBox="1"/>
          <p:nvPr/>
        </p:nvSpPr>
        <p:spPr>
          <a:xfrm>
            <a:off x="1980000" y="33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Android since 2017 · Kotlin-first</a:t>
            </a:r>
            <a:endParaRPr/>
          </a:p>
        </p:txBody>
      </p:sp>
      <p:sp>
        <p:nvSpPr>
          <p:cNvPr id="627" name="Google Shape;627;p40"/>
          <p:cNvSpPr/>
          <p:nvPr/>
        </p:nvSpPr>
        <p:spPr>
          <a:xfrm>
            <a:off x="629107" y="37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40"/>
          <p:cNvSpPr txBox="1"/>
          <p:nvPr/>
        </p:nvSpPr>
        <p:spPr>
          <a:xfrm>
            <a:off x="700000" y="37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PROJECTS</a:t>
            </a:r>
            <a:endParaRPr/>
          </a:p>
        </p:txBody>
      </p:sp>
      <p:sp>
        <p:nvSpPr>
          <p:cNvPr id="629" name="Google Shape;629;p40"/>
          <p:cNvSpPr txBox="1"/>
          <p:nvPr/>
        </p:nvSpPr>
        <p:spPr>
          <a:xfrm>
            <a:off x="1980000" y="37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11 · banking, cards, airline</a:t>
            </a:r>
            <a:endParaRPr/>
          </a:p>
        </p:txBody>
      </p:sp>
      <p:sp>
        <p:nvSpPr>
          <p:cNvPr id="630" name="Google Shape;630;p40"/>
          <p:cNvSpPr txBox="1"/>
          <p:nvPr/>
        </p:nvSpPr>
        <p:spPr>
          <a:xfrm>
            <a:off x="700000" y="4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EDUCATION</a:t>
            </a:r>
            <a:endParaRPr/>
          </a:p>
        </p:txBody>
      </p:sp>
      <p:sp>
        <p:nvSpPr>
          <p:cNvPr id="631" name="Google Shape;631;p40"/>
          <p:cNvSpPr txBox="1"/>
          <p:nvPr/>
        </p:nvSpPr>
        <p:spPr>
          <a:xfrm>
            <a:off x="1980000" y="4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B.S. Computer Engineering (Credit Bank)</a:t>
            </a:r>
            <a:endParaRPr/>
          </a:p>
        </p:txBody>
      </p:sp>
      <p:sp>
        <p:nvSpPr>
          <p:cNvPr id="632" name="Google Shape;632;p40"/>
          <p:cNvSpPr/>
          <p:nvPr/>
        </p:nvSpPr>
        <p:spPr>
          <a:xfrm>
            <a:off x="629107" y="45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40"/>
          <p:cNvSpPr txBox="1"/>
          <p:nvPr/>
        </p:nvSpPr>
        <p:spPr>
          <a:xfrm>
            <a:off x="700000" y="4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CERTIFICATION</a:t>
            </a:r>
            <a:endParaRPr/>
          </a:p>
        </p:txBody>
      </p:sp>
      <p:sp>
        <p:nvSpPr>
          <p:cNvPr id="634" name="Google Shape;634;p40"/>
          <p:cNvSpPr txBox="1"/>
          <p:nvPr/>
        </p:nvSpPr>
        <p:spPr>
          <a:xfrm>
            <a:off x="1980000" y="4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Engineer Information Processing (2018)</a:t>
            </a:r>
            <a:endParaRPr/>
          </a:p>
        </p:txBody>
      </p:sp>
      <p:sp>
        <p:nvSpPr>
          <p:cNvPr id="635" name="Google Shape;635;p40"/>
          <p:cNvSpPr/>
          <p:nvPr/>
        </p:nvSpPr>
        <p:spPr>
          <a:xfrm>
            <a:off x="629107" y="5120000"/>
            <a:ext cx="3542400" cy="80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40"/>
          <p:cNvSpPr txBox="1"/>
          <p:nvPr/>
        </p:nvSpPr>
        <p:spPr>
          <a:xfrm>
            <a:off x="730000" y="5170000"/>
            <a:ext cx="3340000" cy="7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lang="en-US" sz="1050">
                <a:solidFill>
                  <a:srgbClr val="0B2F5B"/>
                </a:solidFill>
                <a:latin typeface="Barlow"/>
                <a:ea typeface="Barlow"/>
                <a:cs typeface="Barlow"/>
                <a:sym typeface="Barlow"/>
              </a:rPr>
              <a:t>Senior Android Engineer — delivers Android features and maintenance under Candidate A's review; based in Seoul (Gangseo-gu).</a:t>
            </a:r>
            <a:endParaRPr/>
          </a:p>
        </p:txBody>
      </p:sp>
      <p:sp>
        <p:nvSpPr>
          <p:cNvPr id="637" name="Google Shape;637;p40"/>
          <p:cNvSpPr/>
          <p:nvPr/>
        </p:nvSpPr>
        <p:spPr>
          <a:xfrm>
            <a:off x="4495800" y="1238098"/>
            <a:ext cx="7239195"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40"/>
          <p:cNvSpPr txBox="1"/>
          <p:nvPr/>
        </p:nvSpPr>
        <p:spPr>
          <a:xfrm>
            <a:off x="4667707" y="1390802"/>
            <a:ext cx="3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Skills matching the RFP</a:t>
            </a:r>
            <a:endParaRPr/>
          </a:p>
        </p:txBody>
      </p:sp>
      <p:sp>
        <p:nvSpPr>
          <p:cNvPr id="639" name="Google Shape;639;p40"/>
          <p:cNvSpPr/>
          <p:nvPr/>
        </p:nvSpPr>
        <p:spPr>
          <a:xfrm>
            <a:off x="46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40"/>
          <p:cNvSpPr txBox="1"/>
          <p:nvPr/>
        </p:nvSpPr>
        <p:spPr>
          <a:xfrm>
            <a:off x="46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Kotlin</a:t>
            </a:r>
            <a:endParaRPr/>
          </a:p>
        </p:txBody>
      </p:sp>
      <p:sp>
        <p:nvSpPr>
          <p:cNvPr id="641" name="Google Shape;641;p40"/>
          <p:cNvSpPr/>
          <p:nvPr/>
        </p:nvSpPr>
        <p:spPr>
          <a:xfrm>
            <a:off x="582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40"/>
          <p:cNvSpPr txBox="1"/>
          <p:nvPr/>
        </p:nvSpPr>
        <p:spPr>
          <a:xfrm>
            <a:off x="582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Jetpack Compose</a:t>
            </a:r>
            <a:endParaRPr/>
          </a:p>
        </p:txBody>
      </p:sp>
      <p:sp>
        <p:nvSpPr>
          <p:cNvPr id="643" name="Google Shape;643;p40"/>
          <p:cNvSpPr/>
          <p:nvPr/>
        </p:nvSpPr>
        <p:spPr>
          <a:xfrm>
            <a:off x="698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0"/>
          <p:cNvSpPr txBox="1"/>
          <p:nvPr/>
        </p:nvSpPr>
        <p:spPr>
          <a:xfrm>
            <a:off x="698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Java</a:t>
            </a:r>
            <a:endParaRPr/>
          </a:p>
        </p:txBody>
      </p:sp>
      <p:sp>
        <p:nvSpPr>
          <p:cNvPr id="645" name="Google Shape;645;p40"/>
          <p:cNvSpPr/>
          <p:nvPr/>
        </p:nvSpPr>
        <p:spPr>
          <a:xfrm>
            <a:off x="814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0"/>
          <p:cNvSpPr txBox="1"/>
          <p:nvPr/>
        </p:nvSpPr>
        <p:spPr>
          <a:xfrm>
            <a:off x="814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MVVM</a:t>
            </a:r>
            <a:endParaRPr/>
          </a:p>
        </p:txBody>
      </p:sp>
      <p:sp>
        <p:nvSpPr>
          <p:cNvPr id="647" name="Google Shape;647;p40"/>
          <p:cNvSpPr/>
          <p:nvPr/>
        </p:nvSpPr>
        <p:spPr>
          <a:xfrm>
            <a:off x="930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40"/>
          <p:cNvSpPr txBox="1"/>
          <p:nvPr/>
        </p:nvSpPr>
        <p:spPr>
          <a:xfrm>
            <a:off x="930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Android Studio</a:t>
            </a:r>
            <a:endParaRPr/>
          </a:p>
        </p:txBody>
      </p:sp>
      <p:sp>
        <p:nvSpPr>
          <p:cNvPr id="649" name="Google Shape;649;p40"/>
          <p:cNvSpPr/>
          <p:nvPr/>
        </p:nvSpPr>
        <p:spPr>
          <a:xfrm>
            <a:off x="104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40"/>
          <p:cNvSpPr txBox="1"/>
          <p:nvPr/>
        </p:nvSpPr>
        <p:spPr>
          <a:xfrm>
            <a:off x="104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Git</a:t>
            </a:r>
            <a:endParaRPr/>
          </a:p>
        </p:txBody>
      </p:sp>
      <p:sp>
        <p:nvSpPr>
          <p:cNvPr id="651" name="Google Shape;651;p40"/>
          <p:cNvSpPr txBox="1"/>
          <p:nvPr/>
        </p:nvSpPr>
        <p:spPr>
          <a:xfrm>
            <a:off x="4667707" y="2080000"/>
            <a:ext cx="5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Selected projects (from technical career sheet, latest first)</a:t>
            </a:r>
            <a:endParaRPr/>
          </a:p>
        </p:txBody>
      </p:sp>
      <p:sp>
        <p:nvSpPr>
          <p:cNvPr id="652" name="Google Shape;652;p40"/>
          <p:cNvSpPr/>
          <p:nvPr/>
        </p:nvSpPr>
        <p:spPr>
          <a:xfrm>
            <a:off x="4667707" y="2340000"/>
            <a:ext cx="6912293" cy="280000"/>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40"/>
          <p:cNvSpPr txBox="1"/>
          <p:nvPr/>
        </p:nvSpPr>
        <p:spPr>
          <a:xfrm>
            <a:off x="4727707" y="2340000"/>
            <a:ext cx="109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Period</a:t>
            </a:r>
            <a:endParaRPr/>
          </a:p>
        </p:txBody>
      </p:sp>
      <p:sp>
        <p:nvSpPr>
          <p:cNvPr id="654" name="Google Shape;654;p40"/>
          <p:cNvSpPr txBox="1"/>
          <p:nvPr/>
        </p:nvSpPr>
        <p:spPr>
          <a:xfrm>
            <a:off x="5940000" y="2340000"/>
            <a:ext cx="256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Project</a:t>
            </a:r>
            <a:endParaRPr/>
          </a:p>
        </p:txBody>
      </p:sp>
      <p:sp>
        <p:nvSpPr>
          <p:cNvPr id="655" name="Google Shape;655;p40"/>
          <p:cNvSpPr txBox="1"/>
          <p:nvPr/>
        </p:nvSpPr>
        <p:spPr>
          <a:xfrm>
            <a:off x="8620000" y="2340000"/>
            <a:ext cx="134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Client</a:t>
            </a:r>
            <a:endParaRPr/>
          </a:p>
        </p:txBody>
      </p:sp>
      <p:sp>
        <p:nvSpPr>
          <p:cNvPr id="656" name="Google Shape;656;p40"/>
          <p:cNvSpPr txBox="1"/>
          <p:nvPr/>
        </p:nvSpPr>
        <p:spPr>
          <a:xfrm>
            <a:off x="10080000" y="2340000"/>
            <a:ext cx="150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Role · Stack</a:t>
            </a:r>
            <a:endParaRPr/>
          </a:p>
        </p:txBody>
      </p:sp>
      <p:sp>
        <p:nvSpPr>
          <p:cNvPr id="657" name="Google Shape;657;p40"/>
          <p:cNvSpPr txBox="1"/>
          <p:nvPr/>
        </p:nvSpPr>
        <p:spPr>
          <a:xfrm>
            <a:off x="4727707" y="2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2025.11–2026.02</a:t>
            </a:r>
            <a:endParaRPr/>
          </a:p>
        </p:txBody>
      </p:sp>
      <p:sp>
        <p:nvSpPr>
          <p:cNvPr id="658" name="Google Shape;658;p40"/>
          <p:cNvSpPr txBox="1"/>
          <p:nvPr/>
        </p:nvSpPr>
        <p:spPr>
          <a:xfrm>
            <a:off x="5940000" y="2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Corporate banking service (dedicated team)</a:t>
            </a:r>
            <a:endParaRPr/>
          </a:p>
        </p:txBody>
      </p:sp>
      <p:sp>
        <p:nvSpPr>
          <p:cNvPr id="659" name="Google Shape;659;p40"/>
          <p:cNvSpPr txBox="1"/>
          <p:nvPr/>
        </p:nvSpPr>
        <p:spPr>
          <a:xfrm>
            <a:off x="8620000" y="2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Woori Bank</a:t>
            </a:r>
            <a:endParaRPr/>
          </a:p>
        </p:txBody>
      </p:sp>
      <p:sp>
        <p:nvSpPr>
          <p:cNvPr id="660" name="Google Shape;660;p40"/>
          <p:cNvSpPr txBox="1"/>
          <p:nvPr/>
        </p:nvSpPr>
        <p:spPr>
          <a:xfrm>
            <a:off x="10080000" y="2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&amp; maintenance · Kotlin</a:t>
            </a:r>
            <a:endParaRPr/>
          </a:p>
        </p:txBody>
      </p:sp>
      <p:sp>
        <p:nvSpPr>
          <p:cNvPr id="661" name="Google Shape;661;p40"/>
          <p:cNvSpPr/>
          <p:nvPr/>
        </p:nvSpPr>
        <p:spPr>
          <a:xfrm>
            <a:off x="4667707" y="30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40"/>
          <p:cNvSpPr txBox="1"/>
          <p:nvPr/>
        </p:nvSpPr>
        <p:spPr>
          <a:xfrm>
            <a:off x="4727707" y="3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2025.05–10</a:t>
            </a:r>
            <a:endParaRPr/>
          </a:p>
        </p:txBody>
      </p:sp>
      <p:sp>
        <p:nvSpPr>
          <p:cNvPr id="663" name="Google Shape;663;p40"/>
          <p:cNvSpPr txBox="1"/>
          <p:nvPr/>
        </p:nvSpPr>
        <p:spPr>
          <a:xfrm>
            <a:off x="5940000" y="3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Native app rebuild</a:t>
            </a:r>
            <a:endParaRPr/>
          </a:p>
        </p:txBody>
      </p:sp>
      <p:sp>
        <p:nvSpPr>
          <p:cNvPr id="664" name="Google Shape;664;p40"/>
          <p:cNvSpPr txBox="1"/>
          <p:nvPr/>
        </p:nvSpPr>
        <p:spPr>
          <a:xfrm>
            <a:off x="8620000" y="3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Kbank</a:t>
            </a:r>
            <a:endParaRPr/>
          </a:p>
        </p:txBody>
      </p:sp>
      <p:sp>
        <p:nvSpPr>
          <p:cNvPr id="665" name="Google Shape;665;p40"/>
          <p:cNvSpPr txBox="1"/>
          <p:nvPr/>
        </p:nvSpPr>
        <p:spPr>
          <a:xfrm>
            <a:off x="10080000" y="3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 Compose</a:t>
            </a:r>
            <a:endParaRPr/>
          </a:p>
        </p:txBody>
      </p:sp>
      <p:sp>
        <p:nvSpPr>
          <p:cNvPr id="666" name="Google Shape;666;p40"/>
          <p:cNvSpPr txBox="1"/>
          <p:nvPr/>
        </p:nvSpPr>
        <p:spPr>
          <a:xfrm>
            <a:off x="4727707" y="34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2024.02–12</a:t>
            </a:r>
            <a:endParaRPr/>
          </a:p>
        </p:txBody>
      </p:sp>
      <p:sp>
        <p:nvSpPr>
          <p:cNvPr id="667" name="Google Shape;667;p40"/>
          <p:cNvSpPr txBox="1"/>
          <p:nvPr/>
        </p:nvSpPr>
        <p:spPr>
          <a:xfrm>
            <a:off x="5940000" y="34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Integrated digital platform</a:t>
            </a:r>
            <a:endParaRPr/>
          </a:p>
        </p:txBody>
      </p:sp>
      <p:sp>
        <p:nvSpPr>
          <p:cNvPr id="668" name="Google Shape;668;p40"/>
          <p:cNvSpPr txBox="1"/>
          <p:nvPr/>
        </p:nvSpPr>
        <p:spPr>
          <a:xfrm>
            <a:off x="8620000" y="34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NH Card</a:t>
            </a:r>
            <a:endParaRPr/>
          </a:p>
        </p:txBody>
      </p:sp>
      <p:sp>
        <p:nvSpPr>
          <p:cNvPr id="669" name="Google Shape;669;p40"/>
          <p:cNvSpPr txBox="1"/>
          <p:nvPr/>
        </p:nvSpPr>
        <p:spPr>
          <a:xfrm>
            <a:off x="10080000" y="34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 Compose</a:t>
            </a:r>
            <a:endParaRPr/>
          </a:p>
        </p:txBody>
      </p:sp>
      <p:sp>
        <p:nvSpPr>
          <p:cNvPr id="670" name="Google Shape;670;p40"/>
          <p:cNvSpPr/>
          <p:nvPr/>
        </p:nvSpPr>
        <p:spPr>
          <a:xfrm>
            <a:off x="4667707" y="38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40"/>
          <p:cNvSpPr txBox="1"/>
          <p:nvPr/>
        </p:nvSpPr>
        <p:spPr>
          <a:xfrm>
            <a:off x="4727707" y="38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2023.01–03</a:t>
            </a:r>
            <a:endParaRPr/>
          </a:p>
        </p:txBody>
      </p:sp>
      <p:sp>
        <p:nvSpPr>
          <p:cNvPr id="672" name="Google Shape;672;p40"/>
          <p:cNvSpPr txBox="1"/>
          <p:nvPr/>
        </p:nvSpPr>
        <p:spPr>
          <a:xfrm>
            <a:off x="5940000" y="38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Liiv Mobile app (new build)</a:t>
            </a:r>
            <a:endParaRPr/>
          </a:p>
        </p:txBody>
      </p:sp>
      <p:sp>
        <p:nvSpPr>
          <p:cNvPr id="673" name="Google Shape;673;p40"/>
          <p:cNvSpPr txBox="1"/>
          <p:nvPr/>
        </p:nvSpPr>
        <p:spPr>
          <a:xfrm>
            <a:off x="8620000" y="38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KB Kookmin Bank</a:t>
            </a:r>
            <a:endParaRPr/>
          </a:p>
        </p:txBody>
      </p:sp>
      <p:sp>
        <p:nvSpPr>
          <p:cNvPr id="674" name="Google Shape;674;p40"/>
          <p:cNvSpPr txBox="1"/>
          <p:nvPr/>
        </p:nvSpPr>
        <p:spPr>
          <a:xfrm>
            <a:off x="10080000" y="38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a:t>
            </a:r>
            <a:endParaRPr/>
          </a:p>
        </p:txBody>
      </p:sp>
      <p:sp>
        <p:nvSpPr>
          <p:cNvPr id="675" name="Google Shape;675;p40"/>
          <p:cNvSpPr txBox="1"/>
          <p:nvPr/>
        </p:nvSpPr>
        <p:spPr>
          <a:xfrm>
            <a:off x="4727707" y="42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2022.07–12</a:t>
            </a:r>
            <a:endParaRPr/>
          </a:p>
        </p:txBody>
      </p:sp>
      <p:sp>
        <p:nvSpPr>
          <p:cNvPr id="676" name="Google Shape;676;p40"/>
          <p:cNvSpPr txBox="1"/>
          <p:nvPr/>
        </p:nvSpPr>
        <p:spPr>
          <a:xfrm>
            <a:off x="5940000" y="42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KB Pay One-Platform service</a:t>
            </a:r>
            <a:endParaRPr/>
          </a:p>
        </p:txBody>
      </p:sp>
      <p:sp>
        <p:nvSpPr>
          <p:cNvPr id="677" name="Google Shape;677;p40"/>
          <p:cNvSpPr txBox="1"/>
          <p:nvPr/>
        </p:nvSpPr>
        <p:spPr>
          <a:xfrm>
            <a:off x="8620000" y="42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KB Card</a:t>
            </a:r>
            <a:endParaRPr/>
          </a:p>
        </p:txBody>
      </p:sp>
      <p:sp>
        <p:nvSpPr>
          <p:cNvPr id="678" name="Google Shape;678;p40"/>
          <p:cNvSpPr txBox="1"/>
          <p:nvPr/>
        </p:nvSpPr>
        <p:spPr>
          <a:xfrm>
            <a:off x="10080000" y="42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&amp; integration · Kotlin, Java</a:t>
            </a:r>
            <a:endParaRPr/>
          </a:p>
        </p:txBody>
      </p:sp>
      <p:sp>
        <p:nvSpPr>
          <p:cNvPr id="679" name="Google Shape;679;p40"/>
          <p:cNvSpPr/>
          <p:nvPr/>
        </p:nvSpPr>
        <p:spPr>
          <a:xfrm>
            <a:off x="4667707" y="46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40"/>
          <p:cNvSpPr txBox="1"/>
          <p:nvPr/>
        </p:nvSpPr>
        <p:spPr>
          <a:xfrm>
            <a:off x="4727707" y="4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2022.01–06</a:t>
            </a:r>
            <a:endParaRPr/>
          </a:p>
        </p:txBody>
      </p:sp>
      <p:sp>
        <p:nvSpPr>
          <p:cNvPr id="681" name="Google Shape;681;p40"/>
          <p:cNvSpPr txBox="1"/>
          <p:nvPr/>
        </p:nvSpPr>
        <p:spPr>
          <a:xfrm>
            <a:off x="5940000" y="4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New Star Banking response team</a:t>
            </a:r>
            <a:endParaRPr/>
          </a:p>
        </p:txBody>
      </p:sp>
      <p:sp>
        <p:nvSpPr>
          <p:cNvPr id="682" name="Google Shape;682;p40"/>
          <p:cNvSpPr txBox="1"/>
          <p:nvPr/>
        </p:nvSpPr>
        <p:spPr>
          <a:xfrm>
            <a:off x="8620000" y="4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KB Kookmin Bank</a:t>
            </a:r>
            <a:endParaRPr/>
          </a:p>
        </p:txBody>
      </p:sp>
      <p:sp>
        <p:nvSpPr>
          <p:cNvPr id="683" name="Google Shape;683;p40"/>
          <p:cNvSpPr txBox="1"/>
          <p:nvPr/>
        </p:nvSpPr>
        <p:spPr>
          <a:xfrm>
            <a:off x="10080000" y="4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Maintenance · Kotlin</a:t>
            </a:r>
            <a:endParaRPr/>
          </a:p>
        </p:txBody>
      </p:sp>
      <p:sp>
        <p:nvSpPr>
          <p:cNvPr id="684" name="Google Shape;684;p40"/>
          <p:cNvSpPr txBox="1"/>
          <p:nvPr/>
        </p:nvSpPr>
        <p:spPr>
          <a:xfrm>
            <a:off x="4727707" y="5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2020.02–2021.12</a:t>
            </a:r>
            <a:endParaRPr/>
          </a:p>
        </p:txBody>
      </p:sp>
      <p:sp>
        <p:nvSpPr>
          <p:cNvPr id="685" name="Google Shape;685;p40"/>
          <p:cNvSpPr txBox="1"/>
          <p:nvPr/>
        </p:nvSpPr>
        <p:spPr>
          <a:xfrm>
            <a:off x="5940000" y="5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Website renewal, service stabilisation</a:t>
            </a:r>
            <a:endParaRPr/>
          </a:p>
        </p:txBody>
      </p:sp>
      <p:sp>
        <p:nvSpPr>
          <p:cNvPr id="686" name="Google Shape;686;p40"/>
          <p:cNvSpPr txBox="1"/>
          <p:nvPr/>
        </p:nvSpPr>
        <p:spPr>
          <a:xfrm>
            <a:off x="8620000" y="5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Korean Air</a:t>
            </a:r>
            <a:endParaRPr/>
          </a:p>
        </p:txBody>
      </p:sp>
      <p:sp>
        <p:nvSpPr>
          <p:cNvPr id="687" name="Google Shape;687;p40"/>
          <p:cNvSpPr txBox="1"/>
          <p:nvPr/>
        </p:nvSpPr>
        <p:spPr>
          <a:xfrm>
            <a:off x="10080000" y="5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&amp; maintenance · Kotlin</a:t>
            </a:r>
            <a:endParaRPr/>
          </a:p>
        </p:txBody>
      </p:sp>
      <p:sp>
        <p:nvSpPr>
          <p:cNvPr id="688" name="Google Shape;688;p40"/>
          <p:cNvSpPr txBox="1"/>
          <p:nvPr/>
        </p:nvSpPr>
        <p:spPr>
          <a:xfrm>
            <a:off x="4667707" y="5760000"/>
            <a:ext cx="6912293" cy="33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00"/>
              <a:buFont typeface="Barlow"/>
              <a:buNone/>
            </a:pPr>
            <a:r>
              <a:rPr lang="en-US" sz="1000">
                <a:solidFill>
                  <a:srgbClr val="5B6B7F"/>
                </a:solidFill>
                <a:latin typeface="Barlow"/>
                <a:ea typeface="Barlow"/>
                <a:cs typeface="Barlow"/>
                <a:sym typeface="Barlow"/>
              </a:rPr>
              <a:t>Partner company staff via CMC Global Korea · available 12 Oct 2026 · Korean native.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41"/>
          <p:cNvSpPr txBox="1"/>
          <p:nvPr/>
        </p:nvSpPr>
        <p:spPr>
          <a:xfrm>
            <a:off x="457200" y="323698"/>
            <a:ext cx="6667805"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PROPOSED ENGINEERS</a:t>
            </a:r>
            <a:endParaRPr/>
          </a:p>
        </p:txBody>
      </p:sp>
      <p:sp>
        <p:nvSpPr>
          <p:cNvPr id="695" name="Google Shape;695;p41"/>
          <p:cNvSpPr txBox="1"/>
          <p:nvPr/>
        </p:nvSpPr>
        <p:spPr>
          <a:xfrm>
            <a:off x="457200" y="590702"/>
            <a:ext cx="11277600"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Candidate D — Lim Ji-young, Mid-Senior Android: 6 years, AAOS and connected car</a:t>
            </a:r>
            <a:endParaRPr/>
          </a:p>
        </p:txBody>
      </p:sp>
      <p:sp>
        <p:nvSpPr>
          <p:cNvPr id="696" name="Google Shape;696;p41"/>
          <p:cNvSpPr/>
          <p:nvPr/>
        </p:nvSpPr>
        <p:spPr>
          <a:xfrm>
            <a:off x="457200" y="1238098"/>
            <a:ext cx="3886200"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41"/>
          <p:cNvSpPr/>
          <p:nvPr/>
        </p:nvSpPr>
        <p:spPr>
          <a:xfrm>
            <a:off x="629107" y="1390802"/>
            <a:ext cx="590702" cy="590702"/>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41"/>
          <p:cNvSpPr txBox="1"/>
          <p:nvPr/>
        </p:nvSpPr>
        <p:spPr>
          <a:xfrm>
            <a:off x="629107" y="1390802"/>
            <a:ext cx="590702" cy="5907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Montserrat"/>
              <a:buNone/>
            </a:pPr>
            <a:r>
              <a:rPr b="1" lang="en-US" sz="1350">
                <a:solidFill>
                  <a:srgbClr val="FFFFFF"/>
                </a:solidFill>
                <a:latin typeface="Montserrat"/>
                <a:ea typeface="Montserrat"/>
                <a:cs typeface="Montserrat"/>
                <a:sym typeface="Montserrat"/>
              </a:rPr>
              <a:t>JL</a:t>
            </a:r>
            <a:endParaRPr/>
          </a:p>
        </p:txBody>
      </p:sp>
      <p:sp>
        <p:nvSpPr>
          <p:cNvPr id="699" name="Google Shape;699;p41"/>
          <p:cNvSpPr txBox="1"/>
          <p:nvPr/>
        </p:nvSpPr>
        <p:spPr>
          <a:xfrm>
            <a:off x="1320000" y="1400000"/>
            <a:ext cx="29000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125"/>
              <a:buFont typeface="Montserrat"/>
              <a:buNone/>
            </a:pPr>
            <a:r>
              <a:rPr b="1" lang="en-US" sz="1125">
                <a:solidFill>
                  <a:srgbClr val="0B2F5B"/>
                </a:solidFill>
                <a:latin typeface="Montserrat"/>
                <a:ea typeface="Montserrat"/>
                <a:cs typeface="Montserrat"/>
                <a:sym typeface="Montserrat"/>
              </a:rPr>
              <a:t>Candidate D — Lim Ji-young (Laura Lim)</a:t>
            </a:r>
            <a:endParaRPr/>
          </a:p>
        </p:txBody>
      </p:sp>
      <p:sp>
        <p:nvSpPr>
          <p:cNvPr id="700" name="Google Shape;700;p41"/>
          <p:cNvSpPr txBox="1"/>
          <p:nvPr/>
        </p:nvSpPr>
        <p:spPr>
          <a:xfrm>
            <a:off x="1320000" y="1700000"/>
            <a:ext cx="290000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Barlow"/>
              <a:buNone/>
            </a:pPr>
            <a:r>
              <a:rPr lang="en-US" sz="1000">
                <a:solidFill>
                  <a:srgbClr val="1867DC"/>
                </a:solidFill>
                <a:latin typeface="Barlow"/>
                <a:ea typeface="Barlow"/>
                <a:cs typeface="Barlow"/>
                <a:sym typeface="Barlow"/>
              </a:rPr>
              <a:t>Mid-Senior Android Engineer</a:t>
            </a:r>
            <a:endParaRPr/>
          </a:p>
        </p:txBody>
      </p:sp>
      <p:sp>
        <p:nvSpPr>
          <p:cNvPr id="701" name="Google Shape;701;p41"/>
          <p:cNvSpPr/>
          <p:nvPr/>
        </p:nvSpPr>
        <p:spPr>
          <a:xfrm>
            <a:off x="629107" y="21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41"/>
          <p:cNvSpPr txBox="1"/>
          <p:nvPr/>
        </p:nvSpPr>
        <p:spPr>
          <a:xfrm>
            <a:off x="700000" y="2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ROLE ON PROJECT</a:t>
            </a:r>
            <a:endParaRPr/>
          </a:p>
        </p:txBody>
      </p:sp>
      <p:sp>
        <p:nvSpPr>
          <p:cNvPr id="703" name="Google Shape;703;p41"/>
          <p:cNvSpPr txBox="1"/>
          <p:nvPr/>
        </p:nvSpPr>
        <p:spPr>
          <a:xfrm>
            <a:off x="1980000" y="2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Mid-Senior Android · provisioning</a:t>
            </a:r>
            <a:endParaRPr/>
          </a:p>
        </p:txBody>
      </p:sp>
      <p:sp>
        <p:nvSpPr>
          <p:cNvPr id="704" name="Google Shape;704;p41"/>
          <p:cNvSpPr txBox="1"/>
          <p:nvPr/>
        </p:nvSpPr>
        <p:spPr>
          <a:xfrm>
            <a:off x="700000" y="2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GRADE</a:t>
            </a:r>
            <a:endParaRPr/>
          </a:p>
        </p:txBody>
      </p:sp>
      <p:sp>
        <p:nvSpPr>
          <p:cNvPr id="705" name="Google Shape;705;p41"/>
          <p:cNvSpPr txBox="1"/>
          <p:nvPr/>
        </p:nvSpPr>
        <p:spPr>
          <a:xfrm>
            <a:off x="1980000" y="2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Mid-Senior · Senior Engineer at FPT</a:t>
            </a:r>
            <a:endParaRPr/>
          </a:p>
        </p:txBody>
      </p:sp>
      <p:sp>
        <p:nvSpPr>
          <p:cNvPr id="706" name="Google Shape;706;p41"/>
          <p:cNvSpPr/>
          <p:nvPr/>
        </p:nvSpPr>
        <p:spPr>
          <a:xfrm>
            <a:off x="629107" y="29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41"/>
          <p:cNvSpPr txBox="1"/>
          <p:nvPr/>
        </p:nvSpPr>
        <p:spPr>
          <a:xfrm>
            <a:off x="700000" y="29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CAREER</a:t>
            </a:r>
            <a:endParaRPr/>
          </a:p>
        </p:txBody>
      </p:sp>
      <p:sp>
        <p:nvSpPr>
          <p:cNvPr id="708" name="Google Shape;708;p41"/>
          <p:cNvSpPr txBox="1"/>
          <p:nvPr/>
        </p:nvSpPr>
        <p:spPr>
          <a:xfrm>
            <a:off x="1980000" y="29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2020.08 – 2026.08 · 6 yrs</a:t>
            </a:r>
            <a:endParaRPr/>
          </a:p>
        </p:txBody>
      </p:sp>
      <p:sp>
        <p:nvSpPr>
          <p:cNvPr id="709" name="Google Shape;709;p41"/>
          <p:cNvSpPr txBox="1"/>
          <p:nvPr/>
        </p:nvSpPr>
        <p:spPr>
          <a:xfrm>
            <a:off x="700000" y="33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MOBILE SINCE</a:t>
            </a:r>
            <a:endParaRPr/>
          </a:p>
        </p:txBody>
      </p:sp>
      <p:sp>
        <p:nvSpPr>
          <p:cNvPr id="710" name="Google Shape;710;p41"/>
          <p:cNvSpPr txBox="1"/>
          <p:nvPr/>
        </p:nvSpPr>
        <p:spPr>
          <a:xfrm>
            <a:off x="1980000" y="33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Android since 2021 · AAOS</a:t>
            </a:r>
            <a:endParaRPr/>
          </a:p>
        </p:txBody>
      </p:sp>
      <p:sp>
        <p:nvSpPr>
          <p:cNvPr id="711" name="Google Shape;711;p41"/>
          <p:cNvSpPr/>
          <p:nvPr/>
        </p:nvSpPr>
        <p:spPr>
          <a:xfrm>
            <a:off x="629107" y="37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41"/>
          <p:cNvSpPr txBox="1"/>
          <p:nvPr/>
        </p:nvSpPr>
        <p:spPr>
          <a:xfrm>
            <a:off x="700000" y="37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PROJECTS</a:t>
            </a:r>
            <a:endParaRPr/>
          </a:p>
        </p:txBody>
      </p:sp>
      <p:sp>
        <p:nvSpPr>
          <p:cNvPr id="713" name="Google Shape;713;p41"/>
          <p:cNvSpPr txBox="1"/>
          <p:nvPr/>
        </p:nvSpPr>
        <p:spPr>
          <a:xfrm>
            <a:off x="1980000" y="37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8 · automotive, connected car, web</a:t>
            </a:r>
            <a:endParaRPr/>
          </a:p>
        </p:txBody>
      </p:sp>
      <p:sp>
        <p:nvSpPr>
          <p:cNvPr id="714" name="Google Shape;714;p41"/>
          <p:cNvSpPr txBox="1"/>
          <p:nvPr/>
        </p:nvSpPr>
        <p:spPr>
          <a:xfrm>
            <a:off x="700000" y="4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EDUCATION</a:t>
            </a:r>
            <a:endParaRPr/>
          </a:p>
        </p:txBody>
      </p:sp>
      <p:sp>
        <p:nvSpPr>
          <p:cNvPr id="715" name="Google Shape;715;p41"/>
          <p:cNvSpPr txBox="1"/>
          <p:nvPr/>
        </p:nvSpPr>
        <p:spPr>
          <a:xfrm>
            <a:off x="1980000" y="4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QUT (Australia), B. IT Computer Science</a:t>
            </a:r>
            <a:endParaRPr/>
          </a:p>
        </p:txBody>
      </p:sp>
      <p:sp>
        <p:nvSpPr>
          <p:cNvPr id="716" name="Google Shape;716;p41"/>
          <p:cNvSpPr/>
          <p:nvPr/>
        </p:nvSpPr>
        <p:spPr>
          <a:xfrm>
            <a:off x="629107" y="45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41"/>
          <p:cNvSpPr txBox="1"/>
          <p:nvPr/>
        </p:nvSpPr>
        <p:spPr>
          <a:xfrm>
            <a:off x="700000" y="4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BASED IN</a:t>
            </a:r>
            <a:endParaRPr/>
          </a:p>
        </p:txBody>
      </p:sp>
      <p:sp>
        <p:nvSpPr>
          <p:cNvPr id="718" name="Google Shape;718;p41"/>
          <p:cNvSpPr txBox="1"/>
          <p:nvPr/>
        </p:nvSpPr>
        <p:spPr>
          <a:xfrm>
            <a:off x="1980000" y="4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Seoul</a:t>
            </a:r>
            <a:endParaRPr/>
          </a:p>
        </p:txBody>
      </p:sp>
      <p:sp>
        <p:nvSpPr>
          <p:cNvPr id="719" name="Google Shape;719;p41"/>
          <p:cNvSpPr/>
          <p:nvPr/>
        </p:nvSpPr>
        <p:spPr>
          <a:xfrm>
            <a:off x="629107" y="5120000"/>
            <a:ext cx="3542400" cy="80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41"/>
          <p:cNvSpPr txBox="1"/>
          <p:nvPr/>
        </p:nvSpPr>
        <p:spPr>
          <a:xfrm>
            <a:off x="730000" y="5170000"/>
            <a:ext cx="3340000" cy="7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lang="en-US" sz="1050">
                <a:solidFill>
                  <a:srgbClr val="0B2F5B"/>
                </a:solidFill>
                <a:latin typeface="Barlow"/>
                <a:ea typeface="Barlow"/>
                <a:cs typeface="Barlow"/>
                <a:sym typeface="Barlow"/>
              </a:rPr>
              <a:t>Mid-Senior Android Engineer — delivers Android provisioning, device and diagnostics features under Candidate A's review; Korean native, professional English.</a:t>
            </a:r>
            <a:endParaRPr/>
          </a:p>
        </p:txBody>
      </p:sp>
      <p:sp>
        <p:nvSpPr>
          <p:cNvPr id="721" name="Google Shape;721;p41"/>
          <p:cNvSpPr/>
          <p:nvPr/>
        </p:nvSpPr>
        <p:spPr>
          <a:xfrm>
            <a:off x="4495800" y="1238098"/>
            <a:ext cx="7239195"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41"/>
          <p:cNvSpPr txBox="1"/>
          <p:nvPr/>
        </p:nvSpPr>
        <p:spPr>
          <a:xfrm>
            <a:off x="4667707" y="1390802"/>
            <a:ext cx="3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Skills matching the RFP</a:t>
            </a:r>
            <a:endParaRPr/>
          </a:p>
        </p:txBody>
      </p:sp>
      <p:sp>
        <p:nvSpPr>
          <p:cNvPr id="723" name="Google Shape;723;p41"/>
          <p:cNvSpPr/>
          <p:nvPr/>
        </p:nvSpPr>
        <p:spPr>
          <a:xfrm>
            <a:off x="46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41"/>
          <p:cNvSpPr txBox="1"/>
          <p:nvPr/>
        </p:nvSpPr>
        <p:spPr>
          <a:xfrm>
            <a:off x="46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Kotlin · Java</a:t>
            </a:r>
            <a:endParaRPr/>
          </a:p>
        </p:txBody>
      </p:sp>
      <p:sp>
        <p:nvSpPr>
          <p:cNvPr id="725" name="Google Shape;725;p41"/>
          <p:cNvSpPr/>
          <p:nvPr/>
        </p:nvSpPr>
        <p:spPr>
          <a:xfrm>
            <a:off x="582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41"/>
          <p:cNvSpPr txBox="1"/>
          <p:nvPr/>
        </p:nvSpPr>
        <p:spPr>
          <a:xfrm>
            <a:off x="582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Android · AAOS</a:t>
            </a:r>
            <a:endParaRPr/>
          </a:p>
        </p:txBody>
      </p:sp>
      <p:sp>
        <p:nvSpPr>
          <p:cNvPr id="727" name="Google Shape;727;p41"/>
          <p:cNvSpPr/>
          <p:nvPr/>
        </p:nvSpPr>
        <p:spPr>
          <a:xfrm>
            <a:off x="698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8" name="Google Shape;728;p41"/>
          <p:cNvSpPr txBox="1"/>
          <p:nvPr/>
        </p:nvSpPr>
        <p:spPr>
          <a:xfrm>
            <a:off x="698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REST API · JSON</a:t>
            </a:r>
            <a:endParaRPr/>
          </a:p>
        </p:txBody>
      </p:sp>
      <p:sp>
        <p:nvSpPr>
          <p:cNvPr id="729" name="Google Shape;729;p41"/>
          <p:cNvSpPr/>
          <p:nvPr/>
        </p:nvSpPr>
        <p:spPr>
          <a:xfrm>
            <a:off x="814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41"/>
          <p:cNvSpPr txBox="1"/>
          <p:nvPr/>
        </p:nvSpPr>
        <p:spPr>
          <a:xfrm>
            <a:off x="814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Device protocols</a:t>
            </a:r>
            <a:endParaRPr/>
          </a:p>
        </p:txBody>
      </p:sp>
      <p:sp>
        <p:nvSpPr>
          <p:cNvPr id="731" name="Google Shape;731;p41"/>
          <p:cNvSpPr/>
          <p:nvPr/>
        </p:nvSpPr>
        <p:spPr>
          <a:xfrm>
            <a:off x="930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41"/>
          <p:cNvSpPr txBox="1"/>
          <p:nvPr/>
        </p:nvSpPr>
        <p:spPr>
          <a:xfrm>
            <a:off x="930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Static analysis</a:t>
            </a:r>
            <a:endParaRPr/>
          </a:p>
        </p:txBody>
      </p:sp>
      <p:sp>
        <p:nvSpPr>
          <p:cNvPr id="733" name="Google Shape;733;p41"/>
          <p:cNvSpPr/>
          <p:nvPr/>
        </p:nvSpPr>
        <p:spPr>
          <a:xfrm>
            <a:off x="104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41"/>
          <p:cNvSpPr txBox="1"/>
          <p:nvPr/>
        </p:nvSpPr>
        <p:spPr>
          <a:xfrm>
            <a:off x="104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Jenkins · Git</a:t>
            </a:r>
            <a:endParaRPr/>
          </a:p>
        </p:txBody>
      </p:sp>
      <p:sp>
        <p:nvSpPr>
          <p:cNvPr id="735" name="Google Shape;735;p41"/>
          <p:cNvSpPr txBox="1"/>
          <p:nvPr/>
        </p:nvSpPr>
        <p:spPr>
          <a:xfrm>
            <a:off x="4667707" y="2080000"/>
            <a:ext cx="5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Selected projects (from technical career sheet, latest first)</a:t>
            </a:r>
            <a:endParaRPr/>
          </a:p>
        </p:txBody>
      </p:sp>
      <p:sp>
        <p:nvSpPr>
          <p:cNvPr id="736" name="Google Shape;736;p41"/>
          <p:cNvSpPr/>
          <p:nvPr/>
        </p:nvSpPr>
        <p:spPr>
          <a:xfrm>
            <a:off x="4667707" y="2340000"/>
            <a:ext cx="6912293" cy="280000"/>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41"/>
          <p:cNvSpPr txBox="1"/>
          <p:nvPr/>
        </p:nvSpPr>
        <p:spPr>
          <a:xfrm>
            <a:off x="4727707" y="2340000"/>
            <a:ext cx="109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Period</a:t>
            </a:r>
            <a:endParaRPr/>
          </a:p>
        </p:txBody>
      </p:sp>
      <p:sp>
        <p:nvSpPr>
          <p:cNvPr id="738" name="Google Shape;738;p41"/>
          <p:cNvSpPr txBox="1"/>
          <p:nvPr/>
        </p:nvSpPr>
        <p:spPr>
          <a:xfrm>
            <a:off x="5940000" y="2340000"/>
            <a:ext cx="256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Project</a:t>
            </a:r>
            <a:endParaRPr/>
          </a:p>
        </p:txBody>
      </p:sp>
      <p:sp>
        <p:nvSpPr>
          <p:cNvPr id="739" name="Google Shape;739;p41"/>
          <p:cNvSpPr txBox="1"/>
          <p:nvPr/>
        </p:nvSpPr>
        <p:spPr>
          <a:xfrm>
            <a:off x="8620000" y="2340000"/>
            <a:ext cx="134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Client</a:t>
            </a:r>
            <a:endParaRPr/>
          </a:p>
        </p:txBody>
      </p:sp>
      <p:sp>
        <p:nvSpPr>
          <p:cNvPr id="740" name="Google Shape;740;p41"/>
          <p:cNvSpPr txBox="1"/>
          <p:nvPr/>
        </p:nvSpPr>
        <p:spPr>
          <a:xfrm>
            <a:off x="10080000" y="2340000"/>
            <a:ext cx="150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Role · Stack</a:t>
            </a:r>
            <a:endParaRPr/>
          </a:p>
        </p:txBody>
      </p:sp>
      <p:sp>
        <p:nvSpPr>
          <p:cNvPr id="741" name="Google Shape;741;p41"/>
          <p:cNvSpPr txBox="1"/>
          <p:nvPr/>
        </p:nvSpPr>
        <p:spPr>
          <a:xfrm>
            <a:off x="4727707" y="2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2026.04–2026.07</a:t>
            </a:r>
            <a:endParaRPr/>
          </a:p>
        </p:txBody>
      </p:sp>
      <p:sp>
        <p:nvSpPr>
          <p:cNvPr id="742" name="Google Shape;742;p41"/>
          <p:cNvSpPr txBox="1"/>
          <p:nvPr/>
        </p:nvSpPr>
        <p:spPr>
          <a:xfrm>
            <a:off x="5940000" y="2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SDV solution bridge, test-automation PoC scoping</a:t>
            </a:r>
            <a:endParaRPr/>
          </a:p>
        </p:txBody>
      </p:sp>
      <p:sp>
        <p:nvSpPr>
          <p:cNvPr id="743" name="Google Shape;743;p41"/>
          <p:cNvSpPr txBox="1"/>
          <p:nvPr/>
        </p:nvSpPr>
        <p:spPr>
          <a:xfrm>
            <a:off x="8620000" y="2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FPT Software Korea</a:t>
            </a:r>
            <a:endParaRPr/>
          </a:p>
        </p:txBody>
      </p:sp>
      <p:sp>
        <p:nvSpPr>
          <p:cNvPr id="744" name="Google Shape;744;p41"/>
          <p:cNvSpPr txBox="1"/>
          <p:nvPr/>
        </p:nvSpPr>
        <p:spPr>
          <a:xfrm>
            <a:off x="10080000" y="2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Solution bridge · virtual ECU</a:t>
            </a:r>
            <a:endParaRPr/>
          </a:p>
        </p:txBody>
      </p:sp>
      <p:sp>
        <p:nvSpPr>
          <p:cNvPr id="745" name="Google Shape;745;p41"/>
          <p:cNvSpPr/>
          <p:nvPr/>
        </p:nvSpPr>
        <p:spPr>
          <a:xfrm>
            <a:off x="4667707" y="30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41"/>
          <p:cNvSpPr txBox="1"/>
          <p:nvPr/>
        </p:nvSpPr>
        <p:spPr>
          <a:xfrm>
            <a:off x="4727707" y="3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2024.11–2026.01</a:t>
            </a:r>
            <a:endParaRPr/>
          </a:p>
        </p:txBody>
      </p:sp>
      <p:sp>
        <p:nvSpPr>
          <p:cNvPr id="747" name="Google Shape;747;p41"/>
          <p:cNvSpPr txBox="1"/>
          <p:nvPr/>
        </p:nvSpPr>
        <p:spPr>
          <a:xfrm>
            <a:off x="5940000" y="3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Connected car provisioning service (Java to Kotlin refactor)</a:t>
            </a:r>
            <a:endParaRPr/>
          </a:p>
        </p:txBody>
      </p:sp>
      <p:sp>
        <p:nvSpPr>
          <p:cNvPr id="748" name="Google Shape;748;p41"/>
          <p:cNvSpPr txBox="1"/>
          <p:nvPr/>
        </p:nvSpPr>
        <p:spPr>
          <a:xfrm>
            <a:off x="8620000" y="3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FPT Software Korea</a:t>
            </a:r>
            <a:endParaRPr/>
          </a:p>
        </p:txBody>
      </p:sp>
      <p:sp>
        <p:nvSpPr>
          <p:cNvPr id="749" name="Google Shape;749;p41"/>
          <p:cNvSpPr txBox="1"/>
          <p:nvPr/>
        </p:nvSpPr>
        <p:spPr>
          <a:xfrm>
            <a:off x="10080000" y="3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 Java, REST</a:t>
            </a:r>
            <a:endParaRPr/>
          </a:p>
        </p:txBody>
      </p:sp>
      <p:sp>
        <p:nvSpPr>
          <p:cNvPr id="750" name="Google Shape;750;p41"/>
          <p:cNvSpPr txBox="1"/>
          <p:nvPr/>
        </p:nvSpPr>
        <p:spPr>
          <a:xfrm>
            <a:off x="4727707" y="34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2025.03–2025.06</a:t>
            </a:r>
            <a:endParaRPr/>
          </a:p>
        </p:txBody>
      </p:sp>
      <p:sp>
        <p:nvSpPr>
          <p:cNvPr id="751" name="Google Shape;751;p41"/>
          <p:cNvSpPr txBox="1"/>
          <p:nvPr/>
        </p:nvSpPr>
        <p:spPr>
          <a:xfrm>
            <a:off x="5940000" y="34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Genesis AVN split-screen app</a:t>
            </a:r>
            <a:endParaRPr/>
          </a:p>
        </p:txBody>
      </p:sp>
      <p:sp>
        <p:nvSpPr>
          <p:cNvPr id="752" name="Google Shape;752;p41"/>
          <p:cNvSpPr txBox="1"/>
          <p:nvPr/>
        </p:nvSpPr>
        <p:spPr>
          <a:xfrm>
            <a:off x="8620000" y="34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FPT Software Korea</a:t>
            </a:r>
            <a:endParaRPr/>
          </a:p>
        </p:txBody>
      </p:sp>
      <p:sp>
        <p:nvSpPr>
          <p:cNvPr id="753" name="Google Shape;753;p41"/>
          <p:cNvSpPr txBox="1"/>
          <p:nvPr/>
        </p:nvSpPr>
        <p:spPr>
          <a:xfrm>
            <a:off x="10080000" y="34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PM · Kotlin, Android</a:t>
            </a:r>
            <a:endParaRPr/>
          </a:p>
        </p:txBody>
      </p:sp>
      <p:sp>
        <p:nvSpPr>
          <p:cNvPr id="754" name="Google Shape;754;p41"/>
          <p:cNvSpPr/>
          <p:nvPr/>
        </p:nvSpPr>
        <p:spPr>
          <a:xfrm>
            <a:off x="4667707" y="38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41"/>
          <p:cNvSpPr txBox="1"/>
          <p:nvPr/>
        </p:nvSpPr>
        <p:spPr>
          <a:xfrm>
            <a:off x="4727707" y="38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2025.03–2025.06</a:t>
            </a:r>
            <a:endParaRPr/>
          </a:p>
        </p:txBody>
      </p:sp>
      <p:sp>
        <p:nvSpPr>
          <p:cNvPr id="756" name="Google Shape;756;p41"/>
          <p:cNvSpPr txBox="1"/>
          <p:nvPr/>
        </p:nvSpPr>
        <p:spPr>
          <a:xfrm>
            <a:off x="5940000" y="38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Car service demo on Telechips evaluation board</a:t>
            </a:r>
            <a:endParaRPr/>
          </a:p>
        </p:txBody>
      </p:sp>
      <p:sp>
        <p:nvSpPr>
          <p:cNvPr id="757" name="Google Shape;757;p41"/>
          <p:cNvSpPr txBox="1"/>
          <p:nvPr/>
        </p:nvSpPr>
        <p:spPr>
          <a:xfrm>
            <a:off x="8620000" y="38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FPT Software Korea</a:t>
            </a:r>
            <a:endParaRPr/>
          </a:p>
        </p:txBody>
      </p:sp>
      <p:sp>
        <p:nvSpPr>
          <p:cNvPr id="758" name="Google Shape;758;p41"/>
          <p:cNvSpPr txBox="1"/>
          <p:nvPr/>
        </p:nvSpPr>
        <p:spPr>
          <a:xfrm>
            <a:off x="10080000" y="38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Java, C/C++, AAOS, Yocto</a:t>
            </a:r>
            <a:endParaRPr/>
          </a:p>
        </p:txBody>
      </p:sp>
      <p:sp>
        <p:nvSpPr>
          <p:cNvPr id="759" name="Google Shape;759;p41"/>
          <p:cNvSpPr txBox="1"/>
          <p:nvPr/>
        </p:nvSpPr>
        <p:spPr>
          <a:xfrm>
            <a:off x="4727707" y="42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2024.01–2024.11</a:t>
            </a:r>
            <a:endParaRPr/>
          </a:p>
        </p:txBody>
      </p:sp>
      <p:sp>
        <p:nvSpPr>
          <p:cNvPr id="760" name="Google Shape;760;p41"/>
          <p:cNvSpPr txBox="1"/>
          <p:nvPr/>
        </p:nvSpPr>
        <p:spPr>
          <a:xfrm>
            <a:off x="5940000" y="42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PBV connected car: notifications, device monitoring, diagnostics</a:t>
            </a:r>
            <a:endParaRPr/>
          </a:p>
        </p:txBody>
      </p:sp>
      <p:sp>
        <p:nvSpPr>
          <p:cNvPr id="761" name="Google Shape;761;p41"/>
          <p:cNvSpPr txBox="1"/>
          <p:nvPr/>
        </p:nvSpPr>
        <p:spPr>
          <a:xfrm>
            <a:off x="8620000" y="42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WiseThen</a:t>
            </a:r>
            <a:endParaRPr/>
          </a:p>
        </p:txBody>
      </p:sp>
      <p:sp>
        <p:nvSpPr>
          <p:cNvPr id="762" name="Google Shape;762;p41"/>
          <p:cNvSpPr txBox="1"/>
          <p:nvPr/>
        </p:nvSpPr>
        <p:spPr>
          <a:xfrm>
            <a:off x="10080000" y="42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 Java, Android</a:t>
            </a:r>
            <a:endParaRPr/>
          </a:p>
        </p:txBody>
      </p:sp>
      <p:sp>
        <p:nvSpPr>
          <p:cNvPr id="763" name="Google Shape;763;p41"/>
          <p:cNvSpPr/>
          <p:nvPr/>
        </p:nvSpPr>
        <p:spPr>
          <a:xfrm>
            <a:off x="4667707" y="46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4" name="Google Shape;764;p41"/>
          <p:cNvSpPr txBox="1"/>
          <p:nvPr/>
        </p:nvSpPr>
        <p:spPr>
          <a:xfrm>
            <a:off x="4727707" y="4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2021.08–2024.11</a:t>
            </a:r>
            <a:endParaRPr/>
          </a:p>
        </p:txBody>
      </p:sp>
      <p:sp>
        <p:nvSpPr>
          <p:cNvPr id="765" name="Google Shape;765;p41"/>
          <p:cNvSpPr txBox="1"/>
          <p:nvPr/>
        </p:nvSpPr>
        <p:spPr>
          <a:xfrm>
            <a:off x="5940000" y="4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User profile, location sharing, GIS (Bluelink, Kia Connect)</a:t>
            </a:r>
            <a:endParaRPr/>
          </a:p>
        </p:txBody>
      </p:sp>
      <p:sp>
        <p:nvSpPr>
          <p:cNvPr id="766" name="Google Shape;766;p41"/>
          <p:cNvSpPr txBox="1"/>
          <p:nvPr/>
        </p:nvSpPr>
        <p:spPr>
          <a:xfrm>
            <a:off x="8620000" y="4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WiseThen</a:t>
            </a:r>
            <a:endParaRPr/>
          </a:p>
        </p:txBody>
      </p:sp>
      <p:sp>
        <p:nvSpPr>
          <p:cNvPr id="767" name="Google Shape;767;p41"/>
          <p:cNvSpPr txBox="1"/>
          <p:nvPr/>
        </p:nvSpPr>
        <p:spPr>
          <a:xfrm>
            <a:off x="10080000" y="4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Java, Android, REST</a:t>
            </a:r>
            <a:endParaRPr/>
          </a:p>
        </p:txBody>
      </p:sp>
      <p:sp>
        <p:nvSpPr>
          <p:cNvPr id="768" name="Google Shape;768;p41"/>
          <p:cNvSpPr txBox="1"/>
          <p:nvPr/>
        </p:nvSpPr>
        <p:spPr>
          <a:xfrm>
            <a:off x="4727707" y="5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2020.08–2021.05</a:t>
            </a:r>
            <a:endParaRPr/>
          </a:p>
        </p:txBody>
      </p:sp>
      <p:sp>
        <p:nvSpPr>
          <p:cNvPr id="769" name="Google Shape;769;p41"/>
          <p:cNvSpPr txBox="1"/>
          <p:nvPr/>
        </p:nvSpPr>
        <p:spPr>
          <a:xfrm>
            <a:off x="5940000" y="5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HR platform admin and responsive web services</a:t>
            </a:r>
            <a:endParaRPr/>
          </a:p>
        </p:txBody>
      </p:sp>
      <p:sp>
        <p:nvSpPr>
          <p:cNvPr id="770" name="Google Shape;770;p41"/>
          <p:cNvSpPr txBox="1"/>
          <p:nvPr/>
        </p:nvSpPr>
        <p:spPr>
          <a:xfrm>
            <a:off x="8620000" y="5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JinK, Sillion</a:t>
            </a:r>
            <a:endParaRPr/>
          </a:p>
        </p:txBody>
      </p:sp>
      <p:sp>
        <p:nvSpPr>
          <p:cNvPr id="771" name="Google Shape;771;p41"/>
          <p:cNvSpPr txBox="1"/>
          <p:nvPr/>
        </p:nvSpPr>
        <p:spPr>
          <a:xfrm>
            <a:off x="10080000" y="5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Contract web dev · PHP, Spring</a:t>
            </a:r>
            <a:endParaRPr/>
          </a:p>
        </p:txBody>
      </p:sp>
      <p:sp>
        <p:nvSpPr>
          <p:cNvPr id="772" name="Google Shape;772;p41"/>
          <p:cNvSpPr txBox="1"/>
          <p:nvPr/>
        </p:nvSpPr>
        <p:spPr>
          <a:xfrm>
            <a:off x="4667707" y="5760000"/>
            <a:ext cx="6912293" cy="33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00"/>
              <a:buFont typeface="Barlow"/>
              <a:buNone/>
            </a:pPr>
            <a:r>
              <a:rPr lang="en-US" sz="1000">
                <a:solidFill>
                  <a:srgbClr val="5B6B7F"/>
                </a:solidFill>
                <a:latin typeface="Barlow"/>
                <a:ea typeface="Barlow"/>
                <a:cs typeface="Barlow"/>
                <a:sym typeface="Barlow"/>
              </a:rPr>
              <a:t>Contractor via CMC Global Korea · available 2 Nov 2026 · Korean native, professional English.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42"/>
          <p:cNvSpPr txBox="1"/>
          <p:nvPr>
            <p:ph type="ctrTitle"/>
          </p:nvPr>
        </p:nvSpPr>
        <p:spPr>
          <a:xfrm>
            <a:off x="629107" y="3364992"/>
            <a:ext cx="10881360" cy="1298448"/>
          </a:xfrm>
          <a:prstGeom prst="rect">
            <a:avLst/>
          </a:prstGeom>
          <a:noFill/>
          <a:ln>
            <a:noFill/>
          </a:ln>
        </p:spPr>
        <p:txBody>
          <a:bodyPr anchorCtr="0" anchor="t" bIns="0" lIns="0" spcFirstLastPara="1" rIns="0" wrap="square" tIns="0">
            <a:noAutofit/>
          </a:bodyPr>
          <a:lstStyle/>
          <a:p>
            <a:pPr indent="0" lvl="0" marL="0" rtl="0" algn="l">
              <a:lnSpc>
                <a:spcPct val="103000"/>
              </a:lnSpc>
              <a:spcBef>
                <a:spcPts val="0"/>
              </a:spcBef>
              <a:spcAft>
                <a:spcPts val="0"/>
              </a:spcAft>
              <a:buClr>
                <a:srgbClr val="FFFFFF"/>
              </a:buClr>
              <a:buSzPts val="4000"/>
              <a:buFont typeface="Montserrat"/>
              <a:buNone/>
            </a:pPr>
            <a:r>
              <a:rPr lang="en-US"/>
              <a:t>Qcells CORE Pro Installer App</a:t>
            </a:r>
            <a:endParaRPr/>
          </a:p>
          <a:p>
            <a:pPr indent="0" lvl="0" marL="0" rtl="0" algn="l">
              <a:lnSpc>
                <a:spcPct val="103000"/>
              </a:lnSpc>
              <a:spcBef>
                <a:spcPts val="0"/>
              </a:spcBef>
              <a:spcAft>
                <a:spcPts val="0"/>
              </a:spcAft>
              <a:buClr>
                <a:srgbClr val="8FBDF8"/>
              </a:buClr>
              <a:buSzPts val="4000"/>
              <a:buFont typeface="Montserrat"/>
              <a:buNone/>
            </a:pPr>
            <a:r>
              <a:rPr lang="en-US">
                <a:solidFill>
                  <a:srgbClr val="8FBDF8"/>
                </a:solidFill>
              </a:rPr>
              <a:t>Technical Design - iOS</a:t>
            </a:r>
            <a:endParaRPr>
              <a:solidFill>
                <a:srgbClr val="8FBDF8"/>
              </a:solidFill>
            </a:endParaRPr>
          </a:p>
        </p:txBody>
      </p:sp>
      <p:sp>
        <p:nvSpPr>
          <p:cNvPr id="779" name="Google Shape;779;p42"/>
          <p:cNvSpPr txBox="1"/>
          <p:nvPr>
            <p:ph idx="2" type="subTitle"/>
          </p:nvPr>
        </p:nvSpPr>
        <p:spPr>
          <a:xfrm>
            <a:off x="629107" y="4743907"/>
            <a:ext cx="9601200" cy="246888"/>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DCE8F7"/>
              </a:buClr>
              <a:buSzPts val="1350"/>
              <a:buNone/>
            </a:pPr>
            <a:r>
              <a:rPr b="0" lang="en-US" sz="1350">
                <a:solidFill>
                  <a:srgbClr val="DCE8F7"/>
                </a:solidFill>
                <a:latin typeface="Barlow"/>
                <a:ea typeface="Barlow"/>
                <a:cs typeface="Barlow"/>
                <a:sym typeface="Barlow"/>
              </a:rPr>
              <a:t>Resilient commissioning across BLE, local Wi-Fi, firmware and cloud sync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43"/>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INSTALLATION WORKFLOW</a:t>
            </a:r>
            <a:endParaRPr/>
          </a:p>
        </p:txBody>
      </p:sp>
      <p:sp>
        <p:nvSpPr>
          <p:cNvPr id="786" name="Google Shape;786;p43"/>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Three stages per installation, and the on-site stage needs no internet</a:t>
            </a:r>
            <a:endParaRPr/>
          </a:p>
        </p:txBody>
      </p:sp>
      <p:sp>
        <p:nvSpPr>
          <p:cNvPr id="787" name="Google Shape;787;p43"/>
          <p:cNvSpPr/>
          <p:nvPr/>
        </p:nvSpPr>
        <p:spPr>
          <a:xfrm>
            <a:off x="457200" y="1234440"/>
            <a:ext cx="1737360" cy="477316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8" name="Google Shape;788;p43"/>
          <p:cNvSpPr/>
          <p:nvPr/>
        </p:nvSpPr>
        <p:spPr>
          <a:xfrm>
            <a:off x="457200" y="1234440"/>
            <a:ext cx="1737360" cy="566928"/>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27425" lIns="137150" spcFirstLastPara="1" rIns="91425" wrap="square" tIns="27425">
            <a:noAutofit/>
          </a:bodyPr>
          <a:lstStyle/>
          <a:p>
            <a:pPr indent="0" lvl="0" marL="0" marR="0" rtl="0" algn="l">
              <a:lnSpc>
                <a:spcPct val="100000"/>
              </a:lnSpc>
              <a:spcBef>
                <a:spcPts val="0"/>
              </a:spcBef>
              <a:spcAft>
                <a:spcPts val="0"/>
              </a:spcAft>
              <a:buNone/>
            </a:pPr>
            <a:r>
              <a:rPr b="1" lang="en-US" sz="800">
                <a:solidFill>
                  <a:srgbClr val="1867DC"/>
                </a:solidFill>
                <a:latin typeface="Montserrat"/>
                <a:ea typeface="Montserrat"/>
                <a:cs typeface="Montserrat"/>
                <a:sym typeface="Montserrat"/>
              </a:rPr>
              <a:t>STAGE 1</a:t>
            </a:r>
            <a:endParaRPr/>
          </a:p>
          <a:p>
            <a:pPr indent="0" lvl="0" marL="0" marR="0" rtl="0" algn="l">
              <a:lnSpc>
                <a:spcPct val="100000"/>
              </a:lnSpc>
              <a:spcBef>
                <a:spcPts val="100"/>
              </a:spcBef>
              <a:spcAft>
                <a:spcPts val="0"/>
              </a:spcAft>
              <a:buNone/>
            </a:pPr>
            <a:r>
              <a:rPr b="1" lang="en-US" sz="1050">
                <a:solidFill>
                  <a:srgbClr val="0B2F5B"/>
                </a:solidFill>
                <a:latin typeface="Montserrat"/>
                <a:ea typeface="Montserrat"/>
                <a:cs typeface="Montserrat"/>
                <a:sym typeface="Montserrat"/>
              </a:rPr>
              <a:t>Pre-sync</a:t>
            </a:r>
            <a:endParaRPr/>
          </a:p>
        </p:txBody>
      </p:sp>
      <p:sp>
        <p:nvSpPr>
          <p:cNvPr id="789" name="Google Shape;789;p43"/>
          <p:cNvSpPr/>
          <p:nvPr/>
        </p:nvSpPr>
        <p:spPr>
          <a:xfrm>
            <a:off x="2423160" y="1234440"/>
            <a:ext cx="6675120" cy="477316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43"/>
          <p:cNvSpPr/>
          <p:nvPr/>
        </p:nvSpPr>
        <p:spPr>
          <a:xfrm>
            <a:off x="2423160" y="1234440"/>
            <a:ext cx="6675120" cy="566928"/>
          </a:xfrm>
          <a:prstGeom prst="rect">
            <a:avLst/>
          </a:prstGeom>
          <a:solidFill>
            <a:srgbClr val="0B2F5B"/>
          </a:solidFill>
          <a:ln>
            <a:noFill/>
          </a:ln>
        </p:spPr>
        <p:txBody>
          <a:bodyPr anchorCtr="0" anchor="ctr" bIns="27425" lIns="137150" spcFirstLastPara="1" rIns="91425" wrap="square" tIns="27425">
            <a:noAutofit/>
          </a:bodyPr>
          <a:lstStyle/>
          <a:p>
            <a:pPr indent="0" lvl="0" marL="0" marR="0" rtl="0" algn="l">
              <a:lnSpc>
                <a:spcPct val="100000"/>
              </a:lnSpc>
              <a:spcBef>
                <a:spcPts val="0"/>
              </a:spcBef>
              <a:spcAft>
                <a:spcPts val="0"/>
              </a:spcAft>
              <a:buNone/>
            </a:pPr>
            <a:r>
              <a:rPr b="1" lang="en-US" sz="800">
                <a:solidFill>
                  <a:srgbClr val="A9C7EA"/>
                </a:solidFill>
                <a:latin typeface="Montserrat"/>
                <a:ea typeface="Montserrat"/>
                <a:cs typeface="Montserrat"/>
                <a:sym typeface="Montserrat"/>
              </a:rPr>
              <a:t>STAGE 2</a:t>
            </a:r>
            <a:endParaRPr/>
          </a:p>
          <a:p>
            <a:pPr indent="0" lvl="0" marL="0" marR="0" rtl="0" algn="l">
              <a:lnSpc>
                <a:spcPct val="100000"/>
              </a:lnSpc>
              <a:spcBef>
                <a:spcPts val="100"/>
              </a:spcBef>
              <a:spcAft>
                <a:spcPts val="0"/>
              </a:spcAft>
              <a:buNone/>
            </a:pPr>
            <a:r>
              <a:rPr b="1" lang="en-US" sz="1150">
                <a:solidFill>
                  <a:srgbClr val="FFFFFF"/>
                </a:solidFill>
                <a:latin typeface="Montserrat"/>
                <a:ea typeface="Montserrat"/>
                <a:cs typeface="Montserrat"/>
                <a:sym typeface="Montserrat"/>
              </a:rPr>
              <a:t>Offline-first commissioning</a:t>
            </a:r>
            <a:endParaRPr/>
          </a:p>
        </p:txBody>
      </p:sp>
      <p:sp>
        <p:nvSpPr>
          <p:cNvPr id="791" name="Google Shape;791;p43"/>
          <p:cNvSpPr/>
          <p:nvPr/>
        </p:nvSpPr>
        <p:spPr>
          <a:xfrm>
            <a:off x="9326880" y="1234440"/>
            <a:ext cx="2103120" cy="477316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p43"/>
          <p:cNvSpPr/>
          <p:nvPr/>
        </p:nvSpPr>
        <p:spPr>
          <a:xfrm>
            <a:off x="9326880" y="1234440"/>
            <a:ext cx="2103120" cy="566928"/>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27425" lIns="137150" spcFirstLastPara="1" rIns="91425" wrap="square" tIns="27425">
            <a:noAutofit/>
          </a:bodyPr>
          <a:lstStyle/>
          <a:p>
            <a:pPr indent="0" lvl="0" marL="0" marR="0" rtl="0" algn="l">
              <a:lnSpc>
                <a:spcPct val="100000"/>
              </a:lnSpc>
              <a:spcBef>
                <a:spcPts val="0"/>
              </a:spcBef>
              <a:spcAft>
                <a:spcPts val="0"/>
              </a:spcAft>
              <a:buNone/>
            </a:pPr>
            <a:r>
              <a:rPr b="1" lang="en-US" sz="800">
                <a:solidFill>
                  <a:srgbClr val="1867DC"/>
                </a:solidFill>
                <a:latin typeface="Montserrat"/>
                <a:ea typeface="Montserrat"/>
                <a:cs typeface="Montserrat"/>
                <a:sym typeface="Montserrat"/>
              </a:rPr>
              <a:t>STAGE 3</a:t>
            </a:r>
            <a:endParaRPr/>
          </a:p>
          <a:p>
            <a:pPr indent="0" lvl="0" marL="0" marR="0" rtl="0" algn="l">
              <a:lnSpc>
                <a:spcPct val="100000"/>
              </a:lnSpc>
              <a:spcBef>
                <a:spcPts val="100"/>
              </a:spcBef>
              <a:spcAft>
                <a:spcPts val="0"/>
              </a:spcAft>
              <a:buNone/>
            </a:pPr>
            <a:r>
              <a:rPr b="1" lang="en-US" sz="1050">
                <a:solidFill>
                  <a:srgbClr val="0B2F5B"/>
                </a:solidFill>
                <a:latin typeface="Montserrat"/>
                <a:ea typeface="Montserrat"/>
                <a:cs typeface="Montserrat"/>
                <a:sym typeface="Montserrat"/>
              </a:rPr>
              <a:t>Completion &amp; cloud sync</a:t>
            </a:r>
            <a:endParaRPr/>
          </a:p>
        </p:txBody>
      </p:sp>
      <p:sp>
        <p:nvSpPr>
          <p:cNvPr id="793" name="Google Shape;793;p43"/>
          <p:cNvSpPr/>
          <p:nvPr/>
        </p:nvSpPr>
        <p:spPr>
          <a:xfrm>
            <a:off x="594360" y="1920240"/>
            <a:ext cx="930643" cy="200025"/>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0B2F5B"/>
                </a:solidFill>
                <a:latin typeface="Barlow"/>
                <a:ea typeface="Barlow"/>
                <a:cs typeface="Barlow"/>
                <a:sym typeface="Barlow"/>
              </a:rPr>
              <a:t>Online · HTTPS</a:t>
            </a:r>
            <a:endParaRPr/>
          </a:p>
        </p:txBody>
      </p:sp>
      <p:sp>
        <p:nvSpPr>
          <p:cNvPr id="794" name="Google Shape;794;p43"/>
          <p:cNvSpPr/>
          <p:nvPr/>
        </p:nvSpPr>
        <p:spPr>
          <a:xfrm>
            <a:off x="9464040" y="1920240"/>
            <a:ext cx="1229421" cy="200025"/>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0B2F5B"/>
                </a:solidFill>
                <a:latin typeface="Barlow"/>
                <a:ea typeface="Barlow"/>
                <a:cs typeface="Barlow"/>
                <a:sym typeface="Barlow"/>
              </a:rPr>
              <a:t>Online again · HTTPS</a:t>
            </a:r>
            <a:endParaRPr/>
          </a:p>
        </p:txBody>
      </p:sp>
      <p:sp>
        <p:nvSpPr>
          <p:cNvPr id="795" name="Google Shape;795;p43"/>
          <p:cNvSpPr/>
          <p:nvPr/>
        </p:nvSpPr>
        <p:spPr>
          <a:xfrm>
            <a:off x="7333025" y="1389888"/>
            <a:ext cx="1628094" cy="188912"/>
          </a:xfrm>
          <a:prstGeom prst="roundRect">
            <a:avLst>
              <a:gd fmla="val 50000" name="adj"/>
            </a:avLst>
          </a:prstGeom>
          <a:solidFill>
            <a:srgbClr val="E6F4EA"/>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1E7B4F"/>
                </a:solidFill>
                <a:latin typeface="Montserrat"/>
                <a:ea typeface="Montserrat"/>
                <a:cs typeface="Montserrat"/>
                <a:sym typeface="Montserrat"/>
              </a:rPr>
              <a:t>NO INTERNET NEEDED</a:t>
            </a:r>
            <a:endParaRPr/>
          </a:p>
        </p:txBody>
      </p:sp>
      <p:sp>
        <p:nvSpPr>
          <p:cNvPr id="796" name="Google Shape;796;p43"/>
          <p:cNvSpPr/>
          <p:nvPr/>
        </p:nvSpPr>
        <p:spPr>
          <a:xfrm>
            <a:off x="594360" y="2286000"/>
            <a:ext cx="1463039" cy="548640"/>
          </a:xfrm>
          <a:prstGeom prst="roundRect">
            <a:avLst>
              <a:gd fmla="val 10000"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Login</a:t>
            </a:r>
            <a:endParaRPr/>
          </a:p>
          <a:p>
            <a:pPr indent="0" lvl="0" marL="0" marR="0" rtl="0" algn="ctr">
              <a:lnSpc>
                <a:spcPct val="100000"/>
              </a:lnSpc>
              <a:spcBef>
                <a:spcPts val="150"/>
              </a:spcBef>
              <a:spcAft>
                <a:spcPts val="0"/>
              </a:spcAft>
              <a:buNone/>
            </a:pPr>
            <a:r>
              <a:rPr b="0" lang="en-US" sz="950">
                <a:solidFill>
                  <a:srgbClr val="5F6B7A"/>
                </a:solidFill>
                <a:latin typeface="Barlow"/>
                <a:ea typeface="Barlow"/>
                <a:cs typeface="Barlow"/>
                <a:sym typeface="Barlow"/>
              </a:rPr>
              <a:t>Installer ID</a:t>
            </a:r>
            <a:endParaRPr/>
          </a:p>
        </p:txBody>
      </p:sp>
      <p:sp>
        <p:nvSpPr>
          <p:cNvPr id="797" name="Google Shape;797;p43"/>
          <p:cNvSpPr/>
          <p:nvPr/>
        </p:nvSpPr>
        <p:spPr>
          <a:xfrm>
            <a:off x="594360" y="3044952"/>
            <a:ext cx="1463039" cy="603504"/>
          </a:xfrm>
          <a:prstGeom prst="roundRect">
            <a:avLst>
              <a:gd fmla="val 9090" name="adj"/>
            </a:avLst>
          </a:prstGeom>
          <a:solidFill>
            <a:srgbClr val="FFFFFF"/>
          </a:solidFill>
          <a:ln cap="flat" cmpd="sng" w="12700">
            <a:solidFill>
              <a:srgbClr val="0B2F5B"/>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Work order sync</a:t>
            </a:r>
            <a:endParaRPr/>
          </a:p>
          <a:p>
            <a:pPr indent="0" lvl="0" marL="0" marR="0" rtl="0" algn="ctr">
              <a:lnSpc>
                <a:spcPct val="100000"/>
              </a:lnSpc>
              <a:spcBef>
                <a:spcPts val="150"/>
              </a:spcBef>
              <a:spcAft>
                <a:spcPts val="0"/>
              </a:spcAft>
              <a:buNone/>
            </a:pPr>
            <a:r>
              <a:rPr b="0" lang="en-US" sz="950">
                <a:solidFill>
                  <a:srgbClr val="5F6B7A"/>
                </a:solidFill>
                <a:latin typeface="Barlow"/>
                <a:ea typeface="Barlow"/>
                <a:cs typeface="Barlow"/>
                <a:sym typeface="Barlow"/>
              </a:rPr>
              <a:t>Download today's jobs</a:t>
            </a:r>
            <a:endParaRPr/>
          </a:p>
        </p:txBody>
      </p:sp>
      <p:sp>
        <p:nvSpPr>
          <p:cNvPr id="798" name="Google Shape;798;p43"/>
          <p:cNvSpPr/>
          <p:nvPr/>
        </p:nvSpPr>
        <p:spPr>
          <a:xfrm>
            <a:off x="594360" y="3886200"/>
            <a:ext cx="1463039" cy="868680"/>
          </a:xfrm>
          <a:prstGeom prst="roundRect">
            <a:avLst>
              <a:gd fmla="val 6315" name="adj"/>
            </a:avLst>
          </a:prstGeom>
          <a:solidFill>
            <a:srgbClr val="FFFFFF"/>
          </a:solidFill>
          <a:ln cap="flat" cmpd="sng" w="12700">
            <a:solidFill>
              <a:srgbClr val="0B2F5B"/>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Dashboard</a:t>
            </a:r>
            <a:endParaRPr/>
          </a:p>
          <a:p>
            <a:pPr indent="0" lvl="0" marL="0" marR="0" rtl="0" algn="ctr">
              <a:lnSpc>
                <a:spcPct val="100000"/>
              </a:lnSpc>
              <a:spcBef>
                <a:spcPts val="150"/>
              </a:spcBef>
              <a:spcAft>
                <a:spcPts val="0"/>
              </a:spcAft>
              <a:buNone/>
            </a:pPr>
            <a:r>
              <a:rPr b="0" lang="en-US" sz="950">
                <a:solidFill>
                  <a:srgbClr val="5F6B7A"/>
                </a:solidFill>
                <a:latin typeface="Barlow"/>
                <a:ea typeface="Barlow"/>
                <a:cs typeface="Barlow"/>
                <a:sym typeface="Barlow"/>
              </a:rPr>
              <a:t>Today's work list, served from local storage</a:t>
            </a:r>
            <a:endParaRPr/>
          </a:p>
        </p:txBody>
      </p:sp>
      <p:cxnSp>
        <p:nvCxnSpPr>
          <p:cNvPr id="799" name="Google Shape;799;p43"/>
          <p:cNvCxnSpPr>
            <a:stCxn id="796" idx="2"/>
            <a:endCxn id="797" idx="0"/>
          </p:cNvCxnSpPr>
          <p:nvPr/>
        </p:nvCxnSpPr>
        <p:spPr>
          <a:xfrm>
            <a:off x="1325880" y="2834640"/>
            <a:ext cx="0" cy="210300"/>
          </a:xfrm>
          <a:prstGeom prst="straightConnector1">
            <a:avLst/>
          </a:prstGeom>
          <a:noFill/>
          <a:ln cap="flat" cmpd="sng" w="15875">
            <a:solidFill>
              <a:srgbClr val="0B2F5B"/>
            </a:solidFill>
            <a:prstDash val="solid"/>
            <a:round/>
            <a:headEnd len="sm" w="sm" type="none"/>
            <a:tailEnd len="med" w="med" type="triangle"/>
          </a:ln>
        </p:spPr>
      </p:cxnSp>
      <p:cxnSp>
        <p:nvCxnSpPr>
          <p:cNvPr id="800" name="Google Shape;800;p43"/>
          <p:cNvCxnSpPr>
            <a:stCxn id="797" idx="2"/>
            <a:endCxn id="798" idx="0"/>
          </p:cNvCxnSpPr>
          <p:nvPr/>
        </p:nvCxnSpPr>
        <p:spPr>
          <a:xfrm>
            <a:off x="1325880" y="3648456"/>
            <a:ext cx="0" cy="237600"/>
          </a:xfrm>
          <a:prstGeom prst="straightConnector1">
            <a:avLst/>
          </a:prstGeom>
          <a:noFill/>
          <a:ln cap="flat" cmpd="sng" w="15875">
            <a:solidFill>
              <a:srgbClr val="0B2F5B"/>
            </a:solidFill>
            <a:prstDash val="solid"/>
            <a:round/>
            <a:headEnd len="sm" w="sm" type="none"/>
            <a:tailEnd len="med" w="med" type="triangle"/>
          </a:ln>
        </p:spPr>
      </p:cxnSp>
      <p:sp>
        <p:nvSpPr>
          <p:cNvPr id="801" name="Google Shape;801;p43"/>
          <p:cNvSpPr txBox="1"/>
          <p:nvPr/>
        </p:nvSpPr>
        <p:spPr>
          <a:xfrm>
            <a:off x="594360" y="4956048"/>
            <a:ext cx="1463039"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5F6B7A"/>
                </a:solidFill>
                <a:latin typeface="Montserrat"/>
                <a:ea typeface="Montserrat"/>
                <a:cs typeface="Montserrat"/>
                <a:sym typeface="Montserrat"/>
              </a:rPr>
              <a:t>STORED ON THE PHONE</a:t>
            </a:r>
            <a:endParaRPr/>
          </a:p>
        </p:txBody>
      </p:sp>
      <p:sp>
        <p:nvSpPr>
          <p:cNvPr id="802" name="Google Shape;802;p43"/>
          <p:cNvSpPr/>
          <p:nvPr/>
        </p:nvSpPr>
        <p:spPr>
          <a:xfrm>
            <a:off x="594360" y="5193792"/>
            <a:ext cx="567089"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Serial No</a:t>
            </a:r>
            <a:endParaRPr/>
          </a:p>
        </p:txBody>
      </p:sp>
      <p:sp>
        <p:nvSpPr>
          <p:cNvPr id="803" name="Google Shape;803;p43"/>
          <p:cNvSpPr/>
          <p:nvPr/>
        </p:nvSpPr>
        <p:spPr>
          <a:xfrm>
            <a:off x="1216313" y="5193792"/>
            <a:ext cx="477820"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NMI No</a:t>
            </a:r>
            <a:endParaRPr/>
          </a:p>
        </p:txBody>
      </p:sp>
      <p:sp>
        <p:nvSpPr>
          <p:cNvPr id="804" name="Google Shape;804;p43"/>
          <p:cNvSpPr/>
          <p:nvPr/>
        </p:nvSpPr>
        <p:spPr>
          <a:xfrm>
            <a:off x="594360" y="5431536"/>
            <a:ext cx="623114"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Model info</a:t>
            </a:r>
            <a:endParaRPr/>
          </a:p>
        </p:txBody>
      </p:sp>
      <p:sp>
        <p:nvSpPr>
          <p:cNvPr id="805" name="Google Shape;805;p43"/>
          <p:cNvSpPr/>
          <p:nvPr/>
        </p:nvSpPr>
        <p:spPr>
          <a:xfrm>
            <a:off x="594360" y="5669279"/>
            <a:ext cx="904323"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Firmware binary</a:t>
            </a:r>
            <a:endParaRPr/>
          </a:p>
        </p:txBody>
      </p:sp>
      <p:sp>
        <p:nvSpPr>
          <p:cNvPr id="806" name="Google Shape;806;p43"/>
          <p:cNvSpPr/>
          <p:nvPr/>
        </p:nvSpPr>
        <p:spPr>
          <a:xfrm>
            <a:off x="2560320" y="3886200"/>
            <a:ext cx="1371600" cy="868680"/>
          </a:xfrm>
          <a:prstGeom prst="roundRect">
            <a:avLst>
              <a:gd fmla="val 6315" name="adj"/>
            </a:avLst>
          </a:prstGeom>
          <a:solidFill>
            <a:srgbClr val="FFFFFF"/>
          </a:solidFill>
          <a:ln cap="flat" cmpd="sng" w="12700">
            <a:solidFill>
              <a:srgbClr val="1565C0"/>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ESS row tap</a:t>
            </a:r>
            <a:endParaRPr/>
          </a:p>
          <a:p>
            <a:pPr indent="0" lvl="0" marL="0" marR="0" rtl="0" algn="ctr">
              <a:lnSpc>
                <a:spcPct val="100000"/>
              </a:lnSpc>
              <a:spcBef>
                <a:spcPts val="150"/>
              </a:spcBef>
              <a:spcAft>
                <a:spcPts val="0"/>
              </a:spcAft>
              <a:buNone/>
            </a:pPr>
            <a:r>
              <a:rPr b="0" lang="en-US" sz="950">
                <a:solidFill>
                  <a:srgbClr val="5F6B7A"/>
                </a:solidFill>
                <a:latin typeface="Barlow"/>
                <a:ea typeface="Barlow"/>
                <a:cs typeface="Barlow"/>
                <a:sym typeface="Barlow"/>
              </a:rPr>
              <a:t>Normal path: from the downloaded list</a:t>
            </a:r>
            <a:endParaRPr/>
          </a:p>
        </p:txBody>
      </p:sp>
      <p:sp>
        <p:nvSpPr>
          <p:cNvPr id="807" name="Google Shape;807;p43"/>
          <p:cNvSpPr/>
          <p:nvPr/>
        </p:nvSpPr>
        <p:spPr>
          <a:xfrm>
            <a:off x="2560320" y="4956048"/>
            <a:ext cx="1371600" cy="868680"/>
          </a:xfrm>
          <a:prstGeom prst="roundRect">
            <a:avLst>
              <a:gd fmla="val 6315" name="adj"/>
            </a:avLst>
          </a:prstGeom>
          <a:solidFill>
            <a:srgbClr val="FFF4E0"/>
          </a:solidFill>
          <a:ln cap="flat" cmpd="sng" w="12700">
            <a:solidFill>
              <a:srgbClr val="F0A93B"/>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9A5B00"/>
                </a:solidFill>
                <a:latin typeface="Montserrat"/>
                <a:ea typeface="Montserrat"/>
                <a:cs typeface="Montserrat"/>
                <a:sym typeface="Montserrat"/>
              </a:rPr>
              <a:t>Install Wizard (+)</a:t>
            </a:r>
            <a:endParaRPr/>
          </a:p>
          <a:p>
            <a:pPr indent="0" lvl="0" marL="0" marR="0" rtl="0" algn="ctr">
              <a:lnSpc>
                <a:spcPct val="100000"/>
              </a:lnSpc>
              <a:spcBef>
                <a:spcPts val="150"/>
              </a:spcBef>
              <a:spcAft>
                <a:spcPts val="0"/>
              </a:spcAft>
              <a:buNone/>
            </a:pPr>
            <a:r>
              <a:rPr b="0" lang="en-US" sz="950">
                <a:solidFill>
                  <a:srgbClr val="9A5B00"/>
                </a:solidFill>
                <a:latin typeface="Barlow"/>
                <a:ea typeface="Barlow"/>
                <a:cs typeface="Barlow"/>
                <a:sym typeface="Barlow"/>
              </a:rPr>
              <a:t>Exception path: manual Serial No or barcode scan</a:t>
            </a:r>
            <a:endParaRPr/>
          </a:p>
        </p:txBody>
      </p:sp>
      <p:sp>
        <p:nvSpPr>
          <p:cNvPr id="808" name="Google Shape;808;p43"/>
          <p:cNvSpPr/>
          <p:nvPr/>
        </p:nvSpPr>
        <p:spPr>
          <a:xfrm>
            <a:off x="4160520" y="3886200"/>
            <a:ext cx="1371600" cy="868680"/>
          </a:xfrm>
          <a:prstGeom prst="roundRect">
            <a:avLst>
              <a:gd fmla="val 6315" name="adj"/>
            </a:avLst>
          </a:prstGeom>
          <a:solidFill>
            <a:srgbClr val="FFFFFF"/>
          </a:solidFill>
          <a:ln cap="flat" cmpd="sng" w="12700">
            <a:solidFill>
              <a:srgbClr val="1565C0"/>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BLE 1:1 connect + bulk read</a:t>
            </a:r>
            <a:endParaRPr/>
          </a:p>
          <a:p>
            <a:pPr indent="0" lvl="0" marL="0" marR="0" rtl="0" algn="ctr">
              <a:lnSpc>
                <a:spcPct val="100000"/>
              </a:lnSpc>
              <a:spcBef>
                <a:spcPts val="150"/>
              </a:spcBef>
              <a:spcAft>
                <a:spcPts val="0"/>
              </a:spcAft>
              <a:buNone/>
            </a:pPr>
            <a:r>
              <a:rPr b="0" lang="en-US" sz="950">
                <a:solidFill>
                  <a:srgbClr val="5F6B7A"/>
                </a:solidFill>
                <a:latin typeface="Barlow"/>
                <a:ea typeface="Barlow"/>
                <a:cs typeface="Barlow"/>
                <a:sym typeface="Barlow"/>
              </a:rPr>
              <a:t>UI lock (modal block)</a:t>
            </a:r>
            <a:endParaRPr/>
          </a:p>
        </p:txBody>
      </p:sp>
      <p:sp>
        <p:nvSpPr>
          <p:cNvPr id="809" name="Google Shape;809;p43"/>
          <p:cNvSpPr/>
          <p:nvPr/>
        </p:nvSpPr>
        <p:spPr>
          <a:xfrm>
            <a:off x="5760720" y="3886200"/>
            <a:ext cx="1920240" cy="868680"/>
          </a:xfrm>
          <a:prstGeom prst="roundRect">
            <a:avLst>
              <a:gd fmla="val 6315" name="adj"/>
            </a:avLst>
          </a:prstGeom>
          <a:solidFill>
            <a:srgbClr val="FFFFFF"/>
          </a:solidFill>
          <a:ln cap="flat" cmpd="sng" w="12700">
            <a:solidFill>
              <a:srgbClr val="1565C0"/>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Device configuration</a:t>
            </a:r>
            <a:endParaRPr/>
          </a:p>
          <a:p>
            <a:pPr indent="0" lvl="0" marL="0" marR="0" rtl="0" algn="ctr">
              <a:lnSpc>
                <a:spcPct val="100000"/>
              </a:lnSpc>
              <a:spcBef>
                <a:spcPts val="150"/>
              </a:spcBef>
              <a:spcAft>
                <a:spcPts val="0"/>
              </a:spcAft>
              <a:buNone/>
            </a:pPr>
            <a:r>
              <a:rPr b="0" lang="en-US" sz="925">
                <a:solidFill>
                  <a:srgbClr val="5F6B7A"/>
                </a:solidFill>
                <a:latin typeface="Barlow"/>
                <a:ea typeface="Barlow"/>
                <a:cs typeface="Barlow"/>
                <a:sym typeface="Barlow"/>
              </a:rPr>
              <a:t>Off-Grid · Test Site · Energy Policy</a:t>
            </a:r>
            <a:endParaRPr/>
          </a:p>
          <a:p>
            <a:pPr indent="0" lvl="0" marL="0" marR="0" rtl="0" algn="ctr">
              <a:lnSpc>
                <a:spcPct val="100000"/>
              </a:lnSpc>
              <a:spcBef>
                <a:spcPts val="0"/>
              </a:spcBef>
              <a:spcAft>
                <a:spcPts val="0"/>
              </a:spcAft>
              <a:buNone/>
            </a:pPr>
            <a:r>
              <a:rPr b="0" lang="en-US" sz="925">
                <a:solidFill>
                  <a:srgbClr val="5F6B7A"/>
                </a:solidFill>
                <a:latin typeface="Barlow"/>
                <a:ea typeface="Barlow"/>
                <a:cs typeface="Barlow"/>
                <a:sym typeface="Barlow"/>
              </a:rPr>
              <a:t>Pricing · NMI No</a:t>
            </a:r>
            <a:endParaRPr/>
          </a:p>
        </p:txBody>
      </p:sp>
      <p:sp>
        <p:nvSpPr>
          <p:cNvPr id="810" name="Google Shape;810;p43"/>
          <p:cNvSpPr/>
          <p:nvPr/>
        </p:nvSpPr>
        <p:spPr>
          <a:xfrm>
            <a:off x="7909560" y="3886200"/>
            <a:ext cx="1051560" cy="868680"/>
          </a:xfrm>
          <a:prstGeom prst="roundRect">
            <a:avLst>
              <a:gd fmla="val 6315" name="adj"/>
            </a:avLst>
          </a:prstGeom>
          <a:solidFill>
            <a:srgbClr val="E6F4EA"/>
          </a:solidFill>
          <a:ln cap="flat" cmpd="sng" w="12700">
            <a:solidFill>
              <a:srgbClr val="8CC9A6"/>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1E7B4F"/>
                </a:solidFill>
                <a:latin typeface="Montserrat"/>
                <a:ea typeface="Montserrat"/>
                <a:cs typeface="Montserrat"/>
                <a:sym typeface="Montserrat"/>
              </a:rPr>
              <a:t>Apply → Run</a:t>
            </a:r>
            <a:endParaRPr/>
          </a:p>
          <a:p>
            <a:pPr indent="0" lvl="0" marL="0" marR="0" rtl="0" algn="ctr">
              <a:lnSpc>
                <a:spcPct val="100000"/>
              </a:lnSpc>
              <a:spcBef>
                <a:spcPts val="150"/>
              </a:spcBef>
              <a:spcAft>
                <a:spcPts val="0"/>
              </a:spcAft>
              <a:buNone/>
            </a:pPr>
            <a:r>
              <a:rPr b="0" lang="en-US" sz="950">
                <a:solidFill>
                  <a:srgbClr val="1E7B4F"/>
                </a:solidFill>
                <a:latin typeface="Barlow"/>
                <a:ea typeface="Barlow"/>
                <a:cs typeface="Barlow"/>
                <a:sym typeface="Barlow"/>
              </a:rPr>
              <a:t>Security lockdown</a:t>
            </a:r>
            <a:endParaRPr/>
          </a:p>
        </p:txBody>
      </p:sp>
      <p:cxnSp>
        <p:nvCxnSpPr>
          <p:cNvPr id="811" name="Google Shape;811;p43"/>
          <p:cNvCxnSpPr>
            <a:stCxn id="798" idx="3"/>
            <a:endCxn id="806" idx="1"/>
          </p:cNvCxnSpPr>
          <p:nvPr/>
        </p:nvCxnSpPr>
        <p:spPr>
          <a:xfrm>
            <a:off x="2057399" y="4320540"/>
            <a:ext cx="502800" cy="0"/>
          </a:xfrm>
          <a:prstGeom prst="straightConnector1">
            <a:avLst/>
          </a:prstGeom>
          <a:noFill/>
          <a:ln cap="flat" cmpd="sng" w="15875">
            <a:solidFill>
              <a:srgbClr val="0B2F5B"/>
            </a:solidFill>
            <a:prstDash val="solid"/>
            <a:round/>
            <a:headEnd len="sm" w="sm" type="none"/>
            <a:tailEnd len="med" w="med" type="triangle"/>
          </a:ln>
        </p:spPr>
      </p:cxnSp>
      <p:sp>
        <p:nvSpPr>
          <p:cNvPr id="812" name="Google Shape;812;p43"/>
          <p:cNvSpPr/>
          <p:nvPr/>
        </p:nvSpPr>
        <p:spPr>
          <a:xfrm>
            <a:off x="2363724" y="4320540"/>
            <a:ext cx="196596" cy="1069848"/>
          </a:xfrm>
          <a:custGeom>
            <a:rect b="b" l="l" r="r" t="t"/>
            <a:pathLst>
              <a:path extrusionOk="0" h="1069848" w="196596">
                <a:moveTo>
                  <a:pt x="0" y="0"/>
                </a:moveTo>
                <a:lnTo>
                  <a:pt x="0" y="1069848"/>
                </a:lnTo>
                <a:lnTo>
                  <a:pt x="196596" y="1069848"/>
                </a:lnTo>
              </a:path>
            </a:pathLst>
          </a:custGeom>
          <a:noFill/>
          <a:ln cap="flat" cmpd="sng" w="15875">
            <a:solidFill>
              <a:srgbClr val="F0A93B"/>
            </a:solidFill>
            <a:prstDash val="dash"/>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13" name="Google Shape;813;p43"/>
          <p:cNvCxnSpPr>
            <a:stCxn id="806" idx="3"/>
            <a:endCxn id="808" idx="1"/>
          </p:cNvCxnSpPr>
          <p:nvPr/>
        </p:nvCxnSpPr>
        <p:spPr>
          <a:xfrm>
            <a:off x="3931920" y="4320540"/>
            <a:ext cx="228600" cy="0"/>
          </a:xfrm>
          <a:prstGeom prst="straightConnector1">
            <a:avLst/>
          </a:prstGeom>
          <a:noFill/>
          <a:ln cap="flat" cmpd="sng" w="15875">
            <a:solidFill>
              <a:srgbClr val="1565C0"/>
            </a:solidFill>
            <a:prstDash val="solid"/>
            <a:round/>
            <a:headEnd len="sm" w="sm" type="none"/>
            <a:tailEnd len="med" w="med" type="triangle"/>
          </a:ln>
        </p:spPr>
      </p:cxnSp>
      <p:sp>
        <p:nvSpPr>
          <p:cNvPr id="814" name="Google Shape;814;p43"/>
          <p:cNvSpPr/>
          <p:nvPr/>
        </p:nvSpPr>
        <p:spPr>
          <a:xfrm>
            <a:off x="3931920" y="4754880"/>
            <a:ext cx="914400" cy="635508"/>
          </a:xfrm>
          <a:custGeom>
            <a:rect b="b" l="l" r="r" t="t"/>
            <a:pathLst>
              <a:path extrusionOk="0" h="635508" w="914400">
                <a:moveTo>
                  <a:pt x="0" y="635508"/>
                </a:moveTo>
                <a:lnTo>
                  <a:pt x="914400" y="635508"/>
                </a:lnTo>
                <a:lnTo>
                  <a:pt x="914400" y="0"/>
                </a:lnTo>
              </a:path>
            </a:pathLst>
          </a:custGeom>
          <a:noFill/>
          <a:ln cap="flat" cmpd="sng" w="15875">
            <a:solidFill>
              <a:srgbClr val="F0A93B"/>
            </a:solidFill>
            <a:prstDash val="dash"/>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15" name="Google Shape;815;p43"/>
          <p:cNvCxnSpPr>
            <a:stCxn id="808" idx="3"/>
            <a:endCxn id="809" idx="1"/>
          </p:cNvCxnSpPr>
          <p:nvPr/>
        </p:nvCxnSpPr>
        <p:spPr>
          <a:xfrm>
            <a:off x="5532120" y="4320540"/>
            <a:ext cx="228600" cy="0"/>
          </a:xfrm>
          <a:prstGeom prst="straightConnector1">
            <a:avLst/>
          </a:prstGeom>
          <a:noFill/>
          <a:ln cap="flat" cmpd="sng" w="15875">
            <a:solidFill>
              <a:srgbClr val="1565C0"/>
            </a:solidFill>
            <a:prstDash val="solid"/>
            <a:round/>
            <a:headEnd len="sm" w="sm" type="none"/>
            <a:tailEnd len="med" w="med" type="triangle"/>
          </a:ln>
        </p:spPr>
      </p:cxnSp>
      <p:cxnSp>
        <p:nvCxnSpPr>
          <p:cNvPr id="816" name="Google Shape;816;p43"/>
          <p:cNvCxnSpPr>
            <a:stCxn id="809" idx="3"/>
            <a:endCxn id="810" idx="1"/>
          </p:cNvCxnSpPr>
          <p:nvPr/>
        </p:nvCxnSpPr>
        <p:spPr>
          <a:xfrm>
            <a:off x="7680960" y="4320540"/>
            <a:ext cx="228600" cy="0"/>
          </a:xfrm>
          <a:prstGeom prst="straightConnector1">
            <a:avLst/>
          </a:prstGeom>
          <a:noFill/>
          <a:ln cap="flat" cmpd="sng" w="15875">
            <a:solidFill>
              <a:srgbClr val="1565C0"/>
            </a:solidFill>
            <a:prstDash val="solid"/>
            <a:round/>
            <a:headEnd len="sm" w="sm" type="none"/>
            <a:tailEnd len="med" w="med" type="triangle"/>
          </a:ln>
        </p:spPr>
      </p:cxnSp>
      <p:cxnSp>
        <p:nvCxnSpPr>
          <p:cNvPr id="817" name="Google Shape;817;p43"/>
          <p:cNvCxnSpPr/>
          <p:nvPr/>
        </p:nvCxnSpPr>
        <p:spPr>
          <a:xfrm>
            <a:off x="5806440" y="5230368"/>
            <a:ext cx="457200" cy="0"/>
          </a:xfrm>
          <a:prstGeom prst="straightConnector1">
            <a:avLst/>
          </a:prstGeom>
          <a:noFill/>
          <a:ln cap="flat" cmpd="sng" w="15875">
            <a:solidFill>
              <a:srgbClr val="1565C0"/>
            </a:solidFill>
            <a:prstDash val="solid"/>
            <a:round/>
            <a:headEnd len="sm" w="sm" type="none"/>
            <a:tailEnd len="med" w="med" type="triangle"/>
          </a:ln>
        </p:spPr>
      </p:cxnSp>
      <p:sp>
        <p:nvSpPr>
          <p:cNvPr id="818" name="Google Shape;818;p43"/>
          <p:cNvSpPr txBox="1"/>
          <p:nvPr/>
        </p:nvSpPr>
        <p:spPr>
          <a:xfrm>
            <a:off x="6355080" y="5138928"/>
            <a:ext cx="1463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Normal path</a:t>
            </a:r>
            <a:endParaRPr/>
          </a:p>
        </p:txBody>
      </p:sp>
      <p:cxnSp>
        <p:nvCxnSpPr>
          <p:cNvPr id="819" name="Google Shape;819;p43"/>
          <p:cNvCxnSpPr/>
          <p:nvPr/>
        </p:nvCxnSpPr>
        <p:spPr>
          <a:xfrm>
            <a:off x="5806440" y="5504688"/>
            <a:ext cx="457200" cy="0"/>
          </a:xfrm>
          <a:prstGeom prst="straightConnector1">
            <a:avLst/>
          </a:prstGeom>
          <a:noFill/>
          <a:ln cap="flat" cmpd="sng" w="15875">
            <a:solidFill>
              <a:srgbClr val="F0A93B"/>
            </a:solidFill>
            <a:prstDash val="dash"/>
            <a:round/>
            <a:headEnd len="sm" w="sm" type="none"/>
            <a:tailEnd len="med" w="med" type="triangle"/>
          </a:ln>
        </p:spPr>
      </p:cxnSp>
      <p:sp>
        <p:nvSpPr>
          <p:cNvPr id="820" name="Google Shape;820;p43"/>
          <p:cNvSpPr txBox="1"/>
          <p:nvPr/>
        </p:nvSpPr>
        <p:spPr>
          <a:xfrm>
            <a:off x="6355080" y="5413248"/>
            <a:ext cx="2468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Exception path (unit not in the download)</a:t>
            </a:r>
            <a:endParaRPr/>
          </a:p>
        </p:txBody>
      </p:sp>
      <p:sp>
        <p:nvSpPr>
          <p:cNvPr id="821" name="Google Shape;821;p43"/>
          <p:cNvSpPr/>
          <p:nvPr/>
        </p:nvSpPr>
        <p:spPr>
          <a:xfrm>
            <a:off x="2880360" y="2212848"/>
            <a:ext cx="566928" cy="566928"/>
          </a:xfrm>
          <a:prstGeom prst="roundRect">
            <a:avLst>
              <a:gd fmla="val 8064"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nstaller app on the phone" id="822" name="Google Shape;822;p43"/>
          <p:cNvPicPr preferRelativeResize="0"/>
          <p:nvPr/>
        </p:nvPicPr>
        <p:blipFill rotWithShape="1">
          <a:blip r:embed="rId3">
            <a:alphaModFix/>
          </a:blip>
          <a:srcRect b="0" l="0" r="0" t="0"/>
          <a:stretch/>
        </p:blipFill>
        <p:spPr>
          <a:xfrm>
            <a:off x="3005084" y="2337572"/>
            <a:ext cx="317479" cy="317479"/>
          </a:xfrm>
          <a:prstGeom prst="rect">
            <a:avLst/>
          </a:prstGeom>
          <a:noFill/>
          <a:ln>
            <a:noFill/>
          </a:ln>
        </p:spPr>
      </p:pic>
      <p:sp>
        <p:nvSpPr>
          <p:cNvPr id="823" name="Google Shape;823;p43"/>
          <p:cNvSpPr/>
          <p:nvPr/>
        </p:nvSpPr>
        <p:spPr>
          <a:xfrm>
            <a:off x="8092440" y="2212848"/>
            <a:ext cx="566928" cy="566928"/>
          </a:xfrm>
          <a:prstGeom prst="roundRect">
            <a:avLst>
              <a:gd fmla="val 8064"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ORE Pro ESS" id="824" name="Google Shape;824;p43"/>
          <p:cNvPicPr preferRelativeResize="0"/>
          <p:nvPr/>
        </p:nvPicPr>
        <p:blipFill rotWithShape="1">
          <a:blip r:embed="rId4">
            <a:alphaModFix/>
          </a:blip>
          <a:srcRect b="0" l="0" r="0" t="0"/>
          <a:stretch/>
        </p:blipFill>
        <p:spPr>
          <a:xfrm>
            <a:off x="8217164" y="2337572"/>
            <a:ext cx="317479" cy="317479"/>
          </a:xfrm>
          <a:prstGeom prst="rect">
            <a:avLst/>
          </a:prstGeom>
          <a:noFill/>
          <a:ln>
            <a:noFill/>
          </a:ln>
        </p:spPr>
      </p:pic>
      <p:sp>
        <p:nvSpPr>
          <p:cNvPr id="825" name="Google Shape;825;p43"/>
          <p:cNvSpPr txBox="1"/>
          <p:nvPr/>
        </p:nvSpPr>
        <p:spPr>
          <a:xfrm>
            <a:off x="2423160" y="2825496"/>
            <a:ext cx="1481328"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Installer app</a:t>
            </a:r>
            <a:endParaRPr/>
          </a:p>
        </p:txBody>
      </p:sp>
      <p:sp>
        <p:nvSpPr>
          <p:cNvPr id="826" name="Google Shape;826;p43"/>
          <p:cNvSpPr txBox="1"/>
          <p:nvPr/>
        </p:nvSpPr>
        <p:spPr>
          <a:xfrm>
            <a:off x="7635240" y="2825496"/>
            <a:ext cx="1481328"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CORE Pro ESS</a:t>
            </a:r>
            <a:endParaRPr/>
          </a:p>
        </p:txBody>
      </p:sp>
      <p:cxnSp>
        <p:nvCxnSpPr>
          <p:cNvPr id="827" name="Google Shape;827;p43"/>
          <p:cNvCxnSpPr/>
          <p:nvPr/>
        </p:nvCxnSpPr>
        <p:spPr>
          <a:xfrm>
            <a:off x="3557016" y="2395728"/>
            <a:ext cx="4425696" cy="0"/>
          </a:xfrm>
          <a:prstGeom prst="straightConnector1">
            <a:avLst/>
          </a:prstGeom>
          <a:noFill/>
          <a:ln cap="flat" cmpd="sng" w="22225">
            <a:solidFill>
              <a:srgbClr val="1565C0"/>
            </a:solidFill>
            <a:prstDash val="solid"/>
            <a:round/>
            <a:headEnd len="med" w="med" type="triangle"/>
            <a:tailEnd len="med" w="med" type="triangle"/>
          </a:ln>
        </p:spPr>
      </p:cxnSp>
      <p:cxnSp>
        <p:nvCxnSpPr>
          <p:cNvPr id="828" name="Google Shape;828;p43"/>
          <p:cNvCxnSpPr/>
          <p:nvPr/>
        </p:nvCxnSpPr>
        <p:spPr>
          <a:xfrm>
            <a:off x="3557016" y="2633472"/>
            <a:ext cx="4425696" cy="0"/>
          </a:xfrm>
          <a:prstGeom prst="straightConnector1">
            <a:avLst/>
          </a:prstGeom>
          <a:noFill/>
          <a:ln cap="flat" cmpd="sng" w="22225">
            <a:solidFill>
              <a:srgbClr val="1565C0"/>
            </a:solidFill>
            <a:prstDash val="dash"/>
            <a:round/>
            <a:headEnd len="sm" w="sm" type="none"/>
            <a:tailEnd len="med" w="med" type="triangle"/>
          </a:ln>
        </p:spPr>
      </p:cxnSp>
      <p:sp>
        <p:nvSpPr>
          <p:cNvPr id="829" name="Google Shape;829;p43"/>
          <p:cNvSpPr txBox="1"/>
          <p:nvPr/>
        </p:nvSpPr>
        <p:spPr>
          <a:xfrm>
            <a:off x="3941063" y="2121408"/>
            <a:ext cx="36576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00">
                <a:solidFill>
                  <a:srgbClr val="0B2F5B"/>
                </a:solidFill>
                <a:latin typeface="Barlow"/>
                <a:ea typeface="Barlow"/>
                <a:cs typeface="Barlow"/>
                <a:sym typeface="Barlow"/>
              </a:rPr>
              <a:t>BLE 1:1 direct link · all configuration I/O</a:t>
            </a:r>
            <a:endParaRPr/>
          </a:p>
        </p:txBody>
      </p:sp>
      <p:sp>
        <p:nvSpPr>
          <p:cNvPr id="830" name="Google Shape;830;p43"/>
          <p:cNvSpPr txBox="1"/>
          <p:nvPr/>
        </p:nvSpPr>
        <p:spPr>
          <a:xfrm>
            <a:off x="3941063" y="2697480"/>
            <a:ext cx="36576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00">
                <a:solidFill>
                  <a:srgbClr val="0B2F5B"/>
                </a:solidFill>
                <a:latin typeface="Barlow"/>
                <a:ea typeface="Barlow"/>
                <a:cs typeface="Barlow"/>
                <a:sym typeface="Barlow"/>
              </a:rPr>
              <a:t>ESS built-in Wi-Fi, 1:1 · firmware update</a:t>
            </a:r>
            <a:endParaRPr/>
          </a:p>
        </p:txBody>
      </p:sp>
      <p:sp>
        <p:nvSpPr>
          <p:cNvPr id="831" name="Google Shape;831;p43"/>
          <p:cNvSpPr txBox="1"/>
          <p:nvPr/>
        </p:nvSpPr>
        <p:spPr>
          <a:xfrm>
            <a:off x="3392423" y="3108960"/>
            <a:ext cx="475488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1" lang="en-US" sz="950">
                <a:solidFill>
                  <a:srgbClr val="5F6B7A"/>
                </a:solidFill>
                <a:latin typeface="Barlow"/>
                <a:ea typeface="Barlow"/>
                <a:cs typeface="Barlow"/>
                <a:sym typeface="Barlow"/>
              </a:rPr>
              <a:t>Works on the device's own data, with no server round trips</a:t>
            </a:r>
            <a:endParaRPr/>
          </a:p>
        </p:txBody>
      </p:sp>
      <p:sp>
        <p:nvSpPr>
          <p:cNvPr id="832" name="Google Shape;832;p43"/>
          <p:cNvSpPr/>
          <p:nvPr/>
        </p:nvSpPr>
        <p:spPr>
          <a:xfrm>
            <a:off x="9464040" y="3886200"/>
            <a:ext cx="1828799" cy="868680"/>
          </a:xfrm>
          <a:prstGeom prst="roundRect">
            <a:avLst>
              <a:gd fmla="val 6315" name="adj"/>
            </a:avLst>
          </a:prstGeom>
          <a:solidFill>
            <a:srgbClr val="FFFFFF"/>
          </a:solidFill>
          <a:ln cap="flat" cmpd="sng" w="12700">
            <a:solidFill>
              <a:srgbClr val="0B2F5B"/>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Local database</a:t>
            </a:r>
            <a:endParaRPr/>
          </a:p>
          <a:p>
            <a:pPr indent="0" lvl="0" marL="0" marR="0" rtl="0" algn="ctr">
              <a:lnSpc>
                <a:spcPct val="100000"/>
              </a:lnSpc>
              <a:spcBef>
                <a:spcPts val="150"/>
              </a:spcBef>
              <a:spcAft>
                <a:spcPts val="0"/>
              </a:spcAft>
              <a:buNone/>
            </a:pPr>
            <a:r>
              <a:rPr b="0" lang="en-US" sz="950">
                <a:solidFill>
                  <a:srgbClr val="5F6B7A"/>
                </a:solidFill>
                <a:latin typeface="Barlow"/>
                <a:ea typeface="Barlow"/>
                <a:cs typeface="Barlow"/>
                <a:sym typeface="Barlow"/>
              </a:rPr>
              <a:t>Change history, one unique ID per change</a:t>
            </a:r>
            <a:endParaRPr/>
          </a:p>
        </p:txBody>
      </p:sp>
      <p:sp>
        <p:nvSpPr>
          <p:cNvPr id="833" name="Google Shape;833;p43"/>
          <p:cNvSpPr/>
          <p:nvPr/>
        </p:nvSpPr>
        <p:spPr>
          <a:xfrm>
            <a:off x="9464040" y="2286000"/>
            <a:ext cx="1828799" cy="868680"/>
          </a:xfrm>
          <a:prstGeom prst="roundRect">
            <a:avLst>
              <a:gd fmla="val 6315" name="adj"/>
            </a:avLst>
          </a:prstGeom>
          <a:solidFill>
            <a:srgbClr val="0B2F5B"/>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Cloud sync</a:t>
            </a:r>
            <a:endParaRPr/>
          </a:p>
          <a:p>
            <a:pPr indent="0" lvl="0" marL="0" marR="0" rtl="0" algn="ctr">
              <a:lnSpc>
                <a:spcPct val="100000"/>
              </a:lnSpc>
              <a:spcBef>
                <a:spcPts val="150"/>
              </a:spcBef>
              <a:spcAft>
                <a:spcPts val="0"/>
              </a:spcAft>
              <a:buNone/>
            </a:pPr>
            <a:r>
              <a:rPr b="0" lang="en-US" sz="950">
                <a:solidFill>
                  <a:srgbClr val="A9C7EA"/>
                </a:solidFill>
                <a:latin typeface="Barlow"/>
                <a:ea typeface="Barlow"/>
                <a:cs typeface="Barlow"/>
                <a:sym typeface="Barlow"/>
              </a:rPr>
              <a:t>Applied without duplicates</a:t>
            </a:r>
            <a:endParaRPr/>
          </a:p>
        </p:txBody>
      </p:sp>
      <p:cxnSp>
        <p:nvCxnSpPr>
          <p:cNvPr id="834" name="Google Shape;834;p43"/>
          <p:cNvCxnSpPr>
            <a:stCxn id="810" idx="3"/>
            <a:endCxn id="832" idx="1"/>
          </p:cNvCxnSpPr>
          <p:nvPr/>
        </p:nvCxnSpPr>
        <p:spPr>
          <a:xfrm>
            <a:off x="8961120" y="4320540"/>
            <a:ext cx="502800" cy="0"/>
          </a:xfrm>
          <a:prstGeom prst="straightConnector1">
            <a:avLst/>
          </a:prstGeom>
          <a:noFill/>
          <a:ln cap="flat" cmpd="sng" w="15875">
            <a:solidFill>
              <a:srgbClr val="0B2F5B"/>
            </a:solidFill>
            <a:prstDash val="solid"/>
            <a:round/>
            <a:headEnd len="sm" w="sm" type="none"/>
            <a:tailEnd len="med" w="med" type="triangle"/>
          </a:ln>
        </p:spPr>
      </p:cxnSp>
      <p:cxnSp>
        <p:nvCxnSpPr>
          <p:cNvPr id="835" name="Google Shape;835;p43"/>
          <p:cNvCxnSpPr>
            <a:stCxn id="832" idx="0"/>
            <a:endCxn id="833" idx="2"/>
          </p:cNvCxnSpPr>
          <p:nvPr/>
        </p:nvCxnSpPr>
        <p:spPr>
          <a:xfrm rot="10800000">
            <a:off x="10378440" y="3154800"/>
            <a:ext cx="0" cy="731400"/>
          </a:xfrm>
          <a:prstGeom prst="straightConnector1">
            <a:avLst/>
          </a:prstGeom>
          <a:noFill/>
          <a:ln cap="flat" cmpd="sng" w="15875">
            <a:solidFill>
              <a:srgbClr val="0B2F5B"/>
            </a:solidFill>
            <a:prstDash val="solid"/>
            <a:round/>
            <a:headEnd len="sm" w="sm" type="none"/>
            <a:tailEnd len="med" w="med" type="triangle"/>
          </a:ln>
        </p:spPr>
      </p:cxnSp>
      <p:sp>
        <p:nvSpPr>
          <p:cNvPr id="836" name="Google Shape;836;p43"/>
          <p:cNvSpPr/>
          <p:nvPr/>
        </p:nvSpPr>
        <p:spPr>
          <a:xfrm>
            <a:off x="9829800" y="3410712"/>
            <a:ext cx="1097280" cy="201168"/>
          </a:xfrm>
          <a:prstGeom prst="rect">
            <a:avLst/>
          </a:prstGeom>
          <a:solidFill>
            <a:srgbClr val="F5F8FC"/>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900">
                <a:solidFill>
                  <a:srgbClr val="0B2F5B"/>
                </a:solidFill>
                <a:latin typeface="Barlow"/>
                <a:ea typeface="Barlow"/>
                <a:cs typeface="Barlow"/>
                <a:sym typeface="Barlow"/>
              </a:rPr>
              <a:t>Network restored</a:t>
            </a:r>
            <a:endParaRPr/>
          </a:p>
        </p:txBody>
      </p:sp>
      <p:sp>
        <p:nvSpPr>
          <p:cNvPr id="837" name="Google Shape;837;p43"/>
          <p:cNvSpPr txBox="1"/>
          <p:nvPr/>
        </p:nvSpPr>
        <p:spPr>
          <a:xfrm>
            <a:off x="9464040" y="4956048"/>
            <a:ext cx="182879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750">
                <a:solidFill>
                  <a:srgbClr val="5F6B7A"/>
                </a:solidFill>
                <a:latin typeface="Montserrat"/>
                <a:ea typeface="Montserrat"/>
                <a:cs typeface="Montserrat"/>
                <a:sym typeface="Montserrat"/>
              </a:rPr>
              <a:t>AT APPLY</a:t>
            </a:r>
            <a:endParaRPr/>
          </a:p>
          <a:p>
            <a:pPr indent="0" lvl="0" marL="0" marR="0" rtl="0" algn="l">
              <a:lnSpc>
                <a:spcPct val="100000"/>
              </a:lnSpc>
              <a:spcBef>
                <a:spcPts val="300"/>
              </a:spcBef>
              <a:spcAft>
                <a:spcPts val="0"/>
              </a:spcAft>
              <a:buNone/>
            </a:pPr>
            <a:r>
              <a:rPr b="0" lang="en-US" sz="950">
                <a:solidFill>
                  <a:srgbClr val="1F2A37"/>
                </a:solidFill>
                <a:latin typeface="Barlow"/>
                <a:ea typeface="Barlow"/>
                <a:cs typeface="Barlow"/>
                <a:sym typeface="Barlow"/>
              </a:rPr>
              <a:t>The device state is confirmed as Incomplete → Run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44"/>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KEY STATES AND PERMISSIONS</a:t>
            </a:r>
            <a:endParaRPr/>
          </a:p>
        </p:txBody>
      </p:sp>
      <p:sp>
        <p:nvSpPr>
          <p:cNvPr id="844" name="Google Shape;844;p44"/>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Four device states decide what the installer can see and change</a:t>
            </a:r>
            <a:endParaRPr/>
          </a:p>
        </p:txBody>
      </p:sp>
      <p:sp>
        <p:nvSpPr>
          <p:cNvPr id="845" name="Google Shape;845;p44"/>
          <p:cNvSpPr txBox="1"/>
          <p:nvPr/>
        </p:nvSpPr>
        <p:spPr>
          <a:xfrm>
            <a:off x="457200" y="1216152"/>
            <a:ext cx="5486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ESS STATE TRANSITIONS</a:t>
            </a:r>
            <a:endParaRPr/>
          </a:p>
        </p:txBody>
      </p:sp>
      <p:sp>
        <p:nvSpPr>
          <p:cNvPr id="846" name="Google Shape;846;p44"/>
          <p:cNvSpPr/>
          <p:nvPr/>
        </p:nvSpPr>
        <p:spPr>
          <a:xfrm>
            <a:off x="731520" y="2606040"/>
            <a:ext cx="1600200" cy="822960"/>
          </a:xfrm>
          <a:prstGeom prst="roundRect">
            <a:avLst>
              <a:gd fmla="val 6666" name="adj"/>
            </a:avLst>
          </a:prstGeom>
          <a:solidFill>
            <a:srgbClr val="F5F8FC"/>
          </a:solidFill>
          <a:ln cap="flat" cmpd="sng" w="12700">
            <a:solidFill>
              <a:srgbClr val="5F6B7A"/>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1F2A37"/>
                </a:solidFill>
                <a:latin typeface="Montserrat"/>
                <a:ea typeface="Montserrat"/>
                <a:cs typeface="Montserrat"/>
                <a:sym typeface="Montserrat"/>
              </a:rPr>
              <a:t>Incomplete</a:t>
            </a:r>
            <a:endParaRPr/>
          </a:p>
          <a:p>
            <a:pPr indent="0" lvl="0" marL="0" marR="0" rtl="0" algn="ctr">
              <a:lnSpc>
                <a:spcPct val="100000"/>
              </a:lnSpc>
              <a:spcBef>
                <a:spcPts val="150"/>
              </a:spcBef>
              <a:spcAft>
                <a:spcPts val="0"/>
              </a:spcAft>
              <a:buNone/>
            </a:pPr>
            <a:r>
              <a:rPr b="0" lang="en-US" sz="950">
                <a:solidFill>
                  <a:srgbClr val="5F6B7A"/>
                </a:solidFill>
                <a:latin typeface="Barlow"/>
                <a:ea typeface="Barlow"/>
                <a:cs typeface="Barlow"/>
                <a:sym typeface="Barlow"/>
              </a:rPr>
              <a:t>Factory reset</a:t>
            </a:r>
            <a:endParaRPr/>
          </a:p>
          <a:p>
            <a:pPr indent="0" lvl="0" marL="0" marR="0" rtl="0" algn="ctr">
              <a:lnSpc>
                <a:spcPct val="100000"/>
              </a:lnSpc>
              <a:spcBef>
                <a:spcPts val="0"/>
              </a:spcBef>
              <a:spcAft>
                <a:spcPts val="0"/>
              </a:spcAft>
              <a:buNone/>
            </a:pPr>
            <a:r>
              <a:rPr b="0" lang="en-US" sz="950">
                <a:solidFill>
                  <a:srgbClr val="5F6B7A"/>
                </a:solidFill>
                <a:latin typeface="Barlow"/>
                <a:ea typeface="Barlow"/>
                <a:cs typeface="Barlow"/>
                <a:sym typeface="Barlow"/>
              </a:rPr>
              <a:t>Password bypass</a:t>
            </a:r>
            <a:endParaRPr/>
          </a:p>
        </p:txBody>
      </p:sp>
      <p:sp>
        <p:nvSpPr>
          <p:cNvPr id="847" name="Google Shape;847;p44"/>
          <p:cNvSpPr/>
          <p:nvPr/>
        </p:nvSpPr>
        <p:spPr>
          <a:xfrm>
            <a:off x="3429000" y="2606040"/>
            <a:ext cx="1600200" cy="822960"/>
          </a:xfrm>
          <a:prstGeom prst="roundRect">
            <a:avLst>
              <a:gd fmla="val 6666" name="adj"/>
            </a:avLst>
          </a:prstGeom>
          <a:solidFill>
            <a:srgbClr val="E6F4EA"/>
          </a:solidFill>
          <a:ln cap="flat" cmpd="sng" w="19050">
            <a:solidFill>
              <a:srgbClr val="1E7B4F"/>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1E7B4F"/>
                </a:solidFill>
                <a:latin typeface="Montserrat"/>
                <a:ea typeface="Montserrat"/>
                <a:cs typeface="Montserrat"/>
                <a:sym typeface="Montserrat"/>
              </a:rPr>
              <a:t>Run</a:t>
            </a:r>
            <a:endParaRPr/>
          </a:p>
          <a:p>
            <a:pPr indent="0" lvl="0" marL="0" marR="0" rtl="0" algn="ctr">
              <a:lnSpc>
                <a:spcPct val="100000"/>
              </a:lnSpc>
              <a:spcBef>
                <a:spcPts val="150"/>
              </a:spcBef>
              <a:spcAft>
                <a:spcPts val="0"/>
              </a:spcAft>
              <a:buNone/>
            </a:pPr>
            <a:r>
              <a:rPr b="0" lang="en-US" sz="950">
                <a:solidFill>
                  <a:srgbClr val="1E7B4F"/>
                </a:solidFill>
                <a:latin typeface="Barlow"/>
                <a:ea typeface="Barlow"/>
                <a:cs typeface="Barlow"/>
                <a:sym typeface="Barlow"/>
              </a:rPr>
              <a:t>Commercial operation</a:t>
            </a:r>
            <a:endParaRPr/>
          </a:p>
          <a:p>
            <a:pPr indent="0" lvl="0" marL="0" marR="0" rtl="0" algn="ctr">
              <a:lnSpc>
                <a:spcPct val="100000"/>
              </a:lnSpc>
              <a:spcBef>
                <a:spcPts val="0"/>
              </a:spcBef>
              <a:spcAft>
                <a:spcPts val="0"/>
              </a:spcAft>
              <a:buNone/>
            </a:pPr>
            <a:r>
              <a:rPr b="0" lang="en-US" sz="950">
                <a:solidFill>
                  <a:srgbClr val="1E7B4F"/>
                </a:solidFill>
                <a:latin typeface="Barlow"/>
                <a:ea typeface="Barlow"/>
                <a:cs typeface="Barlow"/>
                <a:sym typeface="Barlow"/>
              </a:rPr>
              <a:t>One-shot OTP to write</a:t>
            </a:r>
            <a:endParaRPr/>
          </a:p>
        </p:txBody>
      </p:sp>
      <p:sp>
        <p:nvSpPr>
          <p:cNvPr id="848" name="Google Shape;848;p44"/>
          <p:cNvSpPr/>
          <p:nvPr/>
        </p:nvSpPr>
        <p:spPr>
          <a:xfrm>
            <a:off x="5806440" y="1554480"/>
            <a:ext cx="1600200" cy="822960"/>
          </a:xfrm>
          <a:prstGeom prst="roundRect">
            <a:avLst>
              <a:gd fmla="val 6666" name="adj"/>
            </a:avLst>
          </a:prstGeom>
          <a:solidFill>
            <a:srgbClr val="FFF4E0"/>
          </a:solidFill>
          <a:ln cap="flat" cmpd="sng" w="12700">
            <a:solidFill>
              <a:srgbClr val="F0A93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9A5B00"/>
                </a:solidFill>
                <a:latin typeface="Montserrat"/>
                <a:ea typeface="Montserrat"/>
                <a:cs typeface="Montserrat"/>
                <a:sym typeface="Montserrat"/>
              </a:rPr>
              <a:t>Warning</a:t>
            </a:r>
            <a:endParaRPr/>
          </a:p>
          <a:p>
            <a:pPr indent="0" lvl="0" marL="0" marR="0" rtl="0" algn="ctr">
              <a:lnSpc>
                <a:spcPct val="100000"/>
              </a:lnSpc>
              <a:spcBef>
                <a:spcPts val="150"/>
              </a:spcBef>
              <a:spcAft>
                <a:spcPts val="0"/>
              </a:spcAft>
              <a:buNone/>
            </a:pPr>
            <a:r>
              <a:rPr b="0" lang="en-US" sz="950">
                <a:solidFill>
                  <a:srgbClr val="9A5B00"/>
                </a:solidFill>
                <a:latin typeface="Barlow"/>
                <a:ea typeface="Barlow"/>
                <a:cs typeface="Barlow"/>
                <a:sym typeface="Barlow"/>
              </a:rPr>
              <a:t>Self-diagnosis warning</a:t>
            </a:r>
            <a:endParaRPr/>
          </a:p>
          <a:p>
            <a:pPr indent="0" lvl="0" marL="0" marR="0" rtl="0" algn="ctr">
              <a:lnSpc>
                <a:spcPct val="100000"/>
              </a:lnSpc>
              <a:spcBef>
                <a:spcPts val="0"/>
              </a:spcBef>
              <a:spcAft>
                <a:spcPts val="0"/>
              </a:spcAft>
              <a:buNone/>
            </a:pPr>
            <a:r>
              <a:rPr b="0" lang="en-US" sz="950">
                <a:solidFill>
                  <a:srgbClr val="9A5B00"/>
                </a:solidFill>
                <a:latin typeface="Barlow"/>
                <a:ea typeface="Barlow"/>
                <a:cs typeface="Barlow"/>
                <a:sym typeface="Barlow"/>
              </a:rPr>
              <a:t>Keeps running</a:t>
            </a:r>
            <a:endParaRPr/>
          </a:p>
        </p:txBody>
      </p:sp>
      <p:sp>
        <p:nvSpPr>
          <p:cNvPr id="849" name="Google Shape;849;p44"/>
          <p:cNvSpPr/>
          <p:nvPr/>
        </p:nvSpPr>
        <p:spPr>
          <a:xfrm>
            <a:off x="5806440" y="3657600"/>
            <a:ext cx="1600200" cy="822960"/>
          </a:xfrm>
          <a:prstGeom prst="roundRect">
            <a:avLst>
              <a:gd fmla="val 6666" name="adj"/>
            </a:avLst>
          </a:prstGeom>
          <a:solidFill>
            <a:srgbClr val="FDECEA"/>
          </a:solidFill>
          <a:ln cap="flat" cmpd="sng" w="12700">
            <a:solidFill>
              <a:srgbClr val="E9A39D"/>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B3261E"/>
                </a:solidFill>
                <a:latin typeface="Montserrat"/>
                <a:ea typeface="Montserrat"/>
                <a:cs typeface="Montserrat"/>
                <a:sym typeface="Montserrat"/>
              </a:rPr>
              <a:t>Error</a:t>
            </a:r>
            <a:endParaRPr/>
          </a:p>
          <a:p>
            <a:pPr indent="0" lvl="0" marL="0" marR="0" rtl="0" algn="ctr">
              <a:lnSpc>
                <a:spcPct val="100000"/>
              </a:lnSpc>
              <a:spcBef>
                <a:spcPts val="150"/>
              </a:spcBef>
              <a:spcAft>
                <a:spcPts val="0"/>
              </a:spcAft>
              <a:buNone/>
            </a:pPr>
            <a:r>
              <a:rPr b="0" lang="en-US" sz="950">
                <a:solidFill>
                  <a:srgbClr val="B3261E"/>
                </a:solidFill>
                <a:latin typeface="Barlow"/>
                <a:ea typeface="Barlow"/>
                <a:cs typeface="Barlow"/>
                <a:sym typeface="Barlow"/>
              </a:rPr>
              <a:t>Halted (e.g. grid loss,</a:t>
            </a:r>
            <a:endParaRPr/>
          </a:p>
          <a:p>
            <a:pPr indent="0" lvl="0" marL="0" marR="0" rtl="0" algn="ctr">
              <a:lnSpc>
                <a:spcPct val="100000"/>
              </a:lnSpc>
              <a:spcBef>
                <a:spcPts val="0"/>
              </a:spcBef>
              <a:spcAft>
                <a:spcPts val="0"/>
              </a:spcAft>
              <a:buNone/>
            </a:pPr>
            <a:r>
              <a:rPr b="0" lang="en-US" sz="950">
                <a:solidFill>
                  <a:srgbClr val="B3261E"/>
                </a:solidFill>
                <a:latin typeface="Barlow"/>
                <a:ea typeface="Barlow"/>
                <a:cs typeface="Barlow"/>
                <a:sym typeface="Barlow"/>
              </a:rPr>
              <a:t>Off-Grid OFF)</a:t>
            </a:r>
            <a:endParaRPr/>
          </a:p>
        </p:txBody>
      </p:sp>
      <p:sp>
        <p:nvSpPr>
          <p:cNvPr id="850" name="Google Shape;850;p44"/>
          <p:cNvSpPr/>
          <p:nvPr/>
        </p:nvSpPr>
        <p:spPr>
          <a:xfrm>
            <a:off x="3429000" y="4572000"/>
            <a:ext cx="1600200" cy="822960"/>
          </a:xfrm>
          <a:prstGeom prst="roundRect">
            <a:avLst>
              <a:gd fmla="val 6666" name="adj"/>
            </a:avLst>
          </a:prstGeom>
          <a:solidFill>
            <a:srgbClr val="FFFFFF"/>
          </a:solidFill>
          <a:ln cap="flat" cmpd="sng" w="12700">
            <a:solidFill>
              <a:srgbClr val="1565C0"/>
            </a:solidFill>
            <a:prstDash val="dash"/>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1565C0"/>
                </a:solidFill>
                <a:latin typeface="Montserrat"/>
                <a:ea typeface="Montserrat"/>
                <a:cs typeface="Montserrat"/>
                <a:sym typeface="Montserrat"/>
              </a:rPr>
              <a:t>FW Updating</a:t>
            </a:r>
            <a:endParaRPr/>
          </a:p>
          <a:p>
            <a:pPr indent="0" lvl="0" marL="0" marR="0" rtl="0" algn="ctr">
              <a:lnSpc>
                <a:spcPct val="100000"/>
              </a:lnSpc>
              <a:spcBef>
                <a:spcPts val="150"/>
              </a:spcBef>
              <a:spcAft>
                <a:spcPts val="0"/>
              </a:spcAft>
              <a:buNone/>
            </a:pPr>
            <a:r>
              <a:rPr b="0" lang="en-US" sz="950">
                <a:solidFill>
                  <a:srgbClr val="5F6B7A"/>
                </a:solidFill>
                <a:latin typeface="Barlow"/>
                <a:ea typeface="Barlow"/>
                <a:cs typeface="Barlow"/>
                <a:sym typeface="Barlow"/>
              </a:rPr>
              <a:t>App session state</a:t>
            </a:r>
            <a:endParaRPr/>
          </a:p>
          <a:p>
            <a:pPr indent="0" lvl="0" marL="0" marR="0" rtl="0" algn="ctr">
              <a:lnSpc>
                <a:spcPct val="100000"/>
              </a:lnSpc>
              <a:spcBef>
                <a:spcPts val="0"/>
              </a:spcBef>
              <a:spcAft>
                <a:spcPts val="0"/>
              </a:spcAft>
              <a:buNone/>
            </a:pPr>
            <a:r>
              <a:rPr b="0" lang="en-US" sz="950">
                <a:solidFill>
                  <a:srgbClr val="5F6B7A"/>
                </a:solidFill>
                <a:latin typeface="Barlow"/>
                <a:ea typeface="Barlow"/>
                <a:cs typeface="Barlow"/>
                <a:sym typeface="Barlow"/>
              </a:rPr>
              <a:t>(transient)</a:t>
            </a:r>
            <a:endParaRPr/>
          </a:p>
        </p:txBody>
      </p:sp>
      <p:sp>
        <p:nvSpPr>
          <p:cNvPr id="851" name="Google Shape;851;p44"/>
          <p:cNvSpPr/>
          <p:nvPr/>
        </p:nvSpPr>
        <p:spPr>
          <a:xfrm>
            <a:off x="384048" y="2953512"/>
            <a:ext cx="128016" cy="128016"/>
          </a:xfrm>
          <a:prstGeom prst="ellipse">
            <a:avLst/>
          </a:prstGeom>
          <a:solidFill>
            <a:srgbClr val="1F2A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52" name="Google Shape;852;p44"/>
          <p:cNvCxnSpPr/>
          <p:nvPr/>
        </p:nvCxnSpPr>
        <p:spPr>
          <a:xfrm>
            <a:off x="512064" y="3017520"/>
            <a:ext cx="219456" cy="0"/>
          </a:xfrm>
          <a:prstGeom prst="straightConnector1">
            <a:avLst/>
          </a:prstGeom>
          <a:noFill/>
          <a:ln cap="flat" cmpd="sng" w="15875">
            <a:solidFill>
              <a:srgbClr val="1F2A37"/>
            </a:solidFill>
            <a:prstDash val="solid"/>
            <a:round/>
            <a:headEnd len="sm" w="sm" type="none"/>
            <a:tailEnd len="med" w="med" type="triangle"/>
          </a:ln>
        </p:spPr>
      </p:cxnSp>
      <p:cxnSp>
        <p:nvCxnSpPr>
          <p:cNvPr id="853" name="Google Shape;853;p44"/>
          <p:cNvCxnSpPr>
            <a:stCxn id="846" idx="3"/>
            <a:endCxn id="847" idx="1"/>
          </p:cNvCxnSpPr>
          <p:nvPr/>
        </p:nvCxnSpPr>
        <p:spPr>
          <a:xfrm>
            <a:off x="2331720" y="3017520"/>
            <a:ext cx="1097400" cy="0"/>
          </a:xfrm>
          <a:prstGeom prst="straightConnector1">
            <a:avLst/>
          </a:prstGeom>
          <a:noFill/>
          <a:ln cap="flat" cmpd="sng" w="19050">
            <a:solidFill>
              <a:srgbClr val="1F2A37"/>
            </a:solidFill>
            <a:prstDash val="solid"/>
            <a:round/>
            <a:headEnd len="sm" w="sm" type="none"/>
            <a:tailEnd len="med" w="med" type="triangle"/>
          </a:ln>
        </p:spPr>
      </p:cxnSp>
      <p:sp>
        <p:nvSpPr>
          <p:cNvPr id="854" name="Google Shape;854;p44"/>
          <p:cNvSpPr txBox="1"/>
          <p:nvPr/>
        </p:nvSpPr>
        <p:spPr>
          <a:xfrm>
            <a:off x="2350008" y="2587752"/>
            <a:ext cx="1060704"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00">
                <a:solidFill>
                  <a:srgbClr val="0B2F5B"/>
                </a:solidFill>
                <a:latin typeface="Barlow"/>
                <a:ea typeface="Barlow"/>
                <a:cs typeface="Barlow"/>
                <a:sym typeface="Barlow"/>
              </a:rPr>
              <a:t>Apply</a:t>
            </a:r>
            <a:endParaRPr/>
          </a:p>
        </p:txBody>
      </p:sp>
      <p:sp>
        <p:nvSpPr>
          <p:cNvPr id="855" name="Google Shape;855;p44"/>
          <p:cNvSpPr txBox="1"/>
          <p:nvPr/>
        </p:nvSpPr>
        <p:spPr>
          <a:xfrm>
            <a:off x="2350008" y="3072384"/>
            <a:ext cx="1060704"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lang="en-US" sz="900">
                <a:solidFill>
                  <a:srgbClr val="5F6B7A"/>
                </a:solidFill>
                <a:latin typeface="Barlow"/>
                <a:ea typeface="Barlow"/>
                <a:cs typeface="Barlow"/>
                <a:sym typeface="Barlow"/>
              </a:rPr>
              <a:t>Off-Grid + NMI No</a:t>
            </a:r>
            <a:endParaRPr/>
          </a:p>
        </p:txBody>
      </p:sp>
      <p:sp>
        <p:nvSpPr>
          <p:cNvPr id="856" name="Google Shape;856;p44"/>
          <p:cNvSpPr/>
          <p:nvPr/>
        </p:nvSpPr>
        <p:spPr>
          <a:xfrm>
            <a:off x="3886200" y="2194560"/>
            <a:ext cx="685800" cy="411480"/>
          </a:xfrm>
          <a:custGeom>
            <a:rect b="b" l="l" r="r" t="t"/>
            <a:pathLst>
              <a:path extrusionOk="0" h="411480" w="685800">
                <a:moveTo>
                  <a:pt x="0" y="411480"/>
                </a:moveTo>
                <a:lnTo>
                  <a:pt x="0" y="0"/>
                </a:lnTo>
                <a:lnTo>
                  <a:pt x="685800" y="0"/>
                </a:lnTo>
                <a:lnTo>
                  <a:pt x="685800" y="411480"/>
                </a:lnTo>
              </a:path>
            </a:pathLst>
          </a:custGeom>
          <a:noFill/>
          <a:ln cap="flat" cmpd="sng" w="15875">
            <a:solidFill>
              <a:srgbClr val="1E7B4F"/>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7" name="Google Shape;857;p44"/>
          <p:cNvSpPr txBox="1"/>
          <p:nvPr/>
        </p:nvSpPr>
        <p:spPr>
          <a:xfrm>
            <a:off x="3246120" y="1956816"/>
            <a:ext cx="196596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1E7B4F"/>
                </a:solidFill>
                <a:latin typeface="Barlow"/>
                <a:ea typeface="Barlow"/>
                <a:cs typeface="Barlow"/>
                <a:sym typeface="Barlow"/>
              </a:rPr>
              <a:t>One-shot write (OTP)</a:t>
            </a:r>
            <a:endParaRPr/>
          </a:p>
        </p:txBody>
      </p:sp>
      <p:sp>
        <p:nvSpPr>
          <p:cNvPr id="858" name="Google Shape;858;p44"/>
          <p:cNvSpPr/>
          <p:nvPr/>
        </p:nvSpPr>
        <p:spPr>
          <a:xfrm>
            <a:off x="4846320" y="1783080"/>
            <a:ext cx="960120" cy="822960"/>
          </a:xfrm>
          <a:custGeom>
            <a:rect b="b" l="l" r="r" t="t"/>
            <a:pathLst>
              <a:path extrusionOk="0" h="822960" w="960120">
                <a:moveTo>
                  <a:pt x="0" y="822960"/>
                </a:moveTo>
                <a:lnTo>
                  <a:pt x="0" y="0"/>
                </a:lnTo>
                <a:lnTo>
                  <a:pt x="960120" y="0"/>
                </a:lnTo>
              </a:path>
            </a:pathLst>
          </a:custGeom>
          <a:noFill/>
          <a:ln cap="flat" cmpd="sng" w="15875">
            <a:solidFill>
              <a:srgbClr val="F0A93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9" name="Google Shape;859;p44"/>
          <p:cNvSpPr txBox="1"/>
          <p:nvPr/>
        </p:nvSpPr>
        <p:spPr>
          <a:xfrm>
            <a:off x="4901184" y="1572768"/>
            <a:ext cx="896112"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lang="en-US" sz="900">
                <a:solidFill>
                  <a:srgbClr val="9A5B00"/>
                </a:solidFill>
                <a:latin typeface="Barlow"/>
                <a:ea typeface="Barlow"/>
                <a:cs typeface="Barlow"/>
                <a:sym typeface="Barlow"/>
              </a:rPr>
              <a:t>Warning raised</a:t>
            </a:r>
            <a:endParaRPr/>
          </a:p>
        </p:txBody>
      </p:sp>
      <p:sp>
        <p:nvSpPr>
          <p:cNvPr id="860" name="Google Shape;860;p44"/>
          <p:cNvSpPr/>
          <p:nvPr/>
        </p:nvSpPr>
        <p:spPr>
          <a:xfrm>
            <a:off x="5029200" y="2148840"/>
            <a:ext cx="777240" cy="685800"/>
          </a:xfrm>
          <a:custGeom>
            <a:rect b="b" l="l" r="r" t="t"/>
            <a:pathLst>
              <a:path extrusionOk="0" h="685800" w="777240">
                <a:moveTo>
                  <a:pt x="777240" y="0"/>
                </a:moveTo>
                <a:lnTo>
                  <a:pt x="320040" y="0"/>
                </a:lnTo>
                <a:lnTo>
                  <a:pt x="320040" y="685800"/>
                </a:lnTo>
                <a:lnTo>
                  <a:pt x="0" y="685800"/>
                </a:lnTo>
              </a:path>
            </a:pathLst>
          </a:custGeom>
          <a:noFill/>
          <a:ln cap="flat" cmpd="sng" w="15875">
            <a:solidFill>
              <a:srgbClr val="F0A93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1" name="Google Shape;861;p44"/>
          <p:cNvSpPr txBox="1"/>
          <p:nvPr/>
        </p:nvSpPr>
        <p:spPr>
          <a:xfrm>
            <a:off x="5413248" y="2468880"/>
            <a:ext cx="5486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9A5B00"/>
                </a:solidFill>
                <a:latin typeface="Barlow"/>
                <a:ea typeface="Barlow"/>
                <a:cs typeface="Barlow"/>
                <a:sym typeface="Barlow"/>
              </a:rPr>
              <a:t>Cleared</a:t>
            </a:r>
            <a:endParaRPr/>
          </a:p>
        </p:txBody>
      </p:sp>
      <p:cxnSp>
        <p:nvCxnSpPr>
          <p:cNvPr id="862" name="Google Shape;862;p44"/>
          <p:cNvCxnSpPr/>
          <p:nvPr/>
        </p:nvCxnSpPr>
        <p:spPr>
          <a:xfrm>
            <a:off x="6949440" y="2377440"/>
            <a:ext cx="0" cy="1280160"/>
          </a:xfrm>
          <a:prstGeom prst="straightConnector1">
            <a:avLst/>
          </a:prstGeom>
          <a:noFill/>
          <a:ln cap="flat" cmpd="sng" w="15875">
            <a:solidFill>
              <a:srgbClr val="B3261E"/>
            </a:solidFill>
            <a:prstDash val="solid"/>
            <a:round/>
            <a:headEnd len="sm" w="sm" type="none"/>
            <a:tailEnd len="med" w="med" type="triangle"/>
          </a:ln>
        </p:spPr>
      </p:cxnSp>
      <p:sp>
        <p:nvSpPr>
          <p:cNvPr id="863" name="Google Shape;863;p44"/>
          <p:cNvSpPr txBox="1"/>
          <p:nvPr/>
        </p:nvSpPr>
        <p:spPr>
          <a:xfrm>
            <a:off x="7004304" y="2926080"/>
            <a:ext cx="6400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B3261E"/>
                </a:solidFill>
                <a:latin typeface="Barlow"/>
                <a:ea typeface="Barlow"/>
                <a:cs typeface="Barlow"/>
                <a:sym typeface="Barlow"/>
              </a:rPr>
              <a:t>Escalates</a:t>
            </a:r>
            <a:endParaRPr/>
          </a:p>
        </p:txBody>
      </p:sp>
      <p:sp>
        <p:nvSpPr>
          <p:cNvPr id="864" name="Google Shape;864;p44"/>
          <p:cNvSpPr/>
          <p:nvPr/>
        </p:nvSpPr>
        <p:spPr>
          <a:xfrm>
            <a:off x="5029200" y="3200400"/>
            <a:ext cx="777240" cy="685800"/>
          </a:xfrm>
          <a:custGeom>
            <a:rect b="b" l="l" r="r" t="t"/>
            <a:pathLst>
              <a:path extrusionOk="0" h="685800" w="777240">
                <a:moveTo>
                  <a:pt x="0" y="0"/>
                </a:moveTo>
                <a:lnTo>
                  <a:pt x="640080" y="0"/>
                </a:lnTo>
                <a:lnTo>
                  <a:pt x="640080" y="685800"/>
                </a:lnTo>
                <a:lnTo>
                  <a:pt x="777240" y="685800"/>
                </a:lnTo>
              </a:path>
            </a:pathLst>
          </a:custGeom>
          <a:noFill/>
          <a:ln cap="flat" cmpd="sng" w="15875">
            <a:solidFill>
              <a:srgbClr val="B3261E"/>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5" name="Google Shape;865;p44"/>
          <p:cNvSpPr txBox="1"/>
          <p:nvPr/>
        </p:nvSpPr>
        <p:spPr>
          <a:xfrm>
            <a:off x="5733288" y="3310128"/>
            <a:ext cx="7315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B3261E"/>
                </a:solidFill>
                <a:latin typeface="Barlow"/>
                <a:ea typeface="Barlow"/>
                <a:cs typeface="Barlow"/>
                <a:sym typeface="Barlow"/>
              </a:rPr>
              <a:t>Fault halt</a:t>
            </a:r>
            <a:endParaRPr/>
          </a:p>
        </p:txBody>
      </p:sp>
      <p:sp>
        <p:nvSpPr>
          <p:cNvPr id="866" name="Google Shape;866;p44"/>
          <p:cNvSpPr/>
          <p:nvPr/>
        </p:nvSpPr>
        <p:spPr>
          <a:xfrm>
            <a:off x="4846320" y="3429000"/>
            <a:ext cx="960120" cy="822960"/>
          </a:xfrm>
          <a:custGeom>
            <a:rect b="b" l="l" r="r" t="t"/>
            <a:pathLst>
              <a:path extrusionOk="0" h="822960" w="960120">
                <a:moveTo>
                  <a:pt x="960120" y="822960"/>
                </a:moveTo>
                <a:lnTo>
                  <a:pt x="0" y="822960"/>
                </a:lnTo>
                <a:lnTo>
                  <a:pt x="0" y="0"/>
                </a:lnTo>
              </a:path>
            </a:pathLst>
          </a:custGeom>
          <a:noFill/>
          <a:ln cap="flat" cmpd="sng" w="15875">
            <a:solidFill>
              <a:srgbClr val="B3261E"/>
            </a:solidFill>
            <a:prstDash val="dash"/>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7" name="Google Shape;867;p44"/>
          <p:cNvSpPr txBox="1"/>
          <p:nvPr/>
        </p:nvSpPr>
        <p:spPr>
          <a:xfrm>
            <a:off x="4910328" y="3904487"/>
            <a:ext cx="7315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B3261E"/>
                </a:solidFill>
                <a:latin typeface="Barlow"/>
                <a:ea typeface="Barlow"/>
                <a:cs typeface="Barlow"/>
                <a:sym typeface="Barlow"/>
              </a:rPr>
              <a:t>Fault cleared ·</a:t>
            </a:r>
            <a:endParaRPr/>
          </a:p>
        </p:txBody>
      </p:sp>
      <p:sp>
        <p:nvSpPr>
          <p:cNvPr id="868" name="Google Shape;868;p44"/>
          <p:cNvSpPr txBox="1"/>
          <p:nvPr/>
        </p:nvSpPr>
        <p:spPr>
          <a:xfrm>
            <a:off x="4910328" y="4050791"/>
            <a:ext cx="7315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B3261E"/>
                </a:solidFill>
                <a:latin typeface="Barlow"/>
                <a:ea typeface="Barlow"/>
                <a:cs typeface="Barlow"/>
                <a:sym typeface="Barlow"/>
              </a:rPr>
              <a:t>restart</a:t>
            </a:r>
            <a:endParaRPr/>
          </a:p>
        </p:txBody>
      </p:sp>
      <p:cxnSp>
        <p:nvCxnSpPr>
          <p:cNvPr id="869" name="Google Shape;869;p44"/>
          <p:cNvCxnSpPr/>
          <p:nvPr/>
        </p:nvCxnSpPr>
        <p:spPr>
          <a:xfrm>
            <a:off x="3703320" y="3429000"/>
            <a:ext cx="0" cy="1143000"/>
          </a:xfrm>
          <a:prstGeom prst="straightConnector1">
            <a:avLst/>
          </a:prstGeom>
          <a:noFill/>
          <a:ln cap="flat" cmpd="sng" w="15875">
            <a:solidFill>
              <a:srgbClr val="1565C0"/>
            </a:solidFill>
            <a:prstDash val="solid"/>
            <a:round/>
            <a:headEnd len="sm" w="sm" type="none"/>
            <a:tailEnd len="med" w="med" type="triangle"/>
          </a:ln>
        </p:spPr>
      </p:cxnSp>
      <p:cxnSp>
        <p:nvCxnSpPr>
          <p:cNvPr id="870" name="Google Shape;870;p44"/>
          <p:cNvCxnSpPr/>
          <p:nvPr/>
        </p:nvCxnSpPr>
        <p:spPr>
          <a:xfrm rot="10800000">
            <a:off x="4114800" y="3429000"/>
            <a:ext cx="0" cy="1143000"/>
          </a:xfrm>
          <a:prstGeom prst="straightConnector1">
            <a:avLst/>
          </a:prstGeom>
          <a:noFill/>
          <a:ln cap="flat" cmpd="sng" w="15875">
            <a:solidFill>
              <a:srgbClr val="1565C0"/>
            </a:solidFill>
            <a:prstDash val="solid"/>
            <a:round/>
            <a:headEnd len="sm" w="sm" type="none"/>
            <a:tailEnd len="med" w="med" type="triangle"/>
          </a:ln>
        </p:spPr>
      </p:cxnSp>
      <p:sp>
        <p:nvSpPr>
          <p:cNvPr id="871" name="Google Shape;871;p44"/>
          <p:cNvSpPr txBox="1"/>
          <p:nvPr/>
        </p:nvSpPr>
        <p:spPr>
          <a:xfrm>
            <a:off x="2514600" y="3840480"/>
            <a:ext cx="1133856"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en-US" sz="900">
                <a:solidFill>
                  <a:srgbClr val="1565C0"/>
                </a:solidFill>
                <a:latin typeface="Barlow"/>
                <a:ea typeface="Barlow"/>
                <a:cs typeface="Barlow"/>
                <a:sym typeface="Barlow"/>
              </a:rPr>
              <a:t>Wake-up,</a:t>
            </a:r>
            <a:endParaRPr/>
          </a:p>
        </p:txBody>
      </p:sp>
      <p:sp>
        <p:nvSpPr>
          <p:cNvPr id="872" name="Google Shape;872;p44"/>
          <p:cNvSpPr txBox="1"/>
          <p:nvPr/>
        </p:nvSpPr>
        <p:spPr>
          <a:xfrm>
            <a:off x="2514600" y="3986784"/>
            <a:ext cx="1133856"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en-US" sz="900">
                <a:solidFill>
                  <a:srgbClr val="1565C0"/>
                </a:solidFill>
                <a:latin typeface="Barlow"/>
                <a:ea typeface="Barlow"/>
                <a:cs typeface="Barlow"/>
                <a:sym typeface="Barlow"/>
              </a:rPr>
              <a:t>transfer starts</a:t>
            </a:r>
            <a:endParaRPr/>
          </a:p>
        </p:txBody>
      </p:sp>
      <p:sp>
        <p:nvSpPr>
          <p:cNvPr id="873" name="Google Shape;873;p44"/>
          <p:cNvSpPr txBox="1"/>
          <p:nvPr/>
        </p:nvSpPr>
        <p:spPr>
          <a:xfrm>
            <a:off x="4169663" y="3840480"/>
            <a:ext cx="64008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565C0"/>
                </a:solidFill>
                <a:latin typeface="Barlow"/>
                <a:ea typeface="Barlow"/>
                <a:cs typeface="Barlow"/>
                <a:sym typeface="Barlow"/>
              </a:rPr>
              <a:t>Commit or</a:t>
            </a:r>
            <a:endParaRPr/>
          </a:p>
        </p:txBody>
      </p:sp>
      <p:sp>
        <p:nvSpPr>
          <p:cNvPr id="874" name="Google Shape;874;p44"/>
          <p:cNvSpPr txBox="1"/>
          <p:nvPr/>
        </p:nvSpPr>
        <p:spPr>
          <a:xfrm>
            <a:off x="4169663" y="3986784"/>
            <a:ext cx="64008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565C0"/>
                </a:solidFill>
                <a:latin typeface="Barlow"/>
                <a:ea typeface="Barlow"/>
                <a:cs typeface="Barlow"/>
                <a:sym typeface="Barlow"/>
              </a:rPr>
              <a:t>rollback</a:t>
            </a:r>
            <a:endParaRPr/>
          </a:p>
        </p:txBody>
      </p:sp>
      <p:sp>
        <p:nvSpPr>
          <p:cNvPr id="875" name="Google Shape;875;p44"/>
          <p:cNvSpPr/>
          <p:nvPr/>
        </p:nvSpPr>
        <p:spPr>
          <a:xfrm>
            <a:off x="457200" y="4343400"/>
            <a:ext cx="2514600" cy="1051560"/>
          </a:xfrm>
          <a:prstGeom prst="roundRect">
            <a:avLst>
              <a:gd fmla="val 5217" name="adj"/>
            </a:avLst>
          </a:prstGeom>
          <a:noFill/>
          <a:ln cap="flat" cmpd="sng" w="9525">
            <a:solidFill>
              <a:srgbClr val="5F6B7A"/>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6" name="Google Shape;876;p44"/>
          <p:cNvSpPr txBox="1"/>
          <p:nvPr/>
        </p:nvSpPr>
        <p:spPr>
          <a:xfrm>
            <a:off x="566928" y="4416552"/>
            <a:ext cx="22860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5F6B7A"/>
                </a:solidFill>
                <a:latin typeface="Montserrat"/>
                <a:ea typeface="Montserrat"/>
                <a:cs typeface="Montserrat"/>
                <a:sym typeface="Montserrat"/>
              </a:rPr>
              <a:t>CONNECTIVITY AXIS (INDEPENDENT)</a:t>
            </a:r>
            <a:endParaRPr/>
          </a:p>
        </p:txBody>
      </p:sp>
      <p:sp>
        <p:nvSpPr>
          <p:cNvPr id="877" name="Google Shape;877;p44"/>
          <p:cNvSpPr/>
          <p:nvPr/>
        </p:nvSpPr>
        <p:spPr>
          <a:xfrm>
            <a:off x="658368" y="4709160"/>
            <a:ext cx="868680" cy="384048"/>
          </a:xfrm>
          <a:prstGeom prst="roundRect">
            <a:avLst>
              <a:gd fmla="val 14285"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Wifi</a:t>
            </a:r>
            <a:endParaRPr/>
          </a:p>
        </p:txBody>
      </p:sp>
      <p:sp>
        <p:nvSpPr>
          <p:cNvPr id="878" name="Google Shape;878;p44"/>
          <p:cNvSpPr/>
          <p:nvPr/>
        </p:nvSpPr>
        <p:spPr>
          <a:xfrm>
            <a:off x="1901952" y="4709160"/>
            <a:ext cx="868680" cy="384048"/>
          </a:xfrm>
          <a:prstGeom prst="roundRect">
            <a:avLst>
              <a:gd fmla="val 14285"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non-Wifi</a:t>
            </a:r>
            <a:endParaRPr/>
          </a:p>
        </p:txBody>
      </p:sp>
      <p:cxnSp>
        <p:nvCxnSpPr>
          <p:cNvPr id="879" name="Google Shape;879;p44"/>
          <p:cNvCxnSpPr/>
          <p:nvPr/>
        </p:nvCxnSpPr>
        <p:spPr>
          <a:xfrm>
            <a:off x="1527048" y="4901184"/>
            <a:ext cx="374904" cy="0"/>
          </a:xfrm>
          <a:prstGeom prst="straightConnector1">
            <a:avLst/>
          </a:prstGeom>
          <a:noFill/>
          <a:ln cap="flat" cmpd="sng" w="12700">
            <a:solidFill>
              <a:srgbClr val="0B2F5B"/>
            </a:solidFill>
            <a:prstDash val="solid"/>
            <a:round/>
            <a:headEnd len="med" w="med" type="triangle"/>
            <a:tailEnd len="med" w="med" type="triangle"/>
          </a:ln>
        </p:spPr>
      </p:cxnSp>
      <p:sp>
        <p:nvSpPr>
          <p:cNvPr id="880" name="Google Shape;880;p44"/>
          <p:cNvSpPr txBox="1"/>
          <p:nvPr/>
        </p:nvSpPr>
        <p:spPr>
          <a:xfrm>
            <a:off x="566928" y="5138928"/>
            <a:ext cx="233172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1" lang="en-US" sz="850">
                <a:solidFill>
                  <a:srgbClr val="5F6B7A"/>
                </a:solidFill>
                <a:latin typeface="Barlow"/>
                <a:ea typeface="Barlow"/>
                <a:cs typeface="Barlow"/>
                <a:sym typeface="Barlow"/>
              </a:rPr>
              <a:t>Combines with every state above</a:t>
            </a:r>
            <a:endParaRPr/>
          </a:p>
        </p:txBody>
      </p:sp>
      <p:sp>
        <p:nvSpPr>
          <p:cNvPr id="881" name="Google Shape;881;p44"/>
          <p:cNvSpPr txBox="1"/>
          <p:nvPr/>
        </p:nvSpPr>
        <p:spPr>
          <a:xfrm>
            <a:off x="457200" y="5532120"/>
            <a:ext cx="722376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lang="en-US" sz="950">
                <a:solidFill>
                  <a:srgbClr val="0B2F5B"/>
                </a:solidFill>
                <a:latin typeface="Barlow"/>
                <a:ea typeface="Barlow"/>
                <a:cs typeface="Barlow"/>
                <a:sym typeface="Barlow"/>
              </a:rPr>
              <a:t>Run + non-Wifi</a:t>
            </a:r>
            <a:r>
              <a:rPr b="0" lang="en-US" sz="950">
                <a:solidFill>
                  <a:srgbClr val="1F2A37"/>
                </a:solidFill>
                <a:latin typeface="Barlow"/>
                <a:ea typeface="Barlow"/>
                <a:cs typeface="Barlow"/>
                <a:sym typeface="Barlow"/>
              </a:rPr>
              <a:t> = operating normally but not reporting to the cloud.   </a:t>
            </a:r>
            <a:r>
              <a:rPr b="1" lang="en-US" sz="950">
                <a:solidFill>
                  <a:srgbClr val="0B2F5B"/>
                </a:solidFill>
                <a:latin typeface="Barlow"/>
                <a:ea typeface="Barlow"/>
                <a:cs typeface="Barlow"/>
                <a:sym typeface="Barlow"/>
              </a:rPr>
              <a:t>FW Updating</a:t>
            </a:r>
            <a:r>
              <a:rPr b="0" lang="en-US" sz="950">
                <a:solidFill>
                  <a:srgbClr val="1F2A37"/>
                </a:solidFill>
                <a:latin typeface="Barlow"/>
                <a:ea typeface="Barlow"/>
                <a:cs typeface="Barlow"/>
                <a:sym typeface="Barlow"/>
              </a:rPr>
              <a:t> returns to Run on the new version at commit, or on the previous version at rollback.</a:t>
            </a:r>
            <a:endParaRPr/>
          </a:p>
        </p:txBody>
      </p:sp>
      <p:sp>
        <p:nvSpPr>
          <p:cNvPr id="882" name="Google Shape;882;p44"/>
          <p:cNvSpPr txBox="1"/>
          <p:nvPr/>
        </p:nvSpPr>
        <p:spPr>
          <a:xfrm>
            <a:off x="8001000" y="1216152"/>
            <a:ext cx="34290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WHAT THE APP ALLOWS</a:t>
            </a:r>
            <a:endParaRPr/>
          </a:p>
        </p:txBody>
      </p:sp>
      <p:sp>
        <p:nvSpPr>
          <p:cNvPr id="883" name="Google Shape;883;p44"/>
          <p:cNvSpPr/>
          <p:nvPr/>
        </p:nvSpPr>
        <p:spPr>
          <a:xfrm>
            <a:off x="8001000" y="1508760"/>
            <a:ext cx="3429000" cy="98755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44"/>
          <p:cNvSpPr/>
          <p:nvPr/>
        </p:nvSpPr>
        <p:spPr>
          <a:xfrm>
            <a:off x="8129016" y="1618488"/>
            <a:ext cx="922890" cy="211137"/>
          </a:xfrm>
          <a:prstGeom prst="roundRect">
            <a:avLst>
              <a:gd fmla="val 50000" name="adj"/>
            </a:avLst>
          </a:prstGeom>
          <a:solidFill>
            <a:srgbClr val="F5F8FC"/>
          </a:solidFill>
          <a:ln cap="flat" cmpd="sng" w="9525">
            <a:solidFill>
              <a:srgbClr val="5F6B7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1F2A37"/>
                </a:solidFill>
                <a:latin typeface="Montserrat"/>
                <a:ea typeface="Montserrat"/>
                <a:cs typeface="Montserrat"/>
                <a:sym typeface="Montserrat"/>
              </a:rPr>
              <a:t>Incomplete</a:t>
            </a:r>
            <a:endParaRPr/>
          </a:p>
        </p:txBody>
      </p:sp>
      <p:sp>
        <p:nvSpPr>
          <p:cNvPr id="885" name="Google Shape;885;p44"/>
          <p:cNvSpPr txBox="1"/>
          <p:nvPr/>
        </p:nvSpPr>
        <p:spPr>
          <a:xfrm>
            <a:off x="8129016" y="1874519"/>
            <a:ext cx="317296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New installation target</a:t>
            </a:r>
            <a:endParaRPr/>
          </a:p>
        </p:txBody>
      </p:sp>
      <p:sp>
        <p:nvSpPr>
          <p:cNvPr id="886" name="Google Shape;886;p44"/>
          <p:cNvSpPr txBox="1"/>
          <p:nvPr/>
        </p:nvSpPr>
        <p:spPr>
          <a:xfrm>
            <a:off x="8129016" y="2057400"/>
            <a:ext cx="317296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1F2A37"/>
                </a:solidFill>
                <a:latin typeface="Barlow"/>
                <a:ea typeface="Barlow"/>
                <a:cs typeface="Barlow"/>
                <a:sym typeface="Barlow"/>
              </a:rPr>
              <a:t>No password step. Full configuration editing.</a:t>
            </a:r>
            <a:endParaRPr/>
          </a:p>
        </p:txBody>
      </p:sp>
      <p:sp>
        <p:nvSpPr>
          <p:cNvPr id="887" name="Google Shape;887;p44"/>
          <p:cNvSpPr/>
          <p:nvPr/>
        </p:nvSpPr>
        <p:spPr>
          <a:xfrm>
            <a:off x="8001000" y="2606039"/>
            <a:ext cx="3429000" cy="98755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8" name="Google Shape;888;p44"/>
          <p:cNvSpPr/>
          <p:nvPr/>
        </p:nvSpPr>
        <p:spPr>
          <a:xfrm>
            <a:off x="8129016" y="2715768"/>
            <a:ext cx="456107" cy="211137"/>
          </a:xfrm>
          <a:prstGeom prst="roundRect">
            <a:avLst>
              <a:gd fmla="val 500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1E7B4F"/>
                </a:solidFill>
                <a:latin typeface="Montserrat"/>
                <a:ea typeface="Montserrat"/>
                <a:cs typeface="Montserrat"/>
                <a:sym typeface="Montserrat"/>
              </a:rPr>
              <a:t>Run</a:t>
            </a:r>
            <a:endParaRPr/>
          </a:p>
        </p:txBody>
      </p:sp>
      <p:sp>
        <p:nvSpPr>
          <p:cNvPr id="889" name="Google Shape;889;p44"/>
          <p:cNvSpPr txBox="1"/>
          <p:nvPr/>
        </p:nvSpPr>
        <p:spPr>
          <a:xfrm>
            <a:off x="8129016" y="2971799"/>
            <a:ext cx="317296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Maintenance or reconfiguration target</a:t>
            </a:r>
            <a:endParaRPr/>
          </a:p>
        </p:txBody>
      </p:sp>
      <p:sp>
        <p:nvSpPr>
          <p:cNvPr id="890" name="Google Shape;890;p44"/>
          <p:cNvSpPr txBox="1"/>
          <p:nvPr/>
        </p:nvSpPr>
        <p:spPr>
          <a:xfrm>
            <a:off x="8129016" y="3154679"/>
            <a:ext cx="317296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1F2A37"/>
                </a:solidFill>
                <a:latin typeface="Barlow"/>
                <a:ea typeface="Barlow"/>
                <a:cs typeface="Barlow"/>
                <a:sym typeface="Barlow"/>
              </a:rPr>
              <a:t>Status view only. Temporary password needed to configure.</a:t>
            </a:r>
            <a:endParaRPr/>
          </a:p>
        </p:txBody>
      </p:sp>
      <p:sp>
        <p:nvSpPr>
          <p:cNvPr id="891" name="Google Shape;891;p44"/>
          <p:cNvSpPr/>
          <p:nvPr/>
        </p:nvSpPr>
        <p:spPr>
          <a:xfrm>
            <a:off x="8001000" y="3703320"/>
            <a:ext cx="3429000" cy="98755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2" name="Google Shape;892;p44"/>
          <p:cNvSpPr/>
          <p:nvPr/>
        </p:nvSpPr>
        <p:spPr>
          <a:xfrm>
            <a:off x="8129016" y="3813048"/>
            <a:ext cx="1178810" cy="211137"/>
          </a:xfrm>
          <a:prstGeom prst="roundRect">
            <a:avLst>
              <a:gd fmla="val 50000" name="adj"/>
            </a:avLst>
          </a:prstGeom>
          <a:solidFill>
            <a:srgbClr val="FDECEA"/>
          </a:solidFill>
          <a:ln cap="flat" cmpd="sng" w="9525">
            <a:solidFill>
              <a:srgbClr val="E9A39D"/>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B3261E"/>
                </a:solidFill>
                <a:latin typeface="Montserrat"/>
                <a:ea typeface="Montserrat"/>
                <a:cs typeface="Montserrat"/>
                <a:sym typeface="Montserrat"/>
              </a:rPr>
              <a:t>Warning / Error</a:t>
            </a:r>
            <a:endParaRPr/>
          </a:p>
        </p:txBody>
      </p:sp>
      <p:sp>
        <p:nvSpPr>
          <p:cNvPr id="893" name="Google Shape;893;p44"/>
          <p:cNvSpPr txBox="1"/>
          <p:nvPr/>
        </p:nvSpPr>
        <p:spPr>
          <a:xfrm>
            <a:off x="8129016" y="4069080"/>
            <a:ext cx="317296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Field troubleshooting target</a:t>
            </a:r>
            <a:endParaRPr/>
          </a:p>
        </p:txBody>
      </p:sp>
      <p:sp>
        <p:nvSpPr>
          <p:cNvPr id="894" name="Google Shape;894;p44"/>
          <p:cNvSpPr txBox="1"/>
          <p:nvPr/>
        </p:nvSpPr>
        <p:spPr>
          <a:xfrm>
            <a:off x="8129016" y="4251959"/>
            <a:ext cx="317296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1F2A37"/>
                </a:solidFill>
                <a:latin typeface="Barlow"/>
                <a:ea typeface="Barlow"/>
                <a:cs typeface="Barlow"/>
                <a:sym typeface="Barlow"/>
              </a:rPr>
              <a:t>Diagnostic data first. Changes follow the operating policy.</a:t>
            </a:r>
            <a:endParaRPr/>
          </a:p>
        </p:txBody>
      </p:sp>
      <p:sp>
        <p:nvSpPr>
          <p:cNvPr id="895" name="Google Shape;895;p44"/>
          <p:cNvSpPr/>
          <p:nvPr/>
        </p:nvSpPr>
        <p:spPr>
          <a:xfrm>
            <a:off x="8001000" y="4800600"/>
            <a:ext cx="3429000" cy="98755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6" name="Google Shape;896;p44"/>
          <p:cNvSpPr/>
          <p:nvPr/>
        </p:nvSpPr>
        <p:spPr>
          <a:xfrm>
            <a:off x="8129016" y="4910328"/>
            <a:ext cx="1125224" cy="211137"/>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Montserrat"/>
                <a:ea typeface="Montserrat"/>
                <a:cs typeface="Montserrat"/>
                <a:sym typeface="Montserrat"/>
              </a:rPr>
              <a:t>Wifi / non-Wifi</a:t>
            </a:r>
            <a:endParaRPr/>
          </a:p>
        </p:txBody>
      </p:sp>
      <p:sp>
        <p:nvSpPr>
          <p:cNvPr id="897" name="Google Shape;897;p44"/>
          <p:cNvSpPr txBox="1"/>
          <p:nvPr/>
        </p:nvSpPr>
        <p:spPr>
          <a:xfrm>
            <a:off x="8129016" y="5166360"/>
            <a:ext cx="317296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Is cloud remote monitoring available?</a:t>
            </a:r>
            <a:endParaRPr/>
          </a:p>
        </p:txBody>
      </p:sp>
      <p:sp>
        <p:nvSpPr>
          <p:cNvPr id="898" name="Google Shape;898;p44"/>
          <p:cNvSpPr txBox="1"/>
          <p:nvPr/>
        </p:nvSpPr>
        <p:spPr>
          <a:xfrm>
            <a:off x="8129016" y="5349240"/>
            <a:ext cx="317296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1F2A37"/>
                </a:solidFill>
                <a:latin typeface="Barlow"/>
                <a:ea typeface="Barlow"/>
                <a:cs typeface="Barlow"/>
                <a:sym typeface="Barlow"/>
              </a:rPr>
              <a:t>non-Wifi shows “local storage sync pending”.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45"/>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CONFIRMED BEHAVIORS AND DESIGN RESPONSE</a:t>
            </a:r>
            <a:endParaRPr/>
          </a:p>
        </p:txBody>
      </p:sp>
      <p:sp>
        <p:nvSpPr>
          <p:cNvPr id="905" name="Google Shape;905;p45"/>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Seven confirmed behaviors, each driving one design decision</a:t>
            </a:r>
            <a:endParaRPr/>
          </a:p>
        </p:txBody>
      </p:sp>
      <p:sp>
        <p:nvSpPr>
          <p:cNvPr id="906" name="Google Shape;906;p45"/>
          <p:cNvSpPr/>
          <p:nvPr/>
        </p:nvSpPr>
        <p:spPr>
          <a:xfrm>
            <a:off x="457200" y="1234440"/>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7" name="Google Shape;907;p45"/>
          <p:cNvSpPr/>
          <p:nvPr/>
        </p:nvSpPr>
        <p:spPr>
          <a:xfrm>
            <a:off x="585216" y="1344168"/>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1</a:t>
            </a:r>
            <a:endParaRPr/>
          </a:p>
        </p:txBody>
      </p:sp>
      <p:sp>
        <p:nvSpPr>
          <p:cNvPr id="908" name="Google Shape;908;p45"/>
          <p:cNvSpPr txBox="1"/>
          <p:nvPr/>
        </p:nvSpPr>
        <p:spPr>
          <a:xfrm>
            <a:off x="987552" y="1325880"/>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Dashboard list</a:t>
            </a:r>
            <a:endParaRPr/>
          </a:p>
        </p:txBody>
      </p:sp>
      <p:pic>
        <p:nvPicPr>
          <p:cNvPr id="909" name="Google Shape;909;p45"/>
          <p:cNvPicPr preferRelativeResize="0"/>
          <p:nvPr/>
        </p:nvPicPr>
        <p:blipFill rotWithShape="1">
          <a:blip r:embed="rId3">
            <a:alphaModFix/>
          </a:blip>
          <a:srcRect b="0" l="0" r="0" t="0"/>
          <a:stretch/>
        </p:blipFill>
        <p:spPr>
          <a:xfrm>
            <a:off x="2679192" y="1380744"/>
            <a:ext cx="237744" cy="237744"/>
          </a:xfrm>
          <a:prstGeom prst="rect">
            <a:avLst/>
          </a:prstGeom>
          <a:noFill/>
          <a:ln>
            <a:noFill/>
          </a:ln>
        </p:spPr>
      </p:pic>
      <p:sp>
        <p:nvSpPr>
          <p:cNvPr id="910" name="Google Shape;910;p45"/>
          <p:cNvSpPr/>
          <p:nvPr/>
        </p:nvSpPr>
        <p:spPr>
          <a:xfrm>
            <a:off x="566928" y="1764792"/>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CONFIRMED BEHAVIOR</a:t>
            </a:r>
            <a:endParaRPr/>
          </a:p>
          <a:p>
            <a:pPr indent="0" lvl="0" marL="0" marR="0" rtl="0" algn="l">
              <a:lnSpc>
                <a:spcPct val="100000"/>
              </a:lnSpc>
              <a:spcBef>
                <a:spcPts val="200"/>
              </a:spcBef>
              <a:spcAft>
                <a:spcPts val="0"/>
              </a:spcAft>
              <a:buNone/>
            </a:pPr>
            <a:r>
              <a:rPr b="0" lang="en-US" sz="975">
                <a:solidFill>
                  <a:srgbClr val="1F2A37"/>
                </a:solidFill>
                <a:latin typeface="Barlow"/>
                <a:ea typeface="Barlow"/>
                <a:cs typeface="Barlow"/>
                <a:sym typeface="Barlow"/>
              </a:rPr>
              <a:t>The list is today's work list, synced by installer ID. It is not a live BLE scan.</a:t>
            </a:r>
            <a:endParaRPr/>
          </a:p>
        </p:txBody>
      </p:sp>
      <p:cxnSp>
        <p:nvCxnSpPr>
          <p:cNvPr id="911" name="Google Shape;911;p45"/>
          <p:cNvCxnSpPr/>
          <p:nvPr/>
        </p:nvCxnSpPr>
        <p:spPr>
          <a:xfrm>
            <a:off x="1760220" y="2551176"/>
            <a:ext cx="0" cy="128016"/>
          </a:xfrm>
          <a:prstGeom prst="straightConnector1">
            <a:avLst/>
          </a:prstGeom>
          <a:noFill/>
          <a:ln cap="flat" cmpd="sng" w="15875">
            <a:solidFill>
              <a:srgbClr val="0B2F5B"/>
            </a:solidFill>
            <a:prstDash val="solid"/>
            <a:round/>
            <a:headEnd len="sm" w="sm" type="none"/>
            <a:tailEnd len="med" w="med" type="triangle"/>
          </a:ln>
        </p:spPr>
      </p:cxnSp>
      <p:sp>
        <p:nvSpPr>
          <p:cNvPr id="912" name="Google Shape;912;p45"/>
          <p:cNvSpPr/>
          <p:nvPr/>
        </p:nvSpPr>
        <p:spPr>
          <a:xfrm>
            <a:off x="566928" y="2679192"/>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DESIGN DECISION</a:t>
            </a:r>
            <a:endParaRPr/>
          </a:p>
          <a:p>
            <a:pPr indent="0" lvl="0" marL="0" marR="0" rtl="0" algn="l">
              <a:lnSpc>
                <a:spcPct val="100000"/>
              </a:lnSpc>
              <a:spcBef>
                <a:spcPts val="200"/>
              </a:spcBef>
              <a:spcAft>
                <a:spcPts val="0"/>
              </a:spcAft>
              <a:buNone/>
            </a:pPr>
            <a:r>
              <a:rPr b="0" lang="en-US" sz="975">
                <a:solidFill>
                  <a:srgbClr val="FFFFFF"/>
                </a:solidFill>
                <a:latin typeface="Barlow"/>
                <a:ea typeface="Barlow"/>
                <a:cs typeface="Barlow"/>
                <a:sym typeface="Barlow"/>
              </a:rPr>
              <a:t>Dashboard is decoupled from BLE state and runs offline from local storage.</a:t>
            </a:r>
            <a:endParaRPr/>
          </a:p>
        </p:txBody>
      </p:sp>
      <p:sp>
        <p:nvSpPr>
          <p:cNvPr id="913" name="Google Shape;913;p45"/>
          <p:cNvSpPr/>
          <p:nvPr/>
        </p:nvSpPr>
        <p:spPr>
          <a:xfrm>
            <a:off x="3246120" y="1234440"/>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4" name="Google Shape;914;p45"/>
          <p:cNvSpPr/>
          <p:nvPr/>
        </p:nvSpPr>
        <p:spPr>
          <a:xfrm>
            <a:off x="3374136" y="1344168"/>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2</a:t>
            </a:r>
            <a:endParaRPr/>
          </a:p>
        </p:txBody>
      </p:sp>
      <p:sp>
        <p:nvSpPr>
          <p:cNvPr id="915" name="Google Shape;915;p45"/>
          <p:cNvSpPr txBox="1"/>
          <p:nvPr/>
        </p:nvSpPr>
        <p:spPr>
          <a:xfrm>
            <a:off x="3776472" y="1325880"/>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Install Wizard (+)</a:t>
            </a:r>
            <a:endParaRPr/>
          </a:p>
        </p:txBody>
      </p:sp>
      <p:pic>
        <p:nvPicPr>
          <p:cNvPr id="916" name="Google Shape;916;p45"/>
          <p:cNvPicPr preferRelativeResize="0"/>
          <p:nvPr/>
        </p:nvPicPr>
        <p:blipFill rotWithShape="1">
          <a:blip r:embed="rId4">
            <a:alphaModFix/>
          </a:blip>
          <a:srcRect b="0" l="0" r="0" t="0"/>
          <a:stretch/>
        </p:blipFill>
        <p:spPr>
          <a:xfrm>
            <a:off x="5468112" y="1380744"/>
            <a:ext cx="237744" cy="237744"/>
          </a:xfrm>
          <a:prstGeom prst="rect">
            <a:avLst/>
          </a:prstGeom>
          <a:noFill/>
          <a:ln>
            <a:noFill/>
          </a:ln>
        </p:spPr>
      </p:pic>
      <p:sp>
        <p:nvSpPr>
          <p:cNvPr id="917" name="Google Shape;917;p45"/>
          <p:cNvSpPr/>
          <p:nvPr/>
        </p:nvSpPr>
        <p:spPr>
          <a:xfrm>
            <a:off x="3355848" y="1764792"/>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CONFIRMED BEHAVIOR</a:t>
            </a:r>
            <a:endParaRPr/>
          </a:p>
          <a:p>
            <a:pPr indent="0" lvl="0" marL="0" marR="0" rtl="0" algn="l">
              <a:lnSpc>
                <a:spcPct val="100000"/>
              </a:lnSpc>
              <a:spcBef>
                <a:spcPts val="200"/>
              </a:spcBef>
              <a:spcAft>
                <a:spcPts val="0"/>
              </a:spcAft>
              <a:buNone/>
            </a:pPr>
            <a:r>
              <a:rPr b="0" lang="en-US" sz="975">
                <a:solidFill>
                  <a:srgbClr val="1F2A37"/>
                </a:solidFill>
                <a:latin typeface="Barlow"/>
                <a:ea typeface="Barlow"/>
                <a:cs typeface="Barlow"/>
                <a:sym typeface="Barlow"/>
              </a:rPr>
              <a:t>Manual entry for units the download missed: Serial No typed or barcode-scanned.</a:t>
            </a:r>
            <a:endParaRPr/>
          </a:p>
        </p:txBody>
      </p:sp>
      <p:cxnSp>
        <p:nvCxnSpPr>
          <p:cNvPr id="918" name="Google Shape;918;p45"/>
          <p:cNvCxnSpPr/>
          <p:nvPr/>
        </p:nvCxnSpPr>
        <p:spPr>
          <a:xfrm>
            <a:off x="4549140" y="2551176"/>
            <a:ext cx="0" cy="128016"/>
          </a:xfrm>
          <a:prstGeom prst="straightConnector1">
            <a:avLst/>
          </a:prstGeom>
          <a:noFill/>
          <a:ln cap="flat" cmpd="sng" w="15875">
            <a:solidFill>
              <a:srgbClr val="0B2F5B"/>
            </a:solidFill>
            <a:prstDash val="solid"/>
            <a:round/>
            <a:headEnd len="sm" w="sm" type="none"/>
            <a:tailEnd len="med" w="med" type="triangle"/>
          </a:ln>
        </p:spPr>
      </p:cxnSp>
      <p:sp>
        <p:nvSpPr>
          <p:cNvPr id="919" name="Google Shape;919;p45"/>
          <p:cNvSpPr/>
          <p:nvPr/>
        </p:nvSpPr>
        <p:spPr>
          <a:xfrm>
            <a:off x="3355848" y="2679192"/>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DESIGN DECISION</a:t>
            </a:r>
            <a:endParaRPr/>
          </a:p>
          <a:p>
            <a:pPr indent="0" lvl="0" marL="0" marR="0" rtl="0" algn="l">
              <a:lnSpc>
                <a:spcPct val="100000"/>
              </a:lnSpc>
              <a:spcBef>
                <a:spcPts val="200"/>
              </a:spcBef>
              <a:spcAft>
                <a:spcPts val="0"/>
              </a:spcAft>
              <a:buNone/>
            </a:pPr>
            <a:r>
              <a:rPr b="0" lang="en-US" sz="975">
                <a:solidFill>
                  <a:srgbClr val="FFFFFF"/>
                </a:solidFill>
                <a:latin typeface="Barlow"/>
                <a:ea typeface="Barlow"/>
                <a:cs typeface="Barlow"/>
                <a:sym typeface="Barlow"/>
              </a:rPr>
              <a:t>Serial No is the BLE Local Name match key; each entry is logged to the server.</a:t>
            </a:r>
            <a:endParaRPr/>
          </a:p>
        </p:txBody>
      </p:sp>
      <p:sp>
        <p:nvSpPr>
          <p:cNvPr id="920" name="Google Shape;920;p45"/>
          <p:cNvSpPr/>
          <p:nvPr/>
        </p:nvSpPr>
        <p:spPr>
          <a:xfrm>
            <a:off x="6035040" y="1234440"/>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1" name="Google Shape;921;p45"/>
          <p:cNvSpPr/>
          <p:nvPr/>
        </p:nvSpPr>
        <p:spPr>
          <a:xfrm>
            <a:off x="6163056" y="1344168"/>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3</a:t>
            </a:r>
            <a:endParaRPr/>
          </a:p>
        </p:txBody>
      </p:sp>
      <p:sp>
        <p:nvSpPr>
          <p:cNvPr id="922" name="Google Shape;922;p45"/>
          <p:cNvSpPr txBox="1"/>
          <p:nvPr/>
        </p:nvSpPr>
        <p:spPr>
          <a:xfrm>
            <a:off x="6565392" y="1325880"/>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UI lock on entry and refresh</a:t>
            </a:r>
            <a:endParaRPr/>
          </a:p>
        </p:txBody>
      </p:sp>
      <p:pic>
        <p:nvPicPr>
          <p:cNvPr id="923" name="Google Shape;923;p45"/>
          <p:cNvPicPr preferRelativeResize="0"/>
          <p:nvPr/>
        </p:nvPicPr>
        <p:blipFill rotWithShape="1">
          <a:blip r:embed="rId5">
            <a:alphaModFix/>
          </a:blip>
          <a:srcRect b="0" l="0" r="0" t="0"/>
          <a:stretch/>
        </p:blipFill>
        <p:spPr>
          <a:xfrm>
            <a:off x="8257032" y="1380744"/>
            <a:ext cx="237744" cy="237744"/>
          </a:xfrm>
          <a:prstGeom prst="rect">
            <a:avLst/>
          </a:prstGeom>
          <a:noFill/>
          <a:ln>
            <a:noFill/>
          </a:ln>
        </p:spPr>
      </p:pic>
      <p:sp>
        <p:nvSpPr>
          <p:cNvPr id="924" name="Google Shape;924;p45"/>
          <p:cNvSpPr/>
          <p:nvPr/>
        </p:nvSpPr>
        <p:spPr>
          <a:xfrm>
            <a:off x="6144768" y="1764792"/>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CONFIRMED BEHAVIOR</a:t>
            </a:r>
            <a:endParaRPr/>
          </a:p>
          <a:p>
            <a:pPr indent="0" lvl="0" marL="0" marR="0" rtl="0" algn="l">
              <a:lnSpc>
                <a:spcPct val="100000"/>
              </a:lnSpc>
              <a:spcBef>
                <a:spcPts val="200"/>
              </a:spcBef>
              <a:spcAft>
                <a:spcPts val="0"/>
              </a:spcAft>
              <a:buNone/>
            </a:pPr>
            <a:r>
              <a:rPr b="0" lang="en-US" sz="975">
                <a:solidFill>
                  <a:srgbClr val="1F2A37"/>
                </a:solidFill>
                <a:latin typeface="Barlow"/>
                <a:ea typeface="Barlow"/>
                <a:cs typeface="Barlow"/>
                <a:sym typeface="Barlow"/>
              </a:rPr>
              <a:t>A row tap starts BLE 1:1 connect and bulk read. A modal blocks all input during refresh.</a:t>
            </a:r>
            <a:endParaRPr/>
          </a:p>
        </p:txBody>
      </p:sp>
      <p:cxnSp>
        <p:nvCxnSpPr>
          <p:cNvPr id="925" name="Google Shape;925;p45"/>
          <p:cNvCxnSpPr/>
          <p:nvPr/>
        </p:nvCxnSpPr>
        <p:spPr>
          <a:xfrm>
            <a:off x="7338060" y="2551176"/>
            <a:ext cx="0" cy="128016"/>
          </a:xfrm>
          <a:prstGeom prst="straightConnector1">
            <a:avLst/>
          </a:prstGeom>
          <a:noFill/>
          <a:ln cap="flat" cmpd="sng" w="15875">
            <a:solidFill>
              <a:srgbClr val="0B2F5B"/>
            </a:solidFill>
            <a:prstDash val="solid"/>
            <a:round/>
            <a:headEnd len="sm" w="sm" type="none"/>
            <a:tailEnd len="med" w="med" type="triangle"/>
          </a:ln>
        </p:spPr>
      </p:cxnSp>
      <p:sp>
        <p:nvSpPr>
          <p:cNvPr id="926" name="Google Shape;926;p45"/>
          <p:cNvSpPr/>
          <p:nvPr/>
        </p:nvSpPr>
        <p:spPr>
          <a:xfrm>
            <a:off x="6144768" y="2679192"/>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DESIGN DECISION</a:t>
            </a:r>
            <a:endParaRPr/>
          </a:p>
          <a:p>
            <a:pPr indent="0" lvl="0" marL="0" marR="0" rtl="0" algn="l">
              <a:lnSpc>
                <a:spcPct val="100000"/>
              </a:lnSpc>
              <a:spcBef>
                <a:spcPts val="200"/>
              </a:spcBef>
              <a:spcAft>
                <a:spcPts val="0"/>
              </a:spcAft>
              <a:buNone/>
            </a:pPr>
            <a:r>
              <a:rPr b="0" lang="en-US" sz="975">
                <a:solidFill>
                  <a:srgbClr val="FFFFFF"/>
                </a:solidFill>
                <a:latin typeface="Barlow"/>
                <a:ea typeface="Barlow"/>
                <a:cs typeface="Barlow"/>
                <a:sym typeface="Barlow"/>
              </a:rPr>
              <a:t>One command queue per session, with a modal lock guard.</a:t>
            </a:r>
            <a:endParaRPr/>
          </a:p>
        </p:txBody>
      </p:sp>
      <p:sp>
        <p:nvSpPr>
          <p:cNvPr id="927" name="Google Shape;927;p45"/>
          <p:cNvSpPr/>
          <p:nvPr/>
        </p:nvSpPr>
        <p:spPr>
          <a:xfrm>
            <a:off x="8823960" y="1234440"/>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8" name="Google Shape;928;p45"/>
          <p:cNvSpPr/>
          <p:nvPr/>
        </p:nvSpPr>
        <p:spPr>
          <a:xfrm>
            <a:off x="8951976" y="1344168"/>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4</a:t>
            </a:r>
            <a:endParaRPr/>
          </a:p>
        </p:txBody>
      </p:sp>
      <p:sp>
        <p:nvSpPr>
          <p:cNvPr id="929" name="Google Shape;929;p45"/>
          <p:cNvSpPr txBox="1"/>
          <p:nvPr/>
        </p:nvSpPr>
        <p:spPr>
          <a:xfrm>
            <a:off x="9354312" y="1325880"/>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Incomplete state</a:t>
            </a:r>
            <a:endParaRPr/>
          </a:p>
        </p:txBody>
      </p:sp>
      <p:pic>
        <p:nvPicPr>
          <p:cNvPr id="930" name="Google Shape;930;p45"/>
          <p:cNvPicPr preferRelativeResize="0"/>
          <p:nvPr/>
        </p:nvPicPr>
        <p:blipFill rotWithShape="1">
          <a:blip r:embed="rId6">
            <a:alphaModFix/>
          </a:blip>
          <a:srcRect b="0" l="0" r="0" t="0"/>
          <a:stretch/>
        </p:blipFill>
        <p:spPr>
          <a:xfrm>
            <a:off x="11045952" y="1380744"/>
            <a:ext cx="237744" cy="237744"/>
          </a:xfrm>
          <a:prstGeom prst="rect">
            <a:avLst/>
          </a:prstGeom>
          <a:noFill/>
          <a:ln>
            <a:noFill/>
          </a:ln>
        </p:spPr>
      </p:pic>
      <p:sp>
        <p:nvSpPr>
          <p:cNvPr id="931" name="Google Shape;931;p45"/>
          <p:cNvSpPr/>
          <p:nvPr/>
        </p:nvSpPr>
        <p:spPr>
          <a:xfrm>
            <a:off x="8933688" y="1764792"/>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CONFIRMED BEHAVIOR</a:t>
            </a:r>
            <a:endParaRPr/>
          </a:p>
          <a:p>
            <a:pPr indent="0" lvl="0" marL="0" marR="0" rtl="0" algn="l">
              <a:lnSpc>
                <a:spcPct val="100000"/>
              </a:lnSpc>
              <a:spcBef>
                <a:spcPts val="200"/>
              </a:spcBef>
              <a:spcAft>
                <a:spcPts val="0"/>
              </a:spcAft>
              <a:buNone/>
            </a:pPr>
            <a:r>
              <a:rPr b="0" lang="en-US" sz="975">
                <a:solidFill>
                  <a:srgbClr val="1F2A37"/>
                </a:solidFill>
                <a:latin typeface="Barlow"/>
                <a:ea typeface="Barlow"/>
                <a:cs typeface="Barlow"/>
                <a:sym typeface="Barlow"/>
              </a:rPr>
              <a:t>No password step. Off-Grid first, NMI No last, then Apply: Run plus security lockdown.</a:t>
            </a:r>
            <a:endParaRPr/>
          </a:p>
        </p:txBody>
      </p:sp>
      <p:cxnSp>
        <p:nvCxnSpPr>
          <p:cNvPr id="932" name="Google Shape;932;p45"/>
          <p:cNvCxnSpPr/>
          <p:nvPr/>
        </p:nvCxnSpPr>
        <p:spPr>
          <a:xfrm>
            <a:off x="10126980" y="2551176"/>
            <a:ext cx="0" cy="128016"/>
          </a:xfrm>
          <a:prstGeom prst="straightConnector1">
            <a:avLst/>
          </a:prstGeom>
          <a:noFill/>
          <a:ln cap="flat" cmpd="sng" w="15875">
            <a:solidFill>
              <a:srgbClr val="0B2F5B"/>
            </a:solidFill>
            <a:prstDash val="solid"/>
            <a:round/>
            <a:headEnd len="sm" w="sm" type="none"/>
            <a:tailEnd len="med" w="med" type="triangle"/>
          </a:ln>
        </p:spPr>
      </p:cxnSp>
      <p:sp>
        <p:nvSpPr>
          <p:cNvPr id="933" name="Google Shape;933;p45"/>
          <p:cNvSpPr/>
          <p:nvPr/>
        </p:nvSpPr>
        <p:spPr>
          <a:xfrm>
            <a:off x="8933688" y="2679192"/>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DESIGN DECISION</a:t>
            </a:r>
            <a:endParaRPr/>
          </a:p>
          <a:p>
            <a:pPr indent="0" lvl="0" marL="0" marR="0" rtl="0" algn="l">
              <a:lnSpc>
                <a:spcPct val="100000"/>
              </a:lnSpc>
              <a:spcBef>
                <a:spcPts val="200"/>
              </a:spcBef>
              <a:spcAft>
                <a:spcPts val="0"/>
              </a:spcAft>
              <a:buNone/>
            </a:pPr>
            <a:r>
              <a:rPr b="0" lang="en-US" sz="975">
                <a:solidFill>
                  <a:srgbClr val="FFFFFF"/>
                </a:solidFill>
                <a:latin typeface="Barlow"/>
                <a:ea typeface="Barlow"/>
                <a:cs typeface="Barlow"/>
                <a:sym typeface="Barlow"/>
              </a:rPr>
              <a:t>Apply is irreversible: confirmation dialog and settings summary first.</a:t>
            </a:r>
            <a:endParaRPr/>
          </a:p>
        </p:txBody>
      </p:sp>
      <p:sp>
        <p:nvSpPr>
          <p:cNvPr id="934" name="Google Shape;934;p45"/>
          <p:cNvSpPr/>
          <p:nvPr/>
        </p:nvSpPr>
        <p:spPr>
          <a:xfrm>
            <a:off x="457200" y="3758184"/>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5" name="Google Shape;935;p45"/>
          <p:cNvSpPr/>
          <p:nvPr/>
        </p:nvSpPr>
        <p:spPr>
          <a:xfrm>
            <a:off x="585216" y="3867912"/>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5</a:t>
            </a:r>
            <a:endParaRPr/>
          </a:p>
        </p:txBody>
      </p:sp>
      <p:sp>
        <p:nvSpPr>
          <p:cNvPr id="936" name="Google Shape;936;p45"/>
          <p:cNvSpPr txBox="1"/>
          <p:nvPr/>
        </p:nvSpPr>
        <p:spPr>
          <a:xfrm>
            <a:off x="987552" y="3849624"/>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NMI No</a:t>
            </a:r>
            <a:endParaRPr/>
          </a:p>
        </p:txBody>
      </p:sp>
      <p:pic>
        <p:nvPicPr>
          <p:cNvPr id="937" name="Google Shape;937;p45"/>
          <p:cNvPicPr preferRelativeResize="0"/>
          <p:nvPr/>
        </p:nvPicPr>
        <p:blipFill rotWithShape="1">
          <a:blip r:embed="rId7">
            <a:alphaModFix/>
          </a:blip>
          <a:srcRect b="0" l="0" r="0" t="0"/>
          <a:stretch/>
        </p:blipFill>
        <p:spPr>
          <a:xfrm>
            <a:off x="2679192" y="3904488"/>
            <a:ext cx="237744" cy="237744"/>
          </a:xfrm>
          <a:prstGeom prst="rect">
            <a:avLst/>
          </a:prstGeom>
          <a:noFill/>
          <a:ln>
            <a:noFill/>
          </a:ln>
        </p:spPr>
      </p:pic>
      <p:sp>
        <p:nvSpPr>
          <p:cNvPr id="938" name="Google Shape;938;p45"/>
          <p:cNvSpPr/>
          <p:nvPr/>
        </p:nvSpPr>
        <p:spPr>
          <a:xfrm>
            <a:off x="566928" y="4288536"/>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CONFIRMED BEHAVIOR</a:t>
            </a:r>
            <a:endParaRPr/>
          </a:p>
          <a:p>
            <a:pPr indent="0" lvl="0" marL="0" marR="0" rtl="0" algn="l">
              <a:lnSpc>
                <a:spcPct val="100000"/>
              </a:lnSpc>
              <a:spcBef>
                <a:spcPts val="200"/>
              </a:spcBef>
              <a:spcAft>
                <a:spcPts val="0"/>
              </a:spcAft>
              <a:buNone/>
            </a:pPr>
            <a:r>
              <a:rPr b="0" lang="en-US" sz="975">
                <a:solidFill>
                  <a:srgbClr val="1F2A37"/>
                </a:solidFill>
                <a:latin typeface="Barlow"/>
                <a:ea typeface="Barlow"/>
                <a:cs typeface="Barlow"/>
                <a:sym typeface="Barlow"/>
              </a:rPr>
              <a:t>Deleting NMI No on the edit screen of an uninstalled unit locks out manual re-entry.</a:t>
            </a:r>
            <a:endParaRPr/>
          </a:p>
        </p:txBody>
      </p:sp>
      <p:cxnSp>
        <p:nvCxnSpPr>
          <p:cNvPr id="939" name="Google Shape;939;p45"/>
          <p:cNvCxnSpPr/>
          <p:nvPr/>
        </p:nvCxnSpPr>
        <p:spPr>
          <a:xfrm>
            <a:off x="1760220" y="5074920"/>
            <a:ext cx="0" cy="128016"/>
          </a:xfrm>
          <a:prstGeom prst="straightConnector1">
            <a:avLst/>
          </a:prstGeom>
          <a:noFill/>
          <a:ln cap="flat" cmpd="sng" w="15875">
            <a:solidFill>
              <a:srgbClr val="0B2F5B"/>
            </a:solidFill>
            <a:prstDash val="solid"/>
            <a:round/>
            <a:headEnd len="sm" w="sm" type="none"/>
            <a:tailEnd len="med" w="med" type="triangle"/>
          </a:ln>
        </p:spPr>
      </p:cxnSp>
      <p:sp>
        <p:nvSpPr>
          <p:cNvPr id="940" name="Google Shape;940;p45"/>
          <p:cNvSpPr/>
          <p:nvPr/>
        </p:nvSpPr>
        <p:spPr>
          <a:xfrm>
            <a:off x="566928" y="5202936"/>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DESIGN DECISION</a:t>
            </a:r>
            <a:endParaRPr/>
          </a:p>
          <a:p>
            <a:pPr indent="0" lvl="0" marL="0" marR="0" rtl="0" algn="l">
              <a:lnSpc>
                <a:spcPct val="100000"/>
              </a:lnSpc>
              <a:spcBef>
                <a:spcPts val="200"/>
              </a:spcBef>
              <a:spcAft>
                <a:spcPts val="0"/>
              </a:spcAft>
              <a:buNone/>
            </a:pPr>
            <a:r>
              <a:rPr b="0" lang="en-US" sz="975">
                <a:solidFill>
                  <a:srgbClr val="FFFFFF"/>
                </a:solidFill>
                <a:latin typeface="Barlow"/>
                <a:ea typeface="Barlow"/>
                <a:cs typeface="Barlow"/>
                <a:sym typeface="Barlow"/>
              </a:rPr>
              <a:t>NMI No is treated as a server-issued asset: lookup picker with Re-fetch, preloaded at pre-sync.</a:t>
            </a:r>
            <a:endParaRPr/>
          </a:p>
        </p:txBody>
      </p:sp>
      <p:sp>
        <p:nvSpPr>
          <p:cNvPr id="941" name="Google Shape;941;p45"/>
          <p:cNvSpPr/>
          <p:nvPr/>
        </p:nvSpPr>
        <p:spPr>
          <a:xfrm>
            <a:off x="3246120" y="3758184"/>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2" name="Google Shape;942;p45"/>
          <p:cNvSpPr/>
          <p:nvPr/>
        </p:nvSpPr>
        <p:spPr>
          <a:xfrm>
            <a:off x="3374136" y="3867912"/>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6</a:t>
            </a:r>
            <a:endParaRPr/>
          </a:p>
        </p:txBody>
      </p:sp>
      <p:sp>
        <p:nvSpPr>
          <p:cNvPr id="943" name="Google Shape;943;p45"/>
          <p:cNvSpPr txBox="1"/>
          <p:nvPr/>
        </p:nvSpPr>
        <p:spPr>
          <a:xfrm>
            <a:off x="3776472" y="3849624"/>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Energy Policy and Pricing</a:t>
            </a:r>
            <a:endParaRPr/>
          </a:p>
        </p:txBody>
      </p:sp>
      <p:pic>
        <p:nvPicPr>
          <p:cNvPr id="944" name="Google Shape;944;p45"/>
          <p:cNvPicPr preferRelativeResize="0"/>
          <p:nvPr/>
        </p:nvPicPr>
        <p:blipFill rotWithShape="1">
          <a:blip r:embed="rId8">
            <a:alphaModFix/>
          </a:blip>
          <a:srcRect b="0" l="0" r="0" t="0"/>
          <a:stretch/>
        </p:blipFill>
        <p:spPr>
          <a:xfrm>
            <a:off x="5468112" y="3904488"/>
            <a:ext cx="237744" cy="237744"/>
          </a:xfrm>
          <a:prstGeom prst="rect">
            <a:avLst/>
          </a:prstGeom>
          <a:noFill/>
          <a:ln>
            <a:noFill/>
          </a:ln>
        </p:spPr>
      </p:pic>
      <p:sp>
        <p:nvSpPr>
          <p:cNvPr id="945" name="Google Shape;945;p45"/>
          <p:cNvSpPr/>
          <p:nvPr/>
        </p:nvSpPr>
        <p:spPr>
          <a:xfrm>
            <a:off x="3355848" y="4288536"/>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CONFIRMED BEHAVIOR</a:t>
            </a:r>
            <a:endParaRPr/>
          </a:p>
          <a:p>
            <a:pPr indent="0" lvl="0" marL="0" marR="0" rtl="0" algn="l">
              <a:lnSpc>
                <a:spcPct val="100000"/>
              </a:lnSpc>
              <a:spcBef>
                <a:spcPts val="200"/>
              </a:spcBef>
              <a:spcAft>
                <a:spcPts val="0"/>
              </a:spcAft>
              <a:buNone/>
            </a:pPr>
            <a:r>
              <a:rPr b="0" lang="en-US" sz="975">
                <a:solidFill>
                  <a:srgbClr val="1F2A37"/>
                </a:solidFill>
                <a:latin typeface="Barlow"/>
                <a:ea typeface="Barlow"/>
                <a:cs typeface="Barlow"/>
                <a:sym typeface="Barlow"/>
              </a:rPr>
              <a:t>Pricing is blocked in Standby. The per-kWh form unlocks only in Time-based mode.</a:t>
            </a:r>
            <a:endParaRPr/>
          </a:p>
        </p:txBody>
      </p:sp>
      <p:cxnSp>
        <p:nvCxnSpPr>
          <p:cNvPr id="946" name="Google Shape;946;p45"/>
          <p:cNvCxnSpPr/>
          <p:nvPr/>
        </p:nvCxnSpPr>
        <p:spPr>
          <a:xfrm>
            <a:off x="4549140" y="5074920"/>
            <a:ext cx="0" cy="128016"/>
          </a:xfrm>
          <a:prstGeom prst="straightConnector1">
            <a:avLst/>
          </a:prstGeom>
          <a:noFill/>
          <a:ln cap="flat" cmpd="sng" w="15875">
            <a:solidFill>
              <a:srgbClr val="0B2F5B"/>
            </a:solidFill>
            <a:prstDash val="solid"/>
            <a:round/>
            <a:headEnd len="sm" w="sm" type="none"/>
            <a:tailEnd len="med" w="med" type="triangle"/>
          </a:ln>
        </p:spPr>
      </p:cxnSp>
      <p:sp>
        <p:nvSpPr>
          <p:cNvPr id="947" name="Google Shape;947;p45"/>
          <p:cNvSpPr/>
          <p:nvPr/>
        </p:nvSpPr>
        <p:spPr>
          <a:xfrm>
            <a:off x="3355848" y="5202936"/>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DESIGN DECISION</a:t>
            </a:r>
            <a:endParaRPr/>
          </a:p>
          <a:p>
            <a:pPr indent="0" lvl="0" marL="0" marR="0" rtl="0" algn="l">
              <a:lnSpc>
                <a:spcPct val="100000"/>
              </a:lnSpc>
              <a:spcBef>
                <a:spcPts val="200"/>
              </a:spcBef>
              <a:spcAft>
                <a:spcPts val="0"/>
              </a:spcAft>
              <a:buNone/>
            </a:pPr>
            <a:r>
              <a:rPr b="0" lang="en-US" sz="975">
                <a:solidFill>
                  <a:srgbClr val="FFFFFF"/>
                </a:solidFill>
                <a:latin typeface="Barlow"/>
                <a:ea typeface="Barlow"/>
                <a:cs typeface="Barlow"/>
                <a:sym typeface="Barlow"/>
              </a:rPr>
              <a:t>Pricing availability is read from device data, not from local UI state.</a:t>
            </a:r>
            <a:endParaRPr/>
          </a:p>
        </p:txBody>
      </p:sp>
      <p:sp>
        <p:nvSpPr>
          <p:cNvPr id="948" name="Google Shape;948;p45"/>
          <p:cNvSpPr/>
          <p:nvPr/>
        </p:nvSpPr>
        <p:spPr>
          <a:xfrm>
            <a:off x="6035040" y="3758184"/>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 name="Google Shape;949;p45"/>
          <p:cNvSpPr/>
          <p:nvPr/>
        </p:nvSpPr>
        <p:spPr>
          <a:xfrm>
            <a:off x="6163056" y="3867912"/>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7</a:t>
            </a:r>
            <a:endParaRPr/>
          </a:p>
        </p:txBody>
      </p:sp>
      <p:sp>
        <p:nvSpPr>
          <p:cNvPr id="950" name="Google Shape;950;p45"/>
          <p:cNvSpPr txBox="1"/>
          <p:nvPr/>
        </p:nvSpPr>
        <p:spPr>
          <a:xfrm>
            <a:off x="6565392" y="3849624"/>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Master switches</a:t>
            </a:r>
            <a:endParaRPr/>
          </a:p>
        </p:txBody>
      </p:sp>
      <p:pic>
        <p:nvPicPr>
          <p:cNvPr id="951" name="Google Shape;951;p45"/>
          <p:cNvPicPr preferRelativeResize="0"/>
          <p:nvPr/>
        </p:nvPicPr>
        <p:blipFill rotWithShape="1">
          <a:blip r:embed="rId9">
            <a:alphaModFix/>
          </a:blip>
          <a:srcRect b="0" l="0" r="0" t="0"/>
          <a:stretch/>
        </p:blipFill>
        <p:spPr>
          <a:xfrm>
            <a:off x="8257032" y="3904488"/>
            <a:ext cx="237744" cy="237744"/>
          </a:xfrm>
          <a:prstGeom prst="rect">
            <a:avLst/>
          </a:prstGeom>
          <a:noFill/>
          <a:ln>
            <a:noFill/>
          </a:ln>
        </p:spPr>
      </p:pic>
      <p:sp>
        <p:nvSpPr>
          <p:cNvPr id="952" name="Google Shape;952;p45"/>
          <p:cNvSpPr/>
          <p:nvPr/>
        </p:nvSpPr>
        <p:spPr>
          <a:xfrm>
            <a:off x="6144768" y="4288536"/>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CONFIRMED BEHAVIOR</a:t>
            </a:r>
            <a:endParaRPr/>
          </a:p>
          <a:p>
            <a:pPr indent="0" lvl="0" marL="0" marR="0" rtl="0" algn="l">
              <a:lnSpc>
                <a:spcPct val="100000"/>
              </a:lnSpc>
              <a:spcBef>
                <a:spcPts val="200"/>
              </a:spcBef>
              <a:spcAft>
                <a:spcPts val="0"/>
              </a:spcAft>
              <a:buNone/>
            </a:pPr>
            <a:r>
              <a:rPr b="0" lang="en-US" sz="975">
                <a:solidFill>
                  <a:srgbClr val="1F2A37"/>
                </a:solidFill>
                <a:latin typeface="Barlow"/>
                <a:ea typeface="Barlow"/>
                <a:cs typeface="Barlow"/>
                <a:sym typeface="Barlow"/>
              </a:rPr>
              <a:t>Off-Grid: standalone run on solar and battery when the grid is lost. Test Site: pre-commercial test unit.</a:t>
            </a:r>
            <a:endParaRPr/>
          </a:p>
        </p:txBody>
      </p:sp>
      <p:cxnSp>
        <p:nvCxnSpPr>
          <p:cNvPr id="953" name="Google Shape;953;p45"/>
          <p:cNvCxnSpPr/>
          <p:nvPr/>
        </p:nvCxnSpPr>
        <p:spPr>
          <a:xfrm>
            <a:off x="7338060" y="5074920"/>
            <a:ext cx="0" cy="128016"/>
          </a:xfrm>
          <a:prstGeom prst="straightConnector1">
            <a:avLst/>
          </a:prstGeom>
          <a:noFill/>
          <a:ln cap="flat" cmpd="sng" w="15875">
            <a:solidFill>
              <a:srgbClr val="0B2F5B"/>
            </a:solidFill>
            <a:prstDash val="solid"/>
            <a:round/>
            <a:headEnd len="sm" w="sm" type="none"/>
            <a:tailEnd len="med" w="med" type="triangle"/>
          </a:ln>
        </p:spPr>
      </p:cxnSp>
      <p:sp>
        <p:nvSpPr>
          <p:cNvPr id="954" name="Google Shape;954;p45"/>
          <p:cNvSpPr/>
          <p:nvPr/>
        </p:nvSpPr>
        <p:spPr>
          <a:xfrm>
            <a:off x="6144768" y="5202936"/>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DESIGN DECISION</a:t>
            </a:r>
            <a:endParaRPr/>
          </a:p>
          <a:p>
            <a:pPr indent="0" lvl="0" marL="0" marR="0" rtl="0" algn="l">
              <a:lnSpc>
                <a:spcPct val="100000"/>
              </a:lnSpc>
              <a:spcBef>
                <a:spcPts val="200"/>
              </a:spcBef>
              <a:spcAft>
                <a:spcPts val="0"/>
              </a:spcAft>
              <a:buNone/>
            </a:pPr>
            <a:r>
              <a:rPr b="0" lang="en-US" sz="975">
                <a:solidFill>
                  <a:srgbClr val="FFFFFF"/>
                </a:solidFill>
                <a:latin typeface="Barlow"/>
                <a:ea typeface="Barlow"/>
                <a:cs typeface="Barlow"/>
                <a:sym typeface="Barlow"/>
              </a:rPr>
              <a:t>Two-step confirmation for Off-Grid. Warning banner before Run for Test Site.</a:t>
            </a:r>
            <a:endParaRPr/>
          </a:p>
        </p:txBody>
      </p:sp>
      <p:sp>
        <p:nvSpPr>
          <p:cNvPr id="955" name="Google Shape;955;p45"/>
          <p:cNvSpPr/>
          <p:nvPr/>
        </p:nvSpPr>
        <p:spPr>
          <a:xfrm>
            <a:off x="8823960" y="3758184"/>
            <a:ext cx="2606040" cy="234086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 name="Google Shape;956;p45"/>
          <p:cNvSpPr txBox="1"/>
          <p:nvPr/>
        </p:nvSpPr>
        <p:spPr>
          <a:xfrm>
            <a:off x="8970264" y="3886200"/>
            <a:ext cx="23317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HOW TO READ THIS PAGE</a:t>
            </a:r>
            <a:endParaRPr/>
          </a:p>
        </p:txBody>
      </p:sp>
      <p:sp>
        <p:nvSpPr>
          <p:cNvPr id="957" name="Google Shape;957;p45"/>
          <p:cNvSpPr/>
          <p:nvPr/>
        </p:nvSpPr>
        <p:spPr>
          <a:xfrm>
            <a:off x="8970264" y="4178808"/>
            <a:ext cx="1564374" cy="166687"/>
          </a:xfrm>
          <a:prstGeom prst="roundRect">
            <a:avLst>
              <a:gd fmla="val 50000" name="adj"/>
            </a:avLst>
          </a:prstGeom>
          <a:solidFill>
            <a:srgbClr val="EAF2FB"/>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750">
                <a:solidFill>
                  <a:srgbClr val="1867DC"/>
                </a:solidFill>
                <a:latin typeface="Montserrat"/>
                <a:ea typeface="Montserrat"/>
                <a:cs typeface="Montserrat"/>
                <a:sym typeface="Montserrat"/>
              </a:rPr>
              <a:t>CONFIRMED BEHAVIOR</a:t>
            </a:r>
            <a:endParaRPr/>
          </a:p>
        </p:txBody>
      </p:sp>
      <p:sp>
        <p:nvSpPr>
          <p:cNvPr id="958" name="Google Shape;958;p45"/>
          <p:cNvSpPr txBox="1"/>
          <p:nvPr/>
        </p:nvSpPr>
        <p:spPr>
          <a:xfrm>
            <a:off x="8970264" y="4407408"/>
            <a:ext cx="2331720"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What the team established from the app's UX.</a:t>
            </a:r>
            <a:endParaRPr/>
          </a:p>
        </p:txBody>
      </p:sp>
      <p:sp>
        <p:nvSpPr>
          <p:cNvPr id="959" name="Google Shape;959;p45"/>
          <p:cNvSpPr/>
          <p:nvPr/>
        </p:nvSpPr>
        <p:spPr>
          <a:xfrm>
            <a:off x="8970264" y="4764024"/>
            <a:ext cx="1257661" cy="166687"/>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750">
                <a:solidFill>
                  <a:srgbClr val="FFFFFF"/>
                </a:solidFill>
                <a:latin typeface="Montserrat"/>
                <a:ea typeface="Montserrat"/>
                <a:cs typeface="Montserrat"/>
                <a:sym typeface="Montserrat"/>
              </a:rPr>
              <a:t>DESIGN DECISION</a:t>
            </a:r>
            <a:endParaRPr/>
          </a:p>
        </p:txBody>
      </p:sp>
      <p:sp>
        <p:nvSpPr>
          <p:cNvPr id="960" name="Google Shape;960;p45"/>
          <p:cNvSpPr txBox="1"/>
          <p:nvPr/>
        </p:nvSpPr>
        <p:spPr>
          <a:xfrm>
            <a:off x="8970264" y="4992624"/>
            <a:ext cx="2331720"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What we would build in response. Assumed until Qcells confirms.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46"/>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ERROR AND RECOVERY PATHS · PROPOSED HANDLING</a:t>
            </a:r>
            <a:endParaRPr/>
          </a:p>
        </p:txBody>
      </p:sp>
      <p:sp>
        <p:nvSpPr>
          <p:cNvPr id="967" name="Google Shape;967;p46"/>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Device read-back is the source of truth, so app and device stay in sync</a:t>
            </a:r>
            <a:endParaRPr/>
          </a:p>
        </p:txBody>
      </p:sp>
      <p:sp>
        <p:nvSpPr>
          <p:cNvPr id="968" name="Google Shape;968;p46"/>
          <p:cNvSpPr txBox="1"/>
          <p:nvPr/>
        </p:nvSpPr>
        <p:spPr>
          <a:xfrm>
            <a:off x="457200" y="1216152"/>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THE PRINCIPLE</a:t>
            </a:r>
            <a:endParaRPr/>
          </a:p>
        </p:txBody>
      </p:sp>
      <p:sp>
        <p:nvSpPr>
          <p:cNvPr id="969" name="Google Shape;969;p46"/>
          <p:cNvSpPr/>
          <p:nvPr/>
        </p:nvSpPr>
        <p:spPr>
          <a:xfrm>
            <a:off x="457200" y="1481328"/>
            <a:ext cx="3520440" cy="658368"/>
          </a:xfrm>
          <a:prstGeom prst="roundRect">
            <a:avLst>
              <a:gd fmla="val 8333" name="adj"/>
            </a:avLst>
          </a:prstGeom>
          <a:solidFill>
            <a:srgbClr val="0B2F5B"/>
          </a:solidFill>
          <a:ln>
            <a:noFill/>
          </a:ln>
        </p:spPr>
        <p:txBody>
          <a:bodyPr anchorCtr="0" anchor="ctr" bIns="36575" lIns="566925" spcFirstLastPara="1" rIns="73150" wrap="square" tIns="36575">
            <a:noAutofit/>
          </a:bodyPr>
          <a:lstStyle/>
          <a:p>
            <a:pPr indent="0" lvl="0" marL="0" marR="0" rtl="0" algn="l">
              <a:lnSpc>
                <a:spcPct val="100000"/>
              </a:lnSpc>
              <a:spcBef>
                <a:spcPts val="0"/>
              </a:spcBef>
              <a:spcAft>
                <a:spcPts val="0"/>
              </a:spcAft>
              <a:buNone/>
            </a:pPr>
            <a:r>
              <a:rPr b="1" lang="en-US" sz="1050">
                <a:solidFill>
                  <a:srgbClr val="FFFFFF"/>
                </a:solidFill>
                <a:latin typeface="Montserrat"/>
                <a:ea typeface="Montserrat"/>
                <a:cs typeface="Montserrat"/>
                <a:sym typeface="Montserrat"/>
              </a:rPr>
              <a:t>Device read-back is the final source of truth</a:t>
            </a:r>
            <a:endParaRPr/>
          </a:p>
          <a:p>
            <a:pPr indent="0" lvl="0" marL="0" marR="0" rtl="0" algn="l">
              <a:lnSpc>
                <a:spcPct val="100000"/>
              </a:lnSpc>
              <a:spcBef>
                <a:spcPts val="150"/>
              </a:spcBef>
              <a:spcAft>
                <a:spcPts val="0"/>
              </a:spcAft>
              <a:buNone/>
            </a:pPr>
            <a:r>
              <a:rPr b="0" lang="en-US" sz="925">
                <a:solidFill>
                  <a:srgbClr val="DCE8F7"/>
                </a:solidFill>
                <a:latin typeface="Barlow"/>
                <a:ea typeface="Barlow"/>
                <a:cs typeface="Barlow"/>
                <a:sym typeface="Barlow"/>
              </a:rPr>
              <a:t>No job ends with the app and the device out of sync</a:t>
            </a:r>
            <a:endParaRPr/>
          </a:p>
        </p:txBody>
      </p:sp>
      <p:pic>
        <p:nvPicPr>
          <p:cNvPr id="970" name="Google Shape;970;p46"/>
          <p:cNvPicPr preferRelativeResize="0"/>
          <p:nvPr/>
        </p:nvPicPr>
        <p:blipFill rotWithShape="1">
          <a:blip r:embed="rId3">
            <a:alphaModFix/>
          </a:blip>
          <a:srcRect b="0" l="0" r="0" t="0"/>
          <a:stretch/>
        </p:blipFill>
        <p:spPr>
          <a:xfrm>
            <a:off x="603504" y="1664208"/>
            <a:ext cx="292608" cy="292608"/>
          </a:xfrm>
          <a:prstGeom prst="rect">
            <a:avLst/>
          </a:prstGeom>
          <a:noFill/>
          <a:ln>
            <a:noFill/>
          </a:ln>
        </p:spPr>
      </p:pic>
      <p:sp>
        <p:nvSpPr>
          <p:cNvPr id="971" name="Google Shape;971;p46"/>
          <p:cNvSpPr txBox="1"/>
          <p:nvPr/>
        </p:nvSpPr>
        <p:spPr>
          <a:xfrm>
            <a:off x="4343400" y="1216152"/>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APPLIED TO THE WRITE, APPLY AND FLASH CASES</a:t>
            </a:r>
            <a:endParaRPr/>
          </a:p>
        </p:txBody>
      </p:sp>
      <p:sp>
        <p:nvSpPr>
          <p:cNvPr id="972" name="Google Shape;972;p46"/>
          <p:cNvSpPr/>
          <p:nvPr/>
        </p:nvSpPr>
        <p:spPr>
          <a:xfrm>
            <a:off x="4343400" y="1481328"/>
            <a:ext cx="2057400" cy="658368"/>
          </a:xfrm>
          <a:prstGeom prst="roundRect">
            <a:avLst>
              <a:gd fmla="val 8333" name="adj"/>
            </a:avLst>
          </a:prstGeom>
          <a:solidFill>
            <a:srgbClr val="FFFFFF"/>
          </a:solidFill>
          <a:ln cap="flat" cmpd="sng" w="12700">
            <a:solidFill>
              <a:srgbClr val="0B2F5B"/>
            </a:solidFill>
            <a:prstDash val="solid"/>
            <a:round/>
            <a:headEnd len="sm" w="sm" type="none"/>
            <a:tailEnd len="sm" w="sm" type="none"/>
          </a:ln>
        </p:spPr>
        <p:txBody>
          <a:bodyPr anchorCtr="0" anchor="ctr" bIns="36575" lIns="457200" spcFirstLastPara="1" rIns="36575" wrap="square" tIns="3657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Read back the device</a:t>
            </a:r>
            <a:endParaRPr/>
          </a:p>
          <a:p>
            <a:pPr indent="0" lvl="0" marL="0" marR="0" rtl="0" algn="l">
              <a:lnSpc>
                <a:spcPct val="100000"/>
              </a:lnSpc>
              <a:spcBef>
                <a:spcPts val="100"/>
              </a:spcBef>
              <a:spcAft>
                <a:spcPts val="0"/>
              </a:spcAft>
              <a:buNone/>
            </a:pPr>
            <a:r>
              <a:rPr b="0" lang="en-US" sz="925">
                <a:solidFill>
                  <a:srgbClr val="5F6B7A"/>
                </a:solidFill>
                <a:latin typeface="Barlow"/>
                <a:ea typeface="Barlow"/>
                <a:cs typeface="Barlow"/>
                <a:sym typeface="Barlow"/>
              </a:rPr>
              <a:t>State, register or version</a:t>
            </a:r>
            <a:endParaRPr/>
          </a:p>
        </p:txBody>
      </p:sp>
      <p:sp>
        <p:nvSpPr>
          <p:cNvPr id="973" name="Google Shape;973;p46"/>
          <p:cNvSpPr/>
          <p:nvPr/>
        </p:nvSpPr>
        <p:spPr>
          <a:xfrm>
            <a:off x="4434840" y="1673352"/>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1</a:t>
            </a:r>
            <a:endParaRPr/>
          </a:p>
        </p:txBody>
      </p:sp>
      <p:sp>
        <p:nvSpPr>
          <p:cNvPr id="974" name="Google Shape;974;p46"/>
          <p:cNvSpPr/>
          <p:nvPr/>
        </p:nvSpPr>
        <p:spPr>
          <a:xfrm>
            <a:off x="6656832" y="1481328"/>
            <a:ext cx="2697480" cy="658368"/>
          </a:xfrm>
          <a:prstGeom prst="roundRect">
            <a:avLst>
              <a:gd fmla="val 8333" name="adj"/>
            </a:avLst>
          </a:prstGeom>
          <a:solidFill>
            <a:srgbClr val="FFFFFF"/>
          </a:solidFill>
          <a:ln cap="flat" cmpd="sng" w="12700">
            <a:solidFill>
              <a:srgbClr val="0B2F5B"/>
            </a:solidFill>
            <a:prstDash val="solid"/>
            <a:round/>
            <a:headEnd len="sm" w="sm" type="none"/>
            <a:tailEnd len="sm" w="sm" type="none"/>
          </a:ln>
        </p:spPr>
        <p:txBody>
          <a:bodyPr anchorCtr="0" anchor="ctr" bIns="36575" lIns="457200" spcFirstLastPara="1" rIns="36575" wrap="square" tIns="3657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Compare with the intended change</a:t>
            </a:r>
            <a:endParaRPr/>
          </a:p>
          <a:p>
            <a:pPr indent="0" lvl="0" marL="0" marR="0" rtl="0" algn="l">
              <a:lnSpc>
                <a:spcPct val="100000"/>
              </a:lnSpc>
              <a:spcBef>
                <a:spcPts val="100"/>
              </a:spcBef>
              <a:spcAft>
                <a:spcPts val="0"/>
              </a:spcAft>
              <a:buNone/>
            </a:pPr>
            <a:r>
              <a:rPr b="0" lang="en-US" sz="925">
                <a:solidFill>
                  <a:srgbClr val="5F6B7A"/>
                </a:solidFill>
                <a:latin typeface="Barlow"/>
                <a:ea typeface="Barlow"/>
                <a:cs typeface="Barlow"/>
                <a:sym typeface="Barlow"/>
              </a:rPr>
              <a:t>Was it applied?</a:t>
            </a:r>
            <a:endParaRPr/>
          </a:p>
        </p:txBody>
      </p:sp>
      <p:sp>
        <p:nvSpPr>
          <p:cNvPr id="975" name="Google Shape;975;p46"/>
          <p:cNvSpPr/>
          <p:nvPr/>
        </p:nvSpPr>
        <p:spPr>
          <a:xfrm>
            <a:off x="6748272" y="1673352"/>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2</a:t>
            </a:r>
            <a:endParaRPr/>
          </a:p>
        </p:txBody>
      </p:sp>
      <p:cxnSp>
        <p:nvCxnSpPr>
          <p:cNvPr id="976" name="Google Shape;976;p46"/>
          <p:cNvCxnSpPr>
            <a:stCxn id="972" idx="3"/>
            <a:endCxn id="974" idx="1"/>
          </p:cNvCxnSpPr>
          <p:nvPr/>
        </p:nvCxnSpPr>
        <p:spPr>
          <a:xfrm>
            <a:off x="6400800" y="1810512"/>
            <a:ext cx="255900" cy="0"/>
          </a:xfrm>
          <a:prstGeom prst="straightConnector1">
            <a:avLst/>
          </a:prstGeom>
          <a:noFill/>
          <a:ln cap="flat" cmpd="sng" w="15875">
            <a:solidFill>
              <a:srgbClr val="0B2F5B"/>
            </a:solidFill>
            <a:prstDash val="solid"/>
            <a:round/>
            <a:headEnd len="sm" w="sm" type="none"/>
            <a:tailEnd len="med" w="med" type="triangle"/>
          </a:ln>
        </p:spPr>
      </p:cxnSp>
      <p:sp>
        <p:nvSpPr>
          <p:cNvPr id="977" name="Google Shape;977;p46"/>
          <p:cNvSpPr/>
          <p:nvPr/>
        </p:nvSpPr>
        <p:spPr>
          <a:xfrm>
            <a:off x="9701784" y="1481328"/>
            <a:ext cx="1728215" cy="301752"/>
          </a:xfrm>
          <a:prstGeom prst="roundRect">
            <a:avLst>
              <a:gd fmla="val 18181" name="adj"/>
            </a:avLst>
          </a:prstGeom>
          <a:solidFill>
            <a:srgbClr val="E6F4EA"/>
          </a:solidFill>
          <a:ln cap="flat" cmpd="sng" w="9525">
            <a:solidFill>
              <a:srgbClr val="8CC9A6"/>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50">
                <a:solidFill>
                  <a:srgbClr val="1E7B4F"/>
                </a:solidFill>
                <a:latin typeface="Barlow"/>
                <a:ea typeface="Barlow"/>
                <a:cs typeface="Barlow"/>
                <a:sym typeface="Barlow"/>
              </a:rPr>
              <a:t>Applied</a:t>
            </a:r>
            <a:r>
              <a:rPr b="0" lang="en-US" sz="950">
                <a:solidFill>
                  <a:srgbClr val="1E7B4F"/>
                </a:solidFill>
                <a:latin typeface="Barlow"/>
                <a:ea typeface="Barlow"/>
                <a:cs typeface="Barlow"/>
                <a:sym typeface="Barlow"/>
              </a:rPr>
              <a:t> → complete</a:t>
            </a:r>
            <a:endParaRPr/>
          </a:p>
        </p:txBody>
      </p:sp>
      <p:sp>
        <p:nvSpPr>
          <p:cNvPr id="978" name="Google Shape;978;p46"/>
          <p:cNvSpPr/>
          <p:nvPr/>
        </p:nvSpPr>
        <p:spPr>
          <a:xfrm>
            <a:off x="9701784" y="1837943"/>
            <a:ext cx="1728215" cy="301752"/>
          </a:xfrm>
          <a:prstGeom prst="roundRect">
            <a:avLst>
              <a:gd fmla="val 18181" name="adj"/>
            </a:avLst>
          </a:prstGeom>
          <a:solidFill>
            <a:srgbClr val="FFF4E0"/>
          </a:solidFill>
          <a:ln cap="flat" cmpd="sng" w="9525">
            <a:solidFill>
              <a:srgbClr val="F0A93B"/>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50">
                <a:solidFill>
                  <a:srgbClr val="9A5B00"/>
                </a:solidFill>
                <a:latin typeface="Barlow"/>
                <a:ea typeface="Barlow"/>
                <a:cs typeface="Barlow"/>
                <a:sym typeface="Barlow"/>
              </a:rPr>
              <a:t>Not applied</a:t>
            </a:r>
            <a:r>
              <a:rPr b="0" lang="en-US" sz="950">
                <a:solidFill>
                  <a:srgbClr val="9A5B00"/>
                </a:solidFill>
                <a:latin typeface="Barlow"/>
                <a:ea typeface="Barlow"/>
                <a:cs typeface="Barlow"/>
                <a:sym typeface="Barlow"/>
              </a:rPr>
              <a:t> → redo</a:t>
            </a:r>
            <a:endParaRPr/>
          </a:p>
        </p:txBody>
      </p:sp>
      <p:sp>
        <p:nvSpPr>
          <p:cNvPr id="979" name="Google Shape;979;p46"/>
          <p:cNvSpPr/>
          <p:nvPr/>
        </p:nvSpPr>
        <p:spPr>
          <a:xfrm>
            <a:off x="9354312" y="1632204"/>
            <a:ext cx="347472" cy="178308"/>
          </a:xfrm>
          <a:custGeom>
            <a:rect b="b" l="l" r="r" t="t"/>
            <a:pathLst>
              <a:path extrusionOk="0" h="178308" w="347472">
                <a:moveTo>
                  <a:pt x="0" y="178308"/>
                </a:moveTo>
                <a:lnTo>
                  <a:pt x="173736" y="178308"/>
                </a:lnTo>
                <a:lnTo>
                  <a:pt x="173736" y="0"/>
                </a:lnTo>
                <a:lnTo>
                  <a:pt x="347472" y="0"/>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0" name="Google Shape;980;p46"/>
          <p:cNvSpPr/>
          <p:nvPr/>
        </p:nvSpPr>
        <p:spPr>
          <a:xfrm>
            <a:off x="9354312" y="1810512"/>
            <a:ext cx="347472" cy="178307"/>
          </a:xfrm>
          <a:custGeom>
            <a:rect b="b" l="l" r="r" t="t"/>
            <a:pathLst>
              <a:path extrusionOk="0" h="178307" w="347472">
                <a:moveTo>
                  <a:pt x="0" y="0"/>
                </a:moveTo>
                <a:lnTo>
                  <a:pt x="173736" y="0"/>
                </a:lnTo>
                <a:lnTo>
                  <a:pt x="173736" y="178307"/>
                </a:lnTo>
                <a:lnTo>
                  <a:pt x="347472" y="178307"/>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1" name="Google Shape;981;p46"/>
          <p:cNvSpPr txBox="1"/>
          <p:nvPr/>
        </p:nvSpPr>
        <p:spPr>
          <a:xfrm>
            <a:off x="457200" y="2359152"/>
            <a:ext cx="73152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EIGHT FAILURE PATHS</a:t>
            </a:r>
            <a:endParaRPr/>
          </a:p>
        </p:txBody>
      </p:sp>
      <p:sp>
        <p:nvSpPr>
          <p:cNvPr id="982" name="Google Shape;982;p46"/>
          <p:cNvSpPr/>
          <p:nvPr/>
        </p:nvSpPr>
        <p:spPr>
          <a:xfrm>
            <a:off x="457200" y="2633472"/>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3" name="Google Shape;983;p46"/>
          <p:cNvSpPr/>
          <p:nvPr/>
        </p:nvSpPr>
        <p:spPr>
          <a:xfrm>
            <a:off x="585216" y="2761488"/>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84" name="Google Shape;984;p46"/>
          <p:cNvPicPr preferRelativeResize="0"/>
          <p:nvPr/>
        </p:nvPicPr>
        <p:blipFill rotWithShape="1">
          <a:blip r:embed="rId4">
            <a:alphaModFix/>
          </a:blip>
          <a:srcRect b="0" l="0" r="0" t="0"/>
          <a:stretch/>
        </p:blipFill>
        <p:spPr>
          <a:xfrm>
            <a:off x="665683" y="2841955"/>
            <a:ext cx="204825" cy="204825"/>
          </a:xfrm>
          <a:prstGeom prst="rect">
            <a:avLst/>
          </a:prstGeom>
          <a:noFill/>
          <a:ln>
            <a:noFill/>
          </a:ln>
        </p:spPr>
      </p:pic>
      <p:sp>
        <p:nvSpPr>
          <p:cNvPr id="985" name="Google Shape;985;p46"/>
          <p:cNvSpPr txBox="1"/>
          <p:nvPr/>
        </p:nvSpPr>
        <p:spPr>
          <a:xfrm>
            <a:off x="1042416" y="2743200"/>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CONNECT</a:t>
            </a:r>
            <a:endParaRPr/>
          </a:p>
        </p:txBody>
      </p:sp>
      <p:sp>
        <p:nvSpPr>
          <p:cNvPr id="986" name="Google Shape;986;p46"/>
          <p:cNvSpPr txBox="1"/>
          <p:nvPr/>
        </p:nvSpPr>
        <p:spPr>
          <a:xfrm>
            <a:off x="1042416" y="2898648"/>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Install Wizard scan failure</a:t>
            </a:r>
            <a:endParaRPr/>
          </a:p>
        </p:txBody>
      </p:sp>
      <p:sp>
        <p:nvSpPr>
          <p:cNvPr id="987" name="Google Shape;987;p46"/>
          <p:cNvSpPr txBox="1"/>
          <p:nvPr/>
        </p:nvSpPr>
        <p:spPr>
          <a:xfrm>
            <a:off x="585216" y="3310128"/>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Re-check the Serial No, move closer (RSSI shown), rescan the barcode.</a:t>
            </a:r>
            <a:endParaRPr/>
          </a:p>
        </p:txBody>
      </p:sp>
      <p:cxnSp>
        <p:nvCxnSpPr>
          <p:cNvPr id="988" name="Google Shape;988;p46"/>
          <p:cNvCxnSpPr/>
          <p:nvPr/>
        </p:nvCxnSpPr>
        <p:spPr>
          <a:xfrm>
            <a:off x="585216" y="3858768"/>
            <a:ext cx="2350008" cy="0"/>
          </a:xfrm>
          <a:prstGeom prst="straightConnector1">
            <a:avLst/>
          </a:prstGeom>
          <a:noFill/>
          <a:ln cap="flat" cmpd="sng" w="9525">
            <a:solidFill>
              <a:srgbClr val="C7D7EA"/>
            </a:solidFill>
            <a:prstDash val="solid"/>
            <a:round/>
            <a:headEnd len="sm" w="sm" type="none"/>
            <a:tailEnd len="sm" w="sm" type="none"/>
          </a:ln>
        </p:spPr>
      </p:cxnSp>
      <p:sp>
        <p:nvSpPr>
          <p:cNvPr id="989" name="Google Shape;989;p46"/>
          <p:cNvSpPr txBox="1"/>
          <p:nvPr/>
        </p:nvSpPr>
        <p:spPr>
          <a:xfrm>
            <a:off x="585216" y="3886200"/>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DETECTED BY  </a:t>
            </a:r>
            <a:r>
              <a:rPr b="0" lang="en-US" sz="900">
                <a:solidFill>
                  <a:srgbClr val="5F6B7A"/>
                </a:solidFill>
                <a:latin typeface="Barlow"/>
                <a:ea typeface="Barlow"/>
                <a:cs typeface="Barlow"/>
                <a:sym typeface="Barlow"/>
              </a:rPr>
              <a:t>No Local Name match within the timeout</a:t>
            </a:r>
            <a:endParaRPr/>
          </a:p>
        </p:txBody>
      </p:sp>
      <p:sp>
        <p:nvSpPr>
          <p:cNvPr id="990" name="Google Shape;990;p46"/>
          <p:cNvSpPr/>
          <p:nvPr/>
        </p:nvSpPr>
        <p:spPr>
          <a:xfrm>
            <a:off x="3246120" y="2633472"/>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1" name="Google Shape;991;p46"/>
          <p:cNvSpPr/>
          <p:nvPr/>
        </p:nvSpPr>
        <p:spPr>
          <a:xfrm>
            <a:off x="3374136" y="2761488"/>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92" name="Google Shape;992;p46"/>
          <p:cNvPicPr preferRelativeResize="0"/>
          <p:nvPr/>
        </p:nvPicPr>
        <p:blipFill rotWithShape="1">
          <a:blip r:embed="rId5">
            <a:alphaModFix/>
          </a:blip>
          <a:srcRect b="0" l="0" r="0" t="0"/>
          <a:stretch/>
        </p:blipFill>
        <p:spPr>
          <a:xfrm>
            <a:off x="3454603" y="2841955"/>
            <a:ext cx="204825" cy="204825"/>
          </a:xfrm>
          <a:prstGeom prst="rect">
            <a:avLst/>
          </a:prstGeom>
          <a:noFill/>
          <a:ln>
            <a:noFill/>
          </a:ln>
        </p:spPr>
      </p:pic>
      <p:sp>
        <p:nvSpPr>
          <p:cNvPr id="993" name="Google Shape;993;p46"/>
          <p:cNvSpPr txBox="1"/>
          <p:nvPr/>
        </p:nvSpPr>
        <p:spPr>
          <a:xfrm>
            <a:off x="3831336" y="2743200"/>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READ</a:t>
            </a:r>
            <a:endParaRPr/>
          </a:p>
        </p:txBody>
      </p:sp>
      <p:sp>
        <p:nvSpPr>
          <p:cNvPr id="994" name="Google Shape;994;p46"/>
          <p:cNvSpPr txBox="1"/>
          <p:nvPr/>
        </p:nvSpPr>
        <p:spPr>
          <a:xfrm>
            <a:off x="3831336" y="2898648"/>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BLE drop during bulk read</a:t>
            </a:r>
            <a:endParaRPr/>
          </a:p>
        </p:txBody>
      </p:sp>
      <p:sp>
        <p:nvSpPr>
          <p:cNvPr id="995" name="Google Shape;995;p46"/>
          <p:cNvSpPr txBox="1"/>
          <p:nvPr/>
        </p:nvSpPr>
        <p:spPr>
          <a:xfrm>
            <a:off x="3374136" y="3310128"/>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Release the UI lock, auto-reconnect once, then offer a retry.</a:t>
            </a:r>
            <a:endParaRPr/>
          </a:p>
        </p:txBody>
      </p:sp>
      <p:cxnSp>
        <p:nvCxnSpPr>
          <p:cNvPr id="996" name="Google Shape;996;p46"/>
          <p:cNvCxnSpPr/>
          <p:nvPr/>
        </p:nvCxnSpPr>
        <p:spPr>
          <a:xfrm>
            <a:off x="3374136" y="3858768"/>
            <a:ext cx="2350008" cy="0"/>
          </a:xfrm>
          <a:prstGeom prst="straightConnector1">
            <a:avLst/>
          </a:prstGeom>
          <a:noFill/>
          <a:ln cap="flat" cmpd="sng" w="9525">
            <a:solidFill>
              <a:srgbClr val="C7D7EA"/>
            </a:solidFill>
            <a:prstDash val="solid"/>
            <a:round/>
            <a:headEnd len="sm" w="sm" type="none"/>
            <a:tailEnd len="sm" w="sm" type="none"/>
          </a:ln>
        </p:spPr>
      </p:cxnSp>
      <p:sp>
        <p:nvSpPr>
          <p:cNvPr id="997" name="Google Shape;997;p46"/>
          <p:cNvSpPr txBox="1"/>
          <p:nvPr/>
        </p:nvSpPr>
        <p:spPr>
          <a:xfrm>
            <a:off x="3374136" y="3886200"/>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DETECTED BY  </a:t>
            </a:r>
            <a:r>
              <a:rPr b="0" lang="en-US" sz="900">
                <a:solidFill>
                  <a:srgbClr val="5F6B7A"/>
                </a:solidFill>
                <a:latin typeface="Barlow"/>
                <a:ea typeface="Barlow"/>
                <a:cs typeface="Barlow"/>
                <a:sym typeface="Barlow"/>
              </a:rPr>
              <a:t>didDisconnectPeripheral; pending continuations thrown</a:t>
            </a:r>
            <a:endParaRPr/>
          </a:p>
        </p:txBody>
      </p:sp>
      <p:sp>
        <p:nvSpPr>
          <p:cNvPr id="998" name="Google Shape;998;p46"/>
          <p:cNvSpPr/>
          <p:nvPr/>
        </p:nvSpPr>
        <p:spPr>
          <a:xfrm>
            <a:off x="6035040" y="2633472"/>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46"/>
          <p:cNvSpPr/>
          <p:nvPr/>
        </p:nvSpPr>
        <p:spPr>
          <a:xfrm>
            <a:off x="6163056" y="2761488"/>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00" name="Google Shape;1000;p46"/>
          <p:cNvPicPr preferRelativeResize="0"/>
          <p:nvPr/>
        </p:nvPicPr>
        <p:blipFill rotWithShape="1">
          <a:blip r:embed="rId6">
            <a:alphaModFix/>
          </a:blip>
          <a:srcRect b="0" l="0" r="0" t="0"/>
          <a:stretch/>
        </p:blipFill>
        <p:spPr>
          <a:xfrm>
            <a:off x="6243523" y="2841955"/>
            <a:ext cx="204825" cy="204825"/>
          </a:xfrm>
          <a:prstGeom prst="rect">
            <a:avLst/>
          </a:prstGeom>
          <a:noFill/>
          <a:ln>
            <a:noFill/>
          </a:ln>
        </p:spPr>
      </p:pic>
      <p:sp>
        <p:nvSpPr>
          <p:cNvPr id="1001" name="Google Shape;1001;p46"/>
          <p:cNvSpPr txBox="1"/>
          <p:nvPr/>
        </p:nvSpPr>
        <p:spPr>
          <a:xfrm>
            <a:off x="6620256" y="2743200"/>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WRITE</a:t>
            </a:r>
            <a:endParaRPr/>
          </a:p>
        </p:txBody>
      </p:sp>
      <p:sp>
        <p:nvSpPr>
          <p:cNvPr id="1002" name="Google Shape;1002;p46"/>
          <p:cNvSpPr txBox="1"/>
          <p:nvPr/>
        </p:nvSpPr>
        <p:spPr>
          <a:xfrm>
            <a:off x="6620256" y="2898648"/>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Write response timeout</a:t>
            </a:r>
            <a:endParaRPr/>
          </a:p>
        </p:txBody>
      </p:sp>
      <p:sp>
        <p:nvSpPr>
          <p:cNvPr id="1003" name="Google Shape;1003;p46"/>
          <p:cNvSpPr txBox="1"/>
          <p:nvPr/>
        </p:nvSpPr>
        <p:spPr>
          <a:xfrm>
            <a:off x="6163056" y="3310128"/>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No automatic resend. Reconnect, compare the read-back, resend with a new OTP only if not applied.</a:t>
            </a:r>
            <a:endParaRPr/>
          </a:p>
        </p:txBody>
      </p:sp>
      <p:cxnSp>
        <p:nvCxnSpPr>
          <p:cNvPr id="1004" name="Google Shape;1004;p46"/>
          <p:cNvCxnSpPr/>
          <p:nvPr/>
        </p:nvCxnSpPr>
        <p:spPr>
          <a:xfrm>
            <a:off x="6163056" y="3858768"/>
            <a:ext cx="2350008" cy="0"/>
          </a:xfrm>
          <a:prstGeom prst="straightConnector1">
            <a:avLst/>
          </a:prstGeom>
          <a:noFill/>
          <a:ln cap="flat" cmpd="sng" w="9525">
            <a:solidFill>
              <a:srgbClr val="C7D7EA"/>
            </a:solidFill>
            <a:prstDash val="solid"/>
            <a:round/>
            <a:headEnd len="sm" w="sm" type="none"/>
            <a:tailEnd len="sm" w="sm" type="none"/>
          </a:ln>
        </p:spPr>
      </p:cxnSp>
      <p:sp>
        <p:nvSpPr>
          <p:cNvPr id="1005" name="Google Shape;1005;p46"/>
          <p:cNvSpPr txBox="1"/>
          <p:nvPr/>
        </p:nvSpPr>
        <p:spPr>
          <a:xfrm>
            <a:off x="6163056" y="3886200"/>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DETECTED BY  </a:t>
            </a:r>
            <a:r>
              <a:rPr b="0" lang="en-US" sz="900">
                <a:solidFill>
                  <a:srgbClr val="5F6B7A"/>
                </a:solidFill>
                <a:latin typeface="Barlow"/>
                <a:ea typeface="Barlow"/>
                <a:cs typeface="Barlow"/>
                <a:sym typeface="Barlow"/>
              </a:rPr>
              <a:t>No Write With Response ack</a:t>
            </a:r>
            <a:endParaRPr/>
          </a:p>
        </p:txBody>
      </p:sp>
      <p:sp>
        <p:nvSpPr>
          <p:cNvPr id="1006" name="Google Shape;1006;p46"/>
          <p:cNvSpPr/>
          <p:nvPr/>
        </p:nvSpPr>
        <p:spPr>
          <a:xfrm>
            <a:off x="8823960" y="2633472"/>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7" name="Google Shape;1007;p46"/>
          <p:cNvSpPr/>
          <p:nvPr/>
        </p:nvSpPr>
        <p:spPr>
          <a:xfrm>
            <a:off x="8951976" y="2761488"/>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08" name="Google Shape;1008;p46"/>
          <p:cNvPicPr preferRelativeResize="0"/>
          <p:nvPr/>
        </p:nvPicPr>
        <p:blipFill rotWithShape="1">
          <a:blip r:embed="rId7">
            <a:alphaModFix/>
          </a:blip>
          <a:srcRect b="0" l="0" r="0" t="0"/>
          <a:stretch/>
        </p:blipFill>
        <p:spPr>
          <a:xfrm>
            <a:off x="9032443" y="2841955"/>
            <a:ext cx="204825" cy="204825"/>
          </a:xfrm>
          <a:prstGeom prst="rect">
            <a:avLst/>
          </a:prstGeom>
          <a:noFill/>
          <a:ln>
            <a:noFill/>
          </a:ln>
        </p:spPr>
      </p:pic>
      <p:sp>
        <p:nvSpPr>
          <p:cNvPr id="1009" name="Google Shape;1009;p46"/>
          <p:cNvSpPr txBox="1"/>
          <p:nvPr/>
        </p:nvSpPr>
        <p:spPr>
          <a:xfrm>
            <a:off x="9409176" y="2743200"/>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AUTH</a:t>
            </a:r>
            <a:endParaRPr/>
          </a:p>
        </p:txBody>
      </p:sp>
      <p:sp>
        <p:nvSpPr>
          <p:cNvPr id="1010" name="Google Shape;1010;p46"/>
          <p:cNvSpPr txBox="1"/>
          <p:nvPr/>
        </p:nvSpPr>
        <p:spPr>
          <a:xfrm>
            <a:off x="9409176" y="2898648"/>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OTP verification failure</a:t>
            </a:r>
            <a:endParaRPr/>
          </a:p>
        </p:txBody>
      </p:sp>
      <p:sp>
        <p:nvSpPr>
          <p:cNvPr id="1011" name="Google Shape;1011;p46"/>
          <p:cNvSpPr txBox="1"/>
          <p:nvPr/>
        </p:nvSpPr>
        <p:spPr>
          <a:xfrm>
            <a:off x="8951976" y="3310128"/>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Check the device clock and prompt re-entry. Show the remaining lockout time after consecutive failures.</a:t>
            </a:r>
            <a:endParaRPr/>
          </a:p>
        </p:txBody>
      </p:sp>
      <p:cxnSp>
        <p:nvCxnSpPr>
          <p:cNvPr id="1012" name="Google Shape;1012;p46"/>
          <p:cNvCxnSpPr/>
          <p:nvPr/>
        </p:nvCxnSpPr>
        <p:spPr>
          <a:xfrm>
            <a:off x="8951976" y="3858768"/>
            <a:ext cx="2350008" cy="0"/>
          </a:xfrm>
          <a:prstGeom prst="straightConnector1">
            <a:avLst/>
          </a:prstGeom>
          <a:noFill/>
          <a:ln cap="flat" cmpd="sng" w="9525">
            <a:solidFill>
              <a:srgbClr val="C7D7EA"/>
            </a:solidFill>
            <a:prstDash val="solid"/>
            <a:round/>
            <a:headEnd len="sm" w="sm" type="none"/>
            <a:tailEnd len="sm" w="sm" type="none"/>
          </a:ln>
        </p:spPr>
      </p:cxnSp>
      <p:sp>
        <p:nvSpPr>
          <p:cNvPr id="1013" name="Google Shape;1013;p46"/>
          <p:cNvSpPr txBox="1"/>
          <p:nvPr/>
        </p:nvSpPr>
        <p:spPr>
          <a:xfrm>
            <a:off x="8951976" y="3886200"/>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DETECTED BY  </a:t>
            </a:r>
            <a:r>
              <a:rPr b="0" lang="en-US" sz="900">
                <a:solidFill>
                  <a:srgbClr val="5F6B7A"/>
                </a:solidFill>
                <a:latin typeface="Barlow"/>
                <a:ea typeface="Barlow"/>
                <a:cs typeface="Barlow"/>
                <a:sym typeface="Barlow"/>
              </a:rPr>
              <a:t>Device error code</a:t>
            </a:r>
            <a:endParaRPr/>
          </a:p>
        </p:txBody>
      </p:sp>
      <p:sp>
        <p:nvSpPr>
          <p:cNvPr id="1014" name="Google Shape;1014;p46"/>
          <p:cNvSpPr/>
          <p:nvPr/>
        </p:nvSpPr>
        <p:spPr>
          <a:xfrm>
            <a:off x="457200" y="4407408"/>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5" name="Google Shape;1015;p46"/>
          <p:cNvSpPr/>
          <p:nvPr/>
        </p:nvSpPr>
        <p:spPr>
          <a:xfrm>
            <a:off x="585216" y="4535424"/>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16" name="Google Shape;1016;p46"/>
          <p:cNvPicPr preferRelativeResize="0"/>
          <p:nvPr/>
        </p:nvPicPr>
        <p:blipFill rotWithShape="1">
          <a:blip r:embed="rId8">
            <a:alphaModFix/>
          </a:blip>
          <a:srcRect b="0" l="0" r="0" t="0"/>
          <a:stretch/>
        </p:blipFill>
        <p:spPr>
          <a:xfrm>
            <a:off x="665683" y="4615891"/>
            <a:ext cx="204825" cy="204825"/>
          </a:xfrm>
          <a:prstGeom prst="rect">
            <a:avLst/>
          </a:prstGeom>
          <a:noFill/>
          <a:ln>
            <a:noFill/>
          </a:ln>
        </p:spPr>
      </p:pic>
      <p:sp>
        <p:nvSpPr>
          <p:cNvPr id="1017" name="Google Shape;1017;p46"/>
          <p:cNvSpPr txBox="1"/>
          <p:nvPr/>
        </p:nvSpPr>
        <p:spPr>
          <a:xfrm>
            <a:off x="1042416" y="4517136"/>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APPLY</a:t>
            </a:r>
            <a:endParaRPr/>
          </a:p>
        </p:txBody>
      </p:sp>
      <p:sp>
        <p:nvSpPr>
          <p:cNvPr id="1018" name="Google Shape;1018;p46"/>
          <p:cNvSpPr txBox="1"/>
          <p:nvPr/>
        </p:nvSpPr>
        <p:spPr>
          <a:xfrm>
            <a:off x="1042416" y="4672584"/>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Interrupted Apply</a:t>
            </a:r>
            <a:endParaRPr/>
          </a:p>
        </p:txBody>
      </p:sp>
      <p:sp>
        <p:nvSpPr>
          <p:cNvPr id="1019" name="Google Shape;1019;p46"/>
          <p:cNvSpPr txBox="1"/>
          <p:nvPr/>
        </p:nvSpPr>
        <p:spPr>
          <a:xfrm>
            <a:off x="585216" y="5084064"/>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Read the device state on re-entry. Run: mark complete. Incomplete: re-Apply after the settings summary.</a:t>
            </a:r>
            <a:endParaRPr/>
          </a:p>
        </p:txBody>
      </p:sp>
      <p:cxnSp>
        <p:nvCxnSpPr>
          <p:cNvPr id="1020" name="Google Shape;1020;p46"/>
          <p:cNvCxnSpPr/>
          <p:nvPr/>
        </p:nvCxnSpPr>
        <p:spPr>
          <a:xfrm>
            <a:off x="585216" y="5632704"/>
            <a:ext cx="2350008" cy="0"/>
          </a:xfrm>
          <a:prstGeom prst="straightConnector1">
            <a:avLst/>
          </a:prstGeom>
          <a:noFill/>
          <a:ln cap="flat" cmpd="sng" w="9525">
            <a:solidFill>
              <a:srgbClr val="C7D7EA"/>
            </a:solidFill>
            <a:prstDash val="solid"/>
            <a:round/>
            <a:headEnd len="sm" w="sm" type="none"/>
            <a:tailEnd len="sm" w="sm" type="none"/>
          </a:ln>
        </p:spPr>
      </p:cxnSp>
      <p:sp>
        <p:nvSpPr>
          <p:cNvPr id="1021" name="Google Shape;1021;p46"/>
          <p:cNvSpPr txBox="1"/>
          <p:nvPr/>
        </p:nvSpPr>
        <p:spPr>
          <a:xfrm>
            <a:off x="585216" y="5660136"/>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DETECTED BY  </a:t>
            </a:r>
            <a:r>
              <a:rPr b="0" lang="en-US" sz="900">
                <a:solidFill>
                  <a:srgbClr val="5F6B7A"/>
                </a:solidFill>
                <a:latin typeface="Barlow"/>
                <a:ea typeface="Barlow"/>
                <a:cs typeface="Barlow"/>
                <a:sym typeface="Barlow"/>
              </a:rPr>
              <a:t>Local incomplete marker saved before Apply</a:t>
            </a:r>
            <a:endParaRPr/>
          </a:p>
        </p:txBody>
      </p:sp>
      <p:sp>
        <p:nvSpPr>
          <p:cNvPr id="1022" name="Google Shape;1022;p46"/>
          <p:cNvSpPr/>
          <p:nvPr/>
        </p:nvSpPr>
        <p:spPr>
          <a:xfrm>
            <a:off x="3246120" y="4407408"/>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3" name="Google Shape;1023;p46"/>
          <p:cNvSpPr/>
          <p:nvPr/>
        </p:nvSpPr>
        <p:spPr>
          <a:xfrm>
            <a:off x="3374136" y="4535424"/>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24" name="Google Shape;1024;p46"/>
          <p:cNvPicPr preferRelativeResize="0"/>
          <p:nvPr/>
        </p:nvPicPr>
        <p:blipFill rotWithShape="1">
          <a:blip r:embed="rId9">
            <a:alphaModFix/>
          </a:blip>
          <a:srcRect b="0" l="0" r="0" t="0"/>
          <a:stretch/>
        </p:blipFill>
        <p:spPr>
          <a:xfrm>
            <a:off x="3454603" y="4615891"/>
            <a:ext cx="204825" cy="204825"/>
          </a:xfrm>
          <a:prstGeom prst="rect">
            <a:avLst/>
          </a:prstGeom>
          <a:noFill/>
          <a:ln>
            <a:noFill/>
          </a:ln>
        </p:spPr>
      </p:pic>
      <p:sp>
        <p:nvSpPr>
          <p:cNvPr id="1025" name="Google Shape;1025;p46"/>
          <p:cNvSpPr txBox="1"/>
          <p:nvPr/>
        </p:nvSpPr>
        <p:spPr>
          <a:xfrm>
            <a:off x="3831336" y="4517136"/>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WI-FI</a:t>
            </a:r>
            <a:endParaRPr/>
          </a:p>
        </p:txBody>
      </p:sp>
      <p:sp>
        <p:nvSpPr>
          <p:cNvPr id="1026" name="Google Shape;1026;p46"/>
          <p:cNvSpPr txBox="1"/>
          <p:nvPr/>
        </p:nvSpPr>
        <p:spPr>
          <a:xfrm>
            <a:off x="3831336" y="4672584"/>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SoftAP join failure</a:t>
            </a:r>
            <a:endParaRPr/>
          </a:p>
        </p:txBody>
      </p:sp>
      <p:sp>
        <p:nvSpPr>
          <p:cNvPr id="1027" name="Google Shape;1027;p46"/>
          <p:cNvSpPr txBox="1"/>
          <p:nvPr/>
        </p:nvSpPr>
        <p:spPr>
          <a:xfrm>
            <a:off x="3374136" y="5084064"/>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Retry once, then request the BLE wake-up again and reissue the SSID.</a:t>
            </a:r>
            <a:endParaRPr/>
          </a:p>
        </p:txBody>
      </p:sp>
      <p:cxnSp>
        <p:nvCxnSpPr>
          <p:cNvPr id="1028" name="Google Shape;1028;p46"/>
          <p:cNvCxnSpPr/>
          <p:nvPr/>
        </p:nvCxnSpPr>
        <p:spPr>
          <a:xfrm>
            <a:off x="3374136" y="5632704"/>
            <a:ext cx="2350008" cy="0"/>
          </a:xfrm>
          <a:prstGeom prst="straightConnector1">
            <a:avLst/>
          </a:prstGeom>
          <a:noFill/>
          <a:ln cap="flat" cmpd="sng" w="9525">
            <a:solidFill>
              <a:srgbClr val="C7D7EA"/>
            </a:solidFill>
            <a:prstDash val="solid"/>
            <a:round/>
            <a:headEnd len="sm" w="sm" type="none"/>
            <a:tailEnd len="sm" w="sm" type="none"/>
          </a:ln>
        </p:spPr>
      </p:cxnSp>
      <p:sp>
        <p:nvSpPr>
          <p:cNvPr id="1029" name="Google Shape;1029;p46"/>
          <p:cNvSpPr txBox="1"/>
          <p:nvPr/>
        </p:nvSpPr>
        <p:spPr>
          <a:xfrm>
            <a:off x="3374136" y="5660136"/>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DETECTED BY  </a:t>
            </a:r>
            <a:r>
              <a:rPr b="0" lang="en-US" sz="900">
                <a:solidFill>
                  <a:srgbClr val="5F6B7A"/>
                </a:solidFill>
                <a:latin typeface="Barlow"/>
                <a:ea typeface="Barlow"/>
                <a:cs typeface="Barlow"/>
                <a:sym typeface="Barlow"/>
              </a:rPr>
              <a:t>NEHotspotConfiguration error</a:t>
            </a:r>
            <a:endParaRPr/>
          </a:p>
        </p:txBody>
      </p:sp>
      <p:sp>
        <p:nvSpPr>
          <p:cNvPr id="1030" name="Google Shape;1030;p46"/>
          <p:cNvSpPr/>
          <p:nvPr/>
        </p:nvSpPr>
        <p:spPr>
          <a:xfrm>
            <a:off x="6035040" y="4407408"/>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1" name="Google Shape;1031;p46"/>
          <p:cNvSpPr/>
          <p:nvPr/>
        </p:nvSpPr>
        <p:spPr>
          <a:xfrm>
            <a:off x="6163056" y="4535424"/>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32" name="Google Shape;1032;p46"/>
          <p:cNvPicPr preferRelativeResize="0"/>
          <p:nvPr/>
        </p:nvPicPr>
        <p:blipFill rotWithShape="1">
          <a:blip r:embed="rId10">
            <a:alphaModFix/>
          </a:blip>
          <a:srcRect b="0" l="0" r="0" t="0"/>
          <a:stretch/>
        </p:blipFill>
        <p:spPr>
          <a:xfrm>
            <a:off x="6243523" y="4615891"/>
            <a:ext cx="204825" cy="204825"/>
          </a:xfrm>
          <a:prstGeom prst="rect">
            <a:avLst/>
          </a:prstGeom>
          <a:noFill/>
          <a:ln>
            <a:noFill/>
          </a:ln>
        </p:spPr>
      </p:pic>
      <p:sp>
        <p:nvSpPr>
          <p:cNvPr id="1033" name="Google Shape;1033;p46"/>
          <p:cNvSpPr txBox="1"/>
          <p:nvPr/>
        </p:nvSpPr>
        <p:spPr>
          <a:xfrm>
            <a:off x="6620256" y="4517136"/>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FLASH</a:t>
            </a:r>
            <a:endParaRPr/>
          </a:p>
        </p:txBody>
      </p:sp>
      <p:sp>
        <p:nvSpPr>
          <p:cNvPr id="1034" name="Google Shape;1034;p46"/>
          <p:cNvSpPr txBox="1"/>
          <p:nvPr/>
        </p:nvSpPr>
        <p:spPr>
          <a:xfrm>
            <a:off x="6620256" y="4672584"/>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App killed or power loss during flash</a:t>
            </a:r>
            <a:endParaRPr/>
          </a:p>
        </p:txBody>
      </p:sp>
      <p:sp>
        <p:nvSpPr>
          <p:cNvPr id="1035" name="Google Shape;1035;p46"/>
          <p:cNvSpPr txBox="1"/>
          <p:nvPr/>
        </p:nvSpPr>
        <p:spPr>
          <a:xfrm>
            <a:off x="6163056" y="5084064"/>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Read the device version. New: commit. Previous: confirm rollback and retry.</a:t>
            </a:r>
            <a:endParaRPr/>
          </a:p>
        </p:txBody>
      </p:sp>
      <p:cxnSp>
        <p:nvCxnSpPr>
          <p:cNvPr id="1036" name="Google Shape;1036;p46"/>
          <p:cNvCxnSpPr/>
          <p:nvPr/>
        </p:nvCxnSpPr>
        <p:spPr>
          <a:xfrm>
            <a:off x="6163056" y="5632704"/>
            <a:ext cx="2350008" cy="0"/>
          </a:xfrm>
          <a:prstGeom prst="straightConnector1">
            <a:avLst/>
          </a:prstGeom>
          <a:noFill/>
          <a:ln cap="flat" cmpd="sng" w="9525">
            <a:solidFill>
              <a:srgbClr val="C7D7EA"/>
            </a:solidFill>
            <a:prstDash val="solid"/>
            <a:round/>
            <a:headEnd len="sm" w="sm" type="none"/>
            <a:tailEnd len="sm" w="sm" type="none"/>
          </a:ln>
        </p:spPr>
      </p:cxnSp>
      <p:sp>
        <p:nvSpPr>
          <p:cNvPr id="1037" name="Google Shape;1037;p46"/>
          <p:cNvSpPr txBox="1"/>
          <p:nvPr/>
        </p:nvSpPr>
        <p:spPr>
          <a:xfrm>
            <a:off x="6163056" y="5660136"/>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DETECTED BY  </a:t>
            </a:r>
            <a:r>
              <a:rPr b="0" lang="en-US" sz="900">
                <a:solidFill>
                  <a:srgbClr val="5F6B7A"/>
                </a:solidFill>
                <a:latin typeface="Barlow"/>
                <a:ea typeface="Barlow"/>
                <a:cs typeface="Barlow"/>
                <a:sym typeface="Barlow"/>
              </a:rPr>
              <a:t>FW session marker found on relaunch</a:t>
            </a:r>
            <a:endParaRPr/>
          </a:p>
        </p:txBody>
      </p:sp>
      <p:sp>
        <p:nvSpPr>
          <p:cNvPr id="1038" name="Google Shape;1038;p46"/>
          <p:cNvSpPr/>
          <p:nvPr/>
        </p:nvSpPr>
        <p:spPr>
          <a:xfrm>
            <a:off x="8823960" y="4407408"/>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9" name="Google Shape;1039;p46"/>
          <p:cNvSpPr/>
          <p:nvPr/>
        </p:nvSpPr>
        <p:spPr>
          <a:xfrm>
            <a:off x="8951976" y="4535424"/>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40" name="Google Shape;1040;p46"/>
          <p:cNvPicPr preferRelativeResize="0"/>
          <p:nvPr/>
        </p:nvPicPr>
        <p:blipFill rotWithShape="1">
          <a:blip r:embed="rId11">
            <a:alphaModFix/>
          </a:blip>
          <a:srcRect b="0" l="0" r="0" t="0"/>
          <a:stretch/>
        </p:blipFill>
        <p:spPr>
          <a:xfrm>
            <a:off x="9032443" y="4615891"/>
            <a:ext cx="204825" cy="204825"/>
          </a:xfrm>
          <a:prstGeom prst="rect">
            <a:avLst/>
          </a:prstGeom>
          <a:noFill/>
          <a:ln>
            <a:noFill/>
          </a:ln>
        </p:spPr>
      </p:pic>
      <p:sp>
        <p:nvSpPr>
          <p:cNvPr id="1041" name="Google Shape;1041;p46"/>
          <p:cNvSpPr txBox="1"/>
          <p:nvPr/>
        </p:nvSpPr>
        <p:spPr>
          <a:xfrm>
            <a:off x="9409176" y="4517136"/>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SYNC</a:t>
            </a:r>
            <a:endParaRPr/>
          </a:p>
        </p:txBody>
      </p:sp>
      <p:sp>
        <p:nvSpPr>
          <p:cNvPr id="1042" name="Google Shape;1042;p46"/>
          <p:cNvSpPr txBox="1"/>
          <p:nvPr/>
        </p:nvSpPr>
        <p:spPr>
          <a:xfrm>
            <a:off x="9409176" y="4672584"/>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Cloud sync failure</a:t>
            </a:r>
            <a:endParaRPr/>
          </a:p>
        </p:txBody>
      </p:sp>
      <p:sp>
        <p:nvSpPr>
          <p:cNvPr id="1043" name="Google Shape;1043;p46"/>
          <p:cNvSpPr txBox="1"/>
          <p:nvPr/>
        </p:nvSpPr>
        <p:spPr>
          <a:xfrm>
            <a:off x="8951976" y="5084064"/>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Retry with increasing timeout. Treat a 409 duplicate as success.</a:t>
            </a:r>
            <a:endParaRPr/>
          </a:p>
        </p:txBody>
      </p:sp>
      <p:cxnSp>
        <p:nvCxnSpPr>
          <p:cNvPr id="1044" name="Google Shape;1044;p46"/>
          <p:cNvCxnSpPr/>
          <p:nvPr/>
        </p:nvCxnSpPr>
        <p:spPr>
          <a:xfrm>
            <a:off x="8951976" y="5632704"/>
            <a:ext cx="2350008" cy="0"/>
          </a:xfrm>
          <a:prstGeom prst="straightConnector1">
            <a:avLst/>
          </a:prstGeom>
          <a:noFill/>
          <a:ln cap="flat" cmpd="sng" w="9525">
            <a:solidFill>
              <a:srgbClr val="C7D7EA"/>
            </a:solidFill>
            <a:prstDash val="solid"/>
            <a:round/>
            <a:headEnd len="sm" w="sm" type="none"/>
            <a:tailEnd len="sm" w="sm" type="none"/>
          </a:ln>
        </p:spPr>
      </p:cxnSp>
      <p:sp>
        <p:nvSpPr>
          <p:cNvPr id="1045" name="Google Shape;1045;p46"/>
          <p:cNvSpPr txBox="1"/>
          <p:nvPr/>
        </p:nvSpPr>
        <p:spPr>
          <a:xfrm>
            <a:off x="8951976" y="5660136"/>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DETECTED BY  </a:t>
            </a:r>
            <a:r>
              <a:rPr b="0" lang="en-US" sz="900">
                <a:solidFill>
                  <a:srgbClr val="5F6B7A"/>
                </a:solidFill>
                <a:latin typeface="Barlow"/>
                <a:ea typeface="Barlow"/>
                <a:cs typeface="Barlow"/>
                <a:sym typeface="Barlow"/>
              </a:rPr>
              <a:t>HTTP 5xx or network error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47"/>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SYSTEM CONTEXT AND MOBILE ARCHITECTURE · PROPOSED DESIGN</a:t>
            </a:r>
            <a:endParaRPr/>
          </a:p>
        </p:txBody>
      </p:sp>
      <p:sp>
        <p:nvSpPr>
          <p:cNvPr id="1052" name="Google Shape;1052;p47"/>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Three layers keep hardware changes away from the UI</a:t>
            </a:r>
            <a:endParaRPr/>
          </a:p>
        </p:txBody>
      </p:sp>
      <p:sp>
        <p:nvSpPr>
          <p:cNvPr id="1053" name="Google Shape;1053;p47"/>
          <p:cNvSpPr/>
          <p:nvPr/>
        </p:nvSpPr>
        <p:spPr>
          <a:xfrm>
            <a:off x="548640" y="2971800"/>
            <a:ext cx="640080" cy="640080"/>
          </a:xfrm>
          <a:prstGeom prst="roundRect">
            <a:avLst>
              <a:gd fmla="val 7142" name="adj"/>
            </a:avLst>
          </a:prstGeom>
          <a:solidFill>
            <a:srgbClr val="5DA9E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nstaller" id="1054" name="Google Shape;1054;p47"/>
          <p:cNvPicPr preferRelativeResize="0"/>
          <p:nvPr/>
        </p:nvPicPr>
        <p:blipFill rotWithShape="1">
          <a:blip r:embed="rId3">
            <a:alphaModFix/>
          </a:blip>
          <a:srcRect b="0" l="0" r="0" t="0"/>
          <a:stretch/>
        </p:blipFill>
        <p:spPr>
          <a:xfrm>
            <a:off x="689457" y="3112617"/>
            <a:ext cx="358444" cy="358444"/>
          </a:xfrm>
          <a:prstGeom prst="rect">
            <a:avLst/>
          </a:prstGeom>
          <a:noFill/>
          <a:ln>
            <a:noFill/>
          </a:ln>
        </p:spPr>
      </p:pic>
      <p:sp>
        <p:nvSpPr>
          <p:cNvPr id="1055" name="Google Shape;1055;p47"/>
          <p:cNvSpPr txBox="1"/>
          <p:nvPr/>
        </p:nvSpPr>
        <p:spPr>
          <a:xfrm>
            <a:off x="320040" y="3657600"/>
            <a:ext cx="10972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00">
                <a:solidFill>
                  <a:srgbClr val="0B2F5B"/>
                </a:solidFill>
                <a:latin typeface="Barlow"/>
                <a:ea typeface="Barlow"/>
                <a:cs typeface="Barlow"/>
                <a:sym typeface="Barlow"/>
              </a:rPr>
              <a:t>Installer</a:t>
            </a:r>
            <a:endParaRPr/>
          </a:p>
        </p:txBody>
      </p:sp>
      <p:cxnSp>
        <p:nvCxnSpPr>
          <p:cNvPr id="1056" name="Google Shape;1056;p47"/>
          <p:cNvCxnSpPr/>
          <p:nvPr/>
        </p:nvCxnSpPr>
        <p:spPr>
          <a:xfrm>
            <a:off x="1243584" y="3291840"/>
            <a:ext cx="329184" cy="0"/>
          </a:xfrm>
          <a:prstGeom prst="straightConnector1">
            <a:avLst/>
          </a:prstGeom>
          <a:noFill/>
          <a:ln cap="flat" cmpd="sng" w="15875">
            <a:solidFill>
              <a:srgbClr val="0B2F5B"/>
            </a:solidFill>
            <a:prstDash val="solid"/>
            <a:round/>
            <a:headEnd len="med" w="med" type="triangle"/>
            <a:tailEnd len="med" w="med" type="triangle"/>
          </a:ln>
        </p:spPr>
      </p:cxnSp>
      <p:sp>
        <p:nvSpPr>
          <p:cNvPr id="1057" name="Google Shape;1057;p47"/>
          <p:cNvSpPr/>
          <p:nvPr/>
        </p:nvSpPr>
        <p:spPr>
          <a:xfrm>
            <a:off x="1600200" y="1261872"/>
            <a:ext cx="4892040" cy="4315968"/>
          </a:xfrm>
          <a:prstGeom prst="rect">
            <a:avLst/>
          </a:prstGeom>
          <a:solidFill>
            <a:srgbClr val="F5F8FC"/>
          </a:solidFill>
          <a:ln cap="flat" cmpd="sng" w="15875">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8" name="Google Shape;1058;p47"/>
          <p:cNvSpPr/>
          <p:nvPr/>
        </p:nvSpPr>
        <p:spPr>
          <a:xfrm>
            <a:off x="1737360" y="1380743"/>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59" name="Google Shape;1059;p47"/>
          <p:cNvPicPr preferRelativeResize="0"/>
          <p:nvPr/>
        </p:nvPicPr>
        <p:blipFill rotWithShape="1">
          <a:blip r:embed="rId4">
            <a:alphaModFix/>
          </a:blip>
          <a:srcRect b="0" l="0" r="0" t="0"/>
          <a:stretch/>
        </p:blipFill>
        <p:spPr>
          <a:xfrm>
            <a:off x="1809780" y="1453164"/>
            <a:ext cx="184343" cy="184343"/>
          </a:xfrm>
          <a:prstGeom prst="rect">
            <a:avLst/>
          </a:prstGeom>
          <a:noFill/>
          <a:ln>
            <a:noFill/>
          </a:ln>
        </p:spPr>
      </p:pic>
      <p:sp>
        <p:nvSpPr>
          <p:cNvPr id="1060" name="Google Shape;1060;p47"/>
          <p:cNvSpPr txBox="1"/>
          <p:nvPr/>
        </p:nvSpPr>
        <p:spPr>
          <a:xfrm>
            <a:off x="2148840" y="1380743"/>
            <a:ext cx="27432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iOS Installer App</a:t>
            </a:r>
            <a:endParaRPr/>
          </a:p>
        </p:txBody>
      </p:sp>
      <p:sp>
        <p:nvSpPr>
          <p:cNvPr id="1061" name="Google Shape;1061;p47"/>
          <p:cNvSpPr/>
          <p:nvPr/>
        </p:nvSpPr>
        <p:spPr>
          <a:xfrm>
            <a:off x="5268502" y="1444751"/>
            <a:ext cx="1086577"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Clean architecture</a:t>
            </a:r>
            <a:endParaRPr/>
          </a:p>
        </p:txBody>
      </p:sp>
      <p:sp>
        <p:nvSpPr>
          <p:cNvPr id="1062" name="Google Shape;1062;p47"/>
          <p:cNvSpPr/>
          <p:nvPr/>
        </p:nvSpPr>
        <p:spPr>
          <a:xfrm>
            <a:off x="1783080" y="1792224"/>
            <a:ext cx="4526279"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36575" lIns="128000" spcFirstLastPara="1" rIns="54850" wrap="square" tIns="36575">
            <a:noAutofit/>
          </a:bodyPr>
          <a:lstStyle/>
          <a:p>
            <a:pPr indent="0" lvl="0" marL="0" marR="0" rtl="0" algn="l">
              <a:lnSpc>
                <a:spcPct val="100000"/>
              </a:lnSpc>
              <a:spcBef>
                <a:spcPts val="0"/>
              </a:spcBef>
              <a:spcAft>
                <a:spcPts val="0"/>
              </a:spcAft>
              <a:buNone/>
            </a:pPr>
            <a:r>
              <a:rPr b="1" lang="en-US" sz="1100">
                <a:solidFill>
                  <a:srgbClr val="0B2F5B"/>
                </a:solidFill>
                <a:latin typeface="Montserrat"/>
                <a:ea typeface="Montserrat"/>
                <a:cs typeface="Montserrat"/>
                <a:sym typeface="Montserrat"/>
              </a:rPr>
              <a:t>UI layer</a:t>
            </a:r>
            <a:endParaRPr/>
          </a:p>
          <a:p>
            <a:pPr indent="0" lvl="0" marL="0" marR="0" rtl="0" algn="l">
              <a:lnSpc>
                <a:spcPct val="100000"/>
              </a:lnSpc>
              <a:spcBef>
                <a:spcPts val="150"/>
              </a:spcBef>
              <a:spcAft>
                <a:spcPts val="0"/>
              </a:spcAft>
              <a:buNone/>
            </a:pPr>
            <a:r>
              <a:rPr b="0" lang="en-US" sz="850">
                <a:solidFill>
                  <a:srgbClr val="1565C0"/>
                </a:solidFill>
                <a:latin typeface="Consolas"/>
                <a:ea typeface="Consolas"/>
                <a:cs typeface="Consolas"/>
                <a:sym typeface="Consolas"/>
              </a:rPr>
              <a:t>SwiftUI View · @MainActor ViewModel</a:t>
            </a:r>
            <a:endParaRPr/>
          </a:p>
          <a:p>
            <a:pPr indent="0" lvl="0" marL="0" marR="0" rtl="0" algn="l">
              <a:lnSpc>
                <a:spcPct val="100000"/>
              </a:lnSpc>
              <a:spcBef>
                <a:spcPts val="150"/>
              </a:spcBef>
              <a:spcAft>
                <a:spcPts val="0"/>
              </a:spcAft>
              <a:buNone/>
            </a:pPr>
            <a:r>
              <a:rPr b="0" lang="en-US" sz="950">
                <a:solidFill>
                  <a:srgbClr val="5F6B7A"/>
                </a:solidFill>
                <a:latin typeface="Barlow"/>
                <a:ea typeface="Barlow"/>
                <a:cs typeface="Barlow"/>
                <a:sym typeface="Barlow"/>
              </a:rPr>
              <a:t>Screens, UI lock display, user actions</a:t>
            </a:r>
            <a:endParaRPr/>
          </a:p>
        </p:txBody>
      </p:sp>
      <p:sp>
        <p:nvSpPr>
          <p:cNvPr id="1063" name="Google Shape;1063;p47"/>
          <p:cNvSpPr/>
          <p:nvPr/>
        </p:nvSpPr>
        <p:spPr>
          <a:xfrm>
            <a:off x="1783080" y="2724912"/>
            <a:ext cx="4526279" cy="731520"/>
          </a:xfrm>
          <a:prstGeom prst="roundRect">
            <a:avLst>
              <a:gd fmla="val 6250" name="adj"/>
            </a:avLst>
          </a:prstGeom>
          <a:solidFill>
            <a:srgbClr val="0B2F5B"/>
          </a:solidFill>
          <a:ln>
            <a:noFill/>
          </a:ln>
        </p:spPr>
        <p:txBody>
          <a:bodyPr anchorCtr="0" anchor="ctr" bIns="36575" lIns="128000" spcFirstLastPara="1" rIns="54850" wrap="square" tIns="36575">
            <a:noAutofit/>
          </a:bodyPr>
          <a:lstStyle/>
          <a:p>
            <a:pPr indent="0" lvl="0" marL="0" marR="0" rtl="0" algn="l">
              <a:lnSpc>
                <a:spcPct val="100000"/>
              </a:lnSpc>
              <a:spcBef>
                <a:spcPts val="0"/>
              </a:spcBef>
              <a:spcAft>
                <a:spcPts val="0"/>
              </a:spcAft>
              <a:buNone/>
            </a:pPr>
            <a:r>
              <a:rPr b="1" lang="en-US" sz="1100">
                <a:solidFill>
                  <a:srgbClr val="FFFFFF"/>
                </a:solidFill>
                <a:latin typeface="Montserrat"/>
                <a:ea typeface="Montserrat"/>
                <a:cs typeface="Montserrat"/>
                <a:sym typeface="Montserrat"/>
              </a:rPr>
              <a:t>Domain layer</a:t>
            </a:r>
            <a:endParaRPr/>
          </a:p>
          <a:p>
            <a:pPr indent="0" lvl="0" marL="0" marR="0" rtl="0" algn="l">
              <a:lnSpc>
                <a:spcPct val="100000"/>
              </a:lnSpc>
              <a:spcBef>
                <a:spcPts val="150"/>
              </a:spcBef>
              <a:spcAft>
                <a:spcPts val="0"/>
              </a:spcAft>
              <a:buNone/>
            </a:pPr>
            <a:r>
              <a:rPr b="0" lang="en-US" sz="850">
                <a:solidFill>
                  <a:srgbClr val="A9C7EA"/>
                </a:solidFill>
                <a:latin typeface="Consolas"/>
                <a:ea typeface="Consolas"/>
                <a:cs typeface="Consolas"/>
                <a:sym typeface="Consolas"/>
              </a:rPr>
              <a:t>UseCase · Entity · ESSStateMachine</a:t>
            </a:r>
            <a:endParaRPr/>
          </a:p>
          <a:p>
            <a:pPr indent="0" lvl="0" marL="0" marR="0" rtl="0" algn="l">
              <a:lnSpc>
                <a:spcPct val="100000"/>
              </a:lnSpc>
              <a:spcBef>
                <a:spcPts val="150"/>
              </a:spcBef>
              <a:spcAft>
                <a:spcPts val="0"/>
              </a:spcAft>
              <a:buNone/>
            </a:pPr>
            <a:r>
              <a:rPr b="0" lang="en-US" sz="950">
                <a:solidFill>
                  <a:srgbClr val="DCE8F7"/>
                </a:solidFill>
                <a:latin typeface="Barlow"/>
                <a:ea typeface="Barlow"/>
                <a:cs typeface="Barlow"/>
                <a:sym typeface="Barlow"/>
              </a:rPr>
              <a:t>State rules, permission policy, Pricing availability</a:t>
            </a:r>
            <a:endParaRPr/>
          </a:p>
        </p:txBody>
      </p:sp>
      <p:sp>
        <p:nvSpPr>
          <p:cNvPr id="1064" name="Google Shape;1064;p47"/>
          <p:cNvSpPr/>
          <p:nvPr/>
        </p:nvSpPr>
        <p:spPr>
          <a:xfrm>
            <a:off x="1783080" y="3657600"/>
            <a:ext cx="4526279"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36575" lIns="128000" spcFirstLastPara="1" rIns="54850" wrap="square" tIns="36575">
            <a:noAutofit/>
          </a:bodyPr>
          <a:lstStyle/>
          <a:p>
            <a:pPr indent="0" lvl="0" marL="0" marR="0" rtl="0" algn="l">
              <a:lnSpc>
                <a:spcPct val="100000"/>
              </a:lnSpc>
              <a:spcBef>
                <a:spcPts val="0"/>
              </a:spcBef>
              <a:spcAft>
                <a:spcPts val="0"/>
              </a:spcAft>
              <a:buNone/>
            </a:pPr>
            <a:r>
              <a:rPr b="1" lang="en-US" sz="1100">
                <a:solidFill>
                  <a:srgbClr val="0B2F5B"/>
                </a:solidFill>
                <a:latin typeface="Montserrat"/>
                <a:ea typeface="Montserrat"/>
                <a:cs typeface="Montserrat"/>
                <a:sym typeface="Montserrat"/>
              </a:rPr>
              <a:t>Data layer</a:t>
            </a:r>
            <a:endParaRPr/>
          </a:p>
          <a:p>
            <a:pPr indent="0" lvl="0" marL="0" marR="0" rtl="0" algn="l">
              <a:lnSpc>
                <a:spcPct val="100000"/>
              </a:lnSpc>
              <a:spcBef>
                <a:spcPts val="150"/>
              </a:spcBef>
              <a:spcAft>
                <a:spcPts val="0"/>
              </a:spcAft>
              <a:buNone/>
            </a:pPr>
            <a:r>
              <a:rPr b="0" lang="en-US" sz="850">
                <a:solidFill>
                  <a:srgbClr val="1565C0"/>
                </a:solidFill>
                <a:latin typeface="Consolas"/>
                <a:ea typeface="Consolas"/>
                <a:cs typeface="Consolas"/>
                <a:sym typeface="Consolas"/>
              </a:rPr>
              <a:t>Repository · BLETransport · SoftAPTransport · REST · Local store</a:t>
            </a:r>
            <a:endParaRPr/>
          </a:p>
          <a:p>
            <a:pPr indent="0" lvl="0" marL="0" marR="0" rtl="0" algn="l">
              <a:lnSpc>
                <a:spcPct val="100000"/>
              </a:lnSpc>
              <a:spcBef>
                <a:spcPts val="150"/>
              </a:spcBef>
              <a:spcAft>
                <a:spcPts val="0"/>
              </a:spcAft>
              <a:buNone/>
            </a:pPr>
            <a:r>
              <a:rPr b="0" lang="en-US" sz="950">
                <a:solidFill>
                  <a:srgbClr val="5F6B7A"/>
                </a:solidFill>
                <a:latin typeface="Barlow"/>
                <a:ea typeface="Barlow"/>
                <a:cs typeface="Barlow"/>
                <a:sym typeface="Barlow"/>
              </a:rPr>
              <a:t>Device register I/O, server calls, local persistence</a:t>
            </a:r>
            <a:endParaRPr/>
          </a:p>
        </p:txBody>
      </p:sp>
      <p:cxnSp>
        <p:nvCxnSpPr>
          <p:cNvPr id="1065" name="Google Shape;1065;p47"/>
          <p:cNvCxnSpPr/>
          <p:nvPr/>
        </p:nvCxnSpPr>
        <p:spPr>
          <a:xfrm>
            <a:off x="4046220" y="2523744"/>
            <a:ext cx="0" cy="201168"/>
          </a:xfrm>
          <a:prstGeom prst="straightConnector1">
            <a:avLst/>
          </a:prstGeom>
          <a:noFill/>
          <a:ln cap="flat" cmpd="sng" w="19050">
            <a:solidFill>
              <a:srgbClr val="0B2F5B"/>
            </a:solidFill>
            <a:prstDash val="solid"/>
            <a:round/>
            <a:headEnd len="sm" w="sm" type="none"/>
            <a:tailEnd len="med" w="med" type="triangle"/>
          </a:ln>
        </p:spPr>
      </p:cxnSp>
      <p:cxnSp>
        <p:nvCxnSpPr>
          <p:cNvPr id="1066" name="Google Shape;1066;p47"/>
          <p:cNvCxnSpPr/>
          <p:nvPr/>
        </p:nvCxnSpPr>
        <p:spPr>
          <a:xfrm rot="10800000">
            <a:off x="4046220" y="3456432"/>
            <a:ext cx="0" cy="201168"/>
          </a:xfrm>
          <a:prstGeom prst="straightConnector1">
            <a:avLst/>
          </a:prstGeom>
          <a:noFill/>
          <a:ln cap="flat" cmpd="sng" w="19050">
            <a:solidFill>
              <a:srgbClr val="0B2F5B"/>
            </a:solidFill>
            <a:prstDash val="solid"/>
            <a:round/>
            <a:headEnd len="sm" w="sm" type="none"/>
            <a:tailEnd len="med" w="med" type="triangle"/>
          </a:ln>
        </p:spPr>
      </p:cxnSp>
      <p:sp>
        <p:nvSpPr>
          <p:cNvPr id="1067" name="Google Shape;1067;p47"/>
          <p:cNvSpPr txBox="1"/>
          <p:nvPr/>
        </p:nvSpPr>
        <p:spPr>
          <a:xfrm>
            <a:off x="4137659" y="2532887"/>
            <a:ext cx="12801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1" lang="en-US" sz="850">
                <a:solidFill>
                  <a:srgbClr val="5F6B7A"/>
                </a:solidFill>
                <a:latin typeface="Barlow"/>
                <a:ea typeface="Barlow"/>
                <a:cs typeface="Barlow"/>
                <a:sym typeface="Barlow"/>
              </a:rPr>
              <a:t>depends on</a:t>
            </a:r>
            <a:endParaRPr/>
          </a:p>
        </p:txBody>
      </p:sp>
      <p:sp>
        <p:nvSpPr>
          <p:cNvPr id="1068" name="Google Shape;1068;p47"/>
          <p:cNvSpPr txBox="1"/>
          <p:nvPr/>
        </p:nvSpPr>
        <p:spPr>
          <a:xfrm>
            <a:off x="4137659" y="3465576"/>
            <a:ext cx="12801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1" lang="en-US" sz="850">
                <a:solidFill>
                  <a:srgbClr val="5F6B7A"/>
                </a:solidFill>
                <a:latin typeface="Barlow"/>
                <a:ea typeface="Barlow"/>
                <a:cs typeface="Barlow"/>
                <a:sym typeface="Barlow"/>
              </a:rPr>
              <a:t>depends on</a:t>
            </a:r>
            <a:endParaRPr/>
          </a:p>
        </p:txBody>
      </p:sp>
      <p:sp>
        <p:nvSpPr>
          <p:cNvPr id="1069" name="Google Shape;1069;p47"/>
          <p:cNvSpPr/>
          <p:nvPr/>
        </p:nvSpPr>
        <p:spPr>
          <a:xfrm>
            <a:off x="1783080" y="4553712"/>
            <a:ext cx="1417320" cy="914400"/>
          </a:xfrm>
          <a:prstGeom prst="roundRect">
            <a:avLst>
              <a:gd fmla="val 5000" name="adj"/>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36575"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Local database</a:t>
            </a:r>
            <a:endParaRPr/>
          </a:p>
          <a:p>
            <a:pPr indent="0" lvl="0" marL="0" marR="0" rtl="0" algn="l">
              <a:lnSpc>
                <a:spcPct val="100000"/>
              </a:lnSpc>
              <a:spcBef>
                <a:spcPts val="150"/>
              </a:spcBef>
              <a:spcAft>
                <a:spcPts val="0"/>
              </a:spcAft>
              <a:buNone/>
            </a:pPr>
            <a:r>
              <a:rPr b="0" lang="en-US" sz="875">
                <a:solidFill>
                  <a:srgbClr val="1F2A37"/>
                </a:solidFill>
                <a:latin typeface="Barlow"/>
                <a:ea typeface="Barlow"/>
                <a:cs typeface="Barlow"/>
                <a:sym typeface="Barlow"/>
              </a:rPr>
              <a:t>Work orders, transactions</a:t>
            </a:r>
            <a:endParaRPr/>
          </a:p>
          <a:p>
            <a:pPr indent="0" lvl="0" marL="0" marR="0" rtl="0" algn="l">
              <a:lnSpc>
                <a:spcPct val="100000"/>
              </a:lnSpc>
              <a:spcBef>
                <a:spcPts val="150"/>
              </a:spcBef>
              <a:spcAft>
                <a:spcPts val="0"/>
              </a:spcAft>
              <a:buNone/>
            </a:pPr>
            <a:r>
              <a:rPr b="1" lang="en-US" sz="875">
                <a:solidFill>
                  <a:srgbClr val="1E7B4F"/>
                </a:solidFill>
                <a:latin typeface="Barlow"/>
                <a:ea typeface="Barlow"/>
                <a:cs typeface="Barlow"/>
                <a:sym typeface="Barlow"/>
              </a:rPr>
              <a:t>Work order data: Data Protection .complete</a:t>
            </a:r>
            <a:endParaRPr/>
          </a:p>
        </p:txBody>
      </p:sp>
      <p:cxnSp>
        <p:nvCxnSpPr>
          <p:cNvPr id="1070" name="Google Shape;1070;p47"/>
          <p:cNvCxnSpPr/>
          <p:nvPr/>
        </p:nvCxnSpPr>
        <p:spPr>
          <a:xfrm>
            <a:off x="2491740" y="4389120"/>
            <a:ext cx="0" cy="164592"/>
          </a:xfrm>
          <a:prstGeom prst="straightConnector1">
            <a:avLst/>
          </a:prstGeom>
          <a:noFill/>
          <a:ln cap="flat" cmpd="sng" w="12700">
            <a:solidFill>
              <a:srgbClr val="1565C0"/>
            </a:solidFill>
            <a:prstDash val="solid"/>
            <a:round/>
            <a:headEnd len="sm" w="sm" type="none"/>
            <a:tailEnd len="med" w="med" type="triangle"/>
          </a:ln>
        </p:spPr>
      </p:cxnSp>
      <p:sp>
        <p:nvSpPr>
          <p:cNvPr id="1071" name="Google Shape;1071;p47"/>
          <p:cNvSpPr/>
          <p:nvPr/>
        </p:nvSpPr>
        <p:spPr>
          <a:xfrm>
            <a:off x="3337560" y="4553712"/>
            <a:ext cx="1417320" cy="914400"/>
          </a:xfrm>
          <a:prstGeom prst="roundRect">
            <a:avLst>
              <a:gd fmla="val 5000" name="adj"/>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36575"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Keychain</a:t>
            </a:r>
            <a:endParaRPr/>
          </a:p>
          <a:p>
            <a:pPr indent="0" lvl="0" marL="0" marR="0" rtl="0" algn="l">
              <a:lnSpc>
                <a:spcPct val="100000"/>
              </a:lnSpc>
              <a:spcBef>
                <a:spcPts val="150"/>
              </a:spcBef>
              <a:spcAft>
                <a:spcPts val="0"/>
              </a:spcAft>
              <a:buNone/>
            </a:pPr>
            <a:r>
              <a:rPr b="0" lang="en-US" sz="875">
                <a:solidFill>
                  <a:srgbClr val="1F2A37"/>
                </a:solidFill>
                <a:latin typeface="Barlow"/>
                <a:ea typeface="Barlow"/>
                <a:cs typeface="Barlow"/>
                <a:sym typeface="Barlow"/>
              </a:rPr>
              <a:t>Auth token, refresh token</a:t>
            </a:r>
            <a:endParaRPr/>
          </a:p>
          <a:p>
            <a:pPr indent="0" lvl="0" marL="0" marR="0" rtl="0" algn="l">
              <a:lnSpc>
                <a:spcPct val="100000"/>
              </a:lnSpc>
              <a:spcBef>
                <a:spcPts val="150"/>
              </a:spcBef>
              <a:spcAft>
                <a:spcPts val="0"/>
              </a:spcAft>
              <a:buNone/>
            </a:pPr>
            <a:r>
              <a:rPr b="1" lang="en-US" sz="875">
                <a:solidFill>
                  <a:srgbClr val="1E7B4F"/>
                </a:solidFill>
                <a:latin typeface="Barlow"/>
                <a:ea typeface="Barlow"/>
                <a:cs typeface="Barlow"/>
                <a:sym typeface="Barlow"/>
              </a:rPr>
              <a:t>ThisDeviceOnly</a:t>
            </a:r>
            <a:endParaRPr/>
          </a:p>
        </p:txBody>
      </p:sp>
      <p:cxnSp>
        <p:nvCxnSpPr>
          <p:cNvPr id="1072" name="Google Shape;1072;p47"/>
          <p:cNvCxnSpPr/>
          <p:nvPr/>
        </p:nvCxnSpPr>
        <p:spPr>
          <a:xfrm>
            <a:off x="4046220" y="4389120"/>
            <a:ext cx="0" cy="164592"/>
          </a:xfrm>
          <a:prstGeom prst="straightConnector1">
            <a:avLst/>
          </a:prstGeom>
          <a:noFill/>
          <a:ln cap="flat" cmpd="sng" w="12700">
            <a:solidFill>
              <a:srgbClr val="1565C0"/>
            </a:solidFill>
            <a:prstDash val="solid"/>
            <a:round/>
            <a:headEnd len="sm" w="sm" type="none"/>
            <a:tailEnd len="med" w="med" type="triangle"/>
          </a:ln>
        </p:spPr>
      </p:cxnSp>
      <p:sp>
        <p:nvSpPr>
          <p:cNvPr id="1073" name="Google Shape;1073;p47"/>
          <p:cNvSpPr/>
          <p:nvPr/>
        </p:nvSpPr>
        <p:spPr>
          <a:xfrm>
            <a:off x="4892040" y="4553712"/>
            <a:ext cx="1417320" cy="914400"/>
          </a:xfrm>
          <a:prstGeom prst="roundRect">
            <a:avLst>
              <a:gd fmla="val 5000" name="adj"/>
            </a:avLst>
          </a:prstGeom>
          <a:solidFill>
            <a:srgbClr val="FFFFFF"/>
          </a:solidFill>
          <a:ln cap="flat" cmpd="sng" w="9525">
            <a:solidFill>
              <a:srgbClr val="5F6B7A"/>
            </a:solidFill>
            <a:prstDash val="dash"/>
            <a:round/>
            <a:headEnd len="sm" w="sm" type="none"/>
            <a:tailEnd len="sm" w="sm" type="none"/>
          </a:ln>
        </p:spPr>
        <p:txBody>
          <a:bodyPr anchorCtr="0" anchor="ctr" bIns="27425" lIns="91425" spcFirstLastPara="1" rIns="36575"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Memory only</a:t>
            </a:r>
            <a:endParaRPr/>
          </a:p>
          <a:p>
            <a:pPr indent="0" lvl="0" marL="0" marR="0" rtl="0" algn="l">
              <a:lnSpc>
                <a:spcPct val="100000"/>
              </a:lnSpc>
              <a:spcBef>
                <a:spcPts val="150"/>
              </a:spcBef>
              <a:spcAft>
                <a:spcPts val="0"/>
              </a:spcAft>
              <a:buNone/>
            </a:pPr>
            <a:r>
              <a:rPr b="0" lang="en-US" sz="875">
                <a:solidFill>
                  <a:srgbClr val="1F2A37"/>
                </a:solidFill>
                <a:latin typeface="Barlow"/>
                <a:ea typeface="Barlow"/>
                <a:cs typeface="Barlow"/>
                <a:sym typeface="Barlow"/>
              </a:rPr>
              <a:t>Temporary installer password</a:t>
            </a:r>
            <a:endParaRPr/>
          </a:p>
          <a:p>
            <a:pPr indent="0" lvl="0" marL="0" marR="0" rtl="0" algn="l">
              <a:lnSpc>
                <a:spcPct val="100000"/>
              </a:lnSpc>
              <a:spcBef>
                <a:spcPts val="150"/>
              </a:spcBef>
              <a:spcAft>
                <a:spcPts val="0"/>
              </a:spcAft>
              <a:buNone/>
            </a:pPr>
            <a:r>
              <a:rPr b="1" lang="en-US" sz="875">
                <a:solidFill>
                  <a:srgbClr val="1E7B4F"/>
                </a:solidFill>
                <a:latin typeface="Barlow"/>
                <a:ea typeface="Barlow"/>
                <a:cs typeface="Barlow"/>
                <a:sym typeface="Barlow"/>
              </a:rPr>
              <a:t>Never persisted</a:t>
            </a:r>
            <a:endParaRPr/>
          </a:p>
        </p:txBody>
      </p:sp>
      <p:sp>
        <p:nvSpPr>
          <p:cNvPr id="1074" name="Google Shape;1074;p47"/>
          <p:cNvSpPr/>
          <p:nvPr/>
        </p:nvSpPr>
        <p:spPr>
          <a:xfrm>
            <a:off x="8092440" y="1261872"/>
            <a:ext cx="3337560" cy="1691640"/>
          </a:xfrm>
          <a:prstGeom prst="rect">
            <a:avLst/>
          </a:prstGeom>
          <a:solidFill>
            <a:srgbClr val="FFFFFF"/>
          </a:solidFill>
          <a:ln cap="flat" cmpd="sng" w="15875">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5" name="Google Shape;1075;p47"/>
          <p:cNvSpPr/>
          <p:nvPr/>
        </p:nvSpPr>
        <p:spPr>
          <a:xfrm>
            <a:off x="8229600" y="1380744"/>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76" name="Google Shape;1076;p47"/>
          <p:cNvPicPr preferRelativeResize="0"/>
          <p:nvPr/>
        </p:nvPicPr>
        <p:blipFill rotWithShape="1">
          <a:blip r:embed="rId5">
            <a:alphaModFix/>
          </a:blip>
          <a:srcRect b="0" l="0" r="0" t="0"/>
          <a:stretch/>
        </p:blipFill>
        <p:spPr>
          <a:xfrm>
            <a:off x="8302020" y="1453164"/>
            <a:ext cx="184343" cy="184343"/>
          </a:xfrm>
          <a:prstGeom prst="rect">
            <a:avLst/>
          </a:prstGeom>
          <a:noFill/>
          <a:ln>
            <a:noFill/>
          </a:ln>
        </p:spPr>
      </p:pic>
      <p:sp>
        <p:nvSpPr>
          <p:cNvPr id="1077" name="Google Shape;1077;p47"/>
          <p:cNvSpPr txBox="1"/>
          <p:nvPr/>
        </p:nvSpPr>
        <p:spPr>
          <a:xfrm>
            <a:off x="8641080" y="1380744"/>
            <a:ext cx="2377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Qcells backend</a:t>
            </a:r>
            <a:endParaRPr/>
          </a:p>
        </p:txBody>
      </p:sp>
      <p:sp>
        <p:nvSpPr>
          <p:cNvPr id="1078" name="Google Shape;1078;p47"/>
          <p:cNvSpPr/>
          <p:nvPr/>
        </p:nvSpPr>
        <p:spPr>
          <a:xfrm>
            <a:off x="8229600" y="1856231"/>
            <a:ext cx="662945"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Work order</a:t>
            </a:r>
            <a:endParaRPr/>
          </a:p>
        </p:txBody>
      </p:sp>
      <p:sp>
        <p:nvSpPr>
          <p:cNvPr id="1079" name="Google Shape;1079;p47"/>
          <p:cNvSpPr/>
          <p:nvPr/>
        </p:nvSpPr>
        <p:spPr>
          <a:xfrm>
            <a:off x="8947409" y="1856231"/>
            <a:ext cx="660044"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NMI lookup</a:t>
            </a:r>
            <a:endParaRPr/>
          </a:p>
        </p:txBody>
      </p:sp>
      <p:sp>
        <p:nvSpPr>
          <p:cNvPr id="1080" name="Google Shape;1080;p47"/>
          <p:cNvSpPr/>
          <p:nvPr/>
        </p:nvSpPr>
        <p:spPr>
          <a:xfrm>
            <a:off x="9662317" y="1856231"/>
            <a:ext cx="992952"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Installer password</a:t>
            </a:r>
            <a:endParaRPr/>
          </a:p>
        </p:txBody>
      </p:sp>
      <p:sp>
        <p:nvSpPr>
          <p:cNvPr id="1081" name="Google Shape;1081;p47"/>
          <p:cNvSpPr/>
          <p:nvPr/>
        </p:nvSpPr>
        <p:spPr>
          <a:xfrm>
            <a:off x="8229600" y="2194560"/>
            <a:ext cx="1094417"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Firmware repository</a:t>
            </a:r>
            <a:endParaRPr/>
          </a:p>
        </p:txBody>
      </p:sp>
      <p:sp>
        <p:nvSpPr>
          <p:cNvPr id="1082" name="Google Shape;1082;p47"/>
          <p:cNvSpPr/>
          <p:nvPr/>
        </p:nvSpPr>
        <p:spPr>
          <a:xfrm>
            <a:off x="9378881" y="2194560"/>
            <a:ext cx="1113966"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Transaction sync API</a:t>
            </a:r>
            <a:endParaRPr/>
          </a:p>
        </p:txBody>
      </p:sp>
      <p:sp>
        <p:nvSpPr>
          <p:cNvPr id="1083" name="Google Shape;1083;p47"/>
          <p:cNvSpPr/>
          <p:nvPr/>
        </p:nvSpPr>
        <p:spPr>
          <a:xfrm>
            <a:off x="8229600" y="2532888"/>
            <a:ext cx="616729"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Telemetry</a:t>
            </a:r>
            <a:endParaRPr/>
          </a:p>
        </p:txBody>
      </p:sp>
      <p:sp>
        <p:nvSpPr>
          <p:cNvPr id="1084" name="Google Shape;1084;p47"/>
          <p:cNvSpPr/>
          <p:nvPr/>
        </p:nvSpPr>
        <p:spPr>
          <a:xfrm>
            <a:off x="8901193" y="2532888"/>
            <a:ext cx="827029"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Billing pipeline</a:t>
            </a:r>
            <a:endParaRPr/>
          </a:p>
        </p:txBody>
      </p:sp>
      <p:sp>
        <p:nvSpPr>
          <p:cNvPr id="1085" name="Google Shape;1085;p47"/>
          <p:cNvSpPr/>
          <p:nvPr/>
        </p:nvSpPr>
        <p:spPr>
          <a:xfrm>
            <a:off x="8092440" y="3520440"/>
            <a:ext cx="3337560" cy="1371600"/>
          </a:xfrm>
          <a:prstGeom prst="rect">
            <a:avLst/>
          </a:prstGeom>
          <a:solidFill>
            <a:srgbClr val="EAF2FB"/>
          </a:solidFill>
          <a:ln cap="flat" cmpd="sng" w="15875">
            <a:solidFill>
              <a:srgbClr val="1565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6" name="Google Shape;1086;p47"/>
          <p:cNvSpPr/>
          <p:nvPr/>
        </p:nvSpPr>
        <p:spPr>
          <a:xfrm>
            <a:off x="8229600" y="3639312"/>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87" name="Google Shape;1087;p47"/>
          <p:cNvPicPr preferRelativeResize="0"/>
          <p:nvPr/>
        </p:nvPicPr>
        <p:blipFill rotWithShape="1">
          <a:blip r:embed="rId6">
            <a:alphaModFix/>
          </a:blip>
          <a:srcRect b="0" l="0" r="0" t="0"/>
          <a:stretch/>
        </p:blipFill>
        <p:spPr>
          <a:xfrm>
            <a:off x="8302020" y="3711732"/>
            <a:ext cx="184343" cy="184343"/>
          </a:xfrm>
          <a:prstGeom prst="rect">
            <a:avLst/>
          </a:prstGeom>
          <a:noFill/>
          <a:ln>
            <a:noFill/>
          </a:ln>
        </p:spPr>
      </p:pic>
      <p:sp>
        <p:nvSpPr>
          <p:cNvPr id="1088" name="Google Shape;1088;p47"/>
          <p:cNvSpPr txBox="1"/>
          <p:nvPr/>
        </p:nvSpPr>
        <p:spPr>
          <a:xfrm>
            <a:off x="8641080" y="3639312"/>
            <a:ext cx="2377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CORE Pro ESS</a:t>
            </a:r>
            <a:endParaRPr/>
          </a:p>
        </p:txBody>
      </p:sp>
      <p:sp>
        <p:nvSpPr>
          <p:cNvPr id="1089" name="Google Shape;1089;p47"/>
          <p:cNvSpPr txBox="1"/>
          <p:nvPr/>
        </p:nvSpPr>
        <p:spPr>
          <a:xfrm>
            <a:off x="8229600" y="4069080"/>
            <a:ext cx="3063240" cy="749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BLE GATT: control and configuration</a:t>
            </a:r>
            <a:endParaRPr/>
          </a:p>
          <a:p>
            <a:pPr indent="0" lvl="0" marL="0" marR="0" rtl="0" algn="l">
              <a:lnSpc>
                <a:spcPct val="100000"/>
              </a:lnSpc>
              <a:spcBef>
                <a:spcPts val="200"/>
              </a:spcBef>
              <a:spcAft>
                <a:spcPts val="0"/>
              </a:spcAft>
              <a:buNone/>
            </a:pPr>
            <a:r>
              <a:rPr b="0" lang="en-US" sz="950">
                <a:solidFill>
                  <a:srgbClr val="1F2A37"/>
                </a:solidFill>
                <a:latin typeface="Barlow"/>
                <a:ea typeface="Barlow"/>
                <a:cs typeface="Barlow"/>
                <a:sym typeface="Barlow"/>
              </a:rPr>
              <a:t>Built-in Wi-Fi: SoftAP and home Wi-Fi</a:t>
            </a:r>
            <a:endParaRPr/>
          </a:p>
          <a:p>
            <a:pPr indent="0" lvl="0" marL="0" marR="0" rtl="0" algn="l">
              <a:lnSpc>
                <a:spcPct val="100000"/>
              </a:lnSpc>
              <a:spcBef>
                <a:spcPts val="200"/>
              </a:spcBef>
              <a:spcAft>
                <a:spcPts val="0"/>
              </a:spcAft>
              <a:buNone/>
            </a:pPr>
            <a:r>
              <a:rPr b="0" lang="en-US" sz="950">
                <a:solidFill>
                  <a:srgbClr val="1F2A37"/>
                </a:solidFill>
                <a:latin typeface="Barlow"/>
                <a:ea typeface="Barlow"/>
                <a:cs typeface="Barlow"/>
                <a:sym typeface="Barlow"/>
              </a:rPr>
              <a:t>Inverter · Battery · Dual-bank flash</a:t>
            </a:r>
            <a:endParaRPr/>
          </a:p>
        </p:txBody>
      </p:sp>
      <p:sp>
        <p:nvSpPr>
          <p:cNvPr id="1090" name="Google Shape;1090;p47"/>
          <p:cNvSpPr/>
          <p:nvPr/>
        </p:nvSpPr>
        <p:spPr>
          <a:xfrm>
            <a:off x="8092440" y="5212080"/>
            <a:ext cx="3337560" cy="365760"/>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Grid · PV</a:t>
            </a:r>
            <a:endParaRPr/>
          </a:p>
        </p:txBody>
      </p:sp>
      <p:cxnSp>
        <p:nvCxnSpPr>
          <p:cNvPr id="1091" name="Google Shape;1091;p47"/>
          <p:cNvCxnSpPr/>
          <p:nvPr/>
        </p:nvCxnSpPr>
        <p:spPr>
          <a:xfrm>
            <a:off x="9761219" y="4892040"/>
            <a:ext cx="0" cy="320040"/>
          </a:xfrm>
          <a:prstGeom prst="straightConnector1">
            <a:avLst/>
          </a:prstGeom>
          <a:noFill/>
          <a:ln cap="flat" cmpd="sng" w="12700">
            <a:solidFill>
              <a:srgbClr val="5F6B7A"/>
            </a:solidFill>
            <a:prstDash val="solid"/>
            <a:round/>
            <a:headEnd len="med" w="med" type="triangle"/>
            <a:tailEnd len="med" w="med" type="triangle"/>
          </a:ln>
        </p:spPr>
      </p:cxnSp>
      <p:sp>
        <p:nvSpPr>
          <p:cNvPr id="1092" name="Google Shape;1092;p47"/>
          <p:cNvSpPr txBox="1"/>
          <p:nvPr/>
        </p:nvSpPr>
        <p:spPr>
          <a:xfrm>
            <a:off x="9852659" y="4956048"/>
            <a:ext cx="7315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Power</a:t>
            </a:r>
            <a:endParaRPr/>
          </a:p>
        </p:txBody>
      </p:sp>
      <p:cxnSp>
        <p:nvCxnSpPr>
          <p:cNvPr id="1093" name="Google Shape;1093;p47"/>
          <p:cNvCxnSpPr/>
          <p:nvPr/>
        </p:nvCxnSpPr>
        <p:spPr>
          <a:xfrm>
            <a:off x="6492240" y="2103120"/>
            <a:ext cx="1600200" cy="0"/>
          </a:xfrm>
          <a:prstGeom prst="straightConnector1">
            <a:avLst/>
          </a:prstGeom>
          <a:noFill/>
          <a:ln cap="flat" cmpd="sng" w="22225">
            <a:solidFill>
              <a:srgbClr val="0B2F5B"/>
            </a:solidFill>
            <a:prstDash val="solid"/>
            <a:round/>
            <a:headEnd len="med" w="med" type="triangle"/>
            <a:tailEnd len="med" w="med" type="triangle"/>
          </a:ln>
        </p:spPr>
      </p:cxnSp>
      <p:sp>
        <p:nvSpPr>
          <p:cNvPr id="1094" name="Google Shape;1094;p47"/>
          <p:cNvSpPr txBox="1"/>
          <p:nvPr/>
        </p:nvSpPr>
        <p:spPr>
          <a:xfrm>
            <a:off x="6492240" y="1847088"/>
            <a:ext cx="16002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HTTPS, when online</a:t>
            </a:r>
            <a:endParaRPr/>
          </a:p>
        </p:txBody>
      </p:sp>
      <p:sp>
        <p:nvSpPr>
          <p:cNvPr id="1095" name="Google Shape;1095;p47"/>
          <p:cNvSpPr txBox="1"/>
          <p:nvPr/>
        </p:nvSpPr>
        <p:spPr>
          <a:xfrm>
            <a:off x="6492240" y="2157984"/>
            <a:ext cx="160020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lang="en-US" sz="900">
                <a:solidFill>
                  <a:srgbClr val="5F6B7A"/>
                </a:solidFill>
                <a:latin typeface="Barlow"/>
                <a:ea typeface="Barlow"/>
                <a:cs typeface="Barlow"/>
                <a:sym typeface="Barlow"/>
              </a:rPr>
              <a:t>Pre-sync · Post-sync</a:t>
            </a:r>
            <a:endParaRPr/>
          </a:p>
        </p:txBody>
      </p:sp>
      <p:cxnSp>
        <p:nvCxnSpPr>
          <p:cNvPr id="1096" name="Google Shape;1096;p47"/>
          <p:cNvCxnSpPr/>
          <p:nvPr/>
        </p:nvCxnSpPr>
        <p:spPr>
          <a:xfrm>
            <a:off x="6492240" y="3931920"/>
            <a:ext cx="1600200" cy="0"/>
          </a:xfrm>
          <a:prstGeom prst="straightConnector1">
            <a:avLst/>
          </a:prstGeom>
          <a:noFill/>
          <a:ln cap="flat" cmpd="sng" w="22225">
            <a:solidFill>
              <a:srgbClr val="1565C0"/>
            </a:solidFill>
            <a:prstDash val="solid"/>
            <a:round/>
            <a:headEnd len="med" w="med" type="triangle"/>
            <a:tailEnd len="med" w="med" type="triangle"/>
          </a:ln>
        </p:spPr>
      </p:cxnSp>
      <p:sp>
        <p:nvSpPr>
          <p:cNvPr id="1097" name="Google Shape;1097;p47"/>
          <p:cNvSpPr txBox="1"/>
          <p:nvPr/>
        </p:nvSpPr>
        <p:spPr>
          <a:xfrm>
            <a:off x="6492240" y="3675887"/>
            <a:ext cx="16002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1565C0"/>
                </a:solidFill>
                <a:latin typeface="Barlow"/>
                <a:ea typeface="Barlow"/>
                <a:cs typeface="Barlow"/>
                <a:sym typeface="Barlow"/>
              </a:rPr>
              <a:t>BLE 1:1, offline</a:t>
            </a:r>
            <a:endParaRPr/>
          </a:p>
        </p:txBody>
      </p:sp>
      <p:sp>
        <p:nvSpPr>
          <p:cNvPr id="1098" name="Google Shape;1098;p47"/>
          <p:cNvSpPr txBox="1"/>
          <p:nvPr/>
        </p:nvSpPr>
        <p:spPr>
          <a:xfrm>
            <a:off x="6492240" y="3986784"/>
            <a:ext cx="160020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lang="en-US" sz="900">
                <a:solidFill>
                  <a:srgbClr val="5F6B7A"/>
                </a:solidFill>
                <a:latin typeface="Barlow"/>
                <a:ea typeface="Barlow"/>
                <a:cs typeface="Barlow"/>
                <a:sym typeface="Barlow"/>
              </a:rPr>
              <a:t>Commands · Events</a:t>
            </a:r>
            <a:endParaRPr/>
          </a:p>
        </p:txBody>
      </p:sp>
      <p:cxnSp>
        <p:nvCxnSpPr>
          <p:cNvPr id="1099" name="Google Shape;1099;p47"/>
          <p:cNvCxnSpPr/>
          <p:nvPr/>
        </p:nvCxnSpPr>
        <p:spPr>
          <a:xfrm>
            <a:off x="6492240" y="4590288"/>
            <a:ext cx="1600200" cy="0"/>
          </a:xfrm>
          <a:prstGeom prst="straightConnector1">
            <a:avLst/>
          </a:prstGeom>
          <a:noFill/>
          <a:ln cap="flat" cmpd="sng" w="22225">
            <a:solidFill>
              <a:srgbClr val="1565C0"/>
            </a:solidFill>
            <a:prstDash val="dash"/>
            <a:round/>
            <a:headEnd len="sm" w="sm" type="none"/>
            <a:tailEnd len="med" w="med" type="triangle"/>
          </a:ln>
        </p:spPr>
      </p:cxnSp>
      <p:sp>
        <p:nvSpPr>
          <p:cNvPr id="1100" name="Google Shape;1100;p47"/>
          <p:cNvSpPr txBox="1"/>
          <p:nvPr/>
        </p:nvSpPr>
        <p:spPr>
          <a:xfrm>
            <a:off x="6492240" y="4334256"/>
            <a:ext cx="16002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1565C0"/>
                </a:solidFill>
                <a:latin typeface="Barlow"/>
                <a:ea typeface="Barlow"/>
                <a:cs typeface="Barlow"/>
                <a:sym typeface="Barlow"/>
              </a:rPr>
              <a:t>SoftAP Wi-Fi, temporary</a:t>
            </a:r>
            <a:endParaRPr/>
          </a:p>
        </p:txBody>
      </p:sp>
      <p:sp>
        <p:nvSpPr>
          <p:cNvPr id="1101" name="Google Shape;1101;p47"/>
          <p:cNvSpPr txBox="1"/>
          <p:nvPr/>
        </p:nvSpPr>
        <p:spPr>
          <a:xfrm>
            <a:off x="6492240" y="4645152"/>
            <a:ext cx="160020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lang="en-US" sz="900">
                <a:solidFill>
                  <a:srgbClr val="5F6B7A"/>
                </a:solidFill>
                <a:latin typeface="Barlow"/>
                <a:ea typeface="Barlow"/>
                <a:cs typeface="Barlow"/>
                <a:sym typeface="Barlow"/>
              </a:rPr>
              <a:t>Firmware transfer</a:t>
            </a:r>
            <a:endParaRPr/>
          </a:p>
        </p:txBody>
      </p:sp>
      <p:cxnSp>
        <p:nvCxnSpPr>
          <p:cNvPr id="1102" name="Google Shape;1102;p47"/>
          <p:cNvCxnSpPr/>
          <p:nvPr/>
        </p:nvCxnSpPr>
        <p:spPr>
          <a:xfrm rot="10800000">
            <a:off x="10744200" y="2953512"/>
            <a:ext cx="0" cy="566928"/>
          </a:xfrm>
          <a:prstGeom prst="straightConnector1">
            <a:avLst/>
          </a:prstGeom>
          <a:noFill/>
          <a:ln cap="flat" cmpd="sng" w="15875">
            <a:solidFill>
              <a:srgbClr val="5F6B7A"/>
            </a:solidFill>
            <a:prstDash val="dash"/>
            <a:round/>
            <a:headEnd len="sm" w="sm" type="none"/>
            <a:tailEnd len="med" w="med" type="triangle"/>
          </a:ln>
        </p:spPr>
      </p:cxnSp>
      <p:sp>
        <p:nvSpPr>
          <p:cNvPr id="1103" name="Google Shape;1103;p47"/>
          <p:cNvSpPr txBox="1"/>
          <p:nvPr/>
        </p:nvSpPr>
        <p:spPr>
          <a:xfrm>
            <a:off x="8915400" y="3136392"/>
            <a:ext cx="17373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en-US" sz="900">
                <a:solidFill>
                  <a:srgbClr val="5F6B7A"/>
                </a:solidFill>
                <a:latin typeface="Barlow"/>
                <a:ea typeface="Barlow"/>
                <a:cs typeface="Barlow"/>
                <a:sym typeface="Barlow"/>
              </a:rPr>
              <a:t>Home Wi-Fi · Telemetry</a:t>
            </a:r>
            <a:endParaRPr/>
          </a:p>
        </p:txBody>
      </p:sp>
      <p:sp>
        <p:nvSpPr>
          <p:cNvPr id="1104" name="Google Shape;1104;p47"/>
          <p:cNvSpPr/>
          <p:nvPr/>
        </p:nvSpPr>
        <p:spPr>
          <a:xfrm>
            <a:off x="457200" y="5687568"/>
            <a:ext cx="10972800" cy="329184"/>
          </a:xfrm>
          <a:prstGeom prst="rect">
            <a:avLst/>
          </a:prstGeom>
          <a:solidFill>
            <a:srgbClr val="F5F8FC"/>
          </a:solidFill>
          <a:ln>
            <a:noFill/>
          </a:ln>
        </p:spPr>
        <p:txBody>
          <a:bodyPr anchorCtr="0" anchor="ctr" bIns="0" lIns="128000" spcFirstLastPara="1" rIns="91425" wrap="square" tIns="0">
            <a:noAutofit/>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Dependency rule  </a:t>
            </a:r>
            <a:r>
              <a:rPr b="0" lang="en-US" sz="950">
                <a:solidFill>
                  <a:srgbClr val="1F2A37"/>
                </a:solidFill>
                <a:latin typeface="Barlow"/>
                <a:ea typeface="Barlow"/>
                <a:cs typeface="Barlow"/>
                <a:sym typeface="Barlow"/>
              </a:rPr>
              <a:t>UI → Domain ← Data. Domain owns only protocols, so </a:t>
            </a:r>
            <a:r>
              <a:rPr b="0" lang="en-US" sz="900">
                <a:solidFill>
                  <a:srgbClr val="1565C0"/>
                </a:solidFill>
                <a:latin typeface="Consolas"/>
                <a:ea typeface="Consolas"/>
                <a:cs typeface="Consolas"/>
                <a:sym typeface="Consolas"/>
              </a:rPr>
              <a:t>BLETransport</a:t>
            </a:r>
            <a:r>
              <a:rPr b="0" lang="en-US" sz="950">
                <a:solidFill>
                  <a:srgbClr val="1F2A37"/>
                </a:solidFill>
                <a:latin typeface="Barlow"/>
                <a:ea typeface="Barlow"/>
                <a:cs typeface="Barlow"/>
                <a:sym typeface="Barlow"/>
              </a:rPr>
              <a:t> can be a mock or the real link.     </a:t>
            </a:r>
            <a:r>
              <a:rPr b="1" lang="en-US" sz="950">
                <a:solidFill>
                  <a:srgbClr val="0B2F5B"/>
                </a:solidFill>
                <a:latin typeface="Barlow"/>
                <a:ea typeface="Barlow"/>
                <a:cs typeface="Barlow"/>
                <a:sym typeface="Barlow"/>
              </a:rPr>
              <a:t>Logs  </a:t>
            </a:r>
            <a:r>
              <a:rPr b="0" lang="en-US" sz="950">
                <a:solidFill>
                  <a:srgbClr val="1F2A37"/>
                </a:solidFill>
                <a:latin typeface="Barlow"/>
                <a:ea typeface="Barlow"/>
                <a:cs typeface="Barlow"/>
                <a:sym typeface="Barlow"/>
              </a:rPr>
              <a:t>Serial No, NMI No and passwords are masked.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48"/>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DEVICE LINK · ASSUMED FIRMWARE INTERACTION</a:t>
            </a:r>
            <a:endParaRPr/>
          </a:p>
        </p:txBody>
      </p:sp>
      <p:sp>
        <p:nvSpPr>
          <p:cNvPr id="1111" name="Google Shape;1111;p48"/>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The app finds the ESS by Serial No and gates each session by version</a:t>
            </a:r>
            <a:endParaRPr/>
          </a:p>
        </p:txBody>
      </p:sp>
      <p:sp>
        <p:nvSpPr>
          <p:cNvPr id="1112" name="Google Shape;1112;p48"/>
          <p:cNvSpPr txBox="1"/>
          <p:nvPr/>
        </p:nvSpPr>
        <p:spPr>
          <a:xfrm>
            <a:off x="457200" y="1216152"/>
            <a:ext cx="3291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1 · FIND AND IDENTIFY THE DEVICE</a:t>
            </a:r>
            <a:endParaRPr/>
          </a:p>
        </p:txBody>
      </p:sp>
      <p:sp>
        <p:nvSpPr>
          <p:cNvPr id="1113" name="Google Shape;1113;p48"/>
          <p:cNvSpPr/>
          <p:nvPr/>
        </p:nvSpPr>
        <p:spPr>
          <a:xfrm>
            <a:off x="3246120" y="1225296"/>
            <a:ext cx="1165124"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Foreground-only scan</a:t>
            </a:r>
            <a:endParaRPr/>
          </a:p>
        </p:txBody>
      </p:sp>
      <p:sp>
        <p:nvSpPr>
          <p:cNvPr id="1114" name="Google Shape;1114;p48"/>
          <p:cNvSpPr/>
          <p:nvPr/>
        </p:nvSpPr>
        <p:spPr>
          <a:xfrm>
            <a:off x="4466107" y="1225296"/>
            <a:ext cx="1099291"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stopScan() on match</a:t>
            </a:r>
            <a:endParaRPr/>
          </a:p>
        </p:txBody>
      </p:sp>
      <p:sp>
        <p:nvSpPr>
          <p:cNvPr id="1115" name="Google Shape;1115;p48"/>
          <p:cNvSpPr/>
          <p:nvPr/>
        </p:nvSpPr>
        <p:spPr>
          <a:xfrm>
            <a:off x="457200" y="1536192"/>
            <a:ext cx="2231136" cy="429768"/>
          </a:xfrm>
          <a:prstGeom prst="roundRect">
            <a:avLst>
              <a:gd fmla="val 10638" name="adj"/>
            </a:avLst>
          </a:prstGeom>
          <a:solidFill>
            <a:srgbClr val="EAF2FB"/>
          </a:solidFill>
          <a:ln cap="flat" cmpd="sng" w="9525">
            <a:solidFill>
              <a:srgbClr val="C7D7EA"/>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Nearby BLE devices</a:t>
            </a:r>
            <a:endParaRPr/>
          </a:p>
        </p:txBody>
      </p:sp>
      <p:sp>
        <p:nvSpPr>
          <p:cNvPr id="1116" name="Google Shape;1116;p48"/>
          <p:cNvSpPr txBox="1"/>
          <p:nvPr/>
        </p:nvSpPr>
        <p:spPr>
          <a:xfrm>
            <a:off x="2852928" y="1536192"/>
            <a:ext cx="3017520"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Everything that advertises around the installer.</a:t>
            </a:r>
            <a:endParaRPr/>
          </a:p>
        </p:txBody>
      </p:sp>
      <p:sp>
        <p:nvSpPr>
          <p:cNvPr id="1117" name="Google Shape;1117;p48"/>
          <p:cNvSpPr/>
          <p:nvPr/>
        </p:nvSpPr>
        <p:spPr>
          <a:xfrm>
            <a:off x="667512" y="2016252"/>
            <a:ext cx="1810512" cy="429768"/>
          </a:xfrm>
          <a:prstGeom prst="roundRect">
            <a:avLst>
              <a:gd fmla="val 10638" name="adj"/>
            </a:avLst>
          </a:prstGeom>
          <a:solidFill>
            <a:srgbClr val="5DA9E9"/>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Model Service UUID</a:t>
            </a:r>
            <a:endParaRPr/>
          </a:p>
        </p:txBody>
      </p:sp>
      <p:sp>
        <p:nvSpPr>
          <p:cNvPr id="1118" name="Google Shape;1118;p48"/>
          <p:cNvSpPr txBox="1"/>
          <p:nvPr/>
        </p:nvSpPr>
        <p:spPr>
          <a:xfrm>
            <a:off x="2852928" y="2016252"/>
            <a:ext cx="3017520"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75">
                <a:solidFill>
                  <a:srgbClr val="1565C0"/>
                </a:solidFill>
                <a:latin typeface="Consolas"/>
                <a:ea typeface="Consolas"/>
                <a:cs typeface="Consolas"/>
                <a:sym typeface="Consolas"/>
              </a:rPr>
              <a:t>scanForPeripherals(withServices:)</a:t>
            </a:r>
            <a:r>
              <a:rPr b="0" lang="en-US" sz="950">
                <a:solidFill>
                  <a:srgbClr val="1F2A37"/>
                </a:solidFill>
                <a:latin typeface="Barlow"/>
                <a:ea typeface="Barlow"/>
                <a:cs typeface="Barlow"/>
                <a:sym typeface="Barlow"/>
              </a:rPr>
              <a:t> drops unrelated devices.</a:t>
            </a:r>
            <a:endParaRPr/>
          </a:p>
        </p:txBody>
      </p:sp>
      <p:sp>
        <p:nvSpPr>
          <p:cNvPr id="1119" name="Google Shape;1119;p48"/>
          <p:cNvSpPr/>
          <p:nvPr/>
        </p:nvSpPr>
        <p:spPr>
          <a:xfrm>
            <a:off x="877824" y="2496312"/>
            <a:ext cx="1389888" cy="429768"/>
          </a:xfrm>
          <a:prstGeom prst="roundRect">
            <a:avLst>
              <a:gd fmla="val 10638" name="adj"/>
            </a:avLst>
          </a:prstGeom>
          <a:solidFill>
            <a:srgbClr val="1565C0"/>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75">
                <a:solidFill>
                  <a:srgbClr val="FFFFFF"/>
                </a:solidFill>
                <a:latin typeface="Montserrat"/>
                <a:ea typeface="Montserrat"/>
                <a:cs typeface="Montserrat"/>
                <a:sym typeface="Montserrat"/>
              </a:rPr>
              <a:t>Serial No match</a:t>
            </a:r>
            <a:endParaRPr/>
          </a:p>
        </p:txBody>
      </p:sp>
      <p:sp>
        <p:nvSpPr>
          <p:cNvPr id="1120" name="Google Shape;1120;p48"/>
          <p:cNvSpPr txBox="1"/>
          <p:nvPr/>
        </p:nvSpPr>
        <p:spPr>
          <a:xfrm>
            <a:off x="2852928" y="2496312"/>
            <a:ext cx="3017520"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Serial No from the advertised Local Name, checked against the work list or manual input.</a:t>
            </a:r>
            <a:endParaRPr/>
          </a:p>
        </p:txBody>
      </p:sp>
      <p:sp>
        <p:nvSpPr>
          <p:cNvPr id="1121" name="Google Shape;1121;p48"/>
          <p:cNvSpPr/>
          <p:nvPr/>
        </p:nvSpPr>
        <p:spPr>
          <a:xfrm>
            <a:off x="1088136" y="2976372"/>
            <a:ext cx="969264" cy="429768"/>
          </a:xfrm>
          <a:prstGeom prst="roundRect">
            <a:avLst>
              <a:gd fmla="val 10638" name="adj"/>
            </a:avLst>
          </a:prstGeom>
          <a:solidFill>
            <a:srgbClr val="0B2F5B"/>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75">
                <a:solidFill>
                  <a:srgbClr val="FFFFFF"/>
                </a:solidFill>
                <a:latin typeface="Montserrat"/>
                <a:ea typeface="Montserrat"/>
                <a:cs typeface="Montserrat"/>
                <a:sym typeface="Montserrat"/>
              </a:rPr>
              <a:t>One ESS</a:t>
            </a:r>
            <a:endParaRPr/>
          </a:p>
        </p:txBody>
      </p:sp>
      <p:sp>
        <p:nvSpPr>
          <p:cNvPr id="1122" name="Google Shape;1122;p48"/>
          <p:cNvSpPr txBox="1"/>
          <p:nvPr/>
        </p:nvSpPr>
        <p:spPr>
          <a:xfrm>
            <a:off x="2852928" y="2976372"/>
            <a:ext cx="3017520"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Several replies for one Serial No: take the highest RSSI and ask the installer to confirm.</a:t>
            </a:r>
            <a:endParaRPr/>
          </a:p>
        </p:txBody>
      </p:sp>
      <p:sp>
        <p:nvSpPr>
          <p:cNvPr id="1123" name="Google Shape;1123;p48"/>
          <p:cNvSpPr/>
          <p:nvPr/>
        </p:nvSpPr>
        <p:spPr>
          <a:xfrm>
            <a:off x="457200" y="3511296"/>
            <a:ext cx="5413248" cy="603504"/>
          </a:xfrm>
          <a:prstGeom prst="rect">
            <a:avLst/>
          </a:prstGeom>
          <a:solidFill>
            <a:srgbClr val="F5F8FC"/>
          </a:solidFill>
          <a:ln>
            <a:noFill/>
          </a:ln>
        </p:spPr>
        <p:txBody>
          <a:bodyPr anchorCtr="0" anchor="ctr" bIns="18275" lIns="109725" spcFirstLastPara="1" rIns="91425" wrap="square" tIns="18275">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Why not the MAC address?  </a:t>
            </a:r>
            <a:r>
              <a:rPr b="0" lang="en-US" sz="925">
                <a:solidFill>
                  <a:srgbClr val="1F2A37"/>
                </a:solidFill>
                <a:latin typeface="Barlow"/>
                <a:ea typeface="Barlow"/>
                <a:cs typeface="Barlow"/>
                <a:sym typeface="Barlow"/>
              </a:rPr>
              <a:t>iOS hides it, and </a:t>
            </a:r>
            <a:r>
              <a:rPr b="0" lang="en-US" sz="875">
                <a:solidFill>
                  <a:srgbClr val="1565C0"/>
                </a:solidFill>
                <a:latin typeface="Consolas"/>
                <a:ea typeface="Consolas"/>
                <a:cs typeface="Consolas"/>
                <a:sym typeface="Consolas"/>
              </a:rPr>
              <a:t>CBPeripheral.identifier</a:t>
            </a:r>
            <a:r>
              <a:rPr b="0" lang="en-US" sz="925">
                <a:solidFill>
                  <a:srgbClr val="1F2A37"/>
                </a:solidFill>
                <a:latin typeface="Barlow"/>
                <a:ea typeface="Barlow"/>
                <a:cs typeface="Barlow"/>
                <a:sym typeface="Barlow"/>
              </a:rPr>
              <a:t> is a random UUID per iPhone. If the name is shortened, the app reads Serial Number String (0x2A25) after connect. Per-model UUID and Local Name format: </a:t>
            </a:r>
            <a:r>
              <a:rPr b="1" lang="en-US" sz="925">
                <a:solidFill>
                  <a:srgbClr val="9A5B00"/>
                </a:solidFill>
                <a:latin typeface="Barlow"/>
                <a:ea typeface="Barlow"/>
                <a:cs typeface="Barlow"/>
                <a:sym typeface="Barlow"/>
              </a:rPr>
              <a:t>TBD</a:t>
            </a:r>
            <a:r>
              <a:rPr b="0" lang="en-US" sz="925">
                <a:solidFill>
                  <a:srgbClr val="1F2A37"/>
                </a:solidFill>
                <a:latin typeface="Barlow"/>
                <a:ea typeface="Barlow"/>
                <a:cs typeface="Barlow"/>
                <a:sym typeface="Barlow"/>
              </a:rPr>
              <a:t>, updated via server Remote Config.</a:t>
            </a:r>
            <a:endParaRPr/>
          </a:p>
        </p:txBody>
      </p:sp>
      <p:sp>
        <p:nvSpPr>
          <p:cNvPr id="1124" name="Google Shape;1124;p48"/>
          <p:cNvSpPr txBox="1"/>
          <p:nvPr/>
        </p:nvSpPr>
        <p:spPr>
          <a:xfrm>
            <a:off x="6263640" y="1216152"/>
            <a:ext cx="51206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2 · GATE THE SESSION BY PROTOCOL VERSION</a:t>
            </a:r>
            <a:endParaRPr/>
          </a:p>
        </p:txBody>
      </p:sp>
      <p:sp>
        <p:nvSpPr>
          <p:cNvPr id="1125" name="Google Shape;1125;p48"/>
          <p:cNvSpPr/>
          <p:nvPr/>
        </p:nvSpPr>
        <p:spPr>
          <a:xfrm>
            <a:off x="6263640" y="2212848"/>
            <a:ext cx="2011680" cy="1060704"/>
          </a:xfrm>
          <a:prstGeom prst="roundRect">
            <a:avLst>
              <a:gd fmla="val 5172" name="adj"/>
            </a:avLst>
          </a:prstGeom>
          <a:solidFill>
            <a:srgbClr val="0B2F5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Version handshake</a:t>
            </a:r>
            <a:endParaRPr/>
          </a:p>
          <a:p>
            <a:pPr indent="0" lvl="0" marL="0" marR="0" rtl="0" algn="ctr">
              <a:lnSpc>
                <a:spcPct val="100000"/>
              </a:lnSpc>
              <a:spcBef>
                <a:spcPts val="200"/>
              </a:spcBef>
              <a:spcAft>
                <a:spcPts val="0"/>
              </a:spcAft>
              <a:buNone/>
            </a:pPr>
            <a:r>
              <a:rPr b="0" lang="en-US" sz="925">
                <a:solidFill>
                  <a:srgbClr val="DCE8F7"/>
                </a:solidFill>
                <a:latin typeface="Barlow"/>
                <a:ea typeface="Barlow"/>
                <a:cs typeface="Barlow"/>
                <a:sym typeface="Barlow"/>
              </a:rPr>
              <a:t>Read the device protocol version right after connect; compare with the app range (Min ~ Max)</a:t>
            </a:r>
            <a:endParaRPr/>
          </a:p>
        </p:txBody>
      </p:sp>
      <p:sp>
        <p:nvSpPr>
          <p:cNvPr id="1126" name="Google Shape;1126;p48"/>
          <p:cNvSpPr/>
          <p:nvPr/>
        </p:nvSpPr>
        <p:spPr>
          <a:xfrm>
            <a:off x="8915400" y="1554480"/>
            <a:ext cx="2514600" cy="694944"/>
          </a:xfrm>
          <a:prstGeom prst="roundRect">
            <a:avLst>
              <a:gd fmla="val 7894" name="adj"/>
            </a:avLst>
          </a:prstGeom>
          <a:solidFill>
            <a:srgbClr val="FFF4E0"/>
          </a:solidFill>
          <a:ln cap="flat" cmpd="sng" w="9525">
            <a:solidFill>
              <a:srgbClr val="F0A93B"/>
            </a:solidFill>
            <a:prstDash val="solid"/>
            <a:round/>
            <a:headEnd len="sm" w="sm" type="none"/>
            <a:tailEnd len="sm" w="sm" type="none"/>
          </a:ln>
        </p:spPr>
        <p:txBody>
          <a:bodyPr anchorCtr="0" anchor="ctr" bIns="36575" lIns="109725" spcFirstLastPara="1" rIns="73150" wrap="square" tIns="36575">
            <a:noAutofit/>
          </a:bodyPr>
          <a:lstStyle/>
          <a:p>
            <a:pPr indent="0" lvl="0" marL="0" marR="0" rtl="0" algn="l">
              <a:lnSpc>
                <a:spcPct val="100000"/>
              </a:lnSpc>
              <a:spcBef>
                <a:spcPts val="0"/>
              </a:spcBef>
              <a:spcAft>
                <a:spcPts val="0"/>
              </a:spcAft>
              <a:buNone/>
            </a:pPr>
            <a:r>
              <a:rPr b="1" lang="en-US" sz="1050">
                <a:solidFill>
                  <a:srgbClr val="9A5B00"/>
                </a:solidFill>
                <a:latin typeface="Montserrat"/>
                <a:ea typeface="Montserrat"/>
                <a:cs typeface="Montserrat"/>
                <a:sym typeface="Montserrat"/>
              </a:rPr>
              <a:t>Device too old</a:t>
            </a:r>
            <a:endParaRPr/>
          </a:p>
          <a:p>
            <a:pPr indent="0" lvl="0" marL="0" marR="0" rtl="0" algn="l">
              <a:lnSpc>
                <a:spcPct val="100000"/>
              </a:lnSpc>
              <a:spcBef>
                <a:spcPts val="150"/>
              </a:spcBef>
              <a:spcAft>
                <a:spcPts val="0"/>
              </a:spcAft>
              <a:buNone/>
            </a:pPr>
            <a:r>
              <a:rPr b="0" lang="en-US" sz="950">
                <a:solidFill>
                  <a:srgbClr val="1F2A37"/>
                </a:solidFill>
                <a:latin typeface="Barlow"/>
                <a:ea typeface="Barlow"/>
                <a:cs typeface="Barlow"/>
                <a:sym typeface="Barlow"/>
              </a:rPr>
              <a:t>Block configuration writes, prompt a firmware update</a:t>
            </a:r>
            <a:endParaRPr/>
          </a:p>
        </p:txBody>
      </p:sp>
      <p:sp>
        <p:nvSpPr>
          <p:cNvPr id="1127" name="Google Shape;1127;p48"/>
          <p:cNvSpPr/>
          <p:nvPr/>
        </p:nvSpPr>
        <p:spPr>
          <a:xfrm>
            <a:off x="8275320" y="1901952"/>
            <a:ext cx="640080" cy="841248"/>
          </a:xfrm>
          <a:custGeom>
            <a:rect b="b" l="l" r="r" t="t"/>
            <a:pathLst>
              <a:path extrusionOk="0" h="841248" w="640080">
                <a:moveTo>
                  <a:pt x="0" y="841248"/>
                </a:moveTo>
                <a:lnTo>
                  <a:pt x="320040" y="841248"/>
                </a:lnTo>
                <a:lnTo>
                  <a:pt x="320040" y="0"/>
                </a:lnTo>
                <a:lnTo>
                  <a:pt x="640080" y="0"/>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8" name="Google Shape;1128;p48"/>
          <p:cNvSpPr/>
          <p:nvPr/>
        </p:nvSpPr>
        <p:spPr>
          <a:xfrm>
            <a:off x="8915400" y="2395728"/>
            <a:ext cx="2514600" cy="694944"/>
          </a:xfrm>
          <a:prstGeom prst="roundRect">
            <a:avLst>
              <a:gd fmla="val 7894" name="adj"/>
            </a:avLst>
          </a:prstGeom>
          <a:solidFill>
            <a:srgbClr val="E6F4EA"/>
          </a:solidFill>
          <a:ln cap="flat" cmpd="sng" w="9525">
            <a:solidFill>
              <a:srgbClr val="8CC9A6"/>
            </a:solidFill>
            <a:prstDash val="solid"/>
            <a:round/>
            <a:headEnd len="sm" w="sm" type="none"/>
            <a:tailEnd len="sm" w="sm" type="none"/>
          </a:ln>
        </p:spPr>
        <p:txBody>
          <a:bodyPr anchorCtr="0" anchor="ctr" bIns="36575" lIns="109725" spcFirstLastPara="1" rIns="73150" wrap="square" tIns="36575">
            <a:noAutofit/>
          </a:bodyPr>
          <a:lstStyle/>
          <a:p>
            <a:pPr indent="0" lvl="0" marL="0" marR="0" rtl="0" algn="l">
              <a:lnSpc>
                <a:spcPct val="100000"/>
              </a:lnSpc>
              <a:spcBef>
                <a:spcPts val="0"/>
              </a:spcBef>
              <a:spcAft>
                <a:spcPts val="0"/>
              </a:spcAft>
              <a:buNone/>
            </a:pPr>
            <a:r>
              <a:rPr b="1" lang="en-US" sz="1050">
                <a:solidFill>
                  <a:srgbClr val="1E7B4F"/>
                </a:solidFill>
                <a:latin typeface="Montserrat"/>
                <a:ea typeface="Montserrat"/>
                <a:cs typeface="Montserrat"/>
                <a:sym typeface="Montserrat"/>
              </a:rPr>
              <a:t>Within range</a:t>
            </a:r>
            <a:endParaRPr/>
          </a:p>
          <a:p>
            <a:pPr indent="0" lvl="0" marL="0" marR="0" rtl="0" algn="l">
              <a:lnSpc>
                <a:spcPct val="100000"/>
              </a:lnSpc>
              <a:spcBef>
                <a:spcPts val="150"/>
              </a:spcBef>
              <a:spcAft>
                <a:spcPts val="0"/>
              </a:spcAft>
              <a:buNone/>
            </a:pPr>
            <a:r>
              <a:rPr b="0" lang="en-US" sz="950">
                <a:solidFill>
                  <a:srgbClr val="1F2A37"/>
                </a:solidFill>
                <a:latin typeface="Barlow"/>
                <a:ea typeface="Barlow"/>
                <a:cs typeface="Barlow"/>
                <a:sym typeface="Barlow"/>
              </a:rPr>
              <a:t>Proceed with the session</a:t>
            </a:r>
            <a:endParaRPr/>
          </a:p>
        </p:txBody>
      </p:sp>
      <p:cxnSp>
        <p:nvCxnSpPr>
          <p:cNvPr id="1129" name="Google Shape;1129;p48"/>
          <p:cNvCxnSpPr>
            <a:stCxn id="1125" idx="3"/>
            <a:endCxn id="1128" idx="1"/>
          </p:cNvCxnSpPr>
          <p:nvPr/>
        </p:nvCxnSpPr>
        <p:spPr>
          <a:xfrm>
            <a:off x="8275320" y="2743200"/>
            <a:ext cx="640200" cy="0"/>
          </a:xfrm>
          <a:prstGeom prst="straightConnector1">
            <a:avLst/>
          </a:prstGeom>
          <a:noFill/>
          <a:ln cap="flat" cmpd="sng" w="15875">
            <a:solidFill>
              <a:srgbClr val="0B2F5B"/>
            </a:solidFill>
            <a:prstDash val="solid"/>
            <a:round/>
            <a:headEnd len="sm" w="sm" type="none"/>
            <a:tailEnd len="med" w="med" type="triangle"/>
          </a:ln>
        </p:spPr>
      </p:cxnSp>
      <p:sp>
        <p:nvSpPr>
          <p:cNvPr id="1130" name="Google Shape;1130;p48"/>
          <p:cNvSpPr/>
          <p:nvPr/>
        </p:nvSpPr>
        <p:spPr>
          <a:xfrm>
            <a:off x="8915400" y="3236976"/>
            <a:ext cx="2514600" cy="694944"/>
          </a:xfrm>
          <a:prstGeom prst="roundRect">
            <a:avLst>
              <a:gd fmla="val 7894" name="adj"/>
            </a:avLst>
          </a:prstGeom>
          <a:solidFill>
            <a:srgbClr val="FDECEA"/>
          </a:solidFill>
          <a:ln cap="flat" cmpd="sng" w="9525">
            <a:solidFill>
              <a:srgbClr val="E9A39D"/>
            </a:solidFill>
            <a:prstDash val="solid"/>
            <a:round/>
            <a:headEnd len="sm" w="sm" type="none"/>
            <a:tailEnd len="sm" w="sm" type="none"/>
          </a:ln>
        </p:spPr>
        <p:txBody>
          <a:bodyPr anchorCtr="0" anchor="ctr" bIns="36575" lIns="109725" spcFirstLastPara="1" rIns="73150" wrap="square" tIns="36575">
            <a:noAutofit/>
          </a:bodyPr>
          <a:lstStyle/>
          <a:p>
            <a:pPr indent="0" lvl="0" marL="0" marR="0" rtl="0" algn="l">
              <a:lnSpc>
                <a:spcPct val="100000"/>
              </a:lnSpc>
              <a:spcBef>
                <a:spcPts val="0"/>
              </a:spcBef>
              <a:spcAft>
                <a:spcPts val="0"/>
              </a:spcAft>
              <a:buNone/>
            </a:pPr>
            <a:r>
              <a:rPr b="1" lang="en-US" sz="1050">
                <a:solidFill>
                  <a:srgbClr val="B3261E"/>
                </a:solidFill>
                <a:latin typeface="Montserrat"/>
                <a:ea typeface="Montserrat"/>
                <a:cs typeface="Montserrat"/>
                <a:sym typeface="Montserrat"/>
              </a:rPr>
              <a:t>Device too new</a:t>
            </a:r>
            <a:endParaRPr/>
          </a:p>
          <a:p>
            <a:pPr indent="0" lvl="0" marL="0" marR="0" rtl="0" algn="l">
              <a:lnSpc>
                <a:spcPct val="100000"/>
              </a:lnSpc>
              <a:spcBef>
                <a:spcPts val="150"/>
              </a:spcBef>
              <a:spcAft>
                <a:spcPts val="0"/>
              </a:spcAft>
              <a:buNone/>
            </a:pPr>
            <a:r>
              <a:rPr b="0" lang="en-US" sz="950">
                <a:solidFill>
                  <a:srgbClr val="1F2A37"/>
                </a:solidFill>
                <a:latin typeface="Barlow"/>
                <a:ea typeface="Barlow"/>
                <a:cs typeface="Barlow"/>
                <a:sym typeface="Barlow"/>
              </a:rPr>
              <a:t>Require an app update</a:t>
            </a:r>
            <a:endParaRPr/>
          </a:p>
        </p:txBody>
      </p:sp>
      <p:sp>
        <p:nvSpPr>
          <p:cNvPr id="1131" name="Google Shape;1131;p48"/>
          <p:cNvSpPr/>
          <p:nvPr/>
        </p:nvSpPr>
        <p:spPr>
          <a:xfrm>
            <a:off x="8275320" y="2743200"/>
            <a:ext cx="640080" cy="841248"/>
          </a:xfrm>
          <a:custGeom>
            <a:rect b="b" l="l" r="r" t="t"/>
            <a:pathLst>
              <a:path extrusionOk="0" h="841248" w="640080">
                <a:moveTo>
                  <a:pt x="0" y="0"/>
                </a:moveTo>
                <a:lnTo>
                  <a:pt x="320040" y="0"/>
                </a:lnTo>
                <a:lnTo>
                  <a:pt x="320040" y="841248"/>
                </a:lnTo>
                <a:lnTo>
                  <a:pt x="640080" y="841248"/>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2" name="Google Shape;1132;p48"/>
          <p:cNvSpPr txBox="1"/>
          <p:nvPr/>
        </p:nvSpPr>
        <p:spPr>
          <a:xfrm>
            <a:off x="6263640" y="3401568"/>
            <a:ext cx="20116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1" lang="en-US" sz="850">
                <a:solidFill>
                  <a:srgbClr val="5F6B7A"/>
                </a:solidFill>
                <a:latin typeface="Barlow"/>
                <a:ea typeface="Barlow"/>
                <a:cs typeface="Barlow"/>
                <a:sym typeface="Barlow"/>
              </a:rPr>
              <a:t>More version rules: backup B1</a:t>
            </a:r>
            <a:endParaRPr/>
          </a:p>
        </p:txBody>
      </p:sp>
      <p:sp>
        <p:nvSpPr>
          <p:cNvPr id="1133" name="Google Shape;1133;p48"/>
          <p:cNvSpPr txBox="1"/>
          <p:nvPr/>
        </p:nvSpPr>
        <p:spPr>
          <a:xfrm>
            <a:off x="457200" y="4224528"/>
            <a:ext cx="5943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3 · ONE FIXED CONTRACT PER DEVICE COMMAND AND EVENT</a:t>
            </a:r>
            <a:endParaRPr/>
          </a:p>
        </p:txBody>
      </p:sp>
      <p:sp>
        <p:nvSpPr>
          <p:cNvPr id="1134" name="Google Shape;1134;p48"/>
          <p:cNvSpPr txBox="1"/>
          <p:nvPr/>
        </p:nvSpPr>
        <p:spPr>
          <a:xfrm>
            <a:off x="6400800" y="4224528"/>
            <a:ext cx="50292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lang="en-US" sz="875">
                <a:solidFill>
                  <a:srgbClr val="9A5B00"/>
                </a:solidFill>
                <a:latin typeface="Barlow"/>
                <a:ea typeface="Barlow"/>
                <a:cs typeface="Barlow"/>
                <a:sym typeface="Barlow"/>
              </a:rPr>
              <a:t>TBD</a:t>
            </a:r>
            <a:r>
              <a:rPr b="0" lang="en-US" sz="875">
                <a:solidFill>
                  <a:srgbClr val="5F6B7A"/>
                </a:solidFill>
                <a:latin typeface="Barlow"/>
                <a:ea typeface="Barlow"/>
                <a:cs typeface="Barlow"/>
                <a:sym typeface="Barlow"/>
              </a:rPr>
              <a:t> = value finalized once the hardware spec is available</a:t>
            </a:r>
            <a:endParaRPr/>
          </a:p>
        </p:txBody>
      </p:sp>
      <p:graphicFrame>
        <p:nvGraphicFramePr>
          <p:cNvPr id="1135" name="Google Shape;1135;p48"/>
          <p:cNvGraphicFramePr/>
          <p:nvPr/>
        </p:nvGraphicFramePr>
        <p:xfrm>
          <a:off x="457200" y="4480560"/>
          <a:ext cx="3000000" cy="3000000"/>
        </p:xfrm>
        <a:graphic>
          <a:graphicData uri="http://schemas.openxmlformats.org/drawingml/2006/table">
            <a:tbl>
              <a:tblPr>
                <a:noFill/>
                <a:tableStyleId>{2140B2FF-5A71-40BD-AFFD-90A2E17B1FAF}</a:tableStyleId>
              </a:tblPr>
              <a:tblGrid>
                <a:gridCol w="877825"/>
                <a:gridCol w="1261875"/>
                <a:gridCol w="1261875"/>
                <a:gridCol w="1261875"/>
                <a:gridCol w="1261875"/>
                <a:gridCol w="1261875"/>
                <a:gridCol w="1261875"/>
                <a:gridCol w="1261875"/>
                <a:gridCol w="1261875"/>
              </a:tblGrid>
              <a:tr h="384050">
                <a:tc>
                  <a:txBody>
                    <a:bodyPr/>
                    <a:lstStyle/>
                    <a:p>
                      <a:pPr indent="0" lvl="0" marL="0" marR="0" rtl="0" algn="l">
                        <a:lnSpc>
                          <a:spcPct val="100000"/>
                        </a:lnSpc>
                        <a:spcBef>
                          <a:spcPts val="0"/>
                        </a:spcBef>
                        <a:spcAft>
                          <a:spcPts val="0"/>
                        </a:spcAft>
                        <a:buNone/>
                      </a:pPr>
                      <a:r>
                        <a:t/>
                      </a:r>
                      <a:endParaRPr sz="1628" u="none" cap="none" strike="noStrike"/>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u="none" cap="none" strike="noStrike">
                          <a:solidFill>
                            <a:srgbClr val="FFFFFF"/>
                          </a:solidFill>
                          <a:latin typeface="Montserrat"/>
                          <a:ea typeface="Montserrat"/>
                          <a:cs typeface="Montserrat"/>
                          <a:sym typeface="Montserrat"/>
                        </a:rPr>
                        <a:t>Connect + version handshake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u="none" cap="none" strike="noStrike">
                          <a:solidFill>
                            <a:srgbClr val="FFFFFF"/>
                          </a:solidFill>
                          <a:latin typeface="Montserrat"/>
                          <a:ea typeface="Montserrat"/>
                          <a:cs typeface="Montserrat"/>
                          <a:sym typeface="Montserrat"/>
                        </a:rPr>
                        <a:t>Bulk read</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u="none" cap="none" strike="noStrike">
                          <a:solidFill>
                            <a:srgbClr val="FFFFFF"/>
                          </a:solidFill>
                          <a:latin typeface="Montserrat"/>
                          <a:ea typeface="Montserrat"/>
                          <a:cs typeface="Montserrat"/>
                          <a:sym typeface="Montserrat"/>
                        </a:rPr>
                        <a:t>One-shot write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u="none" cap="none" strike="noStrike">
                          <a:solidFill>
                            <a:srgbClr val="FFFFFF"/>
                          </a:solidFill>
                          <a:latin typeface="Montserrat"/>
                          <a:ea typeface="Montserrat"/>
                          <a:cs typeface="Montserrat"/>
                          <a:sym typeface="Montserrat"/>
                        </a:rPr>
                        <a:t>Wake-up (start SoftAP)</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u="none" cap="none" strike="noStrike">
                          <a:solidFill>
                            <a:srgbClr val="FFFFFF"/>
                          </a:solidFill>
                          <a:latin typeface="Montserrat"/>
                          <a:ea typeface="Montserrat"/>
                          <a:cs typeface="Montserrat"/>
                          <a:sym typeface="Montserrat"/>
                        </a:rPr>
                        <a:t>FW chunk transfer</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u="none" cap="none" strike="noStrike">
                          <a:solidFill>
                            <a:srgbClr val="FFFFFF"/>
                          </a:solidFill>
                          <a:latin typeface="Montserrat"/>
                          <a:ea typeface="Montserrat"/>
                          <a:cs typeface="Montserrat"/>
                          <a:sym typeface="Montserrat"/>
                        </a:rPr>
                        <a:t>FW commit / version check</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u="none" cap="none" strike="noStrike">
                          <a:solidFill>
                            <a:srgbClr val="FFFFFF"/>
                          </a:solidFill>
                          <a:latin typeface="Montserrat"/>
                          <a:ea typeface="Montserrat"/>
                          <a:cs typeface="Montserrat"/>
                          <a:sym typeface="Montserrat"/>
                        </a:rPr>
                        <a:t>State change event</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u="none" cap="none" strike="noStrike">
                          <a:solidFill>
                            <a:srgbClr val="FFFFFF"/>
                          </a:solidFill>
                          <a:latin typeface="Montserrat"/>
                          <a:ea typeface="Montserrat"/>
                          <a:cs typeface="Montserrat"/>
                          <a:sym typeface="Montserrat"/>
                        </a:rPr>
                        <a:t>Flash progress event</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r>
              <a:tr h="256025">
                <a:tc>
                  <a:txBody>
                    <a:bodyPr/>
                    <a:lstStyle/>
                    <a:p>
                      <a:pPr indent="0" lvl="0" marL="0" marR="0" rtl="0" algn="l">
                        <a:lnSpc>
                          <a:spcPct val="100000"/>
                        </a:lnSpc>
                        <a:spcBef>
                          <a:spcPts val="0"/>
                        </a:spcBef>
                        <a:spcAft>
                          <a:spcPts val="0"/>
                        </a:spcAft>
                        <a:buNone/>
                      </a:pPr>
                      <a:r>
                        <a:rPr b="1" lang="en-US" sz="900" u="none" cap="none" strike="noStrike">
                          <a:solidFill>
                            <a:srgbClr val="0B2F5B"/>
                          </a:solidFill>
                          <a:latin typeface="Barlow"/>
                          <a:ea typeface="Barlow"/>
                          <a:cs typeface="Barlow"/>
                          <a:sym typeface="Barlow"/>
                        </a:rPr>
                        <a:t>Channel</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SoftAP</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 notify</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 notify</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256025">
                <a:tc>
                  <a:txBody>
                    <a:bodyPr/>
                    <a:lstStyle/>
                    <a:p>
                      <a:pPr indent="0" lvl="0" marL="0" marR="0" rtl="0" algn="l">
                        <a:lnSpc>
                          <a:spcPct val="100000"/>
                        </a:lnSpc>
                        <a:spcBef>
                          <a:spcPts val="0"/>
                        </a:spcBef>
                        <a:spcAft>
                          <a:spcPts val="0"/>
                        </a:spcAft>
                        <a:buNone/>
                      </a:pPr>
                      <a:r>
                        <a:rPr b="1" lang="en-US" sz="900" u="none" cap="none" strike="noStrike">
                          <a:solidFill>
                            <a:srgbClr val="0B2F5B"/>
                          </a:solidFill>
                          <a:latin typeface="Barlow"/>
                          <a:ea typeface="Barlow"/>
                          <a:cs typeface="Barlow"/>
                          <a:sym typeface="Barlow"/>
                        </a:rPr>
                        <a:t>Timeout</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 per chunk</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Reboot wait </a:t>
                      </a: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min</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n/a</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Silent </a:t>
                      </a: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r h="256025">
                <a:tc>
                  <a:txBody>
                    <a:bodyPr/>
                    <a:lstStyle/>
                    <a:p>
                      <a:pPr indent="0" lvl="0" marL="0" marR="0" rtl="0" algn="l">
                        <a:lnSpc>
                          <a:spcPct val="100000"/>
                        </a:lnSpc>
                        <a:spcBef>
                          <a:spcPts val="0"/>
                        </a:spcBef>
                        <a:spcAft>
                          <a:spcPts val="0"/>
                        </a:spcAft>
                        <a:buNone/>
                      </a:pPr>
                      <a:r>
                        <a:rPr b="1" lang="en-US" sz="900" u="none" cap="none" strike="noStrike">
                          <a:solidFill>
                            <a:srgbClr val="0B2F5B"/>
                          </a:solidFill>
                          <a:latin typeface="Barlow"/>
                          <a:ea typeface="Barlow"/>
                          <a:cs typeface="Barlow"/>
                          <a:sym typeface="Barlow"/>
                        </a:rPr>
                        <a:t>Retry</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2× after rescan</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1×</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0B2F5B"/>
                          </a:solidFill>
                          <a:latin typeface="Barlow"/>
                          <a:ea typeface="Barlow"/>
                          <a:cs typeface="Barlow"/>
                          <a:sym typeface="Barlow"/>
                        </a:rPr>
                        <a:t>No automatic resend</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1×</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per chunk</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Rescan</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n/a</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Reconnect</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None/>
                      </a:pPr>
                      <a:r>
                        <a:rPr b="1" lang="en-US" sz="900" u="none" cap="none" strike="noStrike">
                          <a:solidFill>
                            <a:srgbClr val="0B2F5B"/>
                          </a:solidFill>
                          <a:latin typeface="Barlow"/>
                          <a:ea typeface="Barlow"/>
                          <a:cs typeface="Barlow"/>
                          <a:sym typeface="Barlow"/>
                        </a:rPr>
                        <a:t>On failure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Proximity guidance,</a:t>
                      </a:r>
                      <a:endParaRPr/>
                    </a:p>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re-check Serial No</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Release UI lock, offer retry</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Decide after read-back comparison</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Request SSID reissue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Resume from interrupted offset</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Check for rollback</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Show Warning / Error on screen at once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Enter FW session recovery</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49"/>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DEEP DIVE · OFFLINE FIRMWARE UPDATE · ASSUMED FIRMWARE INTERACTION</a:t>
            </a:r>
            <a:endParaRPr/>
          </a:p>
        </p:txBody>
      </p:sp>
      <p:sp>
        <p:nvSpPr>
          <p:cNvPr id="1142" name="Google Shape;1142;p49"/>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BLE wakes Wi-Fi only for the transfer; dual-bank flash keeps failure reversible</a:t>
            </a:r>
            <a:endParaRPr/>
          </a:p>
        </p:txBody>
      </p:sp>
      <p:sp>
        <p:nvSpPr>
          <p:cNvPr id="1143" name="Google Shape;1143;p49"/>
          <p:cNvSpPr txBox="1"/>
          <p:nvPr/>
        </p:nvSpPr>
        <p:spPr>
          <a:xfrm>
            <a:off x="457200" y="1216152"/>
            <a:ext cx="45720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1 · WI-FI ON DEMAND, TRIGGERED OVER BLE</a:t>
            </a:r>
            <a:endParaRPr/>
          </a:p>
        </p:txBody>
      </p:sp>
      <p:sp>
        <p:nvSpPr>
          <p:cNvPr id="1144" name="Google Shape;1144;p49"/>
          <p:cNvSpPr/>
          <p:nvPr/>
        </p:nvSpPr>
        <p:spPr>
          <a:xfrm>
            <a:off x="457200" y="1499616"/>
            <a:ext cx="2788920" cy="42062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18275" lIns="457200"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Always-on device Wi-Fi widens the attack surface</a:t>
            </a:r>
            <a:endParaRPr/>
          </a:p>
        </p:txBody>
      </p:sp>
      <p:pic>
        <p:nvPicPr>
          <p:cNvPr id="1145" name="Google Shape;1145;p49"/>
          <p:cNvPicPr preferRelativeResize="0"/>
          <p:nvPr/>
        </p:nvPicPr>
        <p:blipFill rotWithShape="1">
          <a:blip r:embed="rId3">
            <a:alphaModFix/>
          </a:blip>
          <a:srcRect b="0" l="0" r="0" t="0"/>
          <a:stretch/>
        </p:blipFill>
        <p:spPr>
          <a:xfrm>
            <a:off x="566928" y="1591056"/>
            <a:ext cx="237744" cy="237744"/>
          </a:xfrm>
          <a:prstGeom prst="rect">
            <a:avLst/>
          </a:prstGeom>
          <a:noFill/>
          <a:ln>
            <a:noFill/>
          </a:ln>
        </p:spPr>
      </p:pic>
      <p:sp>
        <p:nvSpPr>
          <p:cNvPr id="1146" name="Google Shape;1146;p49"/>
          <p:cNvSpPr/>
          <p:nvPr/>
        </p:nvSpPr>
        <p:spPr>
          <a:xfrm>
            <a:off x="457200" y="1975104"/>
            <a:ext cx="2788920" cy="42062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18275" lIns="457200"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BLE alone is too slow for a multi-MB firmware file</a:t>
            </a:r>
            <a:endParaRPr/>
          </a:p>
        </p:txBody>
      </p:sp>
      <p:pic>
        <p:nvPicPr>
          <p:cNvPr id="1147" name="Google Shape;1147;p49"/>
          <p:cNvPicPr preferRelativeResize="0"/>
          <p:nvPr/>
        </p:nvPicPr>
        <p:blipFill rotWithShape="1">
          <a:blip r:embed="rId4">
            <a:alphaModFix/>
          </a:blip>
          <a:srcRect b="0" l="0" r="0" t="0"/>
          <a:stretch/>
        </p:blipFill>
        <p:spPr>
          <a:xfrm>
            <a:off x="566928" y="2066544"/>
            <a:ext cx="237744" cy="237744"/>
          </a:xfrm>
          <a:prstGeom prst="rect">
            <a:avLst/>
          </a:prstGeom>
          <a:noFill/>
          <a:ln>
            <a:noFill/>
          </a:ln>
        </p:spPr>
      </p:pic>
      <p:sp>
        <p:nvSpPr>
          <p:cNvPr id="1148" name="Google Shape;1148;p49"/>
          <p:cNvSpPr/>
          <p:nvPr/>
        </p:nvSpPr>
        <p:spPr>
          <a:xfrm>
            <a:off x="457200" y="2450592"/>
            <a:ext cx="2788920" cy="310896"/>
          </a:xfrm>
          <a:prstGeom prst="rect">
            <a:avLst/>
          </a:prstGeom>
          <a:solidFill>
            <a:srgbClr val="0B2F5B"/>
          </a:solidFill>
          <a:ln>
            <a:noFill/>
          </a:ln>
        </p:spPr>
        <p:txBody>
          <a:bodyPr anchorCtr="0" anchor="ctr" bIns="0" lIns="54850" spcFirstLastPara="1" rIns="54850" wrap="square" tIns="0">
            <a:noAutofit/>
          </a:bodyPr>
          <a:lstStyle/>
          <a:p>
            <a:pPr indent="0" lvl="0" marL="0" marR="0" rtl="0" algn="ctr">
              <a:lnSpc>
                <a:spcPct val="100000"/>
              </a:lnSpc>
              <a:spcBef>
                <a:spcPts val="0"/>
              </a:spcBef>
              <a:spcAft>
                <a:spcPts val="0"/>
              </a:spcAft>
              <a:buNone/>
            </a:pPr>
            <a:r>
              <a:rPr b="1" lang="en-US" sz="950">
                <a:solidFill>
                  <a:srgbClr val="FFFFFF"/>
                </a:solidFill>
                <a:latin typeface="Barlow"/>
                <a:ea typeface="Barlow"/>
                <a:cs typeface="Barlow"/>
                <a:sym typeface="Barlow"/>
              </a:rPr>
              <a:t>BLE for control · temporary Wi-Fi for bulk</a:t>
            </a:r>
            <a:endParaRPr/>
          </a:p>
        </p:txBody>
      </p:sp>
      <p:sp>
        <p:nvSpPr>
          <p:cNvPr id="1149" name="Google Shape;1149;p49"/>
          <p:cNvSpPr/>
          <p:nvPr/>
        </p:nvSpPr>
        <p:spPr>
          <a:xfrm>
            <a:off x="3566160" y="1499616"/>
            <a:ext cx="1819656" cy="1261872"/>
          </a:xfrm>
          <a:prstGeom prst="roundRect">
            <a:avLst>
              <a:gd fmla="val 4347"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0" name="Google Shape;1150;p49"/>
          <p:cNvSpPr/>
          <p:nvPr/>
        </p:nvSpPr>
        <p:spPr>
          <a:xfrm>
            <a:off x="3675887" y="1609343"/>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1</a:t>
            </a:r>
            <a:endParaRPr/>
          </a:p>
        </p:txBody>
      </p:sp>
      <p:sp>
        <p:nvSpPr>
          <p:cNvPr id="1151" name="Google Shape;1151;p49"/>
          <p:cNvSpPr txBox="1"/>
          <p:nvPr/>
        </p:nvSpPr>
        <p:spPr>
          <a:xfrm>
            <a:off x="4023360" y="1572768"/>
            <a:ext cx="12893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BLE wake-up command</a:t>
            </a:r>
            <a:endParaRPr/>
          </a:p>
        </p:txBody>
      </p:sp>
      <p:sp>
        <p:nvSpPr>
          <p:cNvPr id="1152" name="Google Shape;1152;p49"/>
          <p:cNvSpPr txBox="1"/>
          <p:nvPr/>
        </p:nvSpPr>
        <p:spPr>
          <a:xfrm>
            <a:off x="3675887" y="1975104"/>
            <a:ext cx="160020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The app asks the ESS to start its built-in Wi-Fi.</a:t>
            </a:r>
            <a:endParaRPr/>
          </a:p>
        </p:txBody>
      </p:sp>
      <p:sp>
        <p:nvSpPr>
          <p:cNvPr id="1153" name="Google Shape;1153;p49"/>
          <p:cNvSpPr/>
          <p:nvPr/>
        </p:nvSpPr>
        <p:spPr>
          <a:xfrm>
            <a:off x="3675887" y="2487168"/>
            <a:ext cx="387096" cy="177799"/>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0B2F5B"/>
                </a:solidFill>
                <a:latin typeface="Montserrat"/>
                <a:ea typeface="Montserrat"/>
                <a:cs typeface="Montserrat"/>
                <a:sym typeface="Montserrat"/>
              </a:rPr>
              <a:t>BLE</a:t>
            </a:r>
            <a:endParaRPr/>
          </a:p>
        </p:txBody>
      </p:sp>
      <p:sp>
        <p:nvSpPr>
          <p:cNvPr id="1154" name="Google Shape;1154;p49"/>
          <p:cNvSpPr/>
          <p:nvPr/>
        </p:nvSpPr>
        <p:spPr>
          <a:xfrm>
            <a:off x="5580583" y="1499616"/>
            <a:ext cx="1819656" cy="1261872"/>
          </a:xfrm>
          <a:prstGeom prst="roundRect">
            <a:avLst>
              <a:gd fmla="val 4347"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5" name="Google Shape;1155;p49"/>
          <p:cNvSpPr/>
          <p:nvPr/>
        </p:nvSpPr>
        <p:spPr>
          <a:xfrm>
            <a:off x="5690311" y="1609343"/>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2</a:t>
            </a:r>
            <a:endParaRPr/>
          </a:p>
        </p:txBody>
      </p:sp>
      <p:sp>
        <p:nvSpPr>
          <p:cNvPr id="1156" name="Google Shape;1156;p49"/>
          <p:cNvSpPr txBox="1"/>
          <p:nvPr/>
        </p:nvSpPr>
        <p:spPr>
          <a:xfrm>
            <a:off x="6037783" y="1572768"/>
            <a:ext cx="12893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One-time SSID</a:t>
            </a:r>
            <a:endParaRPr/>
          </a:p>
        </p:txBody>
      </p:sp>
      <p:sp>
        <p:nvSpPr>
          <p:cNvPr id="1157" name="Google Shape;1157;p49"/>
          <p:cNvSpPr txBox="1"/>
          <p:nvPr/>
        </p:nvSpPr>
        <p:spPr>
          <a:xfrm>
            <a:off x="5690311" y="1975104"/>
            <a:ext cx="160020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The ESS creates a one-time SSID and passphrase and returns them over BLE.</a:t>
            </a:r>
            <a:endParaRPr/>
          </a:p>
        </p:txBody>
      </p:sp>
      <p:sp>
        <p:nvSpPr>
          <p:cNvPr id="1158" name="Google Shape;1158;p49"/>
          <p:cNvSpPr/>
          <p:nvPr/>
        </p:nvSpPr>
        <p:spPr>
          <a:xfrm>
            <a:off x="5690311" y="2487168"/>
            <a:ext cx="387096" cy="177799"/>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0B2F5B"/>
                </a:solidFill>
                <a:latin typeface="Montserrat"/>
                <a:ea typeface="Montserrat"/>
                <a:cs typeface="Montserrat"/>
                <a:sym typeface="Montserrat"/>
              </a:rPr>
              <a:t>BLE</a:t>
            </a:r>
            <a:endParaRPr/>
          </a:p>
        </p:txBody>
      </p:sp>
      <p:cxnSp>
        <p:nvCxnSpPr>
          <p:cNvPr id="1159" name="Google Shape;1159;p49"/>
          <p:cNvCxnSpPr>
            <a:stCxn id="1149" idx="3"/>
            <a:endCxn id="1154" idx="1"/>
          </p:cNvCxnSpPr>
          <p:nvPr/>
        </p:nvCxnSpPr>
        <p:spPr>
          <a:xfrm>
            <a:off x="5385816" y="2130552"/>
            <a:ext cx="194700" cy="0"/>
          </a:xfrm>
          <a:prstGeom prst="straightConnector1">
            <a:avLst/>
          </a:prstGeom>
          <a:noFill/>
          <a:ln cap="flat" cmpd="sng" w="15875">
            <a:solidFill>
              <a:srgbClr val="0B2F5B"/>
            </a:solidFill>
            <a:prstDash val="solid"/>
            <a:round/>
            <a:headEnd len="sm" w="sm" type="none"/>
            <a:tailEnd len="med" w="med" type="triangle"/>
          </a:ln>
        </p:spPr>
      </p:cxnSp>
      <p:sp>
        <p:nvSpPr>
          <p:cNvPr id="1160" name="Google Shape;1160;p49"/>
          <p:cNvSpPr/>
          <p:nvPr/>
        </p:nvSpPr>
        <p:spPr>
          <a:xfrm>
            <a:off x="7595006" y="1499616"/>
            <a:ext cx="1819656" cy="1261872"/>
          </a:xfrm>
          <a:prstGeom prst="roundRect">
            <a:avLst>
              <a:gd fmla="val 4347"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1" name="Google Shape;1161;p49"/>
          <p:cNvSpPr/>
          <p:nvPr/>
        </p:nvSpPr>
        <p:spPr>
          <a:xfrm>
            <a:off x="7704734" y="1609343"/>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3</a:t>
            </a:r>
            <a:endParaRPr/>
          </a:p>
        </p:txBody>
      </p:sp>
      <p:sp>
        <p:nvSpPr>
          <p:cNvPr id="1162" name="Google Shape;1162;p49"/>
          <p:cNvSpPr txBox="1"/>
          <p:nvPr/>
        </p:nvSpPr>
        <p:spPr>
          <a:xfrm>
            <a:off x="8052206" y="1572768"/>
            <a:ext cx="12893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Join once</a:t>
            </a:r>
            <a:endParaRPr/>
          </a:p>
        </p:txBody>
      </p:sp>
      <p:sp>
        <p:nvSpPr>
          <p:cNvPr id="1163" name="Google Shape;1163;p49"/>
          <p:cNvSpPr txBox="1"/>
          <p:nvPr/>
        </p:nvSpPr>
        <p:spPr>
          <a:xfrm>
            <a:off x="7704734" y="1975104"/>
            <a:ext cx="160020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850">
                <a:solidFill>
                  <a:srgbClr val="1565C0"/>
                </a:solidFill>
                <a:latin typeface="Consolas"/>
                <a:ea typeface="Consolas"/>
                <a:cs typeface="Consolas"/>
                <a:sym typeface="Consolas"/>
              </a:rPr>
              <a:t>NEHotspotConfiguration</a:t>
            </a:r>
            <a:r>
              <a:rPr b="0" lang="en-US" sz="950">
                <a:solidFill>
                  <a:srgbClr val="1F2A37"/>
                </a:solidFill>
                <a:latin typeface="Barlow"/>
                <a:ea typeface="Barlow"/>
                <a:cs typeface="Barlow"/>
                <a:sym typeface="Barlow"/>
              </a:rPr>
              <a:t>, joinOnce = true</a:t>
            </a:r>
            <a:endParaRPr/>
          </a:p>
        </p:txBody>
      </p:sp>
      <p:sp>
        <p:nvSpPr>
          <p:cNvPr id="1164" name="Google Shape;1164;p49"/>
          <p:cNvSpPr/>
          <p:nvPr/>
        </p:nvSpPr>
        <p:spPr>
          <a:xfrm>
            <a:off x="7704734" y="2487168"/>
            <a:ext cx="472948" cy="177799"/>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Wi-Fi</a:t>
            </a:r>
            <a:endParaRPr/>
          </a:p>
        </p:txBody>
      </p:sp>
      <p:cxnSp>
        <p:nvCxnSpPr>
          <p:cNvPr id="1165" name="Google Shape;1165;p49"/>
          <p:cNvCxnSpPr>
            <a:stCxn id="1154" idx="3"/>
            <a:endCxn id="1160" idx="1"/>
          </p:cNvCxnSpPr>
          <p:nvPr/>
        </p:nvCxnSpPr>
        <p:spPr>
          <a:xfrm>
            <a:off x="7400239" y="2130552"/>
            <a:ext cx="194700" cy="0"/>
          </a:xfrm>
          <a:prstGeom prst="straightConnector1">
            <a:avLst/>
          </a:prstGeom>
          <a:noFill/>
          <a:ln cap="flat" cmpd="sng" w="15875">
            <a:solidFill>
              <a:srgbClr val="0B2F5B"/>
            </a:solidFill>
            <a:prstDash val="solid"/>
            <a:round/>
            <a:headEnd len="sm" w="sm" type="none"/>
            <a:tailEnd len="med" w="med" type="triangle"/>
          </a:ln>
        </p:spPr>
      </p:cxnSp>
      <p:sp>
        <p:nvSpPr>
          <p:cNvPr id="1166" name="Google Shape;1166;p49"/>
          <p:cNvSpPr/>
          <p:nvPr/>
        </p:nvSpPr>
        <p:spPr>
          <a:xfrm>
            <a:off x="9609429" y="1499616"/>
            <a:ext cx="1819656" cy="1261872"/>
          </a:xfrm>
          <a:prstGeom prst="roundRect">
            <a:avLst>
              <a:gd fmla="val 4347"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7" name="Google Shape;1167;p49"/>
          <p:cNvSpPr/>
          <p:nvPr/>
        </p:nvSpPr>
        <p:spPr>
          <a:xfrm>
            <a:off x="9719157" y="1609343"/>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4</a:t>
            </a:r>
            <a:endParaRPr/>
          </a:p>
        </p:txBody>
      </p:sp>
      <p:sp>
        <p:nvSpPr>
          <p:cNvPr id="1168" name="Google Shape;1168;p49"/>
          <p:cNvSpPr txBox="1"/>
          <p:nvPr/>
        </p:nvSpPr>
        <p:spPr>
          <a:xfrm>
            <a:off x="10066629" y="1572768"/>
            <a:ext cx="12893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Automatic shutdown</a:t>
            </a:r>
            <a:endParaRPr/>
          </a:p>
        </p:txBody>
      </p:sp>
      <p:sp>
        <p:nvSpPr>
          <p:cNvPr id="1169" name="Google Shape;1169;p49"/>
          <p:cNvSpPr txBox="1"/>
          <p:nvPr/>
        </p:nvSpPr>
        <p:spPr>
          <a:xfrm>
            <a:off x="9719157" y="1975104"/>
            <a:ext cx="160020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When the transfer completes, or after </a:t>
            </a:r>
            <a:r>
              <a:rPr b="1" lang="en-US" sz="950">
                <a:solidFill>
                  <a:srgbClr val="9A5B00"/>
                </a:solidFill>
                <a:latin typeface="Barlow"/>
                <a:ea typeface="Barlow"/>
                <a:cs typeface="Barlow"/>
                <a:sym typeface="Barlow"/>
              </a:rPr>
              <a:t>TBD</a:t>
            </a:r>
            <a:r>
              <a:rPr b="0" lang="en-US" sz="950">
                <a:solidFill>
                  <a:srgbClr val="1F2A37"/>
                </a:solidFill>
                <a:latin typeface="Barlow"/>
                <a:ea typeface="Barlow"/>
                <a:cs typeface="Barlow"/>
                <a:sym typeface="Barlow"/>
              </a:rPr>
              <a:t> min.</a:t>
            </a:r>
            <a:endParaRPr/>
          </a:p>
        </p:txBody>
      </p:sp>
      <p:sp>
        <p:nvSpPr>
          <p:cNvPr id="1170" name="Google Shape;1170;p49"/>
          <p:cNvSpPr/>
          <p:nvPr/>
        </p:nvSpPr>
        <p:spPr>
          <a:xfrm>
            <a:off x="9719157" y="2487168"/>
            <a:ext cx="472948" cy="177799"/>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Wi-Fi</a:t>
            </a:r>
            <a:endParaRPr/>
          </a:p>
        </p:txBody>
      </p:sp>
      <p:cxnSp>
        <p:nvCxnSpPr>
          <p:cNvPr id="1171" name="Google Shape;1171;p49"/>
          <p:cNvCxnSpPr>
            <a:stCxn id="1160" idx="3"/>
            <a:endCxn id="1166" idx="1"/>
          </p:cNvCxnSpPr>
          <p:nvPr/>
        </p:nvCxnSpPr>
        <p:spPr>
          <a:xfrm>
            <a:off x="9414662" y="2130552"/>
            <a:ext cx="194700" cy="0"/>
          </a:xfrm>
          <a:prstGeom prst="straightConnector1">
            <a:avLst/>
          </a:prstGeom>
          <a:noFill/>
          <a:ln cap="flat" cmpd="sng" w="15875">
            <a:solidFill>
              <a:srgbClr val="0B2F5B"/>
            </a:solidFill>
            <a:prstDash val="solid"/>
            <a:round/>
            <a:headEnd len="sm" w="sm" type="none"/>
            <a:tailEnd len="med" w="med" type="triangle"/>
          </a:ln>
        </p:spPr>
      </p:cxnSp>
      <p:sp>
        <p:nvSpPr>
          <p:cNvPr id="1172" name="Google Shape;1172;p49"/>
          <p:cNvSpPr txBox="1"/>
          <p:nvPr/>
        </p:nvSpPr>
        <p:spPr>
          <a:xfrm>
            <a:off x="457200" y="2898648"/>
            <a:ext cx="5486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2 · FIVE-STAGE LIFECYCLE ON DUAL-BANK FLASH</a:t>
            </a:r>
            <a:endParaRPr/>
          </a:p>
        </p:txBody>
      </p:sp>
      <p:sp>
        <p:nvSpPr>
          <p:cNvPr id="1173" name="Google Shape;1173;p49"/>
          <p:cNvSpPr txBox="1"/>
          <p:nvPr/>
        </p:nvSpPr>
        <p:spPr>
          <a:xfrm>
            <a:off x="5943600" y="2898648"/>
            <a:ext cx="54864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900">
                <a:solidFill>
                  <a:srgbClr val="5F6B7A"/>
                </a:solidFill>
                <a:latin typeface="Barlow"/>
                <a:ea typeface="Barlow"/>
                <a:cs typeface="Barlow"/>
                <a:sym typeface="Barlow"/>
              </a:rPr>
              <a:t>New firmware is written to the inactive bank; the active bank is kept intact.</a:t>
            </a:r>
            <a:endParaRPr/>
          </a:p>
        </p:txBody>
      </p:sp>
      <p:sp>
        <p:nvSpPr>
          <p:cNvPr id="1174" name="Google Shape;1174;p49"/>
          <p:cNvSpPr/>
          <p:nvPr/>
        </p:nvSpPr>
        <p:spPr>
          <a:xfrm>
            <a:off x="1508760" y="3154680"/>
            <a:ext cx="2066543" cy="438912"/>
          </a:xfrm>
          <a:prstGeom prst="homePlate">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1  </a:t>
            </a:r>
            <a:r>
              <a:rPr b="1" lang="en-US" sz="1050">
                <a:solidFill>
                  <a:srgbClr val="FFFFFF"/>
                </a:solidFill>
                <a:latin typeface="Montserrat"/>
                <a:ea typeface="Montserrat"/>
                <a:cs typeface="Montserrat"/>
                <a:sym typeface="Montserrat"/>
              </a:rPr>
              <a:t>File transfer</a:t>
            </a:r>
            <a:endParaRPr/>
          </a:p>
        </p:txBody>
      </p:sp>
      <p:sp>
        <p:nvSpPr>
          <p:cNvPr id="1175" name="Google Shape;1175;p49"/>
          <p:cNvSpPr/>
          <p:nvPr/>
        </p:nvSpPr>
        <p:spPr>
          <a:xfrm>
            <a:off x="3472434" y="3154680"/>
            <a:ext cx="2066543" cy="438912"/>
          </a:xfrm>
          <a:prstGeom prst="chevron">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2  </a:t>
            </a:r>
            <a:r>
              <a:rPr b="1" lang="en-US" sz="1050">
                <a:solidFill>
                  <a:srgbClr val="FFFFFF"/>
                </a:solidFill>
                <a:latin typeface="Montserrat"/>
                <a:ea typeface="Montserrat"/>
                <a:cs typeface="Montserrat"/>
                <a:sym typeface="Montserrat"/>
              </a:rPr>
              <a:t>Integrity check</a:t>
            </a:r>
            <a:endParaRPr/>
          </a:p>
        </p:txBody>
      </p:sp>
      <p:sp>
        <p:nvSpPr>
          <p:cNvPr id="1176" name="Google Shape;1176;p49"/>
          <p:cNvSpPr/>
          <p:nvPr/>
        </p:nvSpPr>
        <p:spPr>
          <a:xfrm>
            <a:off x="5436108" y="3154680"/>
            <a:ext cx="2066543" cy="438912"/>
          </a:xfrm>
          <a:prstGeom prst="chevron">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3  </a:t>
            </a:r>
            <a:r>
              <a:rPr b="1" lang="en-US" sz="1050">
                <a:solidFill>
                  <a:srgbClr val="FFFFFF"/>
                </a:solidFill>
                <a:latin typeface="Montserrat"/>
                <a:ea typeface="Montserrat"/>
                <a:cs typeface="Montserrat"/>
                <a:sym typeface="Montserrat"/>
              </a:rPr>
              <a:t>Flashing</a:t>
            </a:r>
            <a:endParaRPr/>
          </a:p>
        </p:txBody>
      </p:sp>
      <p:sp>
        <p:nvSpPr>
          <p:cNvPr id="1177" name="Google Shape;1177;p49"/>
          <p:cNvSpPr/>
          <p:nvPr/>
        </p:nvSpPr>
        <p:spPr>
          <a:xfrm>
            <a:off x="7399781" y="3154680"/>
            <a:ext cx="2066543" cy="438912"/>
          </a:xfrm>
          <a:prstGeom prst="chevron">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4  </a:t>
            </a:r>
            <a:r>
              <a:rPr b="1" lang="en-US" sz="1050">
                <a:solidFill>
                  <a:srgbClr val="FFFFFF"/>
                </a:solidFill>
                <a:latin typeface="Montserrat"/>
                <a:ea typeface="Montserrat"/>
                <a:cs typeface="Montserrat"/>
                <a:sym typeface="Montserrat"/>
              </a:rPr>
              <a:t>Hardware restart</a:t>
            </a:r>
            <a:endParaRPr/>
          </a:p>
        </p:txBody>
      </p:sp>
      <p:sp>
        <p:nvSpPr>
          <p:cNvPr id="1178" name="Google Shape;1178;p49"/>
          <p:cNvSpPr/>
          <p:nvPr/>
        </p:nvSpPr>
        <p:spPr>
          <a:xfrm>
            <a:off x="9363456" y="3154680"/>
            <a:ext cx="2066543" cy="438912"/>
          </a:xfrm>
          <a:prstGeom prst="chevron">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5  </a:t>
            </a:r>
            <a:r>
              <a:rPr b="1" lang="en-US" sz="1050">
                <a:solidFill>
                  <a:srgbClr val="FFFFFF"/>
                </a:solidFill>
                <a:latin typeface="Montserrat"/>
                <a:ea typeface="Montserrat"/>
                <a:cs typeface="Montserrat"/>
                <a:sym typeface="Montserrat"/>
              </a:rPr>
              <a:t>Version commit</a:t>
            </a:r>
            <a:endParaRPr/>
          </a:p>
        </p:txBody>
      </p:sp>
      <p:sp>
        <p:nvSpPr>
          <p:cNvPr id="1179" name="Google Shape;1179;p49"/>
          <p:cNvSpPr/>
          <p:nvPr/>
        </p:nvSpPr>
        <p:spPr>
          <a:xfrm>
            <a:off x="457200" y="3666744"/>
            <a:ext cx="978408" cy="475488"/>
          </a:xfrm>
          <a:prstGeom prst="rect">
            <a:avLst/>
          </a:prstGeom>
          <a:noFill/>
          <a:ln>
            <a:noFill/>
          </a:ln>
        </p:spPr>
        <p:txBody>
          <a:bodyPr anchorCtr="0" anchor="ctr" bIns="0" lIns="0" spcFirstLastPara="1" rIns="36575"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Device</a:t>
            </a:r>
            <a:endParaRPr/>
          </a:p>
        </p:txBody>
      </p:sp>
      <p:sp>
        <p:nvSpPr>
          <p:cNvPr id="1180" name="Google Shape;1180;p49"/>
          <p:cNvSpPr/>
          <p:nvPr/>
        </p:nvSpPr>
        <p:spPr>
          <a:xfrm>
            <a:off x="1508760" y="3666744"/>
            <a:ext cx="1890522"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Receives the binary into the inactive bank</a:t>
            </a:r>
            <a:endParaRPr/>
          </a:p>
        </p:txBody>
      </p:sp>
      <p:sp>
        <p:nvSpPr>
          <p:cNvPr id="1181" name="Google Shape;1181;p49"/>
          <p:cNvSpPr/>
          <p:nvPr/>
        </p:nvSpPr>
        <p:spPr>
          <a:xfrm>
            <a:off x="3472434" y="3666744"/>
            <a:ext cx="1890522"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Checksum / MD5 compare, Secure Boot signature check</a:t>
            </a:r>
            <a:endParaRPr/>
          </a:p>
        </p:txBody>
      </p:sp>
      <p:sp>
        <p:nvSpPr>
          <p:cNvPr id="1182" name="Google Shape;1182;p49"/>
          <p:cNvSpPr/>
          <p:nvPr/>
        </p:nvSpPr>
        <p:spPr>
          <a:xfrm>
            <a:off x="5436108" y="3666744"/>
            <a:ext cx="1890522"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Writes the inactive bank of dual-bank flash</a:t>
            </a:r>
            <a:endParaRPr/>
          </a:p>
        </p:txBody>
      </p:sp>
      <p:sp>
        <p:nvSpPr>
          <p:cNvPr id="1183" name="Google Shape;1183;p49"/>
          <p:cNvSpPr/>
          <p:nvPr/>
        </p:nvSpPr>
        <p:spPr>
          <a:xfrm>
            <a:off x="7399781" y="3666744"/>
            <a:ext cx="1890522"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Switches the boot bank and reboots</a:t>
            </a:r>
            <a:endParaRPr/>
          </a:p>
        </p:txBody>
      </p:sp>
      <p:sp>
        <p:nvSpPr>
          <p:cNvPr id="1184" name="Google Shape;1184;p49"/>
          <p:cNvSpPr/>
          <p:nvPr/>
        </p:nvSpPr>
        <p:spPr>
          <a:xfrm>
            <a:off x="9363456" y="3666744"/>
            <a:ext cx="2066543"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Commits the new bank as active</a:t>
            </a:r>
            <a:endParaRPr/>
          </a:p>
        </p:txBody>
      </p:sp>
      <p:sp>
        <p:nvSpPr>
          <p:cNvPr id="1185" name="Google Shape;1185;p49"/>
          <p:cNvSpPr/>
          <p:nvPr/>
        </p:nvSpPr>
        <p:spPr>
          <a:xfrm>
            <a:off x="457200" y="4187952"/>
            <a:ext cx="978408" cy="475488"/>
          </a:xfrm>
          <a:prstGeom prst="rect">
            <a:avLst/>
          </a:prstGeom>
          <a:noFill/>
          <a:ln>
            <a:noFill/>
          </a:ln>
        </p:spPr>
        <p:txBody>
          <a:bodyPr anchorCtr="0" anchor="ctr" bIns="0" lIns="0" spcFirstLastPara="1" rIns="36575"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App</a:t>
            </a:r>
            <a:endParaRPr/>
          </a:p>
        </p:txBody>
      </p:sp>
      <p:sp>
        <p:nvSpPr>
          <p:cNvPr id="1186" name="Google Shape;1186;p49"/>
          <p:cNvSpPr/>
          <p:nvPr/>
        </p:nvSpPr>
        <p:spPr>
          <a:xfrm>
            <a:off x="1508760" y="4187952"/>
            <a:ext cx="1890522"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Sends the pre-synced binary in chunks, shows progress</a:t>
            </a:r>
            <a:endParaRPr/>
          </a:p>
        </p:txBody>
      </p:sp>
      <p:sp>
        <p:nvSpPr>
          <p:cNvPr id="1187" name="Google Shape;1187;p49"/>
          <p:cNvSpPr/>
          <p:nvPr/>
        </p:nvSpPr>
        <p:spPr>
          <a:xfrm>
            <a:off x="3472434" y="4187952"/>
            <a:ext cx="1890522"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Reads the verification result over BLE</a:t>
            </a:r>
            <a:endParaRPr/>
          </a:p>
        </p:txBody>
      </p:sp>
      <p:sp>
        <p:nvSpPr>
          <p:cNvPr id="1188" name="Google Shape;1188;p49"/>
          <p:cNvSpPr/>
          <p:nvPr/>
        </p:nvSpPr>
        <p:spPr>
          <a:xfrm>
            <a:off x="5436108" y="4187952"/>
            <a:ext cx="1890522"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Keeps the UI lock, prevents screen sleep</a:t>
            </a:r>
            <a:endParaRPr/>
          </a:p>
        </p:txBody>
      </p:sp>
      <p:sp>
        <p:nvSpPr>
          <p:cNvPr id="1189" name="Google Shape;1189;p49"/>
          <p:cNvSpPr/>
          <p:nvPr/>
        </p:nvSpPr>
        <p:spPr>
          <a:xfrm>
            <a:off x="7399781" y="4187952"/>
            <a:ext cx="1890522"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Waits for BLE reconnect and rescans</a:t>
            </a:r>
            <a:endParaRPr/>
          </a:p>
        </p:txBody>
      </p:sp>
      <p:sp>
        <p:nvSpPr>
          <p:cNvPr id="1190" name="Google Shape;1190;p49"/>
          <p:cNvSpPr/>
          <p:nvPr/>
        </p:nvSpPr>
        <p:spPr>
          <a:xfrm>
            <a:off x="9363456" y="4187952"/>
            <a:ext cx="2066543"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Final check: read-back of the version register</a:t>
            </a:r>
            <a:endParaRPr/>
          </a:p>
        </p:txBody>
      </p:sp>
      <p:sp>
        <p:nvSpPr>
          <p:cNvPr id="1191" name="Google Shape;1191;p49"/>
          <p:cNvSpPr/>
          <p:nvPr/>
        </p:nvSpPr>
        <p:spPr>
          <a:xfrm>
            <a:off x="457200" y="4709160"/>
            <a:ext cx="978408" cy="475488"/>
          </a:xfrm>
          <a:prstGeom prst="rect">
            <a:avLst/>
          </a:prstGeom>
          <a:noFill/>
          <a:ln>
            <a:noFill/>
          </a:ln>
        </p:spPr>
        <p:txBody>
          <a:bodyPr anchorCtr="0" anchor="ctr" bIns="0" lIns="0" spcFirstLastPara="1" rIns="36575" wrap="square" tIns="0">
            <a:noAutofit/>
          </a:bodyPr>
          <a:lstStyle/>
          <a:p>
            <a:pPr indent="0" lvl="0" marL="0" marR="0" rtl="0" algn="l">
              <a:lnSpc>
                <a:spcPct val="100000"/>
              </a:lnSpc>
              <a:spcBef>
                <a:spcPts val="0"/>
              </a:spcBef>
              <a:spcAft>
                <a:spcPts val="0"/>
              </a:spcAft>
              <a:buNone/>
            </a:pPr>
            <a:r>
              <a:rPr b="1" lang="en-US" sz="975">
                <a:solidFill>
                  <a:srgbClr val="9A5B00"/>
                </a:solidFill>
                <a:latin typeface="Montserrat"/>
                <a:ea typeface="Montserrat"/>
                <a:cs typeface="Montserrat"/>
                <a:sym typeface="Montserrat"/>
              </a:rPr>
              <a:t>If it fails</a:t>
            </a:r>
            <a:endParaRPr/>
          </a:p>
        </p:txBody>
      </p:sp>
      <p:sp>
        <p:nvSpPr>
          <p:cNvPr id="1192" name="Google Shape;1192;p49"/>
          <p:cNvSpPr/>
          <p:nvPr/>
        </p:nvSpPr>
        <p:spPr>
          <a:xfrm>
            <a:off x="1508760" y="4709160"/>
            <a:ext cx="1890522"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Resume from the interruption point</a:t>
            </a:r>
            <a:endParaRPr/>
          </a:p>
        </p:txBody>
      </p:sp>
      <p:sp>
        <p:nvSpPr>
          <p:cNvPr id="1193" name="Google Shape;1193;p49"/>
          <p:cNvSpPr/>
          <p:nvPr/>
        </p:nvSpPr>
        <p:spPr>
          <a:xfrm>
            <a:off x="3472434" y="4709160"/>
            <a:ext cx="1890522"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Discard the inactive bank</a:t>
            </a:r>
            <a:endParaRPr/>
          </a:p>
        </p:txBody>
      </p:sp>
      <p:sp>
        <p:nvSpPr>
          <p:cNvPr id="1194" name="Google Shape;1194;p49"/>
          <p:cNvSpPr/>
          <p:nvPr/>
        </p:nvSpPr>
        <p:spPr>
          <a:xfrm>
            <a:off x="5436108" y="4709160"/>
            <a:ext cx="1890522"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Active bank stays intact</a:t>
            </a:r>
            <a:endParaRPr/>
          </a:p>
        </p:txBody>
      </p:sp>
      <p:sp>
        <p:nvSpPr>
          <p:cNvPr id="1195" name="Google Shape;1195;p49"/>
          <p:cNvSpPr/>
          <p:nvPr/>
        </p:nvSpPr>
        <p:spPr>
          <a:xfrm>
            <a:off x="7399781" y="4709160"/>
            <a:ext cx="1890522"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Automatic rollback to the previous bank</a:t>
            </a:r>
            <a:endParaRPr/>
          </a:p>
        </p:txBody>
      </p:sp>
      <p:sp>
        <p:nvSpPr>
          <p:cNvPr id="1196" name="Google Shape;1196;p49"/>
          <p:cNvSpPr/>
          <p:nvPr/>
        </p:nvSpPr>
        <p:spPr>
          <a:xfrm>
            <a:off x="9363456" y="4709160"/>
            <a:ext cx="2066543"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Retry, or report failure on version mismatch</a:t>
            </a:r>
            <a:endParaRPr/>
          </a:p>
        </p:txBody>
      </p:sp>
      <p:sp>
        <p:nvSpPr>
          <p:cNvPr id="1197" name="Google Shape;1197;p49"/>
          <p:cNvSpPr/>
          <p:nvPr/>
        </p:nvSpPr>
        <p:spPr>
          <a:xfrm>
            <a:off x="457200" y="5239512"/>
            <a:ext cx="978408" cy="201168"/>
          </a:xfrm>
          <a:prstGeom prst="rect">
            <a:avLst/>
          </a:prstGeom>
          <a:noFill/>
          <a:ln>
            <a:noFill/>
          </a:ln>
        </p:spPr>
        <p:txBody>
          <a:bodyPr anchorCtr="0" anchor="ctr" bIns="0" lIns="0" spcFirstLastPara="1" rIns="36575"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Channel</a:t>
            </a:r>
            <a:endParaRPr/>
          </a:p>
        </p:txBody>
      </p:sp>
      <p:sp>
        <p:nvSpPr>
          <p:cNvPr id="1198" name="Google Shape;1198;p49"/>
          <p:cNvSpPr/>
          <p:nvPr/>
        </p:nvSpPr>
        <p:spPr>
          <a:xfrm>
            <a:off x="1508760" y="5239512"/>
            <a:ext cx="1890522" cy="201168"/>
          </a:xfrm>
          <a:prstGeom prst="rect">
            <a:avLst/>
          </a:prstGeom>
          <a:solidFill>
            <a:srgbClr val="1565C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SoftAP Wi-Fi</a:t>
            </a:r>
            <a:endParaRPr/>
          </a:p>
        </p:txBody>
      </p:sp>
      <p:sp>
        <p:nvSpPr>
          <p:cNvPr id="1199" name="Google Shape;1199;p49"/>
          <p:cNvSpPr/>
          <p:nvPr/>
        </p:nvSpPr>
        <p:spPr>
          <a:xfrm>
            <a:off x="3472434" y="5239512"/>
            <a:ext cx="7957566" cy="201168"/>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Montserrat"/>
                <a:ea typeface="Montserrat"/>
                <a:cs typeface="Montserrat"/>
                <a:sym typeface="Montserrat"/>
              </a:rPr>
              <a:t>BLE</a:t>
            </a:r>
            <a:endParaRPr/>
          </a:p>
        </p:txBody>
      </p:sp>
      <p:sp>
        <p:nvSpPr>
          <p:cNvPr id="1200" name="Google Shape;1200;p49"/>
          <p:cNvSpPr/>
          <p:nvPr/>
        </p:nvSpPr>
        <p:spPr>
          <a:xfrm>
            <a:off x="457200" y="5614416"/>
            <a:ext cx="10972800" cy="329184"/>
          </a:xfrm>
          <a:prstGeom prst="rect">
            <a:avLst/>
          </a:prstGeom>
          <a:solidFill>
            <a:srgbClr val="F5F8FC"/>
          </a:solidFill>
          <a:ln>
            <a:noFill/>
          </a:ln>
        </p:spPr>
        <p:txBody>
          <a:bodyPr anchorCtr="0" anchor="ctr" bIns="0" lIns="109725" spcFirstLastPara="1" rIns="91425"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Before starting  </a:t>
            </a:r>
            <a:r>
              <a:rPr b="0" lang="en-US" sz="925">
                <a:solidFill>
                  <a:srgbClr val="1F2A37"/>
                </a:solidFill>
                <a:latin typeface="Barlow"/>
                <a:ea typeface="Barlow"/>
                <a:cs typeface="Barlow"/>
                <a:sym typeface="Barlow"/>
              </a:rPr>
              <a:t>Device-side flash conditions (battery SOC, grid state): </a:t>
            </a:r>
            <a:r>
              <a:rPr b="1" lang="en-US" sz="925">
                <a:solidFill>
                  <a:srgbClr val="9A5B00"/>
                </a:solidFill>
                <a:latin typeface="Barlow"/>
                <a:ea typeface="Barlow"/>
                <a:cs typeface="Barlow"/>
                <a:sym typeface="Barlow"/>
              </a:rPr>
              <a:t>TBD</a:t>
            </a:r>
            <a:r>
              <a:rPr b="0" lang="en-US" sz="925">
                <a:solidFill>
                  <a:srgbClr val="1F2A37"/>
                </a:solidFill>
                <a:latin typeface="Barlow"/>
                <a:ea typeface="Barlow"/>
                <a:cs typeface="Barlow"/>
                <a:sym typeface="Barlow"/>
              </a:rPr>
              <a:t>.  Blocked when the iPhone battery is below </a:t>
            </a:r>
            <a:r>
              <a:rPr b="1" lang="en-US" sz="925">
                <a:solidFill>
                  <a:srgbClr val="9A5B00"/>
                </a:solidFill>
                <a:latin typeface="Barlow"/>
                <a:ea typeface="Barlow"/>
                <a:cs typeface="Barlow"/>
                <a:sym typeface="Barlow"/>
              </a:rPr>
              <a:t>TBD</a:t>
            </a:r>
            <a:r>
              <a:rPr b="0" lang="en-US" sz="925">
                <a:solidFill>
                  <a:srgbClr val="1F2A37"/>
                </a:solidFill>
                <a:latin typeface="Barlow"/>
                <a:ea typeface="Barlow"/>
                <a:cs typeface="Barlow"/>
                <a:sym typeface="Barlow"/>
              </a:rPr>
              <a:t> %.  iOS: Hotspot Configuration entitlement, Local Network permission.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50"/>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DEEP DIVE · SEQUENCE DIAGRAM · OFFLINE PERSISTENCE AND SYNC · ASSUMED</a:t>
            </a:r>
            <a:endParaRPr/>
          </a:p>
        </p:txBody>
      </p:sp>
      <p:sp>
        <p:nvSpPr>
          <p:cNvPr id="1207" name="Google Shape;1207;p50"/>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Writes are journaled first, so restarts and re-uploads never apply twice</a:t>
            </a:r>
            <a:endParaRPr/>
          </a:p>
        </p:txBody>
      </p:sp>
      <p:cxnSp>
        <p:nvCxnSpPr>
          <p:cNvPr id="1208" name="Google Shape;1208;p50"/>
          <p:cNvCxnSpPr/>
          <p:nvPr/>
        </p:nvCxnSpPr>
        <p:spPr>
          <a:xfrm>
            <a:off x="1325880" y="1664207"/>
            <a:ext cx="0" cy="3895345"/>
          </a:xfrm>
          <a:prstGeom prst="straightConnector1">
            <a:avLst/>
          </a:prstGeom>
          <a:noFill/>
          <a:ln cap="flat" cmpd="sng" w="12700">
            <a:solidFill>
              <a:srgbClr val="C7D7EA"/>
            </a:solidFill>
            <a:prstDash val="dash"/>
            <a:round/>
            <a:headEnd len="sm" w="sm" type="none"/>
            <a:tailEnd len="sm" w="sm" type="none"/>
          </a:ln>
        </p:spPr>
      </p:cxnSp>
      <p:sp>
        <p:nvSpPr>
          <p:cNvPr id="1209" name="Google Shape;1209;p50"/>
          <p:cNvSpPr/>
          <p:nvPr/>
        </p:nvSpPr>
        <p:spPr>
          <a:xfrm>
            <a:off x="548640" y="1261872"/>
            <a:ext cx="1554480" cy="402336"/>
          </a:xfrm>
          <a:prstGeom prst="roundRect">
            <a:avLst>
              <a:gd fmla="val 11363" name="adj"/>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Installer app</a:t>
            </a:r>
            <a:endParaRPr/>
          </a:p>
        </p:txBody>
      </p:sp>
      <p:cxnSp>
        <p:nvCxnSpPr>
          <p:cNvPr id="1210" name="Google Shape;1210;p50"/>
          <p:cNvCxnSpPr/>
          <p:nvPr/>
        </p:nvCxnSpPr>
        <p:spPr>
          <a:xfrm>
            <a:off x="3611880" y="1664207"/>
            <a:ext cx="0" cy="3895345"/>
          </a:xfrm>
          <a:prstGeom prst="straightConnector1">
            <a:avLst/>
          </a:prstGeom>
          <a:noFill/>
          <a:ln cap="flat" cmpd="sng" w="12700">
            <a:solidFill>
              <a:srgbClr val="C7D7EA"/>
            </a:solidFill>
            <a:prstDash val="dash"/>
            <a:round/>
            <a:headEnd len="sm" w="sm" type="none"/>
            <a:tailEnd len="sm" w="sm" type="none"/>
          </a:ln>
        </p:spPr>
      </p:cxnSp>
      <p:sp>
        <p:nvSpPr>
          <p:cNvPr id="1211" name="Google Shape;1211;p50"/>
          <p:cNvSpPr/>
          <p:nvPr/>
        </p:nvSpPr>
        <p:spPr>
          <a:xfrm>
            <a:off x="2834640" y="1261872"/>
            <a:ext cx="1554480" cy="402336"/>
          </a:xfrm>
          <a:prstGeom prst="roundRect">
            <a:avLst>
              <a:gd fmla="val 11363" name="adj"/>
            </a:avLst>
          </a:prstGeom>
          <a:solidFill>
            <a:srgbClr val="FFFFFF"/>
          </a:solidFill>
          <a:ln cap="flat" cmpd="sng" w="12700">
            <a:solidFill>
              <a:srgbClr val="0B2F5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Local database</a:t>
            </a:r>
            <a:endParaRPr/>
          </a:p>
        </p:txBody>
      </p:sp>
      <p:cxnSp>
        <p:nvCxnSpPr>
          <p:cNvPr id="1212" name="Google Shape;1212;p50"/>
          <p:cNvCxnSpPr/>
          <p:nvPr/>
        </p:nvCxnSpPr>
        <p:spPr>
          <a:xfrm>
            <a:off x="6172200" y="1664207"/>
            <a:ext cx="0" cy="3895345"/>
          </a:xfrm>
          <a:prstGeom prst="straightConnector1">
            <a:avLst/>
          </a:prstGeom>
          <a:noFill/>
          <a:ln cap="flat" cmpd="sng" w="12700">
            <a:solidFill>
              <a:srgbClr val="C7D7EA"/>
            </a:solidFill>
            <a:prstDash val="dash"/>
            <a:round/>
            <a:headEnd len="sm" w="sm" type="none"/>
            <a:tailEnd len="sm" w="sm" type="none"/>
          </a:ln>
        </p:spPr>
      </p:cxnSp>
      <p:sp>
        <p:nvSpPr>
          <p:cNvPr id="1213" name="Google Shape;1213;p50"/>
          <p:cNvSpPr/>
          <p:nvPr/>
        </p:nvSpPr>
        <p:spPr>
          <a:xfrm>
            <a:off x="5394960" y="1261872"/>
            <a:ext cx="1554480" cy="402336"/>
          </a:xfrm>
          <a:prstGeom prst="roundRect">
            <a:avLst>
              <a:gd fmla="val 11363" name="adj"/>
            </a:avLst>
          </a:prstGeom>
          <a:solidFill>
            <a:srgbClr val="1565C0"/>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CORE Pro ESS</a:t>
            </a:r>
            <a:endParaRPr/>
          </a:p>
        </p:txBody>
      </p:sp>
      <p:cxnSp>
        <p:nvCxnSpPr>
          <p:cNvPr id="1214" name="Google Shape;1214;p50"/>
          <p:cNvCxnSpPr/>
          <p:nvPr/>
        </p:nvCxnSpPr>
        <p:spPr>
          <a:xfrm>
            <a:off x="8275320" y="1664207"/>
            <a:ext cx="0" cy="3895345"/>
          </a:xfrm>
          <a:prstGeom prst="straightConnector1">
            <a:avLst/>
          </a:prstGeom>
          <a:noFill/>
          <a:ln cap="flat" cmpd="sng" w="12700">
            <a:solidFill>
              <a:srgbClr val="C7D7EA"/>
            </a:solidFill>
            <a:prstDash val="dash"/>
            <a:round/>
            <a:headEnd len="sm" w="sm" type="none"/>
            <a:tailEnd len="sm" w="sm" type="none"/>
          </a:ln>
        </p:spPr>
      </p:cxnSp>
      <p:sp>
        <p:nvSpPr>
          <p:cNvPr id="1215" name="Google Shape;1215;p50"/>
          <p:cNvSpPr/>
          <p:nvPr/>
        </p:nvSpPr>
        <p:spPr>
          <a:xfrm>
            <a:off x="7498080" y="1261872"/>
            <a:ext cx="1554480" cy="402336"/>
          </a:xfrm>
          <a:prstGeom prst="roundRect">
            <a:avLst>
              <a:gd fmla="val 11363" name="adj"/>
            </a:avLst>
          </a:prstGeom>
          <a:solidFill>
            <a:srgbClr val="FFFFFF"/>
          </a:solidFill>
          <a:ln cap="flat" cmpd="sng" w="12700">
            <a:solidFill>
              <a:srgbClr val="0B2F5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Qcells backend</a:t>
            </a:r>
            <a:endParaRPr/>
          </a:p>
        </p:txBody>
      </p:sp>
      <p:cxnSp>
        <p:nvCxnSpPr>
          <p:cNvPr id="1216" name="Google Shape;1216;p50"/>
          <p:cNvCxnSpPr/>
          <p:nvPr/>
        </p:nvCxnSpPr>
        <p:spPr>
          <a:xfrm>
            <a:off x="1444752" y="2084831"/>
            <a:ext cx="2167128" cy="0"/>
          </a:xfrm>
          <a:prstGeom prst="straightConnector1">
            <a:avLst/>
          </a:prstGeom>
          <a:noFill/>
          <a:ln cap="flat" cmpd="sng" w="19050">
            <a:solidFill>
              <a:srgbClr val="0B2F5B"/>
            </a:solidFill>
            <a:prstDash val="solid"/>
            <a:round/>
            <a:headEnd len="sm" w="sm" type="none"/>
            <a:tailEnd len="med" w="med" type="triangle"/>
          </a:ln>
        </p:spPr>
      </p:cxnSp>
      <p:sp>
        <p:nvSpPr>
          <p:cNvPr id="1217" name="Google Shape;1217;p50"/>
          <p:cNvSpPr/>
          <p:nvPr/>
        </p:nvSpPr>
        <p:spPr>
          <a:xfrm>
            <a:off x="1216152" y="1975103"/>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1218" name="Google Shape;1218;p50"/>
          <p:cNvSpPr/>
          <p:nvPr/>
        </p:nvSpPr>
        <p:spPr>
          <a:xfrm>
            <a:off x="1508760" y="1837943"/>
            <a:ext cx="1698992"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Record the change as Pending</a:t>
            </a:r>
            <a:endParaRPr/>
          </a:p>
        </p:txBody>
      </p:sp>
      <p:cxnSp>
        <p:nvCxnSpPr>
          <p:cNvPr id="1219" name="Google Shape;1219;p50"/>
          <p:cNvCxnSpPr/>
          <p:nvPr/>
        </p:nvCxnSpPr>
        <p:spPr>
          <a:xfrm>
            <a:off x="1444752" y="2505456"/>
            <a:ext cx="4727448" cy="0"/>
          </a:xfrm>
          <a:prstGeom prst="straightConnector1">
            <a:avLst/>
          </a:prstGeom>
          <a:noFill/>
          <a:ln cap="flat" cmpd="sng" w="19050">
            <a:solidFill>
              <a:srgbClr val="1565C0"/>
            </a:solidFill>
            <a:prstDash val="solid"/>
            <a:round/>
            <a:headEnd len="sm" w="sm" type="none"/>
            <a:tailEnd len="med" w="med" type="triangle"/>
          </a:ln>
        </p:spPr>
      </p:cxnSp>
      <p:sp>
        <p:nvSpPr>
          <p:cNvPr id="1220" name="Google Shape;1220;p50"/>
          <p:cNvSpPr/>
          <p:nvPr/>
        </p:nvSpPr>
        <p:spPr>
          <a:xfrm>
            <a:off x="1216152" y="2395728"/>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1221" name="Google Shape;1221;p50"/>
          <p:cNvSpPr/>
          <p:nvPr/>
        </p:nvSpPr>
        <p:spPr>
          <a:xfrm>
            <a:off x="1508760" y="2258568"/>
            <a:ext cx="2884378"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One-shot write: register + payload + OTP suffix   (BLE)</a:t>
            </a:r>
            <a:endParaRPr/>
          </a:p>
        </p:txBody>
      </p:sp>
      <p:sp>
        <p:nvSpPr>
          <p:cNvPr id="1222" name="Google Shape;1222;p50"/>
          <p:cNvSpPr/>
          <p:nvPr/>
        </p:nvSpPr>
        <p:spPr>
          <a:xfrm>
            <a:off x="4983480" y="2670048"/>
            <a:ext cx="2377440" cy="329184"/>
          </a:xfrm>
          <a:prstGeom prst="roundRect">
            <a:avLst>
              <a:gd fmla="val 13888" name="adj"/>
            </a:avLst>
          </a:prstGeom>
          <a:solidFill>
            <a:srgbClr val="EAF2FB"/>
          </a:solidFill>
          <a:ln cap="flat" cmpd="sng" w="9525">
            <a:solidFill>
              <a:srgbClr val="1565C0"/>
            </a:solidFill>
            <a:prstDash val="solid"/>
            <a:round/>
            <a:headEnd len="sm" w="sm" type="none"/>
            <a:tailEnd len="sm" w="sm" type="none"/>
          </a:ln>
        </p:spPr>
        <p:txBody>
          <a:bodyPr anchorCtr="0" anchor="ctr" bIns="0" lIns="365750" spcFirstLastPara="1" rIns="36575"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Verify OTP, apply this one command</a:t>
            </a:r>
            <a:endParaRPr/>
          </a:p>
        </p:txBody>
      </p:sp>
      <p:sp>
        <p:nvSpPr>
          <p:cNvPr id="1223" name="Google Shape;1223;p50"/>
          <p:cNvSpPr/>
          <p:nvPr/>
        </p:nvSpPr>
        <p:spPr>
          <a:xfrm>
            <a:off x="5056632" y="2724912"/>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cxnSp>
        <p:nvCxnSpPr>
          <p:cNvPr id="1224" name="Google Shape;1224;p50"/>
          <p:cNvCxnSpPr/>
          <p:nvPr/>
        </p:nvCxnSpPr>
        <p:spPr>
          <a:xfrm>
            <a:off x="1444752" y="3346704"/>
            <a:ext cx="4727448" cy="0"/>
          </a:xfrm>
          <a:prstGeom prst="straightConnector1">
            <a:avLst/>
          </a:prstGeom>
          <a:noFill/>
          <a:ln cap="flat" cmpd="sng" w="19050">
            <a:solidFill>
              <a:srgbClr val="1565C0"/>
            </a:solidFill>
            <a:prstDash val="solid"/>
            <a:round/>
            <a:headEnd len="med" w="med" type="triangle"/>
            <a:tailEnd len="med" w="med" type="triangle"/>
          </a:ln>
        </p:spPr>
      </p:cxnSp>
      <p:sp>
        <p:nvSpPr>
          <p:cNvPr id="1225" name="Google Shape;1225;p50"/>
          <p:cNvSpPr/>
          <p:nvPr/>
        </p:nvSpPr>
        <p:spPr>
          <a:xfrm>
            <a:off x="1216152" y="3236976"/>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1226" name="Google Shape;1226;p50"/>
          <p:cNvSpPr/>
          <p:nvPr/>
        </p:nvSpPr>
        <p:spPr>
          <a:xfrm>
            <a:off x="1508760" y="3099816"/>
            <a:ext cx="2889081"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Read back the same register: result confirmed   (BLE)</a:t>
            </a:r>
            <a:endParaRPr/>
          </a:p>
        </p:txBody>
      </p:sp>
      <p:cxnSp>
        <p:nvCxnSpPr>
          <p:cNvPr id="1227" name="Google Shape;1227;p50"/>
          <p:cNvCxnSpPr/>
          <p:nvPr/>
        </p:nvCxnSpPr>
        <p:spPr>
          <a:xfrm>
            <a:off x="1444752" y="3767328"/>
            <a:ext cx="2167128" cy="0"/>
          </a:xfrm>
          <a:prstGeom prst="straightConnector1">
            <a:avLst/>
          </a:prstGeom>
          <a:noFill/>
          <a:ln cap="flat" cmpd="sng" w="19050">
            <a:solidFill>
              <a:srgbClr val="0B2F5B"/>
            </a:solidFill>
            <a:prstDash val="solid"/>
            <a:round/>
            <a:headEnd len="sm" w="sm" type="none"/>
            <a:tailEnd len="med" w="med" type="triangle"/>
          </a:ln>
        </p:spPr>
      </p:cxnSp>
      <p:sp>
        <p:nvSpPr>
          <p:cNvPr id="1228" name="Google Shape;1228;p50"/>
          <p:cNvSpPr/>
          <p:nvPr/>
        </p:nvSpPr>
        <p:spPr>
          <a:xfrm>
            <a:off x="1216152" y="3657600"/>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1229" name="Google Shape;1229;p50"/>
          <p:cNvSpPr/>
          <p:nvPr/>
        </p:nvSpPr>
        <p:spPr>
          <a:xfrm>
            <a:off x="1508760" y="3520440"/>
            <a:ext cx="1428142"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Issue UUID, mark Applied</a:t>
            </a:r>
            <a:endParaRPr/>
          </a:p>
        </p:txBody>
      </p:sp>
      <p:sp>
        <p:nvSpPr>
          <p:cNvPr id="1230" name="Google Shape;1230;p50"/>
          <p:cNvSpPr/>
          <p:nvPr/>
        </p:nvSpPr>
        <p:spPr>
          <a:xfrm>
            <a:off x="457200" y="3931920"/>
            <a:ext cx="8595360" cy="274320"/>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0" lIns="73150" spcFirstLastPara="1" rIns="73150" wrap="square" tIns="0">
            <a:noAutofit/>
          </a:bodyPr>
          <a:lstStyle/>
          <a:p>
            <a:pPr indent="0" lvl="0" marL="0" marR="0" rtl="0" algn="ctr">
              <a:lnSpc>
                <a:spcPct val="100000"/>
              </a:lnSpc>
              <a:spcBef>
                <a:spcPts val="0"/>
              </a:spcBef>
              <a:spcAft>
                <a:spcPts val="0"/>
              </a:spcAft>
              <a:buNone/>
            </a:pPr>
            <a:r>
              <a:rPr b="1" lang="en-US" sz="800">
                <a:solidFill>
                  <a:srgbClr val="9A5B00"/>
                </a:solidFill>
                <a:latin typeface="Montserrat"/>
                <a:ea typeface="Montserrat"/>
                <a:cs typeface="Montserrat"/>
                <a:sym typeface="Montserrat"/>
              </a:rPr>
              <a:t>OFFLINE ON SITE  </a:t>
            </a:r>
            <a:r>
              <a:rPr b="0" lang="en-US" sz="925">
                <a:solidFill>
                  <a:srgbClr val="9A5B00"/>
                </a:solidFill>
                <a:latin typeface="Barlow"/>
                <a:ea typeface="Barlow"/>
                <a:cs typeface="Barlow"/>
                <a:sym typeface="Barlow"/>
              </a:rPr>
              <a:t>Entries stay in local storage across app termination and reboot</a:t>
            </a:r>
            <a:endParaRPr/>
          </a:p>
        </p:txBody>
      </p:sp>
      <p:cxnSp>
        <p:nvCxnSpPr>
          <p:cNvPr id="1231" name="Google Shape;1231;p50"/>
          <p:cNvCxnSpPr/>
          <p:nvPr/>
        </p:nvCxnSpPr>
        <p:spPr>
          <a:xfrm>
            <a:off x="1444752" y="4572000"/>
            <a:ext cx="6830568" cy="0"/>
          </a:xfrm>
          <a:prstGeom prst="straightConnector1">
            <a:avLst/>
          </a:prstGeom>
          <a:noFill/>
          <a:ln cap="flat" cmpd="sng" w="19050">
            <a:solidFill>
              <a:srgbClr val="0B2F5B"/>
            </a:solidFill>
            <a:prstDash val="solid"/>
            <a:round/>
            <a:headEnd len="sm" w="sm" type="none"/>
            <a:tailEnd len="med" w="med" type="triangle"/>
          </a:ln>
        </p:spPr>
      </p:cxnSp>
      <p:sp>
        <p:nvSpPr>
          <p:cNvPr id="1232" name="Google Shape;1232;p50"/>
          <p:cNvSpPr/>
          <p:nvPr/>
        </p:nvSpPr>
        <p:spPr>
          <a:xfrm>
            <a:off x="1216152" y="4462272"/>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6</a:t>
            </a:r>
            <a:endParaRPr/>
          </a:p>
        </p:txBody>
      </p:sp>
      <p:sp>
        <p:nvSpPr>
          <p:cNvPr id="1233" name="Google Shape;1233;p50"/>
          <p:cNvSpPr/>
          <p:nvPr/>
        </p:nvSpPr>
        <p:spPr>
          <a:xfrm>
            <a:off x="1508760" y="4325112"/>
            <a:ext cx="4756960"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Network restored (NWPathMonitor): upload changes in order, each with its UUID   (HTTPS)</a:t>
            </a:r>
            <a:endParaRPr/>
          </a:p>
        </p:txBody>
      </p:sp>
      <p:cxnSp>
        <p:nvCxnSpPr>
          <p:cNvPr id="1234" name="Google Shape;1234;p50"/>
          <p:cNvCxnSpPr/>
          <p:nvPr/>
        </p:nvCxnSpPr>
        <p:spPr>
          <a:xfrm rot="10800000">
            <a:off x="1325880" y="4974336"/>
            <a:ext cx="6830568" cy="0"/>
          </a:xfrm>
          <a:prstGeom prst="straightConnector1">
            <a:avLst/>
          </a:prstGeom>
          <a:noFill/>
          <a:ln cap="flat" cmpd="sng" w="19050">
            <a:solidFill>
              <a:srgbClr val="0B2F5B"/>
            </a:solidFill>
            <a:prstDash val="dash"/>
            <a:round/>
            <a:headEnd len="sm" w="sm" type="none"/>
            <a:tailEnd len="med" w="med" type="triangle"/>
          </a:ln>
        </p:spPr>
      </p:cxnSp>
      <p:sp>
        <p:nvSpPr>
          <p:cNvPr id="1235" name="Google Shape;1235;p50"/>
          <p:cNvSpPr/>
          <p:nvPr/>
        </p:nvSpPr>
        <p:spPr>
          <a:xfrm>
            <a:off x="8165592" y="4864608"/>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7</a:t>
            </a:r>
            <a:endParaRPr/>
          </a:p>
        </p:txBody>
      </p:sp>
      <p:sp>
        <p:nvSpPr>
          <p:cNvPr id="1236" name="Google Shape;1236;p50"/>
          <p:cNvSpPr/>
          <p:nvPr/>
        </p:nvSpPr>
        <p:spPr>
          <a:xfrm>
            <a:off x="3906059" y="4727448"/>
            <a:ext cx="4186380"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r">
              <a:lnSpc>
                <a:spcPct val="100000"/>
              </a:lnSpc>
              <a:spcBef>
                <a:spcPts val="0"/>
              </a:spcBef>
              <a:spcAft>
                <a:spcPts val="0"/>
              </a:spcAft>
              <a:buNone/>
            </a:pPr>
            <a:r>
              <a:rPr b="0" lang="en-US" sz="950">
                <a:solidFill>
                  <a:srgbClr val="1F2A37"/>
                </a:solidFill>
                <a:latin typeface="Barlow"/>
                <a:ea typeface="Barlow"/>
                <a:cs typeface="Barlow"/>
                <a:sym typeface="Barlow"/>
              </a:rPr>
              <a:t>Result. The same UUID again returns the existing result and is never re-applied</a:t>
            </a:r>
            <a:endParaRPr/>
          </a:p>
        </p:txBody>
      </p:sp>
      <p:cxnSp>
        <p:nvCxnSpPr>
          <p:cNvPr id="1237" name="Google Shape;1237;p50"/>
          <p:cNvCxnSpPr/>
          <p:nvPr/>
        </p:nvCxnSpPr>
        <p:spPr>
          <a:xfrm>
            <a:off x="1444752" y="5376672"/>
            <a:ext cx="2167128" cy="0"/>
          </a:xfrm>
          <a:prstGeom prst="straightConnector1">
            <a:avLst/>
          </a:prstGeom>
          <a:noFill/>
          <a:ln cap="flat" cmpd="sng" w="19050">
            <a:solidFill>
              <a:srgbClr val="0B2F5B"/>
            </a:solidFill>
            <a:prstDash val="solid"/>
            <a:round/>
            <a:headEnd len="sm" w="sm" type="none"/>
            <a:tailEnd len="med" w="med" type="triangle"/>
          </a:ln>
        </p:spPr>
      </p:cxnSp>
      <p:sp>
        <p:nvSpPr>
          <p:cNvPr id="1238" name="Google Shape;1238;p50"/>
          <p:cNvSpPr/>
          <p:nvPr/>
        </p:nvSpPr>
        <p:spPr>
          <a:xfrm>
            <a:off x="1216152" y="5266944"/>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8</a:t>
            </a:r>
            <a:endParaRPr/>
          </a:p>
        </p:txBody>
      </p:sp>
      <p:sp>
        <p:nvSpPr>
          <p:cNvPr id="1239" name="Google Shape;1239;p50"/>
          <p:cNvSpPr/>
          <p:nvPr/>
        </p:nvSpPr>
        <p:spPr>
          <a:xfrm>
            <a:off x="1508760" y="5129783"/>
            <a:ext cx="787245"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Mark Synced</a:t>
            </a:r>
            <a:endParaRPr/>
          </a:p>
        </p:txBody>
      </p:sp>
      <p:sp>
        <p:nvSpPr>
          <p:cNvPr id="1240" name="Google Shape;1240;p50"/>
          <p:cNvSpPr/>
          <p:nvPr/>
        </p:nvSpPr>
        <p:spPr>
          <a:xfrm>
            <a:off x="457200" y="5669280"/>
            <a:ext cx="8595360" cy="365760"/>
          </a:xfrm>
          <a:prstGeom prst="rect">
            <a:avLst/>
          </a:prstGeom>
          <a:solidFill>
            <a:srgbClr val="F5F8FC"/>
          </a:solidFill>
          <a:ln>
            <a:noFill/>
          </a:ln>
        </p:spPr>
        <p:txBody>
          <a:bodyPr anchorCtr="0" anchor="ctr" bIns="0" lIns="109725" spcFirstLastPara="1" rIns="91425"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Restart recovery  </a:t>
            </a:r>
            <a:r>
              <a:rPr b="0" lang="en-US" sz="925">
                <a:solidFill>
                  <a:srgbClr val="1F2A37"/>
                </a:solidFill>
                <a:latin typeface="Barlow"/>
                <a:ea typeface="Barlow"/>
                <a:cs typeface="Barlow"/>
                <a:sym typeface="Barlow"/>
              </a:rPr>
              <a:t>On relaunch, Pending entries are settled as Applied or Failed by a read-back comparison at the next device connection.</a:t>
            </a:r>
            <a:endParaRPr/>
          </a:p>
        </p:txBody>
      </p:sp>
      <p:sp>
        <p:nvSpPr>
          <p:cNvPr id="1241" name="Google Shape;1241;p50"/>
          <p:cNvSpPr txBox="1"/>
          <p:nvPr/>
        </p:nvSpPr>
        <p:spPr>
          <a:xfrm>
            <a:off x="9281160" y="1261872"/>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ONE-SHOT PACKET</a:t>
            </a:r>
            <a:endParaRPr/>
          </a:p>
        </p:txBody>
      </p:sp>
      <p:sp>
        <p:nvSpPr>
          <p:cNvPr id="1242" name="Google Shape;1242;p50"/>
          <p:cNvSpPr/>
          <p:nvPr/>
        </p:nvSpPr>
        <p:spPr>
          <a:xfrm>
            <a:off x="9281160" y="1517904"/>
            <a:ext cx="658368" cy="420624"/>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Register ID</a:t>
            </a:r>
            <a:endParaRPr/>
          </a:p>
        </p:txBody>
      </p:sp>
      <p:sp>
        <p:nvSpPr>
          <p:cNvPr id="1243" name="Google Shape;1243;p50"/>
          <p:cNvSpPr/>
          <p:nvPr/>
        </p:nvSpPr>
        <p:spPr>
          <a:xfrm>
            <a:off x="9939528" y="1517904"/>
            <a:ext cx="804672" cy="420624"/>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Parameter payload</a:t>
            </a:r>
            <a:endParaRPr/>
          </a:p>
        </p:txBody>
      </p:sp>
      <p:sp>
        <p:nvSpPr>
          <p:cNvPr id="1244" name="Google Shape;1244;p50"/>
          <p:cNvSpPr/>
          <p:nvPr/>
        </p:nvSpPr>
        <p:spPr>
          <a:xfrm>
            <a:off x="10744200" y="1517904"/>
            <a:ext cx="685800" cy="420624"/>
          </a:xfrm>
          <a:prstGeom prst="rect">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Barlow"/>
                <a:ea typeface="Barlow"/>
                <a:cs typeface="Barlow"/>
                <a:sym typeface="Barlow"/>
              </a:rPr>
              <a:t>OTP suffix</a:t>
            </a:r>
            <a:endParaRPr/>
          </a:p>
        </p:txBody>
      </p:sp>
      <p:sp>
        <p:nvSpPr>
          <p:cNvPr id="1245" name="Google Shape;1245;p50"/>
          <p:cNvSpPr txBox="1"/>
          <p:nvPr/>
        </p:nvSpPr>
        <p:spPr>
          <a:xfrm>
            <a:off x="9281160" y="1993392"/>
            <a:ext cx="2148840"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Time-based OTP from the Temporary Installer Password.</a:t>
            </a:r>
            <a:endParaRPr/>
          </a:p>
          <a:p>
            <a:pPr indent="0" lvl="0" marL="0" marR="0" rtl="0" algn="l">
              <a:lnSpc>
                <a:spcPct val="100000"/>
              </a:lnSpc>
              <a:spcBef>
                <a:spcPts val="200"/>
              </a:spcBef>
              <a:spcAft>
                <a:spcPts val="0"/>
              </a:spcAft>
              <a:buNone/>
            </a:pPr>
            <a:r>
              <a:rPr b="0" lang="en-US" sz="900">
                <a:solidFill>
                  <a:srgbClr val="1F2A37"/>
                </a:solidFill>
                <a:latin typeface="Barlow"/>
                <a:ea typeface="Barlow"/>
                <a:cs typeface="Barlow"/>
                <a:sym typeface="Barlow"/>
              </a:rPr>
              <a:t>No session permission is kept. Suffix omitted in Incomplete state.</a:t>
            </a:r>
            <a:endParaRPr/>
          </a:p>
        </p:txBody>
      </p:sp>
      <p:sp>
        <p:nvSpPr>
          <p:cNvPr id="1246" name="Google Shape;1246;p50"/>
          <p:cNvSpPr txBox="1"/>
          <p:nvPr/>
        </p:nvSpPr>
        <p:spPr>
          <a:xfrm>
            <a:off x="9281160" y="2761488"/>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TRANSACTION STATES</a:t>
            </a:r>
            <a:endParaRPr/>
          </a:p>
        </p:txBody>
      </p:sp>
      <p:sp>
        <p:nvSpPr>
          <p:cNvPr id="1247" name="Google Shape;1247;p50"/>
          <p:cNvSpPr/>
          <p:nvPr/>
        </p:nvSpPr>
        <p:spPr>
          <a:xfrm>
            <a:off x="9281160" y="3017520"/>
            <a:ext cx="574036" cy="200025"/>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0B2F5B"/>
                </a:solidFill>
                <a:latin typeface="Barlow"/>
                <a:ea typeface="Barlow"/>
                <a:cs typeface="Barlow"/>
                <a:sym typeface="Barlow"/>
              </a:rPr>
              <a:t>Pending</a:t>
            </a:r>
            <a:endParaRPr/>
          </a:p>
        </p:txBody>
      </p:sp>
      <p:cxnSp>
        <p:nvCxnSpPr>
          <p:cNvPr id="1248" name="Google Shape;1248;p50"/>
          <p:cNvCxnSpPr/>
          <p:nvPr/>
        </p:nvCxnSpPr>
        <p:spPr>
          <a:xfrm>
            <a:off x="9873484" y="3118103"/>
            <a:ext cx="128016" cy="0"/>
          </a:xfrm>
          <a:prstGeom prst="straightConnector1">
            <a:avLst/>
          </a:prstGeom>
          <a:noFill/>
          <a:ln cap="flat" cmpd="sng" w="12700">
            <a:solidFill>
              <a:srgbClr val="0B2F5B"/>
            </a:solidFill>
            <a:prstDash val="solid"/>
            <a:round/>
            <a:headEnd len="sm" w="sm" type="none"/>
            <a:tailEnd len="med" w="med" type="triangle"/>
          </a:ln>
        </p:spPr>
      </p:cxnSp>
      <p:sp>
        <p:nvSpPr>
          <p:cNvPr id="1249" name="Google Shape;1249;p50"/>
          <p:cNvSpPr/>
          <p:nvPr/>
        </p:nvSpPr>
        <p:spPr>
          <a:xfrm>
            <a:off x="10019788" y="3017520"/>
            <a:ext cx="555265" cy="200025"/>
          </a:xfrm>
          <a:prstGeom prst="roundRect">
            <a:avLst>
              <a:gd fmla="val 50000" name="adj"/>
            </a:avLst>
          </a:prstGeom>
          <a:solidFill>
            <a:srgbClr val="EAF2FB"/>
          </a:solidFill>
          <a:ln cap="flat" cmpd="sng" w="9525">
            <a:solidFill>
              <a:srgbClr val="1565C0"/>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0B2F5B"/>
                </a:solidFill>
                <a:latin typeface="Barlow"/>
                <a:ea typeface="Barlow"/>
                <a:cs typeface="Barlow"/>
                <a:sym typeface="Barlow"/>
              </a:rPr>
              <a:t>Applied</a:t>
            </a:r>
            <a:endParaRPr/>
          </a:p>
        </p:txBody>
      </p:sp>
      <p:cxnSp>
        <p:nvCxnSpPr>
          <p:cNvPr id="1250" name="Google Shape;1250;p50"/>
          <p:cNvCxnSpPr/>
          <p:nvPr/>
        </p:nvCxnSpPr>
        <p:spPr>
          <a:xfrm>
            <a:off x="10593340" y="3118103"/>
            <a:ext cx="128017" cy="0"/>
          </a:xfrm>
          <a:prstGeom prst="straightConnector1">
            <a:avLst/>
          </a:prstGeom>
          <a:noFill/>
          <a:ln cap="flat" cmpd="sng" w="12700">
            <a:solidFill>
              <a:srgbClr val="0B2F5B"/>
            </a:solidFill>
            <a:prstDash val="solid"/>
            <a:round/>
            <a:headEnd len="sm" w="sm" type="none"/>
            <a:tailEnd len="med" w="med" type="triangle"/>
          </a:ln>
        </p:spPr>
      </p:cxnSp>
      <p:sp>
        <p:nvSpPr>
          <p:cNvPr id="1251" name="Google Shape;1251;p50"/>
          <p:cNvSpPr/>
          <p:nvPr/>
        </p:nvSpPr>
        <p:spPr>
          <a:xfrm>
            <a:off x="10739645" y="3017520"/>
            <a:ext cx="540192" cy="200025"/>
          </a:xfrm>
          <a:prstGeom prst="roundRect">
            <a:avLst>
              <a:gd fmla="val 500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1E7B4F"/>
                </a:solidFill>
                <a:latin typeface="Barlow"/>
                <a:ea typeface="Barlow"/>
                <a:cs typeface="Barlow"/>
                <a:sym typeface="Barlow"/>
              </a:rPr>
              <a:t>Synced</a:t>
            </a:r>
            <a:endParaRPr/>
          </a:p>
        </p:txBody>
      </p:sp>
      <p:sp>
        <p:nvSpPr>
          <p:cNvPr id="1252" name="Google Shape;1252;p50"/>
          <p:cNvSpPr/>
          <p:nvPr/>
        </p:nvSpPr>
        <p:spPr>
          <a:xfrm>
            <a:off x="9281160" y="3291840"/>
            <a:ext cx="597789" cy="200025"/>
          </a:xfrm>
          <a:prstGeom prst="roundRect">
            <a:avLst>
              <a:gd fmla="val 50000" name="adj"/>
            </a:avLst>
          </a:prstGeom>
          <a:solidFill>
            <a:srgbClr val="FDECEA"/>
          </a:solidFill>
          <a:ln cap="flat" cmpd="sng" w="9525">
            <a:solidFill>
              <a:srgbClr val="E9A39D"/>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B3261E"/>
                </a:solidFill>
                <a:latin typeface="Barlow"/>
                <a:ea typeface="Barlow"/>
                <a:cs typeface="Barlow"/>
                <a:sym typeface="Barlow"/>
              </a:rPr>
              <a:t>or Failed</a:t>
            </a:r>
            <a:endParaRPr/>
          </a:p>
        </p:txBody>
      </p:sp>
      <p:sp>
        <p:nvSpPr>
          <p:cNvPr id="1253" name="Google Shape;1253;p50"/>
          <p:cNvSpPr txBox="1"/>
          <p:nvPr/>
        </p:nvSpPr>
        <p:spPr>
          <a:xfrm>
            <a:off x="10058400" y="3255264"/>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50">
                <a:solidFill>
                  <a:srgbClr val="5F6B7A"/>
                </a:solidFill>
                <a:latin typeface="Barlow"/>
                <a:ea typeface="Barlow"/>
                <a:cs typeface="Barlow"/>
                <a:sym typeface="Barlow"/>
              </a:rPr>
              <a:t>Unsynced items show in the Dashboard list</a:t>
            </a:r>
            <a:endParaRPr/>
          </a:p>
        </p:txBody>
      </p:sp>
      <p:sp>
        <p:nvSpPr>
          <p:cNvPr id="1254" name="Google Shape;1254;p50"/>
          <p:cNvSpPr txBox="1"/>
          <p:nvPr/>
        </p:nvSpPr>
        <p:spPr>
          <a:xfrm>
            <a:off x="9281160" y="3675887"/>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OTP RULES</a:t>
            </a:r>
            <a:endParaRPr/>
          </a:p>
        </p:txBody>
      </p:sp>
      <p:sp>
        <p:nvSpPr>
          <p:cNvPr id="1255" name="Google Shape;1255;p50"/>
          <p:cNvSpPr txBox="1"/>
          <p:nvPr/>
        </p:nvSpPr>
        <p:spPr>
          <a:xfrm>
            <a:off x="9281160" y="3913632"/>
            <a:ext cx="2148840" cy="7863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Time step </a:t>
            </a:r>
            <a:r>
              <a:rPr b="1" lang="en-US" sz="900">
                <a:solidFill>
                  <a:srgbClr val="9A5B00"/>
                </a:solidFill>
                <a:latin typeface="Barlow"/>
                <a:ea typeface="Barlow"/>
                <a:cs typeface="Barlow"/>
                <a:sym typeface="Barlow"/>
              </a:rPr>
              <a:t>TBD</a:t>
            </a:r>
            <a:r>
              <a:rPr b="0" lang="en-US" sz="900">
                <a:solidFill>
                  <a:srgbClr val="1F2A37"/>
                </a:solidFill>
                <a:latin typeface="Barlow"/>
                <a:ea typeface="Barlow"/>
                <a:cs typeface="Barlow"/>
                <a:sym typeface="Barlow"/>
              </a:rPr>
              <a:t> s, tolerance ±1 step</a:t>
            </a:r>
            <a:endParaRPr/>
          </a:p>
          <a:p>
            <a:pPr indent="0" lvl="0" marL="0" marR="0" rtl="0" algn="l">
              <a:lnSpc>
                <a:spcPct val="100000"/>
              </a:lnSpc>
              <a:spcBef>
                <a:spcPts val="200"/>
              </a:spcBef>
              <a:spcAft>
                <a:spcPts val="0"/>
              </a:spcAft>
              <a:buNone/>
            </a:pPr>
            <a:r>
              <a:rPr b="0" lang="en-US" sz="900">
                <a:solidFill>
                  <a:srgbClr val="1F2A37"/>
                </a:solidFill>
                <a:latin typeface="Barlow"/>
                <a:ea typeface="Barlow"/>
                <a:cs typeface="Barlow"/>
                <a:sym typeface="Barlow"/>
              </a:rPr>
              <a:t>Lockout after </a:t>
            </a:r>
            <a:r>
              <a:rPr b="1" lang="en-US" sz="900">
                <a:solidFill>
                  <a:srgbClr val="9A5B00"/>
                </a:solidFill>
                <a:latin typeface="Barlow"/>
                <a:ea typeface="Barlow"/>
                <a:cs typeface="Barlow"/>
                <a:sym typeface="Barlow"/>
              </a:rPr>
              <a:t>TBD</a:t>
            </a:r>
            <a:r>
              <a:rPr b="0" lang="en-US" sz="900">
                <a:solidFill>
                  <a:srgbClr val="1F2A37"/>
                </a:solidFill>
                <a:latin typeface="Barlow"/>
                <a:ea typeface="Barlow"/>
                <a:cs typeface="Barlow"/>
                <a:sym typeface="Barlow"/>
              </a:rPr>
              <a:t> consecutive failures</a:t>
            </a:r>
            <a:endParaRPr/>
          </a:p>
          <a:p>
            <a:pPr indent="0" lvl="0" marL="0" marR="0" rtl="0" algn="l">
              <a:lnSpc>
                <a:spcPct val="100000"/>
              </a:lnSpc>
              <a:spcBef>
                <a:spcPts val="200"/>
              </a:spcBef>
              <a:spcAft>
                <a:spcPts val="0"/>
              </a:spcAft>
              <a:buNone/>
            </a:pPr>
            <a:r>
              <a:rPr b="0" lang="en-US" sz="900">
                <a:solidFill>
                  <a:srgbClr val="1F2A37"/>
                </a:solidFill>
                <a:latin typeface="Barlow"/>
                <a:ea typeface="Barlow"/>
                <a:cs typeface="Barlow"/>
                <a:sym typeface="Barlow"/>
              </a:rPr>
              <a:t>Device clock checked when reading device data</a:t>
            </a:r>
            <a:endParaRPr/>
          </a:p>
        </p:txBody>
      </p:sp>
      <p:sp>
        <p:nvSpPr>
          <p:cNvPr id="1256" name="Google Shape;1256;p50"/>
          <p:cNvSpPr txBox="1"/>
          <p:nvPr/>
        </p:nvSpPr>
        <p:spPr>
          <a:xfrm>
            <a:off x="9281160" y="4754880"/>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SYNC API ERRORS</a:t>
            </a:r>
            <a:endParaRPr/>
          </a:p>
        </p:txBody>
      </p:sp>
      <p:sp>
        <p:nvSpPr>
          <p:cNvPr id="1257" name="Google Shape;1257;p50"/>
          <p:cNvSpPr/>
          <p:nvPr/>
        </p:nvSpPr>
        <p:spPr>
          <a:xfrm>
            <a:off x="9281160" y="5010912"/>
            <a:ext cx="457200" cy="188912"/>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401</a:t>
            </a:r>
            <a:endParaRPr/>
          </a:p>
        </p:txBody>
      </p:sp>
      <p:sp>
        <p:nvSpPr>
          <p:cNvPr id="1258" name="Google Shape;1258;p50"/>
          <p:cNvSpPr txBox="1"/>
          <p:nvPr/>
        </p:nvSpPr>
        <p:spPr>
          <a:xfrm>
            <a:off x="9829800" y="5010912"/>
            <a:ext cx="160020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refresh the token</a:t>
            </a:r>
            <a:endParaRPr/>
          </a:p>
        </p:txBody>
      </p:sp>
      <p:sp>
        <p:nvSpPr>
          <p:cNvPr id="1259" name="Google Shape;1259;p50"/>
          <p:cNvSpPr/>
          <p:nvPr/>
        </p:nvSpPr>
        <p:spPr>
          <a:xfrm>
            <a:off x="9281160" y="5266944"/>
            <a:ext cx="457200" cy="188912"/>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409</a:t>
            </a:r>
            <a:endParaRPr/>
          </a:p>
        </p:txBody>
      </p:sp>
      <p:sp>
        <p:nvSpPr>
          <p:cNvPr id="1260" name="Google Shape;1260;p50"/>
          <p:cNvSpPr txBox="1"/>
          <p:nvPr/>
        </p:nvSpPr>
        <p:spPr>
          <a:xfrm>
            <a:off x="9829800" y="5266944"/>
            <a:ext cx="160020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treated as success</a:t>
            </a:r>
            <a:endParaRPr/>
          </a:p>
        </p:txBody>
      </p:sp>
      <p:sp>
        <p:nvSpPr>
          <p:cNvPr id="1261" name="Google Shape;1261;p50"/>
          <p:cNvSpPr/>
          <p:nvPr/>
        </p:nvSpPr>
        <p:spPr>
          <a:xfrm>
            <a:off x="9281160" y="5522976"/>
            <a:ext cx="457200" cy="188912"/>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5xx</a:t>
            </a:r>
            <a:endParaRPr/>
          </a:p>
        </p:txBody>
      </p:sp>
      <p:sp>
        <p:nvSpPr>
          <p:cNvPr id="1262" name="Google Shape;1262;p50"/>
          <p:cNvSpPr txBox="1"/>
          <p:nvPr/>
        </p:nvSpPr>
        <p:spPr>
          <a:xfrm>
            <a:off x="9829800" y="5522976"/>
            <a:ext cx="160020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back off</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51"/>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TEST APPROACH · MOCKS, SIMULATORS, HARDWARE IN THE LOOP</a:t>
            </a:r>
            <a:endParaRPr/>
          </a:p>
        </p:txBody>
      </p:sp>
      <p:sp>
        <p:nvSpPr>
          <p:cNvPr id="1269" name="Google Shape;1269;p51"/>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A register-level mock proves the logic; the bench proves power and radio</a:t>
            </a:r>
            <a:endParaRPr/>
          </a:p>
        </p:txBody>
      </p:sp>
      <p:sp>
        <p:nvSpPr>
          <p:cNvPr id="1270" name="Google Shape;1270;p51"/>
          <p:cNvSpPr/>
          <p:nvPr/>
        </p:nvSpPr>
        <p:spPr>
          <a:xfrm>
            <a:off x="457200" y="1234440"/>
            <a:ext cx="5394960" cy="480060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1" name="Google Shape;1271;p51"/>
          <p:cNvSpPr/>
          <p:nvPr/>
        </p:nvSpPr>
        <p:spPr>
          <a:xfrm>
            <a:off x="457200" y="1234440"/>
            <a:ext cx="640080" cy="640080"/>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2400">
                <a:solidFill>
                  <a:srgbClr val="FFFFFF"/>
                </a:solidFill>
                <a:latin typeface="Montserrat"/>
                <a:ea typeface="Montserrat"/>
                <a:cs typeface="Montserrat"/>
                <a:sym typeface="Montserrat"/>
              </a:rPr>
              <a:t>7</a:t>
            </a:r>
            <a:endParaRPr/>
          </a:p>
        </p:txBody>
      </p:sp>
      <p:sp>
        <p:nvSpPr>
          <p:cNvPr id="1272" name="Google Shape;1272;p51"/>
          <p:cNvSpPr txBox="1"/>
          <p:nvPr/>
        </p:nvSpPr>
        <p:spPr>
          <a:xfrm>
            <a:off x="1234440" y="1280160"/>
            <a:ext cx="4480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Mock and simulators</a:t>
            </a:r>
            <a:endParaRPr/>
          </a:p>
        </p:txBody>
      </p:sp>
      <p:sp>
        <p:nvSpPr>
          <p:cNvPr id="1273" name="Google Shape;1273;p51"/>
          <p:cNvSpPr txBox="1"/>
          <p:nvPr/>
        </p:nvSpPr>
        <p:spPr>
          <a:xfrm>
            <a:off x="1234440" y="1554480"/>
            <a:ext cx="44805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5F6B7A"/>
                </a:solidFill>
                <a:latin typeface="Barlow"/>
                <a:ea typeface="Barlow"/>
                <a:cs typeface="Barlow"/>
                <a:sym typeface="Barlow"/>
              </a:rPr>
              <a:t>Automated, no hardware: state transitions and UI constraints</a:t>
            </a:r>
            <a:endParaRPr/>
          </a:p>
        </p:txBody>
      </p:sp>
      <p:sp>
        <p:nvSpPr>
          <p:cNvPr id="1274" name="Google Shape;1274;p51"/>
          <p:cNvSpPr/>
          <p:nvPr/>
        </p:nvSpPr>
        <p:spPr>
          <a:xfrm>
            <a:off x="6035040" y="1234440"/>
            <a:ext cx="5394960" cy="480060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5" name="Google Shape;1275;p51"/>
          <p:cNvSpPr/>
          <p:nvPr/>
        </p:nvSpPr>
        <p:spPr>
          <a:xfrm>
            <a:off x="6035040" y="1234440"/>
            <a:ext cx="640080" cy="640080"/>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2400">
                <a:solidFill>
                  <a:srgbClr val="FFFFFF"/>
                </a:solidFill>
                <a:latin typeface="Montserrat"/>
                <a:ea typeface="Montserrat"/>
                <a:cs typeface="Montserrat"/>
                <a:sym typeface="Montserrat"/>
              </a:rPr>
              <a:t>5</a:t>
            </a:r>
            <a:endParaRPr/>
          </a:p>
        </p:txBody>
      </p:sp>
      <p:sp>
        <p:nvSpPr>
          <p:cNvPr id="1276" name="Google Shape;1276;p51"/>
          <p:cNvSpPr txBox="1"/>
          <p:nvPr/>
        </p:nvSpPr>
        <p:spPr>
          <a:xfrm>
            <a:off x="6812279" y="1280160"/>
            <a:ext cx="4480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Real hardware bench</a:t>
            </a:r>
            <a:endParaRPr/>
          </a:p>
        </p:txBody>
      </p:sp>
      <p:sp>
        <p:nvSpPr>
          <p:cNvPr id="1277" name="Google Shape;1277;p51"/>
          <p:cNvSpPr txBox="1"/>
          <p:nvPr/>
        </p:nvSpPr>
        <p:spPr>
          <a:xfrm>
            <a:off x="6812279" y="1554480"/>
            <a:ext cx="44805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5F6B7A"/>
                </a:solidFill>
                <a:latin typeface="Barlow"/>
                <a:ea typeface="Barlow"/>
                <a:cs typeface="Barlow"/>
                <a:sym typeface="Barlow"/>
              </a:rPr>
              <a:t>Power safety and radio limits that a mock cannot prove</a:t>
            </a:r>
            <a:endParaRPr/>
          </a:p>
        </p:txBody>
      </p:sp>
      <p:sp>
        <p:nvSpPr>
          <p:cNvPr id="1278" name="Google Shape;1278;p51"/>
          <p:cNvSpPr/>
          <p:nvPr/>
        </p:nvSpPr>
        <p:spPr>
          <a:xfrm>
            <a:off x="621792" y="2103120"/>
            <a:ext cx="1325880" cy="713232"/>
          </a:xfrm>
          <a:prstGeom prst="roundRect">
            <a:avLst>
              <a:gd fmla="val 7692"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App under test</a:t>
            </a:r>
            <a:endParaRPr/>
          </a:p>
          <a:p>
            <a:pPr indent="0" lvl="0" marL="0" marR="0" rtl="0" algn="ctr">
              <a:lnSpc>
                <a:spcPct val="100000"/>
              </a:lnSpc>
              <a:spcBef>
                <a:spcPts val="150"/>
              </a:spcBef>
              <a:spcAft>
                <a:spcPts val="0"/>
              </a:spcAft>
              <a:buNone/>
            </a:pPr>
            <a:r>
              <a:rPr b="0" lang="en-US" sz="900">
                <a:solidFill>
                  <a:srgbClr val="5F6B7A"/>
                </a:solidFill>
                <a:latin typeface="Barlow"/>
                <a:ea typeface="Barlow"/>
                <a:cs typeface="Barlow"/>
                <a:sym typeface="Barlow"/>
              </a:rPr>
              <a:t>Full flow in the iOS Simulator</a:t>
            </a:r>
            <a:endParaRPr/>
          </a:p>
        </p:txBody>
      </p:sp>
      <p:sp>
        <p:nvSpPr>
          <p:cNvPr id="1279" name="Google Shape;1279;p51"/>
          <p:cNvSpPr/>
          <p:nvPr/>
        </p:nvSpPr>
        <p:spPr>
          <a:xfrm>
            <a:off x="2221992" y="2103120"/>
            <a:ext cx="1325880" cy="713232"/>
          </a:xfrm>
          <a:prstGeom prst="roundRect">
            <a:avLst>
              <a:gd fmla="val 7692" name="adj"/>
            </a:avLst>
          </a:prstGeom>
          <a:solidFill>
            <a:srgbClr val="0B2F5B"/>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FFFFFF"/>
                </a:solidFill>
                <a:latin typeface="Consolas"/>
                <a:ea typeface="Consolas"/>
                <a:cs typeface="Consolas"/>
                <a:sym typeface="Consolas"/>
              </a:rPr>
              <a:t>BLETransport</a:t>
            </a:r>
            <a:endParaRPr/>
          </a:p>
          <a:p>
            <a:pPr indent="0" lvl="0" marL="0" marR="0" rtl="0" algn="ctr">
              <a:lnSpc>
                <a:spcPct val="100000"/>
              </a:lnSpc>
              <a:spcBef>
                <a:spcPts val="150"/>
              </a:spcBef>
              <a:spcAft>
                <a:spcPts val="0"/>
              </a:spcAft>
              <a:buNone/>
            </a:pPr>
            <a:r>
              <a:rPr b="0" lang="en-US" sz="900">
                <a:solidFill>
                  <a:srgbClr val="A9C7EA"/>
                </a:solidFill>
                <a:latin typeface="Barlow"/>
                <a:ea typeface="Barlow"/>
                <a:cs typeface="Barlow"/>
                <a:sym typeface="Barlow"/>
              </a:rPr>
              <a:t>Protocol boundary</a:t>
            </a:r>
            <a:endParaRPr/>
          </a:p>
        </p:txBody>
      </p:sp>
      <p:sp>
        <p:nvSpPr>
          <p:cNvPr id="1280" name="Google Shape;1280;p51"/>
          <p:cNvSpPr/>
          <p:nvPr/>
        </p:nvSpPr>
        <p:spPr>
          <a:xfrm>
            <a:off x="3822191" y="2103120"/>
            <a:ext cx="1865376" cy="713232"/>
          </a:xfrm>
          <a:prstGeom prst="roundRect">
            <a:avLst>
              <a:gd fmla="val 7692" name="adj"/>
            </a:avLst>
          </a:prstGeom>
          <a:solidFill>
            <a:srgbClr val="E6F4EA"/>
          </a:solidFill>
          <a:ln cap="flat" cmpd="sng" w="12700">
            <a:solidFill>
              <a:srgbClr val="8CC9A6"/>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1E7B4F"/>
                </a:solidFill>
                <a:latin typeface="Montserrat"/>
                <a:ea typeface="Montserrat"/>
                <a:cs typeface="Montserrat"/>
                <a:sym typeface="Montserrat"/>
              </a:rPr>
              <a:t>Mock peripheral</a:t>
            </a:r>
            <a:endParaRPr/>
          </a:p>
          <a:p>
            <a:pPr indent="0" lvl="0" marL="0" marR="0" rtl="0" algn="ctr">
              <a:lnSpc>
                <a:spcPct val="100000"/>
              </a:lnSpc>
              <a:spcBef>
                <a:spcPts val="150"/>
              </a:spcBef>
              <a:spcAft>
                <a:spcPts val="0"/>
              </a:spcAft>
              <a:buNone/>
            </a:pPr>
            <a:r>
              <a:rPr b="0" lang="en-US" sz="900">
                <a:solidFill>
                  <a:srgbClr val="1E7B4F"/>
                </a:solidFill>
                <a:latin typeface="Barlow"/>
                <a:ea typeface="Barlow"/>
                <a:cs typeface="Barlow"/>
                <a:sym typeface="Barlow"/>
              </a:rPr>
              <a:t>Virtual device data dictionary</a:t>
            </a:r>
            <a:endParaRPr/>
          </a:p>
        </p:txBody>
      </p:sp>
      <p:cxnSp>
        <p:nvCxnSpPr>
          <p:cNvPr id="1281" name="Google Shape;1281;p51"/>
          <p:cNvCxnSpPr>
            <a:stCxn id="1278" idx="3"/>
            <a:endCxn id="1279" idx="1"/>
          </p:cNvCxnSpPr>
          <p:nvPr/>
        </p:nvCxnSpPr>
        <p:spPr>
          <a:xfrm>
            <a:off x="1947672" y="2459736"/>
            <a:ext cx="274200" cy="0"/>
          </a:xfrm>
          <a:prstGeom prst="straightConnector1">
            <a:avLst/>
          </a:prstGeom>
          <a:noFill/>
          <a:ln cap="flat" cmpd="sng" w="15875">
            <a:solidFill>
              <a:srgbClr val="0B2F5B"/>
            </a:solidFill>
            <a:prstDash val="solid"/>
            <a:round/>
            <a:headEnd len="sm" w="sm" type="none"/>
            <a:tailEnd len="med" w="med" type="triangle"/>
          </a:ln>
        </p:spPr>
      </p:cxnSp>
      <p:cxnSp>
        <p:nvCxnSpPr>
          <p:cNvPr id="1282" name="Google Shape;1282;p51"/>
          <p:cNvCxnSpPr>
            <a:stCxn id="1279" idx="3"/>
            <a:endCxn id="1280" idx="1"/>
          </p:cNvCxnSpPr>
          <p:nvPr/>
        </p:nvCxnSpPr>
        <p:spPr>
          <a:xfrm>
            <a:off x="3547872" y="2459736"/>
            <a:ext cx="274200" cy="0"/>
          </a:xfrm>
          <a:prstGeom prst="straightConnector1">
            <a:avLst/>
          </a:prstGeom>
          <a:noFill/>
          <a:ln cap="flat" cmpd="sng" w="15875">
            <a:solidFill>
              <a:srgbClr val="1E7B4F"/>
            </a:solidFill>
            <a:prstDash val="solid"/>
            <a:round/>
            <a:headEnd len="sm" w="sm" type="none"/>
            <a:tailEnd len="med" w="med" type="triangle"/>
          </a:ln>
        </p:spPr>
      </p:cxnSp>
      <p:sp>
        <p:nvSpPr>
          <p:cNvPr id="1283" name="Google Shape;1283;p51"/>
          <p:cNvSpPr txBox="1"/>
          <p:nvPr/>
        </p:nvSpPr>
        <p:spPr>
          <a:xfrm>
            <a:off x="621792" y="2926080"/>
            <a:ext cx="1371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Injected with</a:t>
            </a:r>
            <a:endParaRPr/>
          </a:p>
        </p:txBody>
      </p:sp>
      <p:sp>
        <p:nvSpPr>
          <p:cNvPr id="1284" name="Google Shape;1284;p51"/>
          <p:cNvSpPr/>
          <p:nvPr/>
        </p:nvSpPr>
        <p:spPr>
          <a:xfrm>
            <a:off x="1371600" y="2926080"/>
            <a:ext cx="1298448" cy="219456"/>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75">
                <a:solidFill>
                  <a:srgbClr val="1565C0"/>
                </a:solidFill>
                <a:latin typeface="Consolas"/>
                <a:ea typeface="Consolas"/>
                <a:cs typeface="Consolas"/>
                <a:sym typeface="Consolas"/>
              </a:rPr>
              <a:t>-UITestMockBLE</a:t>
            </a:r>
            <a:endParaRPr/>
          </a:p>
        </p:txBody>
      </p:sp>
      <p:sp>
        <p:nvSpPr>
          <p:cNvPr id="1285" name="Google Shape;1285;p51"/>
          <p:cNvSpPr txBox="1"/>
          <p:nvPr/>
        </p:nvSpPr>
        <p:spPr>
          <a:xfrm>
            <a:off x="2834640" y="2926080"/>
            <a:ext cx="9144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Fault injection</a:t>
            </a:r>
            <a:endParaRPr/>
          </a:p>
        </p:txBody>
      </p:sp>
      <p:sp>
        <p:nvSpPr>
          <p:cNvPr id="1286" name="Google Shape;1286;p51"/>
          <p:cNvSpPr/>
          <p:nvPr/>
        </p:nvSpPr>
        <p:spPr>
          <a:xfrm>
            <a:off x="3657600" y="2926080"/>
            <a:ext cx="381369" cy="219456"/>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9A5B00"/>
                </a:solidFill>
                <a:latin typeface="Barlow"/>
                <a:ea typeface="Barlow"/>
                <a:cs typeface="Barlow"/>
                <a:sym typeface="Barlow"/>
              </a:rPr>
              <a:t>Delay</a:t>
            </a:r>
            <a:endParaRPr/>
          </a:p>
        </p:txBody>
      </p:sp>
      <p:sp>
        <p:nvSpPr>
          <p:cNvPr id="1287" name="Google Shape;1287;p51"/>
          <p:cNvSpPr/>
          <p:nvPr/>
        </p:nvSpPr>
        <p:spPr>
          <a:xfrm>
            <a:off x="4084689" y="2926080"/>
            <a:ext cx="713965" cy="219456"/>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9A5B00"/>
                </a:solidFill>
                <a:latin typeface="Barlow"/>
                <a:ea typeface="Barlow"/>
                <a:cs typeface="Barlow"/>
                <a:sym typeface="Barlow"/>
              </a:rPr>
              <a:t>No response</a:t>
            </a:r>
            <a:endParaRPr/>
          </a:p>
        </p:txBody>
      </p:sp>
      <p:sp>
        <p:nvSpPr>
          <p:cNvPr id="1288" name="Google Shape;1288;p51"/>
          <p:cNvSpPr/>
          <p:nvPr/>
        </p:nvSpPr>
        <p:spPr>
          <a:xfrm>
            <a:off x="4844374" y="2926080"/>
            <a:ext cx="657392" cy="219456"/>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9A5B00"/>
                </a:solidFill>
                <a:latin typeface="Barlow"/>
                <a:ea typeface="Barlow"/>
                <a:cs typeface="Barlow"/>
                <a:sym typeface="Barlow"/>
              </a:rPr>
              <a:t>Disconnect</a:t>
            </a:r>
            <a:endParaRPr/>
          </a:p>
        </p:txBody>
      </p:sp>
      <p:cxnSp>
        <p:nvCxnSpPr>
          <p:cNvPr id="1289" name="Google Shape;1289;p51"/>
          <p:cNvCxnSpPr/>
          <p:nvPr/>
        </p:nvCxnSpPr>
        <p:spPr>
          <a:xfrm>
            <a:off x="621792" y="3310128"/>
            <a:ext cx="5065776" cy="0"/>
          </a:xfrm>
          <a:prstGeom prst="straightConnector1">
            <a:avLst/>
          </a:prstGeom>
          <a:noFill/>
          <a:ln cap="flat" cmpd="sng" w="9525">
            <a:solidFill>
              <a:srgbClr val="C7D7EA"/>
            </a:solidFill>
            <a:prstDash val="solid"/>
            <a:round/>
            <a:headEnd len="sm" w="sm" type="none"/>
            <a:tailEnd len="sm" w="sm" type="none"/>
          </a:ln>
        </p:spPr>
      </p:cxnSp>
      <p:sp>
        <p:nvSpPr>
          <p:cNvPr id="1290" name="Google Shape;1290;p51"/>
          <p:cNvSpPr/>
          <p:nvPr/>
        </p:nvSpPr>
        <p:spPr>
          <a:xfrm>
            <a:off x="621792" y="3456432"/>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UT-01</a:t>
            </a:r>
            <a:endParaRPr/>
          </a:p>
        </p:txBody>
      </p:sp>
      <p:sp>
        <p:nvSpPr>
          <p:cNvPr id="1291" name="Google Shape;1291;p51"/>
          <p:cNvSpPr txBox="1"/>
          <p:nvPr/>
        </p:nvSpPr>
        <p:spPr>
          <a:xfrm>
            <a:off x="1280160" y="3429000"/>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Pricing while Energy Policy is Standby</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menu disabled</a:t>
            </a:r>
            <a:endParaRPr/>
          </a:p>
        </p:txBody>
      </p:sp>
      <p:sp>
        <p:nvSpPr>
          <p:cNvPr id="1292" name="Google Shape;1292;p51"/>
          <p:cNvSpPr/>
          <p:nvPr/>
        </p:nvSpPr>
        <p:spPr>
          <a:xfrm>
            <a:off x="621792" y="3808476"/>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UT-02</a:t>
            </a:r>
            <a:endParaRPr/>
          </a:p>
        </p:txBody>
      </p:sp>
      <p:sp>
        <p:nvSpPr>
          <p:cNvPr id="1293" name="Google Shape;1293;p51"/>
          <p:cNvSpPr txBox="1"/>
          <p:nvPr/>
        </p:nvSpPr>
        <p:spPr>
          <a:xfrm>
            <a:off x="1280160" y="3781044"/>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Pricing after switching to Time-based mode</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per-kWh form enabled</a:t>
            </a:r>
            <a:endParaRPr/>
          </a:p>
        </p:txBody>
      </p:sp>
      <p:sp>
        <p:nvSpPr>
          <p:cNvPr id="1294" name="Google Shape;1294;p51"/>
          <p:cNvSpPr/>
          <p:nvPr/>
        </p:nvSpPr>
        <p:spPr>
          <a:xfrm>
            <a:off x="621792" y="416052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UT-03</a:t>
            </a:r>
            <a:endParaRPr/>
          </a:p>
        </p:txBody>
      </p:sp>
      <p:sp>
        <p:nvSpPr>
          <p:cNvPr id="1295" name="Google Shape;1295;p51"/>
          <p:cNvSpPr txBox="1"/>
          <p:nvPr/>
        </p:nvSpPr>
        <p:spPr>
          <a:xfrm>
            <a:off x="1280160" y="4133087"/>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Touch while data is read on detail entry</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all input blocked</a:t>
            </a:r>
            <a:endParaRPr/>
          </a:p>
        </p:txBody>
      </p:sp>
      <p:sp>
        <p:nvSpPr>
          <p:cNvPr id="1296" name="Google Shape;1296;p51"/>
          <p:cNvSpPr/>
          <p:nvPr/>
        </p:nvSpPr>
        <p:spPr>
          <a:xfrm>
            <a:off x="621792" y="4512564"/>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UT-04</a:t>
            </a:r>
            <a:endParaRPr/>
          </a:p>
        </p:txBody>
      </p:sp>
      <p:sp>
        <p:nvSpPr>
          <p:cNvPr id="1297" name="Google Shape;1297;p51"/>
          <p:cNvSpPr txBox="1"/>
          <p:nvPr/>
        </p:nvSpPr>
        <p:spPr>
          <a:xfrm>
            <a:off x="1280160" y="4485131"/>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Enter an Incomplete device</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password step bypassed</a:t>
            </a:r>
            <a:endParaRPr/>
          </a:p>
        </p:txBody>
      </p:sp>
      <p:sp>
        <p:nvSpPr>
          <p:cNvPr id="1298" name="Google Shape;1298;p51"/>
          <p:cNvSpPr/>
          <p:nvPr/>
        </p:nvSpPr>
        <p:spPr>
          <a:xfrm>
            <a:off x="621792" y="4864607"/>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UT-05</a:t>
            </a:r>
            <a:endParaRPr/>
          </a:p>
        </p:txBody>
      </p:sp>
      <p:sp>
        <p:nvSpPr>
          <p:cNvPr id="1299" name="Google Shape;1299;p51"/>
          <p:cNvSpPr txBox="1"/>
          <p:nvPr/>
        </p:nvSpPr>
        <p:spPr>
          <a:xfrm>
            <a:off x="1280160" y="4837175"/>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Execute Apply</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state is Run, OTP required on re-entry</a:t>
            </a:r>
            <a:endParaRPr/>
          </a:p>
        </p:txBody>
      </p:sp>
      <p:sp>
        <p:nvSpPr>
          <p:cNvPr id="1300" name="Google Shape;1300;p51"/>
          <p:cNvSpPr/>
          <p:nvPr/>
        </p:nvSpPr>
        <p:spPr>
          <a:xfrm>
            <a:off x="621792" y="5216651"/>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UT-06</a:t>
            </a:r>
            <a:endParaRPr/>
          </a:p>
        </p:txBody>
      </p:sp>
      <p:sp>
        <p:nvSpPr>
          <p:cNvPr id="1301" name="Google Shape;1301;p51"/>
          <p:cNvSpPr txBox="1"/>
          <p:nvPr/>
        </p:nvSpPr>
        <p:spPr>
          <a:xfrm>
            <a:off x="1280160" y="5189219"/>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NMI No Re-fetch</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server value re-injected via lookup picker</a:t>
            </a:r>
            <a:endParaRPr/>
          </a:p>
        </p:txBody>
      </p:sp>
      <p:sp>
        <p:nvSpPr>
          <p:cNvPr id="1302" name="Google Shape;1302;p51"/>
          <p:cNvSpPr/>
          <p:nvPr/>
        </p:nvSpPr>
        <p:spPr>
          <a:xfrm>
            <a:off x="621792" y="5568695"/>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UT-07</a:t>
            </a:r>
            <a:endParaRPr/>
          </a:p>
        </p:txBody>
      </p:sp>
      <p:sp>
        <p:nvSpPr>
          <p:cNvPr id="1303" name="Google Shape;1303;p51"/>
          <p:cNvSpPr txBox="1"/>
          <p:nvPr/>
        </p:nvSpPr>
        <p:spPr>
          <a:xfrm>
            <a:off x="1280160" y="5541263"/>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Network restored after offline work</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single upload, no duplicates</a:t>
            </a:r>
            <a:endParaRPr/>
          </a:p>
        </p:txBody>
      </p:sp>
      <p:sp>
        <p:nvSpPr>
          <p:cNvPr id="1304" name="Google Shape;1304;p51"/>
          <p:cNvSpPr/>
          <p:nvPr/>
        </p:nvSpPr>
        <p:spPr>
          <a:xfrm>
            <a:off x="6199632" y="2103120"/>
            <a:ext cx="1097280" cy="713232"/>
          </a:xfrm>
          <a:prstGeom prst="roundRect">
            <a:avLst>
              <a:gd fmla="val 7692" name="adj"/>
            </a:avLst>
          </a:prstGeom>
          <a:solidFill>
            <a:srgbClr val="FFFFFF"/>
          </a:solidFill>
          <a:ln cap="flat" cmpd="sng" w="12700">
            <a:solidFill>
              <a:srgbClr val="0B2F5B"/>
            </a:solidFill>
            <a:prstDash val="solid"/>
            <a:round/>
            <a:headEnd len="sm" w="sm" type="none"/>
            <a:tailEnd len="sm" w="sm" type="none"/>
          </a:ln>
        </p:spPr>
        <p:txBody>
          <a:bodyPr anchorCtr="0" anchor="ctr" bIns="27425" lIns="36575" spcFirstLastPara="1" rIns="36575" wrap="square" tIns="27425">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iPhone farm</a:t>
            </a:r>
            <a:endParaRPr/>
          </a:p>
          <a:p>
            <a:pPr indent="0" lvl="0" marL="0" marR="0" rtl="0" algn="ctr">
              <a:lnSpc>
                <a:spcPct val="100000"/>
              </a:lnSpc>
              <a:spcBef>
                <a:spcPts val="150"/>
              </a:spcBef>
              <a:spcAft>
                <a:spcPts val="0"/>
              </a:spcAft>
              <a:buNone/>
            </a:pPr>
            <a:r>
              <a:rPr b="0" lang="en-US" sz="875">
                <a:solidFill>
                  <a:srgbClr val="5F6B7A"/>
                </a:solidFill>
                <a:latin typeface="Barlow"/>
                <a:ea typeface="Barlow"/>
                <a:cs typeface="Barlow"/>
                <a:sym typeface="Barlow"/>
              </a:rPr>
              <a:t>Several models, iOS versions</a:t>
            </a:r>
            <a:endParaRPr/>
          </a:p>
        </p:txBody>
      </p:sp>
      <p:sp>
        <p:nvSpPr>
          <p:cNvPr id="1305" name="Google Shape;1305;p51"/>
          <p:cNvSpPr/>
          <p:nvPr/>
        </p:nvSpPr>
        <p:spPr>
          <a:xfrm>
            <a:off x="7498079" y="2103120"/>
            <a:ext cx="1188720" cy="713232"/>
          </a:xfrm>
          <a:prstGeom prst="roundRect">
            <a:avLst>
              <a:gd fmla="val 7692" name="adj"/>
            </a:avLst>
          </a:prstGeom>
          <a:solidFill>
            <a:srgbClr val="FFFFFF"/>
          </a:solidFill>
          <a:ln cap="flat" cmpd="sng" w="12700">
            <a:solidFill>
              <a:srgbClr val="0B2F5B"/>
            </a:solidFill>
            <a:prstDash val="solid"/>
            <a:round/>
            <a:headEnd len="sm" w="sm" type="none"/>
            <a:tailEnd len="sm" w="sm" type="none"/>
          </a:ln>
        </p:spPr>
        <p:txBody>
          <a:bodyPr anchorCtr="0" anchor="ctr" bIns="27425" lIns="36575" spcFirstLastPara="1" rIns="36575" wrap="square" tIns="27425">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RF attenuator</a:t>
            </a:r>
            <a:endParaRPr/>
          </a:p>
          <a:p>
            <a:pPr indent="0" lvl="0" marL="0" marR="0" rtl="0" algn="ctr">
              <a:lnSpc>
                <a:spcPct val="100000"/>
              </a:lnSpc>
              <a:spcBef>
                <a:spcPts val="150"/>
              </a:spcBef>
              <a:spcAft>
                <a:spcPts val="0"/>
              </a:spcAft>
              <a:buNone/>
            </a:pPr>
            <a:r>
              <a:rPr b="0" lang="en-US" sz="900">
                <a:solidFill>
                  <a:srgbClr val="5F6B7A"/>
                </a:solidFill>
                <a:latin typeface="Barlow"/>
                <a:ea typeface="Barlow"/>
                <a:cs typeface="Barlow"/>
                <a:sym typeface="Barlow"/>
              </a:rPr>
              <a:t>+ shielded box</a:t>
            </a:r>
            <a:endParaRPr/>
          </a:p>
        </p:txBody>
      </p:sp>
      <p:sp>
        <p:nvSpPr>
          <p:cNvPr id="1306" name="Google Shape;1306;p51"/>
          <p:cNvSpPr/>
          <p:nvPr/>
        </p:nvSpPr>
        <p:spPr>
          <a:xfrm>
            <a:off x="8887968" y="2103120"/>
            <a:ext cx="1143000" cy="713232"/>
          </a:xfrm>
          <a:prstGeom prst="roundRect">
            <a:avLst>
              <a:gd fmla="val 7692" name="adj"/>
            </a:avLst>
          </a:prstGeom>
          <a:solidFill>
            <a:srgbClr val="1565C0"/>
          </a:solidFill>
          <a:ln>
            <a:noFill/>
          </a:ln>
        </p:spPr>
        <p:txBody>
          <a:bodyPr anchorCtr="0" anchor="ctr" bIns="27425" lIns="36575" spcFirstLastPara="1" rIns="36575" wrap="square" tIns="2742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CORE Pro ESS</a:t>
            </a:r>
            <a:endParaRPr/>
          </a:p>
          <a:p>
            <a:pPr indent="0" lvl="0" marL="0" marR="0" rtl="0" algn="ctr">
              <a:lnSpc>
                <a:spcPct val="100000"/>
              </a:lnSpc>
              <a:spcBef>
                <a:spcPts val="150"/>
              </a:spcBef>
              <a:spcAft>
                <a:spcPts val="0"/>
              </a:spcAft>
              <a:buNone/>
            </a:pPr>
            <a:r>
              <a:rPr b="0" lang="en-US" sz="900">
                <a:solidFill>
                  <a:srgbClr val="DCE8F7"/>
                </a:solidFill>
                <a:latin typeface="Barlow"/>
                <a:ea typeface="Barlow"/>
                <a:cs typeface="Barlow"/>
                <a:sym typeface="Barlow"/>
              </a:rPr>
              <a:t>Real device</a:t>
            </a:r>
            <a:endParaRPr/>
          </a:p>
        </p:txBody>
      </p:sp>
      <p:sp>
        <p:nvSpPr>
          <p:cNvPr id="1307" name="Google Shape;1307;p51"/>
          <p:cNvSpPr/>
          <p:nvPr/>
        </p:nvSpPr>
        <p:spPr>
          <a:xfrm>
            <a:off x="10232136" y="2066543"/>
            <a:ext cx="1033271" cy="365760"/>
          </a:xfrm>
          <a:prstGeom prst="roundRect">
            <a:avLst>
              <a:gd fmla="val 15000" name="adj"/>
            </a:avLst>
          </a:prstGeom>
          <a:solidFill>
            <a:srgbClr val="FFFFFF"/>
          </a:solidFill>
          <a:ln cap="flat" cmpd="sng" w="12700">
            <a:solidFill>
              <a:srgbClr val="0B2F5B"/>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00">
                <a:solidFill>
                  <a:srgbClr val="0B2F5B"/>
                </a:solidFill>
                <a:latin typeface="Montserrat"/>
                <a:ea typeface="Montserrat"/>
                <a:cs typeface="Montserrat"/>
                <a:sym typeface="Montserrat"/>
              </a:rPr>
              <a:t>Grid simulator</a:t>
            </a:r>
            <a:endParaRPr/>
          </a:p>
        </p:txBody>
      </p:sp>
      <p:sp>
        <p:nvSpPr>
          <p:cNvPr id="1308" name="Google Shape;1308;p51"/>
          <p:cNvSpPr/>
          <p:nvPr/>
        </p:nvSpPr>
        <p:spPr>
          <a:xfrm>
            <a:off x="10232136" y="2487168"/>
            <a:ext cx="1033271" cy="365760"/>
          </a:xfrm>
          <a:prstGeom prst="roundRect">
            <a:avLst>
              <a:gd fmla="val 15000" name="adj"/>
            </a:avLst>
          </a:prstGeom>
          <a:solidFill>
            <a:srgbClr val="FFFFFF"/>
          </a:solidFill>
          <a:ln cap="flat" cmpd="sng" w="12700">
            <a:solidFill>
              <a:srgbClr val="0B2F5B"/>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00">
                <a:solidFill>
                  <a:srgbClr val="0B2F5B"/>
                </a:solidFill>
                <a:latin typeface="Montserrat"/>
                <a:ea typeface="Montserrat"/>
                <a:cs typeface="Montserrat"/>
                <a:sym typeface="Montserrat"/>
              </a:rPr>
              <a:t>PV simulator</a:t>
            </a:r>
            <a:endParaRPr/>
          </a:p>
        </p:txBody>
      </p:sp>
      <p:cxnSp>
        <p:nvCxnSpPr>
          <p:cNvPr id="1309" name="Google Shape;1309;p51"/>
          <p:cNvCxnSpPr>
            <a:stCxn id="1304" idx="3"/>
            <a:endCxn id="1305" idx="1"/>
          </p:cNvCxnSpPr>
          <p:nvPr/>
        </p:nvCxnSpPr>
        <p:spPr>
          <a:xfrm>
            <a:off x="7296912" y="2459736"/>
            <a:ext cx="201300" cy="0"/>
          </a:xfrm>
          <a:prstGeom prst="straightConnector1">
            <a:avLst/>
          </a:prstGeom>
          <a:noFill/>
          <a:ln cap="flat" cmpd="sng" w="15875">
            <a:solidFill>
              <a:srgbClr val="0B2F5B"/>
            </a:solidFill>
            <a:prstDash val="solid"/>
            <a:round/>
            <a:headEnd len="sm" w="sm" type="none"/>
            <a:tailEnd len="sm" w="sm" type="none"/>
          </a:ln>
        </p:spPr>
      </p:cxnSp>
      <p:cxnSp>
        <p:nvCxnSpPr>
          <p:cNvPr id="1310" name="Google Shape;1310;p51"/>
          <p:cNvCxnSpPr>
            <a:stCxn id="1305" idx="3"/>
            <a:endCxn id="1306" idx="1"/>
          </p:cNvCxnSpPr>
          <p:nvPr/>
        </p:nvCxnSpPr>
        <p:spPr>
          <a:xfrm>
            <a:off x="8686799" y="2459736"/>
            <a:ext cx="201300" cy="0"/>
          </a:xfrm>
          <a:prstGeom prst="straightConnector1">
            <a:avLst/>
          </a:prstGeom>
          <a:noFill/>
          <a:ln cap="flat" cmpd="sng" w="15875">
            <a:solidFill>
              <a:srgbClr val="0B2F5B"/>
            </a:solidFill>
            <a:prstDash val="solid"/>
            <a:round/>
            <a:headEnd len="sm" w="sm" type="none"/>
            <a:tailEnd len="sm" w="sm" type="none"/>
          </a:ln>
        </p:spPr>
      </p:cxnSp>
      <p:cxnSp>
        <p:nvCxnSpPr>
          <p:cNvPr id="1311" name="Google Shape;1311;p51"/>
          <p:cNvCxnSpPr/>
          <p:nvPr/>
        </p:nvCxnSpPr>
        <p:spPr>
          <a:xfrm rot="10800000">
            <a:off x="10030968" y="2249424"/>
            <a:ext cx="201168" cy="0"/>
          </a:xfrm>
          <a:prstGeom prst="straightConnector1">
            <a:avLst/>
          </a:prstGeom>
          <a:noFill/>
          <a:ln cap="flat" cmpd="sng" w="15875">
            <a:solidFill>
              <a:srgbClr val="0B2F5B"/>
            </a:solidFill>
            <a:prstDash val="solid"/>
            <a:round/>
            <a:headEnd len="sm" w="sm" type="none"/>
            <a:tailEnd len="med" w="med" type="triangle"/>
          </a:ln>
        </p:spPr>
      </p:cxnSp>
      <p:cxnSp>
        <p:nvCxnSpPr>
          <p:cNvPr id="1312" name="Google Shape;1312;p51"/>
          <p:cNvCxnSpPr/>
          <p:nvPr/>
        </p:nvCxnSpPr>
        <p:spPr>
          <a:xfrm rot="10800000">
            <a:off x="10030968" y="2670048"/>
            <a:ext cx="201168" cy="0"/>
          </a:xfrm>
          <a:prstGeom prst="straightConnector1">
            <a:avLst/>
          </a:prstGeom>
          <a:noFill/>
          <a:ln cap="flat" cmpd="sng" w="15875">
            <a:solidFill>
              <a:srgbClr val="0B2F5B"/>
            </a:solidFill>
            <a:prstDash val="solid"/>
            <a:round/>
            <a:headEnd len="sm" w="sm" type="none"/>
            <a:tailEnd len="med" w="med" type="triangle"/>
          </a:ln>
        </p:spPr>
      </p:cxnSp>
      <p:sp>
        <p:nvSpPr>
          <p:cNvPr id="1313" name="Google Shape;1313;p51"/>
          <p:cNvSpPr txBox="1"/>
          <p:nvPr/>
        </p:nvSpPr>
        <p:spPr>
          <a:xfrm>
            <a:off x="6199632" y="2926080"/>
            <a:ext cx="27432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Grid cut by simulator or breaker</a:t>
            </a:r>
            <a:endParaRPr/>
          </a:p>
        </p:txBody>
      </p:sp>
      <p:sp>
        <p:nvSpPr>
          <p:cNvPr id="1314" name="Google Shape;1314;p51"/>
          <p:cNvSpPr txBox="1"/>
          <p:nvPr/>
        </p:nvSpPr>
        <p:spPr>
          <a:xfrm>
            <a:off x="8577072" y="2926080"/>
            <a:ext cx="2688336" cy="21945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en-US" sz="900">
                <a:solidFill>
                  <a:srgbClr val="5F6B7A"/>
                </a:solidFill>
                <a:latin typeface="Barlow"/>
                <a:ea typeface="Barlow"/>
                <a:cs typeface="Barlow"/>
                <a:sym typeface="Barlow"/>
              </a:rPr>
              <a:t>EPS switchover criterion: </a:t>
            </a:r>
            <a:r>
              <a:rPr b="1" lang="en-US" sz="900">
                <a:solidFill>
                  <a:srgbClr val="9A5B00"/>
                </a:solidFill>
                <a:latin typeface="Barlow"/>
                <a:ea typeface="Barlow"/>
                <a:cs typeface="Barlow"/>
                <a:sym typeface="Barlow"/>
              </a:rPr>
              <a:t>TBD</a:t>
            </a:r>
            <a:r>
              <a:rPr b="0" lang="en-US" sz="900">
                <a:solidFill>
                  <a:srgbClr val="5F6B7A"/>
                </a:solidFill>
                <a:latin typeface="Barlow"/>
                <a:ea typeface="Barlow"/>
                <a:cs typeface="Barlow"/>
                <a:sym typeface="Barlow"/>
              </a:rPr>
              <a:t> ms</a:t>
            </a:r>
            <a:endParaRPr/>
          </a:p>
        </p:txBody>
      </p:sp>
      <p:cxnSp>
        <p:nvCxnSpPr>
          <p:cNvPr id="1315" name="Google Shape;1315;p51"/>
          <p:cNvCxnSpPr/>
          <p:nvPr/>
        </p:nvCxnSpPr>
        <p:spPr>
          <a:xfrm>
            <a:off x="6199632" y="3310128"/>
            <a:ext cx="5065776" cy="0"/>
          </a:xfrm>
          <a:prstGeom prst="straightConnector1">
            <a:avLst/>
          </a:prstGeom>
          <a:noFill/>
          <a:ln cap="flat" cmpd="sng" w="9525">
            <a:solidFill>
              <a:srgbClr val="C7D7EA"/>
            </a:solidFill>
            <a:prstDash val="solid"/>
            <a:round/>
            <a:headEnd len="sm" w="sm" type="none"/>
            <a:tailEnd len="sm" w="sm" type="none"/>
          </a:ln>
        </p:spPr>
      </p:cxnSp>
      <p:sp>
        <p:nvSpPr>
          <p:cNvPr id="1316" name="Google Shape;1316;p51"/>
          <p:cNvSpPr/>
          <p:nvPr/>
        </p:nvSpPr>
        <p:spPr>
          <a:xfrm>
            <a:off x="6373368" y="3447288"/>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1317" name="Google Shape;1317;p51"/>
          <p:cNvSpPr txBox="1"/>
          <p:nvPr/>
        </p:nvSpPr>
        <p:spPr>
          <a:xfrm>
            <a:off x="6858000" y="3429000"/>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Off-Grid ON, grid cut</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EPS switchover, runs on solar + battery</a:t>
            </a:r>
            <a:endParaRPr/>
          </a:p>
        </p:txBody>
      </p:sp>
      <p:sp>
        <p:nvSpPr>
          <p:cNvPr id="1318" name="Google Shape;1318;p51"/>
          <p:cNvSpPr/>
          <p:nvPr/>
        </p:nvSpPr>
        <p:spPr>
          <a:xfrm>
            <a:off x="6373368" y="3799331"/>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1319" name="Google Shape;1319;p51"/>
          <p:cNvSpPr txBox="1"/>
          <p:nvPr/>
        </p:nvSpPr>
        <p:spPr>
          <a:xfrm>
            <a:off x="6858000" y="3781044"/>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Off-Grid OFF, grid cut</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Error halt, Error state shown in the app</a:t>
            </a:r>
            <a:endParaRPr/>
          </a:p>
        </p:txBody>
      </p:sp>
      <p:sp>
        <p:nvSpPr>
          <p:cNvPr id="1320" name="Google Shape;1320;p51"/>
          <p:cNvSpPr/>
          <p:nvPr/>
        </p:nvSpPr>
        <p:spPr>
          <a:xfrm>
            <a:off x="6373368" y="4151375"/>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sp>
        <p:nvSpPr>
          <p:cNvPr id="1321" name="Google Shape;1321;p51"/>
          <p:cNvSpPr txBox="1"/>
          <p:nvPr/>
        </p:nvSpPr>
        <p:spPr>
          <a:xfrm>
            <a:off x="6858000" y="4133087"/>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EPS running, grid restored</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grid reconnection, back to Run</a:t>
            </a:r>
            <a:endParaRPr/>
          </a:p>
        </p:txBody>
      </p:sp>
      <p:sp>
        <p:nvSpPr>
          <p:cNvPr id="1322" name="Google Shape;1322;p51"/>
          <p:cNvSpPr/>
          <p:nvPr/>
        </p:nvSpPr>
        <p:spPr>
          <a:xfrm>
            <a:off x="6373368" y="4503419"/>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1323" name="Google Shape;1323;p51"/>
          <p:cNvSpPr txBox="1"/>
          <p:nvPr/>
        </p:nvSpPr>
        <p:spPr>
          <a:xfrm>
            <a:off x="6858000" y="4485131"/>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Device power cut during flashing</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rollback to the previous bank</a:t>
            </a:r>
            <a:endParaRPr/>
          </a:p>
        </p:txBody>
      </p:sp>
      <p:sp>
        <p:nvSpPr>
          <p:cNvPr id="1324" name="Google Shape;1324;p51"/>
          <p:cNvSpPr/>
          <p:nvPr/>
        </p:nvSpPr>
        <p:spPr>
          <a:xfrm>
            <a:off x="6373368" y="4855463"/>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1325" name="Google Shape;1325;p51"/>
          <p:cNvSpPr txBox="1"/>
          <p:nvPr/>
        </p:nvSpPr>
        <p:spPr>
          <a:xfrm>
            <a:off x="6858000" y="4837175"/>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RSSI boundary with the attenuator</a:t>
            </a:r>
            <a:r>
              <a:rPr b="1" lang="en-US" sz="950">
                <a:solidFill>
                  <a:srgbClr val="1867DC"/>
                </a:solidFill>
                <a:latin typeface="Barlow"/>
                <a:ea typeface="Barlow"/>
                <a:cs typeface="Barlow"/>
                <a:sym typeface="Barlow"/>
              </a:rPr>
              <a:t>  →  </a:t>
            </a:r>
            <a:r>
              <a:rPr b="1" lang="en-US" sz="950">
                <a:solidFill>
                  <a:srgbClr val="0B2F5B"/>
                </a:solidFill>
                <a:latin typeface="Barlow"/>
                <a:ea typeface="Barlow"/>
                <a:cs typeface="Barlow"/>
                <a:sym typeface="Barlow"/>
              </a:rPr>
              <a:t>allowed or blocked per threshold</a:t>
            </a:r>
            <a:endParaRPr/>
          </a:p>
        </p:txBody>
      </p:sp>
      <p:sp>
        <p:nvSpPr>
          <p:cNvPr id="1326" name="Google Shape;1326;p51"/>
          <p:cNvSpPr/>
          <p:nvPr/>
        </p:nvSpPr>
        <p:spPr>
          <a:xfrm>
            <a:off x="6199632" y="5298947"/>
            <a:ext cx="5065776" cy="56692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73150" wrap="square" tIns="27425">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Why both  </a:t>
            </a:r>
            <a:r>
              <a:rPr b="0" lang="en-US" sz="925">
                <a:solidFill>
                  <a:srgbClr val="1F2A37"/>
                </a:solidFill>
                <a:latin typeface="Barlow"/>
                <a:ea typeface="Barlow"/>
                <a:cs typeface="Barlow"/>
                <a:sym typeface="Barlow"/>
              </a:rPr>
              <a:t>The mock verifies state transitions and UI constraints without hardware. The bench validates what the mock cannot: power safety behavior and wireless variables.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52"/>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ASSUMPTIONS, TRADE-OFFS, RISKS AND OPEN QUESTIONS</a:t>
            </a:r>
            <a:endParaRPr/>
          </a:p>
        </p:txBody>
      </p:sp>
      <p:sp>
        <p:nvSpPr>
          <p:cNvPr id="1333" name="Google Shape;1333;p52"/>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What we assumed, what we traded off, and what we ask Qcells first</a:t>
            </a:r>
            <a:endParaRPr/>
          </a:p>
        </p:txBody>
      </p:sp>
      <p:sp>
        <p:nvSpPr>
          <p:cNvPr id="1334" name="Google Shape;1334;p52"/>
          <p:cNvSpPr/>
          <p:nvPr/>
        </p:nvSpPr>
        <p:spPr>
          <a:xfrm>
            <a:off x="457200" y="123444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5" name="Google Shape;1335;p52"/>
          <p:cNvSpPr/>
          <p:nvPr/>
        </p:nvSpPr>
        <p:spPr>
          <a:xfrm>
            <a:off x="585216" y="1353312"/>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36" name="Google Shape;1336;p52"/>
          <p:cNvPicPr preferRelativeResize="0"/>
          <p:nvPr/>
        </p:nvPicPr>
        <p:blipFill rotWithShape="1">
          <a:blip r:embed="rId3">
            <a:alphaModFix/>
          </a:blip>
          <a:srcRect b="0" l="0" r="0" t="0"/>
          <a:stretch/>
        </p:blipFill>
        <p:spPr>
          <a:xfrm>
            <a:off x="657636" y="1425732"/>
            <a:ext cx="184343" cy="184343"/>
          </a:xfrm>
          <a:prstGeom prst="rect">
            <a:avLst/>
          </a:prstGeom>
          <a:noFill/>
          <a:ln>
            <a:noFill/>
          </a:ln>
        </p:spPr>
      </p:pic>
      <p:sp>
        <p:nvSpPr>
          <p:cNvPr id="1337" name="Google Shape;1337;p52"/>
          <p:cNvSpPr txBox="1"/>
          <p:nvPr/>
        </p:nvSpPr>
        <p:spPr>
          <a:xfrm>
            <a:off x="1005840" y="1353312"/>
            <a:ext cx="4663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Assumptions</a:t>
            </a:r>
            <a:endParaRPr/>
          </a:p>
        </p:txBody>
      </p:sp>
      <p:sp>
        <p:nvSpPr>
          <p:cNvPr id="1338" name="Google Shape;1338;p52"/>
          <p:cNvSpPr/>
          <p:nvPr/>
        </p:nvSpPr>
        <p:spPr>
          <a:xfrm>
            <a:off x="6035040" y="123444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9" name="Google Shape;1339;p52"/>
          <p:cNvSpPr/>
          <p:nvPr/>
        </p:nvSpPr>
        <p:spPr>
          <a:xfrm>
            <a:off x="6163055" y="1353312"/>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40" name="Google Shape;1340;p52"/>
          <p:cNvPicPr preferRelativeResize="0"/>
          <p:nvPr/>
        </p:nvPicPr>
        <p:blipFill rotWithShape="1">
          <a:blip r:embed="rId4">
            <a:alphaModFix/>
          </a:blip>
          <a:srcRect b="0" l="0" r="0" t="0"/>
          <a:stretch/>
        </p:blipFill>
        <p:spPr>
          <a:xfrm>
            <a:off x="6235476" y="1425732"/>
            <a:ext cx="184343" cy="184343"/>
          </a:xfrm>
          <a:prstGeom prst="rect">
            <a:avLst/>
          </a:prstGeom>
          <a:noFill/>
          <a:ln>
            <a:noFill/>
          </a:ln>
        </p:spPr>
      </p:pic>
      <p:sp>
        <p:nvSpPr>
          <p:cNvPr id="1341" name="Google Shape;1341;p52"/>
          <p:cNvSpPr txBox="1"/>
          <p:nvPr/>
        </p:nvSpPr>
        <p:spPr>
          <a:xfrm>
            <a:off x="6583679" y="1353312"/>
            <a:ext cx="4663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Trade-offs</a:t>
            </a:r>
            <a:endParaRPr/>
          </a:p>
        </p:txBody>
      </p:sp>
      <p:sp>
        <p:nvSpPr>
          <p:cNvPr id="1342" name="Google Shape;1342;p52"/>
          <p:cNvSpPr/>
          <p:nvPr/>
        </p:nvSpPr>
        <p:spPr>
          <a:xfrm>
            <a:off x="457200" y="361188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3" name="Google Shape;1343;p52"/>
          <p:cNvSpPr/>
          <p:nvPr/>
        </p:nvSpPr>
        <p:spPr>
          <a:xfrm>
            <a:off x="585216" y="3730752"/>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44" name="Google Shape;1344;p52"/>
          <p:cNvPicPr preferRelativeResize="0"/>
          <p:nvPr/>
        </p:nvPicPr>
        <p:blipFill rotWithShape="1">
          <a:blip r:embed="rId5">
            <a:alphaModFix/>
          </a:blip>
          <a:srcRect b="0" l="0" r="0" t="0"/>
          <a:stretch/>
        </p:blipFill>
        <p:spPr>
          <a:xfrm>
            <a:off x="657636" y="3803172"/>
            <a:ext cx="184343" cy="184343"/>
          </a:xfrm>
          <a:prstGeom prst="rect">
            <a:avLst/>
          </a:prstGeom>
          <a:noFill/>
          <a:ln>
            <a:noFill/>
          </a:ln>
        </p:spPr>
      </p:pic>
      <p:sp>
        <p:nvSpPr>
          <p:cNvPr id="1345" name="Google Shape;1345;p52"/>
          <p:cNvSpPr txBox="1"/>
          <p:nvPr/>
        </p:nvSpPr>
        <p:spPr>
          <a:xfrm>
            <a:off x="1005840" y="3730752"/>
            <a:ext cx="4663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Risks and mitigations</a:t>
            </a:r>
            <a:endParaRPr/>
          </a:p>
        </p:txBody>
      </p:sp>
      <p:sp>
        <p:nvSpPr>
          <p:cNvPr id="1346" name="Google Shape;1346;p52"/>
          <p:cNvSpPr/>
          <p:nvPr/>
        </p:nvSpPr>
        <p:spPr>
          <a:xfrm>
            <a:off x="6035040" y="361188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7" name="Google Shape;1347;p52"/>
          <p:cNvSpPr/>
          <p:nvPr/>
        </p:nvSpPr>
        <p:spPr>
          <a:xfrm>
            <a:off x="6163055" y="3730752"/>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48" name="Google Shape;1348;p52"/>
          <p:cNvPicPr preferRelativeResize="0"/>
          <p:nvPr/>
        </p:nvPicPr>
        <p:blipFill rotWithShape="1">
          <a:blip r:embed="rId6">
            <a:alphaModFix/>
          </a:blip>
          <a:srcRect b="0" l="0" r="0" t="0"/>
          <a:stretch/>
        </p:blipFill>
        <p:spPr>
          <a:xfrm>
            <a:off x="6235476" y="3803172"/>
            <a:ext cx="184343" cy="184343"/>
          </a:xfrm>
          <a:prstGeom prst="rect">
            <a:avLst/>
          </a:prstGeom>
          <a:noFill/>
          <a:ln>
            <a:noFill/>
          </a:ln>
        </p:spPr>
      </p:pic>
      <p:sp>
        <p:nvSpPr>
          <p:cNvPr id="1349" name="Google Shape;1349;p52"/>
          <p:cNvSpPr txBox="1"/>
          <p:nvPr/>
        </p:nvSpPr>
        <p:spPr>
          <a:xfrm>
            <a:off x="6583679" y="3730752"/>
            <a:ext cx="4663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Open questions for Qcells</a:t>
            </a:r>
            <a:endParaRPr/>
          </a:p>
        </p:txBody>
      </p:sp>
      <p:sp>
        <p:nvSpPr>
          <p:cNvPr id="1350" name="Google Shape;1350;p52"/>
          <p:cNvSpPr txBox="1"/>
          <p:nvPr/>
        </p:nvSpPr>
        <p:spPr>
          <a:xfrm>
            <a:off x="603504" y="1837944"/>
            <a:ext cx="510235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Scheduling stays in the HQ system</a:t>
            </a:r>
            <a:endParaRPr/>
          </a:p>
        </p:txBody>
      </p:sp>
      <p:sp>
        <p:nvSpPr>
          <p:cNvPr id="1351" name="Google Shape;1351;p52"/>
          <p:cNvSpPr txBox="1"/>
          <p:nvPr/>
        </p:nvSpPr>
        <p:spPr>
          <a:xfrm>
            <a:off x="603504" y="2075688"/>
            <a:ext cx="5102352"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The app only consumes the work list. Smaller scope and simpler offline handling; on-site schedule changes need a server re-sync.</a:t>
            </a:r>
            <a:endParaRPr/>
          </a:p>
        </p:txBody>
      </p:sp>
      <p:sp>
        <p:nvSpPr>
          <p:cNvPr id="1352" name="Google Shape;1352;p52"/>
          <p:cNvSpPr txBox="1"/>
          <p:nvPr/>
        </p:nvSpPr>
        <p:spPr>
          <a:xfrm>
            <a:off x="603504" y="2532888"/>
            <a:ext cx="20116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One primary key</a:t>
            </a:r>
            <a:endParaRPr/>
          </a:p>
        </p:txBody>
      </p:sp>
      <p:sp>
        <p:nvSpPr>
          <p:cNvPr id="1353" name="Google Shape;1353;p52"/>
          <p:cNvSpPr/>
          <p:nvPr/>
        </p:nvSpPr>
        <p:spPr>
          <a:xfrm>
            <a:off x="603504" y="2990088"/>
            <a:ext cx="589248" cy="237744"/>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NMI No</a:t>
            </a:r>
            <a:endParaRPr/>
          </a:p>
        </p:txBody>
      </p:sp>
      <p:cxnSp>
        <p:nvCxnSpPr>
          <p:cNvPr id="1354" name="Google Shape;1354;p52"/>
          <p:cNvCxnSpPr/>
          <p:nvPr/>
        </p:nvCxnSpPr>
        <p:spPr>
          <a:xfrm>
            <a:off x="1220184" y="3108960"/>
            <a:ext cx="310896" cy="0"/>
          </a:xfrm>
          <a:prstGeom prst="straightConnector1">
            <a:avLst/>
          </a:prstGeom>
          <a:noFill/>
          <a:ln cap="flat" cmpd="sng" w="12700">
            <a:solidFill>
              <a:srgbClr val="0B2F5B"/>
            </a:solidFill>
            <a:prstDash val="solid"/>
            <a:round/>
            <a:headEnd len="med" w="med" type="triangle"/>
            <a:tailEnd len="med" w="med" type="triangle"/>
          </a:ln>
        </p:spPr>
      </p:cxnSp>
      <p:sp>
        <p:nvSpPr>
          <p:cNvPr id="1355" name="Google Shape;1355;p52"/>
          <p:cNvSpPr txBox="1"/>
          <p:nvPr/>
        </p:nvSpPr>
        <p:spPr>
          <a:xfrm>
            <a:off x="1174464" y="2834640"/>
            <a:ext cx="402336"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1 : 1</a:t>
            </a:r>
            <a:endParaRPr/>
          </a:p>
        </p:txBody>
      </p:sp>
      <p:sp>
        <p:nvSpPr>
          <p:cNvPr id="1356" name="Google Shape;1356;p52"/>
          <p:cNvSpPr/>
          <p:nvPr/>
        </p:nvSpPr>
        <p:spPr>
          <a:xfrm>
            <a:off x="1558512" y="2990088"/>
            <a:ext cx="432883" cy="237744"/>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Site</a:t>
            </a:r>
            <a:endParaRPr/>
          </a:p>
        </p:txBody>
      </p:sp>
      <p:cxnSp>
        <p:nvCxnSpPr>
          <p:cNvPr id="1357" name="Google Shape;1357;p52"/>
          <p:cNvCxnSpPr/>
          <p:nvPr/>
        </p:nvCxnSpPr>
        <p:spPr>
          <a:xfrm>
            <a:off x="2018827" y="3108960"/>
            <a:ext cx="310896" cy="0"/>
          </a:xfrm>
          <a:prstGeom prst="straightConnector1">
            <a:avLst/>
          </a:prstGeom>
          <a:noFill/>
          <a:ln cap="flat" cmpd="sng" w="12700">
            <a:solidFill>
              <a:srgbClr val="0B2F5B"/>
            </a:solidFill>
            <a:prstDash val="solid"/>
            <a:round/>
            <a:headEnd len="med" w="med" type="triangle"/>
            <a:tailEnd len="med" w="med" type="triangle"/>
          </a:ln>
        </p:spPr>
      </p:cxnSp>
      <p:sp>
        <p:nvSpPr>
          <p:cNvPr id="1358" name="Google Shape;1358;p52"/>
          <p:cNvSpPr txBox="1"/>
          <p:nvPr/>
        </p:nvSpPr>
        <p:spPr>
          <a:xfrm>
            <a:off x="1973107" y="2834640"/>
            <a:ext cx="402336"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1 : 1</a:t>
            </a:r>
            <a:endParaRPr/>
          </a:p>
        </p:txBody>
      </p:sp>
      <p:sp>
        <p:nvSpPr>
          <p:cNvPr id="1359" name="Google Shape;1359;p52"/>
          <p:cNvSpPr/>
          <p:nvPr/>
        </p:nvSpPr>
        <p:spPr>
          <a:xfrm>
            <a:off x="2357155" y="2990088"/>
            <a:ext cx="433487" cy="237744"/>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ESS</a:t>
            </a:r>
            <a:endParaRPr/>
          </a:p>
        </p:txBody>
      </p:sp>
      <p:sp>
        <p:nvSpPr>
          <p:cNvPr id="1360" name="Google Shape;1360;p52"/>
          <p:cNvSpPr txBox="1"/>
          <p:nvPr/>
        </p:nvSpPr>
        <p:spPr>
          <a:xfrm>
            <a:off x="3154680" y="2587752"/>
            <a:ext cx="256032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To verify: several ESS under one NMI? Then switch to a composite key, NMI No + Serial No.</a:t>
            </a:r>
            <a:endParaRPr/>
          </a:p>
        </p:txBody>
      </p:sp>
      <p:sp>
        <p:nvSpPr>
          <p:cNvPr id="1361" name="Google Shape;1361;p52"/>
          <p:cNvSpPr txBox="1"/>
          <p:nvPr/>
        </p:nvSpPr>
        <p:spPr>
          <a:xfrm>
            <a:off x="6181344" y="1837944"/>
            <a:ext cx="24688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Live metering polling</a:t>
            </a:r>
            <a:endParaRPr/>
          </a:p>
        </p:txBody>
      </p:sp>
      <p:cxnSp>
        <p:nvCxnSpPr>
          <p:cNvPr id="1362" name="Google Shape;1362;p52"/>
          <p:cNvCxnSpPr/>
          <p:nvPr/>
        </p:nvCxnSpPr>
        <p:spPr>
          <a:xfrm>
            <a:off x="6217920" y="2423160"/>
            <a:ext cx="2331720" cy="0"/>
          </a:xfrm>
          <a:prstGeom prst="straightConnector1">
            <a:avLst/>
          </a:prstGeom>
          <a:noFill/>
          <a:ln cap="flat" cmpd="sng" w="38100">
            <a:solidFill>
              <a:srgbClr val="C7D7EA"/>
            </a:solidFill>
            <a:prstDash val="solid"/>
            <a:round/>
            <a:headEnd len="sm" w="sm" type="none"/>
            <a:tailEnd len="sm" w="sm" type="none"/>
          </a:ln>
        </p:spPr>
      </p:cxnSp>
      <p:sp>
        <p:nvSpPr>
          <p:cNvPr id="1363" name="Google Shape;1363;p52"/>
          <p:cNvSpPr/>
          <p:nvPr/>
        </p:nvSpPr>
        <p:spPr>
          <a:xfrm>
            <a:off x="6153912" y="2359152"/>
            <a:ext cx="128016" cy="128016"/>
          </a:xfrm>
          <a:prstGeom prst="ellipse">
            <a:avLst/>
          </a:prstGeom>
          <a:solidFill>
            <a:srgbClr val="0B2F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4" name="Google Shape;1364;p52"/>
          <p:cNvSpPr/>
          <p:nvPr/>
        </p:nvSpPr>
        <p:spPr>
          <a:xfrm>
            <a:off x="8485632" y="2359152"/>
            <a:ext cx="128016" cy="128016"/>
          </a:xfrm>
          <a:prstGeom prst="ellipse">
            <a:avLst/>
          </a:prstGeom>
          <a:solidFill>
            <a:srgbClr val="0B2F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5" name="Google Shape;1365;p52"/>
          <p:cNvSpPr txBox="1"/>
          <p:nvPr/>
        </p:nvSpPr>
        <p:spPr>
          <a:xfrm>
            <a:off x="6181344" y="2112264"/>
            <a:ext cx="1188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1 s</a:t>
            </a:r>
            <a:endParaRPr/>
          </a:p>
        </p:txBody>
      </p:sp>
      <p:sp>
        <p:nvSpPr>
          <p:cNvPr id="1366" name="Google Shape;1366;p52"/>
          <p:cNvSpPr txBox="1"/>
          <p:nvPr/>
        </p:nvSpPr>
        <p:spPr>
          <a:xfrm>
            <a:off x="7397496" y="2112264"/>
            <a:ext cx="118872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lang="en-US" sz="950">
                <a:solidFill>
                  <a:srgbClr val="9A5B00"/>
                </a:solidFill>
                <a:latin typeface="Barlow"/>
                <a:ea typeface="Barlow"/>
                <a:cs typeface="Barlow"/>
                <a:sym typeface="Barlow"/>
              </a:rPr>
              <a:t>TBD</a:t>
            </a:r>
            <a:r>
              <a:rPr b="1" lang="en-US" sz="950">
                <a:solidFill>
                  <a:srgbClr val="0B2F5B"/>
                </a:solidFill>
                <a:latin typeface="Barlow"/>
                <a:ea typeface="Barlow"/>
                <a:cs typeface="Barlow"/>
                <a:sym typeface="Barlow"/>
              </a:rPr>
              <a:t> s</a:t>
            </a:r>
            <a:endParaRPr/>
          </a:p>
        </p:txBody>
      </p:sp>
      <p:sp>
        <p:nvSpPr>
          <p:cNvPr id="1367" name="Google Shape;1367;p52"/>
          <p:cNvSpPr txBox="1"/>
          <p:nvPr/>
        </p:nvSpPr>
        <p:spPr>
          <a:xfrm>
            <a:off x="6181344" y="2514600"/>
            <a:ext cx="1188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75">
                <a:solidFill>
                  <a:srgbClr val="5F6B7A"/>
                </a:solidFill>
                <a:latin typeface="Barlow"/>
                <a:ea typeface="Barlow"/>
                <a:cs typeface="Barlow"/>
                <a:sym typeface="Barlow"/>
              </a:rPr>
              <a:t>Live, loads the MCU</a:t>
            </a:r>
            <a:endParaRPr/>
          </a:p>
        </p:txBody>
      </p:sp>
      <p:sp>
        <p:nvSpPr>
          <p:cNvPr id="1368" name="Google Shape;1368;p52"/>
          <p:cNvSpPr txBox="1"/>
          <p:nvPr/>
        </p:nvSpPr>
        <p:spPr>
          <a:xfrm>
            <a:off x="7397496" y="2514600"/>
            <a:ext cx="118872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en-US" sz="875">
                <a:solidFill>
                  <a:srgbClr val="5F6B7A"/>
                </a:solidFill>
                <a:latin typeface="Barlow"/>
                <a:ea typeface="Barlow"/>
                <a:cs typeface="Barlow"/>
                <a:sym typeface="Barlow"/>
              </a:rPr>
              <a:t>Lighter, less live</a:t>
            </a:r>
            <a:endParaRPr/>
          </a:p>
        </p:txBody>
      </p:sp>
      <p:sp>
        <p:nvSpPr>
          <p:cNvPr id="1369" name="Google Shape;1369;p52"/>
          <p:cNvSpPr txBox="1"/>
          <p:nvPr/>
        </p:nvSpPr>
        <p:spPr>
          <a:xfrm>
            <a:off x="6181344" y="2788920"/>
            <a:ext cx="246888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950">
                <a:solidFill>
                  <a:srgbClr val="1E7B4F"/>
                </a:solidFill>
                <a:latin typeface="Barlow"/>
                <a:ea typeface="Barlow"/>
                <a:cs typeface="Barlow"/>
                <a:sym typeface="Barlow"/>
              </a:rPr>
              <a:t>Adopted  </a:t>
            </a:r>
            <a:r>
              <a:rPr b="0" lang="en-US" sz="950">
                <a:solidFill>
                  <a:srgbClr val="1F2A37"/>
                </a:solidFill>
                <a:latin typeface="Barlow"/>
                <a:ea typeface="Barlow"/>
                <a:cs typeface="Barlow"/>
                <a:sym typeface="Barlow"/>
              </a:rPr>
              <a:t>poll in foreground only, pause while commands are pending, stop in background.</a:t>
            </a:r>
            <a:endParaRPr/>
          </a:p>
        </p:txBody>
      </p:sp>
      <p:sp>
        <p:nvSpPr>
          <p:cNvPr id="1370" name="Google Shape;1370;p52"/>
          <p:cNvSpPr txBox="1"/>
          <p:nvPr/>
        </p:nvSpPr>
        <p:spPr>
          <a:xfrm>
            <a:off x="8869680" y="1837944"/>
            <a:ext cx="24688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RSSI guard vs identity proof</a:t>
            </a:r>
            <a:endParaRPr/>
          </a:p>
        </p:txBody>
      </p:sp>
      <p:sp>
        <p:nvSpPr>
          <p:cNvPr id="1371" name="Google Shape;1371;p52"/>
          <p:cNvSpPr/>
          <p:nvPr/>
        </p:nvSpPr>
        <p:spPr>
          <a:xfrm>
            <a:off x="8869680" y="2935224"/>
            <a:ext cx="786384" cy="365760"/>
          </a:xfrm>
          <a:prstGeom prst="rect">
            <a:avLst/>
          </a:prstGeom>
          <a:solidFill>
            <a:srgbClr val="5DA9E9"/>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L1</a:t>
            </a:r>
            <a:endParaRPr/>
          </a:p>
        </p:txBody>
      </p:sp>
      <p:sp>
        <p:nvSpPr>
          <p:cNvPr id="1372" name="Google Shape;1372;p52"/>
          <p:cNvSpPr txBox="1"/>
          <p:nvPr/>
        </p:nvSpPr>
        <p:spPr>
          <a:xfrm>
            <a:off x="9747503" y="2935224"/>
            <a:ext cx="159105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Local Name match</a:t>
            </a:r>
            <a:endParaRPr/>
          </a:p>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Default </a:t>
            </a:r>
            <a:r>
              <a:rPr b="1" lang="en-US" sz="900">
                <a:solidFill>
                  <a:srgbClr val="9A5B00"/>
                </a:solidFill>
                <a:latin typeface="Barlow"/>
                <a:ea typeface="Barlow"/>
                <a:cs typeface="Barlow"/>
                <a:sym typeface="Barlow"/>
              </a:rPr>
              <a:t>TBD</a:t>
            </a:r>
            <a:r>
              <a:rPr b="0" lang="en-US" sz="900">
                <a:solidFill>
                  <a:srgbClr val="1F2A37"/>
                </a:solidFill>
                <a:latin typeface="Barlow"/>
                <a:ea typeface="Barlow"/>
                <a:cs typeface="Barlow"/>
                <a:sym typeface="Barlow"/>
              </a:rPr>
              <a:t> dBm</a:t>
            </a:r>
            <a:endParaRPr/>
          </a:p>
        </p:txBody>
      </p:sp>
      <p:sp>
        <p:nvSpPr>
          <p:cNvPr id="1373" name="Google Shape;1373;p52"/>
          <p:cNvSpPr/>
          <p:nvPr/>
        </p:nvSpPr>
        <p:spPr>
          <a:xfrm>
            <a:off x="9144000" y="2532888"/>
            <a:ext cx="786384" cy="365760"/>
          </a:xfrm>
          <a:prstGeom prst="rect">
            <a:avLst/>
          </a:prstGeom>
          <a:solidFill>
            <a:srgbClr val="1565C0"/>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L2</a:t>
            </a:r>
            <a:endParaRPr/>
          </a:p>
        </p:txBody>
      </p:sp>
      <p:sp>
        <p:nvSpPr>
          <p:cNvPr id="1374" name="Google Shape;1374;p52"/>
          <p:cNvSpPr txBox="1"/>
          <p:nvPr/>
        </p:nvSpPr>
        <p:spPr>
          <a:xfrm>
            <a:off x="10021824" y="2532888"/>
            <a:ext cx="131673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 barcode / QR scan</a:t>
            </a:r>
            <a:endParaRPr/>
          </a:p>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Relaxed </a:t>
            </a:r>
            <a:r>
              <a:rPr b="1" lang="en-US" sz="900">
                <a:solidFill>
                  <a:srgbClr val="9A5B00"/>
                </a:solidFill>
                <a:latin typeface="Barlow"/>
                <a:ea typeface="Barlow"/>
                <a:cs typeface="Barlow"/>
                <a:sym typeface="Barlow"/>
              </a:rPr>
              <a:t>TBD</a:t>
            </a:r>
            <a:r>
              <a:rPr b="0" lang="en-US" sz="900">
                <a:solidFill>
                  <a:srgbClr val="1F2A37"/>
                </a:solidFill>
                <a:latin typeface="Barlow"/>
                <a:ea typeface="Barlow"/>
                <a:cs typeface="Barlow"/>
                <a:sym typeface="Barlow"/>
              </a:rPr>
              <a:t> dBm</a:t>
            </a:r>
            <a:endParaRPr/>
          </a:p>
        </p:txBody>
      </p:sp>
      <p:sp>
        <p:nvSpPr>
          <p:cNvPr id="1375" name="Google Shape;1375;p52"/>
          <p:cNvSpPr/>
          <p:nvPr/>
        </p:nvSpPr>
        <p:spPr>
          <a:xfrm>
            <a:off x="9418319" y="2130552"/>
            <a:ext cx="786384" cy="365760"/>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L3</a:t>
            </a:r>
            <a:endParaRPr/>
          </a:p>
        </p:txBody>
      </p:sp>
      <p:sp>
        <p:nvSpPr>
          <p:cNvPr id="1376" name="Google Shape;1376;p52"/>
          <p:cNvSpPr txBox="1"/>
          <p:nvPr/>
        </p:nvSpPr>
        <p:spPr>
          <a:xfrm>
            <a:off x="10296143" y="2130552"/>
            <a:ext cx="10424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 one-shot OTP</a:t>
            </a:r>
            <a:endParaRPr/>
          </a:p>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Write allowed</a:t>
            </a:r>
            <a:endParaRPr/>
          </a:p>
        </p:txBody>
      </p:sp>
      <p:sp>
        <p:nvSpPr>
          <p:cNvPr id="1377" name="Google Shape;1377;p52"/>
          <p:cNvSpPr/>
          <p:nvPr/>
        </p:nvSpPr>
        <p:spPr>
          <a:xfrm>
            <a:off x="603504" y="4215384"/>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ESS built-in Wi-Fi failure</a:t>
            </a:r>
            <a:endParaRPr/>
          </a:p>
        </p:txBody>
      </p:sp>
      <p:cxnSp>
        <p:nvCxnSpPr>
          <p:cNvPr id="1378" name="Google Shape;1378;p52"/>
          <p:cNvCxnSpPr/>
          <p:nvPr/>
        </p:nvCxnSpPr>
        <p:spPr>
          <a:xfrm>
            <a:off x="2651760" y="4443984"/>
            <a:ext cx="237744" cy="0"/>
          </a:xfrm>
          <a:prstGeom prst="straightConnector1">
            <a:avLst/>
          </a:prstGeom>
          <a:noFill/>
          <a:ln cap="flat" cmpd="sng" w="15875">
            <a:solidFill>
              <a:srgbClr val="0B2F5B"/>
            </a:solidFill>
            <a:prstDash val="solid"/>
            <a:round/>
            <a:headEnd len="sm" w="sm" type="none"/>
            <a:tailEnd len="med" w="med" type="triangle"/>
          </a:ln>
        </p:spPr>
      </p:cxnSp>
      <p:sp>
        <p:nvSpPr>
          <p:cNvPr id="1379" name="Google Shape;1379;p52"/>
          <p:cNvSpPr/>
          <p:nvPr/>
        </p:nvSpPr>
        <p:spPr>
          <a:xfrm>
            <a:off x="2926080" y="4215384"/>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The app carries device logs over BLE at each visit; the server opens a revisit order.</a:t>
            </a:r>
            <a:endParaRPr/>
          </a:p>
        </p:txBody>
      </p:sp>
      <p:sp>
        <p:nvSpPr>
          <p:cNvPr id="1380" name="Google Shape;1380;p52"/>
          <p:cNvSpPr/>
          <p:nvPr/>
        </p:nvSpPr>
        <p:spPr>
          <a:xfrm>
            <a:off x="603504" y="4736592"/>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No NMI No for fully off-grid homes</a:t>
            </a:r>
            <a:endParaRPr/>
          </a:p>
        </p:txBody>
      </p:sp>
      <p:cxnSp>
        <p:nvCxnSpPr>
          <p:cNvPr id="1381" name="Google Shape;1381;p52"/>
          <p:cNvCxnSpPr/>
          <p:nvPr/>
        </p:nvCxnSpPr>
        <p:spPr>
          <a:xfrm>
            <a:off x="2651760" y="4965192"/>
            <a:ext cx="237744" cy="0"/>
          </a:xfrm>
          <a:prstGeom prst="straightConnector1">
            <a:avLst/>
          </a:prstGeom>
          <a:noFill/>
          <a:ln cap="flat" cmpd="sng" w="15875">
            <a:solidFill>
              <a:srgbClr val="0B2F5B"/>
            </a:solidFill>
            <a:prstDash val="solid"/>
            <a:round/>
            <a:headEnd len="sm" w="sm" type="none"/>
            <a:tailEnd len="med" w="med" type="triangle"/>
          </a:ln>
        </p:spPr>
      </p:cxnSp>
      <p:sp>
        <p:nvSpPr>
          <p:cNvPr id="1382" name="Google Shape;1382;p52"/>
          <p:cNvSpPr/>
          <p:nvPr/>
        </p:nvSpPr>
        <p:spPr>
          <a:xfrm>
            <a:off x="2926080" y="4736592"/>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Temporary Off-Grid-only ID, kept out of settlement, replaced once an NMI exists.</a:t>
            </a:r>
            <a:endParaRPr/>
          </a:p>
        </p:txBody>
      </p:sp>
      <p:sp>
        <p:nvSpPr>
          <p:cNvPr id="1383" name="Google Shape;1383;p52"/>
          <p:cNvSpPr/>
          <p:nvPr/>
        </p:nvSpPr>
        <p:spPr>
          <a:xfrm>
            <a:off x="603504" y="5257800"/>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Hardware spec not yet defined</a:t>
            </a:r>
            <a:endParaRPr/>
          </a:p>
        </p:txBody>
      </p:sp>
      <p:cxnSp>
        <p:nvCxnSpPr>
          <p:cNvPr id="1384" name="Google Shape;1384;p52"/>
          <p:cNvCxnSpPr/>
          <p:nvPr/>
        </p:nvCxnSpPr>
        <p:spPr>
          <a:xfrm>
            <a:off x="2651760" y="5486400"/>
            <a:ext cx="237744" cy="0"/>
          </a:xfrm>
          <a:prstGeom prst="straightConnector1">
            <a:avLst/>
          </a:prstGeom>
          <a:noFill/>
          <a:ln cap="flat" cmpd="sng" w="15875">
            <a:solidFill>
              <a:srgbClr val="0B2F5B"/>
            </a:solidFill>
            <a:prstDash val="solid"/>
            <a:round/>
            <a:headEnd len="sm" w="sm" type="none"/>
            <a:tailEnd len="med" w="med" type="triangle"/>
          </a:ln>
        </p:spPr>
      </p:cxnSp>
      <p:sp>
        <p:nvSpPr>
          <p:cNvPr id="1385" name="Google Shape;1385;p52"/>
          <p:cNvSpPr/>
          <p:nvPr/>
        </p:nvSpPr>
        <p:spPr>
          <a:xfrm>
            <a:off x="2926080" y="5257800"/>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0" lang="en-US" sz="875">
                <a:solidFill>
                  <a:srgbClr val="1565C0"/>
                </a:solidFill>
                <a:latin typeface="Consolas"/>
                <a:ea typeface="Consolas"/>
                <a:cs typeface="Consolas"/>
                <a:sym typeface="Consolas"/>
              </a:rPr>
              <a:t>BLETransport</a:t>
            </a:r>
            <a:r>
              <a:rPr b="0" lang="en-US" sz="925">
                <a:solidFill>
                  <a:srgbClr val="1F2A37"/>
                </a:solidFill>
                <a:latin typeface="Barlow"/>
                <a:ea typeface="Barlow"/>
                <a:cs typeface="Barlow"/>
                <a:sym typeface="Barlow"/>
              </a:rPr>
              <a:t> hides it: only the Data layer changes.</a:t>
            </a:r>
            <a:endParaRPr/>
          </a:p>
        </p:txBody>
      </p:sp>
      <p:sp>
        <p:nvSpPr>
          <p:cNvPr id="1386" name="Google Shape;1386;p52"/>
          <p:cNvSpPr/>
          <p:nvPr/>
        </p:nvSpPr>
        <p:spPr>
          <a:xfrm>
            <a:off x="6181344" y="4224528"/>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1387" name="Google Shape;1387;p52"/>
          <p:cNvSpPr txBox="1"/>
          <p:nvPr/>
        </p:nvSpPr>
        <p:spPr>
          <a:xfrm>
            <a:off x="6492240" y="4197096"/>
            <a:ext cx="47914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Does the Local Name carry the full Serial No, or a shortened form?</a:t>
            </a:r>
            <a:endParaRPr/>
          </a:p>
        </p:txBody>
      </p:sp>
      <p:sp>
        <p:nvSpPr>
          <p:cNvPr id="1388" name="Google Shape;1388;p52"/>
          <p:cNvSpPr/>
          <p:nvPr/>
        </p:nvSpPr>
        <p:spPr>
          <a:xfrm>
            <a:off x="6181344" y="4539996"/>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1389" name="Google Shape;1389;p52"/>
          <p:cNvSpPr txBox="1"/>
          <p:nvPr/>
        </p:nvSpPr>
        <p:spPr>
          <a:xfrm>
            <a:off x="6492240" y="4512564"/>
            <a:ext cx="47914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Temporary Installer Password: who issues it, how long is it valid, which OTP algorithm?</a:t>
            </a:r>
            <a:endParaRPr/>
          </a:p>
        </p:txBody>
      </p:sp>
      <p:sp>
        <p:nvSpPr>
          <p:cNvPr id="1390" name="Google Shape;1390;p52"/>
          <p:cNvSpPr/>
          <p:nvPr/>
        </p:nvSpPr>
        <p:spPr>
          <a:xfrm>
            <a:off x="6181344" y="4855464"/>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sp>
        <p:nvSpPr>
          <p:cNvPr id="1391" name="Google Shape;1391;p52"/>
          <p:cNvSpPr txBox="1"/>
          <p:nvPr/>
        </p:nvSpPr>
        <p:spPr>
          <a:xfrm>
            <a:off x="6492240" y="4828031"/>
            <a:ext cx="47914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What are the firmware binary size and the built-in Wi-Fi transfer speed baseline?</a:t>
            </a:r>
            <a:endParaRPr/>
          </a:p>
        </p:txBody>
      </p:sp>
      <p:sp>
        <p:nvSpPr>
          <p:cNvPr id="1392" name="Google Shape;1392;p52"/>
          <p:cNvSpPr/>
          <p:nvPr/>
        </p:nvSpPr>
        <p:spPr>
          <a:xfrm>
            <a:off x="6181344" y="5170931"/>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1393" name="Google Shape;1393;p52"/>
          <p:cNvSpPr txBox="1"/>
          <p:nvPr/>
        </p:nvSpPr>
        <p:spPr>
          <a:xfrm>
            <a:off x="6492240" y="5143499"/>
            <a:ext cx="47914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Test Site to commercial operation: does the installer or HQ decide?</a:t>
            </a:r>
            <a:endParaRPr/>
          </a:p>
        </p:txBody>
      </p:sp>
      <p:sp>
        <p:nvSpPr>
          <p:cNvPr id="1394" name="Google Shape;1394;p52"/>
          <p:cNvSpPr/>
          <p:nvPr/>
        </p:nvSpPr>
        <p:spPr>
          <a:xfrm>
            <a:off x="6181344" y="5486399"/>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1395" name="Google Shape;1395;p52"/>
          <p:cNvSpPr txBox="1"/>
          <p:nvPr/>
        </p:nvSpPr>
        <p:spPr>
          <a:xfrm>
            <a:off x="6492240" y="5458967"/>
            <a:ext cx="47914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May the Off-Grid setting be changed in Run state?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53"/>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BACKUP B1 · ASSUMED BACKEND INTERACTION AND VERSION COMPATIBILITY</a:t>
            </a:r>
            <a:endParaRPr/>
          </a:p>
        </p:txBody>
      </p:sp>
      <p:sp>
        <p:nvSpPr>
          <p:cNvPr id="1402" name="Google Shape;1402;p53"/>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Six backend calls, none needed on site, and five version rules</a:t>
            </a:r>
            <a:endParaRPr/>
          </a:p>
        </p:txBody>
      </p:sp>
      <p:sp>
        <p:nvSpPr>
          <p:cNvPr id="1403" name="Google Shape;1403;p53"/>
          <p:cNvSpPr txBox="1"/>
          <p:nvPr/>
        </p:nvSpPr>
        <p:spPr>
          <a:xfrm>
            <a:off x="457200" y="1216152"/>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BACKEND APIS · WHEN CALLED AND HOW ERRORS ARE HANDLED</a:t>
            </a:r>
            <a:endParaRPr/>
          </a:p>
        </p:txBody>
      </p:sp>
      <p:graphicFrame>
        <p:nvGraphicFramePr>
          <p:cNvPr id="1404" name="Google Shape;1404;p53"/>
          <p:cNvGraphicFramePr/>
          <p:nvPr/>
        </p:nvGraphicFramePr>
        <p:xfrm>
          <a:off x="457200" y="1481328"/>
          <a:ext cx="3000000" cy="3000000"/>
        </p:xfrm>
        <a:graphic>
          <a:graphicData uri="http://schemas.openxmlformats.org/drawingml/2006/table">
            <a:tbl>
              <a:tblPr>
                <a:noFill/>
                <a:tableStyleId>{2140B2FF-5A71-40BD-AFFD-90A2E17B1FAF}</a:tableStyleId>
              </a:tblPr>
              <a:tblGrid>
                <a:gridCol w="1965950"/>
                <a:gridCol w="1828800"/>
                <a:gridCol w="2697475"/>
              </a:tblGrid>
              <a:tr h="329175">
                <a:tc>
                  <a:txBody>
                    <a:bodyPr/>
                    <a:lstStyle/>
                    <a:p>
                      <a:pPr indent="0" lvl="0" marL="0" marR="0" rtl="0" algn="l">
                        <a:lnSpc>
                          <a:spcPct val="100000"/>
                        </a:lnSpc>
                        <a:spcBef>
                          <a:spcPts val="0"/>
                        </a:spcBef>
                        <a:spcAft>
                          <a:spcPts val="0"/>
                        </a:spcAft>
                        <a:buNone/>
                      </a:pPr>
                      <a:r>
                        <a:rPr b="1" lang="en-US" sz="850" u="none" cap="none" strike="noStrike">
                          <a:solidFill>
                            <a:srgbClr val="FFFFFF"/>
                          </a:solidFill>
                          <a:latin typeface="Montserrat"/>
                          <a:ea typeface="Montserrat"/>
                          <a:cs typeface="Montserrat"/>
                          <a:sym typeface="Montserrat"/>
                        </a:rPr>
                        <a:t>API</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l">
                        <a:lnSpc>
                          <a:spcPct val="100000"/>
                        </a:lnSpc>
                        <a:spcBef>
                          <a:spcPts val="0"/>
                        </a:spcBef>
                        <a:spcAft>
                          <a:spcPts val="0"/>
                        </a:spcAft>
                        <a:buNone/>
                      </a:pPr>
                      <a:r>
                        <a:rPr b="1" lang="en-US" sz="850" u="none" cap="none" strike="noStrike">
                          <a:solidFill>
                            <a:srgbClr val="FFFFFF"/>
                          </a:solidFill>
                          <a:latin typeface="Montserrat"/>
                          <a:ea typeface="Montserrat"/>
                          <a:cs typeface="Montserrat"/>
                          <a:sym typeface="Montserrat"/>
                        </a:rPr>
                        <a:t>When called</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l">
                        <a:lnSpc>
                          <a:spcPct val="100000"/>
                        </a:lnSpc>
                        <a:spcBef>
                          <a:spcPts val="0"/>
                        </a:spcBef>
                        <a:spcAft>
                          <a:spcPts val="0"/>
                        </a:spcAft>
                        <a:buNone/>
                      </a:pPr>
                      <a:r>
                        <a:rPr b="1" lang="en-US" sz="850" u="none" cap="none" strike="noStrike">
                          <a:solidFill>
                            <a:srgbClr val="FFFFFF"/>
                          </a:solidFill>
                          <a:latin typeface="Montserrat"/>
                          <a:ea typeface="Montserrat"/>
                          <a:cs typeface="Montserrat"/>
                          <a:sym typeface="Montserrat"/>
                        </a:rPr>
                        <a:t>Error handling</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r>
              <a:tr h="420625">
                <a:tc>
                  <a:txBody>
                    <a:bodyPr/>
                    <a:lstStyle/>
                    <a:p>
                      <a:pPr indent="0" lvl="0" marL="0" marR="0" rtl="0" algn="l">
                        <a:lnSpc>
                          <a:spcPct val="100000"/>
                        </a:lnSpc>
                        <a:spcBef>
                          <a:spcPts val="0"/>
                        </a:spcBef>
                        <a:spcAft>
                          <a:spcPts val="0"/>
                        </a:spcAft>
                        <a:buNone/>
                      </a:pPr>
                      <a:r>
                        <a:rPr b="1" lang="en-US" sz="950" u="none" cap="none" strike="noStrike">
                          <a:solidFill>
                            <a:srgbClr val="0B2F5B"/>
                          </a:solidFill>
                          <a:latin typeface="Barlow"/>
                          <a:ea typeface="Barlow"/>
                          <a:cs typeface="Barlow"/>
                          <a:sym typeface="Barlow"/>
                        </a:rPr>
                        <a:t>Work order fetch</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Pre-sync, after login</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Use the last local cache and show the sync time</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None/>
                      </a:pPr>
                      <a:r>
                        <a:rPr b="1" lang="en-US" sz="950" u="none" cap="none" strike="noStrike">
                          <a:solidFill>
                            <a:srgbClr val="0B2F5B"/>
                          </a:solidFill>
                          <a:latin typeface="Barlow"/>
                          <a:ea typeface="Barlow"/>
                          <a:cs typeface="Barlow"/>
                          <a:sym typeface="Barlow"/>
                        </a:rPr>
                        <a:t>NMI lookup</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Pre-sync; re-fetch when online</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Offline allows preloaded values only</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r h="420625">
                <a:tc>
                  <a:txBody>
                    <a:bodyPr/>
                    <a:lstStyle/>
                    <a:p>
                      <a:pPr indent="0" lvl="0" marL="0" marR="0" rtl="0" algn="l">
                        <a:lnSpc>
                          <a:spcPct val="100000"/>
                        </a:lnSpc>
                        <a:spcBef>
                          <a:spcPts val="0"/>
                        </a:spcBef>
                        <a:spcAft>
                          <a:spcPts val="0"/>
                        </a:spcAft>
                        <a:buNone/>
                      </a:pPr>
                      <a:r>
                        <a:rPr b="1" lang="en-US" sz="950" u="none" cap="none" strike="noStrike">
                          <a:solidFill>
                            <a:srgbClr val="0B2F5B"/>
                          </a:solidFill>
                          <a:latin typeface="Barlow"/>
                          <a:ea typeface="Barlow"/>
                          <a:cs typeface="Barlow"/>
                          <a:sym typeface="Barlow"/>
                        </a:rPr>
                        <a:t>Installer password issuance</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Pre-sync, per job</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Prompt an online reissue when expired</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None/>
                      </a:pPr>
                      <a:r>
                        <a:rPr b="1" lang="en-US" sz="950" u="none" cap="none" strike="noStrike">
                          <a:solidFill>
                            <a:srgbClr val="0B2F5B"/>
                          </a:solidFill>
                          <a:latin typeface="Barlow"/>
                          <a:ea typeface="Barlow"/>
                          <a:cs typeface="Barlow"/>
                          <a:sym typeface="Barlow"/>
                        </a:rPr>
                        <a:t>Firmware binary + metadata</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Pre-sync</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Re-download on checksum mismatch</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r h="420625">
                <a:tc>
                  <a:txBody>
                    <a:bodyPr/>
                    <a:lstStyle/>
                    <a:p>
                      <a:pPr indent="0" lvl="0" marL="0" marR="0" rtl="0" algn="l">
                        <a:lnSpc>
                          <a:spcPct val="100000"/>
                        </a:lnSpc>
                        <a:spcBef>
                          <a:spcPts val="0"/>
                        </a:spcBef>
                        <a:spcAft>
                          <a:spcPts val="0"/>
                        </a:spcAft>
                        <a:buNone/>
                      </a:pPr>
                      <a:r>
                        <a:rPr b="1" lang="en-US" sz="950" u="none" cap="none" strike="noStrike">
                          <a:solidFill>
                            <a:srgbClr val="0B2F5B"/>
                          </a:solidFill>
                          <a:latin typeface="Barlow"/>
                          <a:ea typeface="Barlow"/>
                          <a:cs typeface="Barlow"/>
                          <a:sym typeface="Barlow"/>
                        </a:rPr>
                        <a:t>Transaction sync</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When the network returns</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401 refreshes the token, 409 is treated as success, 5xx backs off</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None/>
                      </a:pPr>
                      <a:r>
                        <a:rPr b="1" lang="en-US" sz="950" u="none" cap="none" strike="noStrike">
                          <a:solidFill>
                            <a:srgbClr val="0B2F5B"/>
                          </a:solidFill>
                          <a:latin typeface="Barlow"/>
                          <a:ea typeface="Barlow"/>
                          <a:cs typeface="Barlow"/>
                          <a:sym typeface="Barlow"/>
                        </a:rPr>
                        <a:t>Exception entry log</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After Install Wizard use</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50" u="none" cap="none" strike="noStrike">
                          <a:solidFill>
                            <a:srgbClr val="1F2A37"/>
                          </a:solidFill>
                          <a:latin typeface="Barlow"/>
                          <a:ea typeface="Barlow"/>
                          <a:cs typeface="Barlow"/>
                          <a:sym typeface="Barlow"/>
                        </a:rPr>
                        <a:t>Sent through the outbox, like transactions</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bl>
          </a:graphicData>
        </a:graphic>
      </p:graphicFrame>
      <p:sp>
        <p:nvSpPr>
          <p:cNvPr id="1405" name="Google Shape;1405;p53"/>
          <p:cNvSpPr txBox="1"/>
          <p:nvPr/>
        </p:nvSpPr>
        <p:spPr>
          <a:xfrm>
            <a:off x="457200" y="4526280"/>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THE SAME CALLS, PLACED ON THE WORKFLOW</a:t>
            </a:r>
            <a:endParaRPr/>
          </a:p>
        </p:txBody>
      </p:sp>
      <p:sp>
        <p:nvSpPr>
          <p:cNvPr id="1406" name="Google Shape;1406;p53"/>
          <p:cNvSpPr/>
          <p:nvPr/>
        </p:nvSpPr>
        <p:spPr>
          <a:xfrm>
            <a:off x="457200" y="4800600"/>
            <a:ext cx="2926080" cy="109728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7" name="Google Shape;1407;p53"/>
          <p:cNvSpPr/>
          <p:nvPr/>
        </p:nvSpPr>
        <p:spPr>
          <a:xfrm>
            <a:off x="457200" y="4800600"/>
            <a:ext cx="2926080" cy="274320"/>
          </a:xfrm>
          <a:prstGeom prst="rect">
            <a:avLst/>
          </a:prstGeom>
          <a:solidFill>
            <a:srgbClr val="0B2F5B"/>
          </a:solidFill>
          <a:ln>
            <a:noFill/>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Pre-sync · online</a:t>
            </a:r>
            <a:endParaRPr/>
          </a:p>
        </p:txBody>
      </p:sp>
      <p:sp>
        <p:nvSpPr>
          <p:cNvPr id="1408" name="Google Shape;1408;p53"/>
          <p:cNvSpPr/>
          <p:nvPr/>
        </p:nvSpPr>
        <p:spPr>
          <a:xfrm>
            <a:off x="548640" y="5193792"/>
            <a:ext cx="967895"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75">
                <a:solidFill>
                  <a:srgbClr val="0B2F5B"/>
                </a:solidFill>
                <a:latin typeface="Barlow"/>
                <a:ea typeface="Barlow"/>
                <a:cs typeface="Barlow"/>
                <a:sym typeface="Barlow"/>
              </a:rPr>
              <a:t>Work order fetch</a:t>
            </a:r>
            <a:endParaRPr/>
          </a:p>
        </p:txBody>
      </p:sp>
      <p:sp>
        <p:nvSpPr>
          <p:cNvPr id="1409" name="Google Shape;1409;p53"/>
          <p:cNvSpPr/>
          <p:nvPr/>
        </p:nvSpPr>
        <p:spPr>
          <a:xfrm>
            <a:off x="1571399" y="5193792"/>
            <a:ext cx="693442"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75">
                <a:solidFill>
                  <a:srgbClr val="0B2F5B"/>
                </a:solidFill>
                <a:latin typeface="Barlow"/>
                <a:ea typeface="Barlow"/>
                <a:cs typeface="Barlow"/>
                <a:sym typeface="Barlow"/>
              </a:rPr>
              <a:t>NMI lookup</a:t>
            </a:r>
            <a:endParaRPr/>
          </a:p>
        </p:txBody>
      </p:sp>
      <p:sp>
        <p:nvSpPr>
          <p:cNvPr id="1410" name="Google Shape;1410;p53"/>
          <p:cNvSpPr/>
          <p:nvPr/>
        </p:nvSpPr>
        <p:spPr>
          <a:xfrm>
            <a:off x="548640" y="5468112"/>
            <a:ext cx="1036141"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75">
                <a:solidFill>
                  <a:srgbClr val="0B2F5B"/>
                </a:solidFill>
                <a:latin typeface="Barlow"/>
                <a:ea typeface="Barlow"/>
                <a:cs typeface="Barlow"/>
                <a:sym typeface="Barlow"/>
              </a:rPr>
              <a:t>Installer password</a:t>
            </a:r>
            <a:endParaRPr/>
          </a:p>
        </p:txBody>
      </p:sp>
      <p:sp>
        <p:nvSpPr>
          <p:cNvPr id="1411" name="Google Shape;1411;p53"/>
          <p:cNvSpPr/>
          <p:nvPr/>
        </p:nvSpPr>
        <p:spPr>
          <a:xfrm>
            <a:off x="1639645" y="5468112"/>
            <a:ext cx="944906"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75">
                <a:solidFill>
                  <a:srgbClr val="0B2F5B"/>
                </a:solidFill>
                <a:latin typeface="Barlow"/>
                <a:ea typeface="Barlow"/>
                <a:cs typeface="Barlow"/>
                <a:sym typeface="Barlow"/>
              </a:rPr>
              <a:t>Firmware binary</a:t>
            </a:r>
            <a:endParaRPr/>
          </a:p>
        </p:txBody>
      </p:sp>
      <p:sp>
        <p:nvSpPr>
          <p:cNvPr id="1412" name="Google Shape;1412;p53"/>
          <p:cNvSpPr/>
          <p:nvPr/>
        </p:nvSpPr>
        <p:spPr>
          <a:xfrm>
            <a:off x="3657600" y="4800600"/>
            <a:ext cx="1325880" cy="109728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3" name="Google Shape;1413;p53"/>
          <p:cNvSpPr/>
          <p:nvPr/>
        </p:nvSpPr>
        <p:spPr>
          <a:xfrm>
            <a:off x="3657600" y="4800600"/>
            <a:ext cx="1325880" cy="274320"/>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Montserrat"/>
                <a:ea typeface="Montserrat"/>
                <a:cs typeface="Montserrat"/>
                <a:sym typeface="Montserrat"/>
              </a:rPr>
              <a:t>On site · offline</a:t>
            </a:r>
            <a:endParaRPr/>
          </a:p>
        </p:txBody>
      </p:sp>
      <p:sp>
        <p:nvSpPr>
          <p:cNvPr id="1414" name="Google Shape;1414;p53"/>
          <p:cNvSpPr/>
          <p:nvPr/>
        </p:nvSpPr>
        <p:spPr>
          <a:xfrm>
            <a:off x="3749039" y="5193792"/>
            <a:ext cx="918245"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75">
                <a:solidFill>
                  <a:srgbClr val="0B2F5B"/>
                </a:solidFill>
                <a:latin typeface="Barlow"/>
                <a:ea typeface="Barlow"/>
                <a:cs typeface="Barlow"/>
                <a:sym typeface="Barlow"/>
              </a:rPr>
              <a:t>No backend call</a:t>
            </a:r>
            <a:endParaRPr/>
          </a:p>
        </p:txBody>
      </p:sp>
      <p:cxnSp>
        <p:nvCxnSpPr>
          <p:cNvPr id="1415" name="Google Shape;1415;p53"/>
          <p:cNvCxnSpPr>
            <a:stCxn id="1406" idx="3"/>
            <a:endCxn id="1412" idx="1"/>
          </p:cNvCxnSpPr>
          <p:nvPr/>
        </p:nvCxnSpPr>
        <p:spPr>
          <a:xfrm>
            <a:off x="3383280" y="5349240"/>
            <a:ext cx="274200" cy="0"/>
          </a:xfrm>
          <a:prstGeom prst="straightConnector1">
            <a:avLst/>
          </a:prstGeom>
          <a:noFill/>
          <a:ln cap="flat" cmpd="sng" w="15875">
            <a:solidFill>
              <a:srgbClr val="0B2F5B"/>
            </a:solidFill>
            <a:prstDash val="solid"/>
            <a:round/>
            <a:headEnd len="sm" w="sm" type="none"/>
            <a:tailEnd len="med" w="med" type="triangle"/>
          </a:ln>
        </p:spPr>
      </p:cxnSp>
      <p:sp>
        <p:nvSpPr>
          <p:cNvPr id="1416" name="Google Shape;1416;p53"/>
          <p:cNvSpPr/>
          <p:nvPr/>
        </p:nvSpPr>
        <p:spPr>
          <a:xfrm>
            <a:off x="5257800" y="4800600"/>
            <a:ext cx="1691640" cy="109728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7" name="Google Shape;1417;p53"/>
          <p:cNvSpPr/>
          <p:nvPr/>
        </p:nvSpPr>
        <p:spPr>
          <a:xfrm>
            <a:off x="5257800" y="4800600"/>
            <a:ext cx="1691640" cy="274320"/>
          </a:xfrm>
          <a:prstGeom prst="rect">
            <a:avLst/>
          </a:prstGeom>
          <a:solidFill>
            <a:srgbClr val="1565C0"/>
          </a:solidFill>
          <a:ln>
            <a:noFill/>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Network returns</a:t>
            </a:r>
            <a:endParaRPr/>
          </a:p>
        </p:txBody>
      </p:sp>
      <p:sp>
        <p:nvSpPr>
          <p:cNvPr id="1418" name="Google Shape;1418;p53"/>
          <p:cNvSpPr/>
          <p:nvPr/>
        </p:nvSpPr>
        <p:spPr>
          <a:xfrm>
            <a:off x="5349240" y="5193792"/>
            <a:ext cx="976464"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75">
                <a:solidFill>
                  <a:srgbClr val="0B2F5B"/>
                </a:solidFill>
                <a:latin typeface="Barlow"/>
                <a:ea typeface="Barlow"/>
                <a:cs typeface="Barlow"/>
                <a:sym typeface="Barlow"/>
              </a:rPr>
              <a:t>Transaction sync</a:t>
            </a:r>
            <a:endParaRPr/>
          </a:p>
        </p:txBody>
      </p:sp>
      <p:sp>
        <p:nvSpPr>
          <p:cNvPr id="1419" name="Google Shape;1419;p53"/>
          <p:cNvSpPr/>
          <p:nvPr/>
        </p:nvSpPr>
        <p:spPr>
          <a:xfrm>
            <a:off x="5349240" y="5468112"/>
            <a:ext cx="1094143"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75">
                <a:solidFill>
                  <a:srgbClr val="0B2F5B"/>
                </a:solidFill>
                <a:latin typeface="Barlow"/>
                <a:ea typeface="Barlow"/>
                <a:cs typeface="Barlow"/>
                <a:sym typeface="Barlow"/>
              </a:rPr>
              <a:t>Exception entry log</a:t>
            </a:r>
            <a:endParaRPr/>
          </a:p>
        </p:txBody>
      </p:sp>
      <p:cxnSp>
        <p:nvCxnSpPr>
          <p:cNvPr id="1420" name="Google Shape;1420;p53"/>
          <p:cNvCxnSpPr>
            <a:stCxn id="1412" idx="3"/>
            <a:endCxn id="1416" idx="1"/>
          </p:cNvCxnSpPr>
          <p:nvPr/>
        </p:nvCxnSpPr>
        <p:spPr>
          <a:xfrm>
            <a:off x="4983480" y="5349240"/>
            <a:ext cx="274200" cy="0"/>
          </a:xfrm>
          <a:prstGeom prst="straightConnector1">
            <a:avLst/>
          </a:prstGeom>
          <a:noFill/>
          <a:ln cap="flat" cmpd="sng" w="15875">
            <a:solidFill>
              <a:srgbClr val="0B2F5B"/>
            </a:solidFill>
            <a:prstDash val="solid"/>
            <a:round/>
            <a:headEnd len="sm" w="sm" type="none"/>
            <a:tailEnd len="med" w="med" type="triangle"/>
          </a:ln>
        </p:spPr>
      </p:cxnSp>
      <p:sp>
        <p:nvSpPr>
          <p:cNvPr id="1421" name="Google Shape;1421;p53"/>
          <p:cNvSpPr txBox="1"/>
          <p:nvPr/>
        </p:nvSpPr>
        <p:spPr>
          <a:xfrm>
            <a:off x="7269480" y="1216152"/>
            <a:ext cx="41605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VERSION COMPATIBILITY</a:t>
            </a:r>
            <a:endParaRPr/>
          </a:p>
        </p:txBody>
      </p:sp>
      <p:sp>
        <p:nvSpPr>
          <p:cNvPr id="1422" name="Google Shape;1422;p53"/>
          <p:cNvSpPr/>
          <p:nvPr/>
        </p:nvSpPr>
        <p:spPr>
          <a:xfrm>
            <a:off x="7269480" y="1481328"/>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3" name="Google Shape;1423;p53"/>
          <p:cNvSpPr/>
          <p:nvPr/>
        </p:nvSpPr>
        <p:spPr>
          <a:xfrm>
            <a:off x="7379208" y="1591056"/>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1</a:t>
            </a:r>
            <a:endParaRPr/>
          </a:p>
        </p:txBody>
      </p:sp>
      <p:sp>
        <p:nvSpPr>
          <p:cNvPr id="1424" name="Google Shape;1424;p53"/>
          <p:cNvSpPr txBox="1"/>
          <p:nvPr/>
        </p:nvSpPr>
        <p:spPr>
          <a:xfrm>
            <a:off x="7744968" y="1554480"/>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Handshake</a:t>
            </a:r>
            <a:endParaRPr/>
          </a:p>
        </p:txBody>
      </p:sp>
      <p:sp>
        <p:nvSpPr>
          <p:cNvPr id="1425" name="Google Shape;1425;p53"/>
          <p:cNvSpPr txBox="1"/>
          <p:nvPr/>
        </p:nvSpPr>
        <p:spPr>
          <a:xfrm>
            <a:off x="7744968" y="1792224"/>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Read the device protocol version right after connecting. Compare it with the app's supported range (Min ~ Max).</a:t>
            </a:r>
            <a:endParaRPr/>
          </a:p>
        </p:txBody>
      </p:sp>
      <p:sp>
        <p:nvSpPr>
          <p:cNvPr id="1426" name="Google Shape;1426;p53"/>
          <p:cNvSpPr/>
          <p:nvPr/>
        </p:nvSpPr>
        <p:spPr>
          <a:xfrm>
            <a:off x="7269480" y="2382012"/>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7" name="Google Shape;1427;p53"/>
          <p:cNvSpPr/>
          <p:nvPr/>
        </p:nvSpPr>
        <p:spPr>
          <a:xfrm>
            <a:off x="7379208" y="249174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2</a:t>
            </a:r>
            <a:endParaRPr/>
          </a:p>
        </p:txBody>
      </p:sp>
      <p:sp>
        <p:nvSpPr>
          <p:cNvPr id="1428" name="Google Shape;1428;p53"/>
          <p:cNvSpPr txBox="1"/>
          <p:nvPr/>
        </p:nvSpPr>
        <p:spPr>
          <a:xfrm>
            <a:off x="7744968" y="2455164"/>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Out of range</a:t>
            </a:r>
            <a:endParaRPr/>
          </a:p>
        </p:txBody>
      </p:sp>
      <p:sp>
        <p:nvSpPr>
          <p:cNvPr id="1429" name="Google Shape;1429;p53"/>
          <p:cNvSpPr txBox="1"/>
          <p:nvPr/>
        </p:nvSpPr>
        <p:spPr>
          <a:xfrm>
            <a:off x="7744968" y="2692908"/>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Device too old: block configuration writes, prompt a firmware update. Device too new: require an app update.</a:t>
            </a:r>
            <a:endParaRPr/>
          </a:p>
        </p:txBody>
      </p:sp>
      <p:sp>
        <p:nvSpPr>
          <p:cNvPr id="1430" name="Google Shape;1430;p53"/>
          <p:cNvSpPr/>
          <p:nvPr/>
        </p:nvSpPr>
        <p:spPr>
          <a:xfrm>
            <a:off x="7269480" y="3282696"/>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1" name="Google Shape;1431;p53"/>
          <p:cNvSpPr/>
          <p:nvPr/>
        </p:nvSpPr>
        <p:spPr>
          <a:xfrm>
            <a:off x="7379208" y="3392424"/>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3</a:t>
            </a:r>
            <a:endParaRPr/>
          </a:p>
        </p:txBody>
      </p:sp>
      <p:sp>
        <p:nvSpPr>
          <p:cNvPr id="1432" name="Google Shape;1432;p53"/>
          <p:cNvSpPr txBox="1"/>
          <p:nvPr/>
        </p:nvSpPr>
        <p:spPr>
          <a:xfrm>
            <a:off x="7744968" y="3355848"/>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Register map</a:t>
            </a:r>
            <a:endParaRPr/>
          </a:p>
        </p:txBody>
      </p:sp>
      <p:sp>
        <p:nvSpPr>
          <p:cNvPr id="1433" name="Google Shape;1433;p53"/>
          <p:cNvSpPr txBox="1"/>
          <p:nvPr/>
        </p:nvSpPr>
        <p:spPr>
          <a:xfrm>
            <a:off x="7744968" y="3593591"/>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Differences by version live in a capability table in server Remote Config. No app release needed.</a:t>
            </a:r>
            <a:endParaRPr/>
          </a:p>
        </p:txBody>
      </p:sp>
      <p:sp>
        <p:nvSpPr>
          <p:cNvPr id="1434" name="Google Shape;1434;p53"/>
          <p:cNvSpPr/>
          <p:nvPr/>
        </p:nvSpPr>
        <p:spPr>
          <a:xfrm>
            <a:off x="7269480" y="4183380"/>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5" name="Google Shape;1435;p53"/>
          <p:cNvSpPr/>
          <p:nvPr/>
        </p:nvSpPr>
        <p:spPr>
          <a:xfrm>
            <a:off x="7379208" y="4293108"/>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4</a:t>
            </a:r>
            <a:endParaRPr/>
          </a:p>
        </p:txBody>
      </p:sp>
      <p:sp>
        <p:nvSpPr>
          <p:cNvPr id="1436" name="Google Shape;1436;p53"/>
          <p:cNvSpPr txBox="1"/>
          <p:nvPr/>
        </p:nvSpPr>
        <p:spPr>
          <a:xfrm>
            <a:off x="7744968" y="4256532"/>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Firmware metadata</a:t>
            </a:r>
            <a:endParaRPr/>
          </a:p>
        </p:txBody>
      </p:sp>
      <p:sp>
        <p:nvSpPr>
          <p:cNvPr id="1437" name="Google Shape;1437;p53"/>
          <p:cNvSpPr txBox="1"/>
          <p:nvPr/>
        </p:nvSpPr>
        <p:spPr>
          <a:xfrm>
            <a:off x="7744968" y="4494276"/>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Carries the supported HW revision and the mandatory intermediate versions, which blocks skip-updates.</a:t>
            </a:r>
            <a:endParaRPr/>
          </a:p>
        </p:txBody>
      </p:sp>
      <p:sp>
        <p:nvSpPr>
          <p:cNvPr id="1438" name="Google Shape;1438;p53"/>
          <p:cNvSpPr/>
          <p:nvPr/>
        </p:nvSpPr>
        <p:spPr>
          <a:xfrm>
            <a:off x="7269480" y="5084064"/>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9" name="Google Shape;1439;p53"/>
          <p:cNvSpPr/>
          <p:nvPr/>
        </p:nvSpPr>
        <p:spPr>
          <a:xfrm>
            <a:off x="7379208" y="5193792"/>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5</a:t>
            </a:r>
            <a:endParaRPr/>
          </a:p>
        </p:txBody>
      </p:sp>
      <p:sp>
        <p:nvSpPr>
          <p:cNvPr id="1440" name="Google Shape;1440;p53"/>
          <p:cNvSpPr txBox="1"/>
          <p:nvPr/>
        </p:nvSpPr>
        <p:spPr>
          <a:xfrm>
            <a:off x="7744968" y="5157216"/>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Backend APIs</a:t>
            </a:r>
            <a:endParaRPr/>
          </a:p>
        </p:txBody>
      </p:sp>
      <p:sp>
        <p:nvSpPr>
          <p:cNvPr id="1441" name="Google Shape;1441;p53"/>
          <p:cNvSpPr txBox="1"/>
          <p:nvPr/>
        </p:nvSpPr>
        <p:spPr>
          <a:xfrm>
            <a:off x="7744968" y="5394960"/>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Pinned by URL version (/v1). Forced app update below the minimum app version.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54"/>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08 · TECHNICAL DESIGN (iOS) · BACKUP B2 · IOS CONCURRENCY AND DATA PROTECTION</a:t>
            </a:r>
            <a:endParaRPr/>
          </a:p>
        </p:txBody>
      </p:sp>
      <p:sp>
        <p:nvSpPr>
          <p:cNvPr id="1448" name="Google Shape;1448;p54"/>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One BLE command at a time: UI lock, command queue and protected secrets</a:t>
            </a:r>
            <a:endParaRPr/>
          </a:p>
        </p:txBody>
      </p:sp>
      <p:sp>
        <p:nvSpPr>
          <p:cNvPr id="1449" name="Google Shape;1449;p54"/>
          <p:cNvSpPr txBox="1"/>
          <p:nvPr/>
        </p:nvSpPr>
        <p:spPr>
          <a:xfrm>
            <a:off x="457200" y="1216152"/>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FOUR GUARDS ON THE COMMAND PATH</a:t>
            </a:r>
            <a:endParaRPr/>
          </a:p>
        </p:txBody>
      </p:sp>
      <p:sp>
        <p:nvSpPr>
          <p:cNvPr id="1450" name="Google Shape;1450;p54"/>
          <p:cNvSpPr/>
          <p:nvPr/>
        </p:nvSpPr>
        <p:spPr>
          <a:xfrm>
            <a:off x="457200" y="1481328"/>
            <a:ext cx="2606040" cy="184708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1" name="Google Shape;1451;p54"/>
          <p:cNvSpPr/>
          <p:nvPr/>
        </p:nvSpPr>
        <p:spPr>
          <a:xfrm>
            <a:off x="585216" y="1609344"/>
            <a:ext cx="365760" cy="365760"/>
          </a:xfrm>
          <a:prstGeom prst="roundRect">
            <a:avLst>
              <a:gd fmla="val 12500"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52" name="Google Shape;1452;p54"/>
          <p:cNvPicPr preferRelativeResize="0"/>
          <p:nvPr/>
        </p:nvPicPr>
        <p:blipFill rotWithShape="1">
          <a:blip r:embed="rId3">
            <a:alphaModFix/>
          </a:blip>
          <a:srcRect b="0" l="0" r="0" t="0"/>
          <a:stretch/>
        </p:blipFill>
        <p:spPr>
          <a:xfrm>
            <a:off x="665683" y="1689811"/>
            <a:ext cx="204825" cy="204825"/>
          </a:xfrm>
          <a:prstGeom prst="rect">
            <a:avLst/>
          </a:prstGeom>
          <a:noFill/>
          <a:ln>
            <a:noFill/>
          </a:ln>
        </p:spPr>
      </p:pic>
      <p:sp>
        <p:nvSpPr>
          <p:cNvPr id="1453" name="Google Shape;1453;p54"/>
          <p:cNvSpPr txBox="1"/>
          <p:nvPr/>
        </p:nvSpPr>
        <p:spPr>
          <a:xfrm>
            <a:off x="1042416" y="1609344"/>
            <a:ext cx="191109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Modal UI lock</a:t>
            </a:r>
            <a:endParaRPr/>
          </a:p>
        </p:txBody>
      </p:sp>
      <p:sp>
        <p:nvSpPr>
          <p:cNvPr id="1454" name="Google Shape;1454;p54"/>
          <p:cNvSpPr txBox="1"/>
          <p:nvPr/>
        </p:nvSpPr>
        <p:spPr>
          <a:xfrm>
            <a:off x="585216" y="2121408"/>
            <a:ext cx="235000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lang="en-US" sz="850">
                <a:solidFill>
                  <a:srgbClr val="1565C0"/>
                </a:solidFill>
                <a:latin typeface="Consolas"/>
                <a:ea typeface="Consolas"/>
                <a:cs typeface="Consolas"/>
                <a:sym typeface="Consolas"/>
              </a:rPr>
              <a:t>fullScreenCover</a:t>
            </a:r>
            <a:r>
              <a:rPr b="0" lang="en-US" sz="950">
                <a:solidFill>
                  <a:srgbClr val="1F2A37"/>
                </a:solidFill>
                <a:latin typeface="Barlow"/>
                <a:ea typeface="Barlow"/>
                <a:cs typeface="Barlow"/>
                <a:sym typeface="Barlow"/>
              </a:rPr>
              <a:t> blocks the screen while device data I/O runs. Child views get </a:t>
            </a:r>
            <a:r>
              <a:rPr b="0" lang="en-US" sz="850">
                <a:solidFill>
                  <a:srgbClr val="1565C0"/>
                </a:solidFill>
                <a:latin typeface="Consolas"/>
                <a:ea typeface="Consolas"/>
                <a:cs typeface="Consolas"/>
                <a:sym typeface="Consolas"/>
              </a:rPr>
              <a:t>.allowsHitTesting(false)</a:t>
            </a:r>
            <a:r>
              <a:rPr b="0" lang="en-US" sz="950">
                <a:solidFill>
                  <a:srgbClr val="1F2A37"/>
                </a:solidFill>
                <a:latin typeface="Barlow"/>
                <a:ea typeface="Barlow"/>
                <a:cs typeface="Barlow"/>
                <a:sym typeface="Barlow"/>
              </a:rPr>
              <a:t> and </a:t>
            </a:r>
            <a:r>
              <a:rPr b="0" lang="en-US" sz="850">
                <a:solidFill>
                  <a:srgbClr val="1565C0"/>
                </a:solidFill>
                <a:latin typeface="Consolas"/>
                <a:ea typeface="Consolas"/>
                <a:cs typeface="Consolas"/>
                <a:sym typeface="Consolas"/>
              </a:rPr>
              <a:t>.interactiveDismissDisabled()</a:t>
            </a:r>
            <a:r>
              <a:rPr b="0" lang="en-US" sz="950">
                <a:solidFill>
                  <a:srgbClr val="1F2A37"/>
                </a:solidFill>
                <a:latin typeface="Barlow"/>
                <a:ea typeface="Barlow"/>
                <a:cs typeface="Barlow"/>
                <a:sym typeface="Barlow"/>
              </a:rPr>
              <a:t>. Released with a retry option after </a:t>
            </a:r>
            <a:r>
              <a:rPr b="1" lang="en-US" sz="950">
                <a:solidFill>
                  <a:srgbClr val="9A5B00"/>
                </a:solidFill>
                <a:latin typeface="Barlow"/>
                <a:ea typeface="Barlow"/>
                <a:cs typeface="Barlow"/>
                <a:sym typeface="Barlow"/>
              </a:rPr>
              <a:t>TBD</a:t>
            </a:r>
            <a:r>
              <a:rPr b="0" lang="en-US" sz="950">
                <a:solidFill>
                  <a:srgbClr val="1F2A37"/>
                </a:solidFill>
                <a:latin typeface="Barlow"/>
                <a:ea typeface="Barlow"/>
                <a:cs typeface="Barlow"/>
                <a:sym typeface="Barlow"/>
              </a:rPr>
              <a:t> s.</a:t>
            </a:r>
            <a:endParaRPr/>
          </a:p>
        </p:txBody>
      </p:sp>
      <p:sp>
        <p:nvSpPr>
          <p:cNvPr id="1455" name="Google Shape;1455;p54"/>
          <p:cNvSpPr/>
          <p:nvPr/>
        </p:nvSpPr>
        <p:spPr>
          <a:xfrm>
            <a:off x="3246120" y="1481328"/>
            <a:ext cx="2606040" cy="184708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6" name="Google Shape;1456;p54"/>
          <p:cNvSpPr/>
          <p:nvPr/>
        </p:nvSpPr>
        <p:spPr>
          <a:xfrm>
            <a:off x="3374136" y="1609344"/>
            <a:ext cx="365760" cy="365760"/>
          </a:xfrm>
          <a:prstGeom prst="roundRect">
            <a:avLst>
              <a:gd fmla="val 12500"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57" name="Google Shape;1457;p54"/>
          <p:cNvPicPr preferRelativeResize="0"/>
          <p:nvPr/>
        </p:nvPicPr>
        <p:blipFill rotWithShape="1">
          <a:blip r:embed="rId4">
            <a:alphaModFix/>
          </a:blip>
          <a:srcRect b="0" l="0" r="0" t="0"/>
          <a:stretch/>
        </p:blipFill>
        <p:spPr>
          <a:xfrm>
            <a:off x="3454603" y="1689811"/>
            <a:ext cx="204825" cy="204825"/>
          </a:xfrm>
          <a:prstGeom prst="rect">
            <a:avLst/>
          </a:prstGeom>
          <a:noFill/>
          <a:ln>
            <a:noFill/>
          </a:ln>
        </p:spPr>
      </p:pic>
      <p:sp>
        <p:nvSpPr>
          <p:cNvPr id="1458" name="Google Shape;1458;p54"/>
          <p:cNvSpPr txBox="1"/>
          <p:nvPr/>
        </p:nvSpPr>
        <p:spPr>
          <a:xfrm>
            <a:off x="3831336" y="1609344"/>
            <a:ext cx="191109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One session, one queue</a:t>
            </a:r>
            <a:endParaRPr/>
          </a:p>
        </p:txBody>
      </p:sp>
      <p:sp>
        <p:nvSpPr>
          <p:cNvPr id="1459" name="Google Shape;1459;p54"/>
          <p:cNvSpPr txBox="1"/>
          <p:nvPr/>
        </p:nvSpPr>
        <p:spPr>
          <a:xfrm>
            <a:off x="3374136" y="2121408"/>
            <a:ext cx="235000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lang="en-US" sz="850">
                <a:solidFill>
                  <a:srgbClr val="1565C0"/>
                </a:solidFill>
                <a:latin typeface="Consolas"/>
                <a:ea typeface="Consolas"/>
                <a:cs typeface="Consolas"/>
                <a:sym typeface="Consolas"/>
              </a:rPr>
              <a:t>actor DeviceSession</a:t>
            </a:r>
            <a:r>
              <a:rPr b="0" lang="en-US" sz="950">
                <a:solidFill>
                  <a:srgbClr val="1F2A37"/>
                </a:solidFill>
                <a:latin typeface="Barlow"/>
                <a:ea typeface="Barlow"/>
                <a:cs typeface="Barlow"/>
                <a:sym typeface="Barlow"/>
              </a:rPr>
              <a:t> gives session-level exclusive access. Duplicate commands in the same session are rejected at the command queue.</a:t>
            </a:r>
            <a:endParaRPr/>
          </a:p>
        </p:txBody>
      </p:sp>
      <p:sp>
        <p:nvSpPr>
          <p:cNvPr id="1460" name="Google Shape;1460;p54"/>
          <p:cNvSpPr/>
          <p:nvPr/>
        </p:nvSpPr>
        <p:spPr>
          <a:xfrm>
            <a:off x="6035040" y="1481328"/>
            <a:ext cx="2606040" cy="184708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1" name="Google Shape;1461;p54"/>
          <p:cNvSpPr/>
          <p:nvPr/>
        </p:nvSpPr>
        <p:spPr>
          <a:xfrm>
            <a:off x="6163056" y="1609344"/>
            <a:ext cx="365760" cy="365760"/>
          </a:xfrm>
          <a:prstGeom prst="roundRect">
            <a:avLst>
              <a:gd fmla="val 12500"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62" name="Google Shape;1462;p54"/>
          <p:cNvPicPr preferRelativeResize="0"/>
          <p:nvPr/>
        </p:nvPicPr>
        <p:blipFill rotWithShape="1">
          <a:blip r:embed="rId5">
            <a:alphaModFix/>
          </a:blip>
          <a:srcRect b="0" l="0" r="0" t="0"/>
          <a:stretch/>
        </p:blipFill>
        <p:spPr>
          <a:xfrm>
            <a:off x="6243523" y="1689811"/>
            <a:ext cx="204825" cy="204825"/>
          </a:xfrm>
          <a:prstGeom prst="rect">
            <a:avLst/>
          </a:prstGeom>
          <a:noFill/>
          <a:ln>
            <a:noFill/>
          </a:ln>
        </p:spPr>
      </p:pic>
      <p:sp>
        <p:nvSpPr>
          <p:cNvPr id="1463" name="Google Shape;1463;p54"/>
          <p:cNvSpPr txBox="1"/>
          <p:nvPr/>
        </p:nvSpPr>
        <p:spPr>
          <a:xfrm>
            <a:off x="6620256" y="1609344"/>
            <a:ext cx="191109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Async BLE calls</a:t>
            </a:r>
            <a:endParaRPr/>
          </a:p>
        </p:txBody>
      </p:sp>
      <p:sp>
        <p:nvSpPr>
          <p:cNvPr id="1464" name="Google Shape;1464;p54"/>
          <p:cNvSpPr txBox="1"/>
          <p:nvPr/>
        </p:nvSpPr>
        <p:spPr>
          <a:xfrm>
            <a:off x="6163056" y="2121408"/>
            <a:ext cx="235000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lang="en-US" sz="950">
                <a:solidFill>
                  <a:srgbClr val="1F2A37"/>
                </a:solidFill>
                <a:latin typeface="Barlow"/>
                <a:ea typeface="Barlow"/>
                <a:cs typeface="Barlow"/>
                <a:sym typeface="Barlow"/>
              </a:rPr>
              <a:t>CoreBluetooth delegate callbacks become </a:t>
            </a:r>
            <a:r>
              <a:rPr b="0" lang="en-US" sz="850">
                <a:solidFill>
                  <a:srgbClr val="1565C0"/>
                </a:solidFill>
                <a:latin typeface="Consolas"/>
                <a:ea typeface="Consolas"/>
                <a:cs typeface="Consolas"/>
                <a:sym typeface="Consolas"/>
              </a:rPr>
              <a:t>CheckedThrowingContinuation</a:t>
            </a:r>
            <a:r>
              <a:rPr b="0" lang="en-US" sz="950">
                <a:solidFill>
                  <a:srgbClr val="1F2A37"/>
                </a:solidFill>
                <a:latin typeface="Barlow"/>
                <a:ea typeface="Barlow"/>
                <a:cs typeface="Barlow"/>
                <a:sym typeface="Barlow"/>
              </a:rPr>
              <a:t>. One pending continuation per characteristic prevents a double resume. All are thrown at once on disconnect.</a:t>
            </a:r>
            <a:endParaRPr/>
          </a:p>
        </p:txBody>
      </p:sp>
      <p:sp>
        <p:nvSpPr>
          <p:cNvPr id="1465" name="Google Shape;1465;p54"/>
          <p:cNvSpPr/>
          <p:nvPr/>
        </p:nvSpPr>
        <p:spPr>
          <a:xfrm>
            <a:off x="8823960" y="1481328"/>
            <a:ext cx="2606040" cy="184708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6" name="Google Shape;1466;p54"/>
          <p:cNvSpPr/>
          <p:nvPr/>
        </p:nvSpPr>
        <p:spPr>
          <a:xfrm>
            <a:off x="8951976" y="1609344"/>
            <a:ext cx="365760" cy="365760"/>
          </a:xfrm>
          <a:prstGeom prst="roundRect">
            <a:avLst>
              <a:gd fmla="val 12500"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67" name="Google Shape;1467;p54"/>
          <p:cNvPicPr preferRelativeResize="0"/>
          <p:nvPr/>
        </p:nvPicPr>
        <p:blipFill rotWithShape="1">
          <a:blip r:embed="rId6">
            <a:alphaModFix/>
          </a:blip>
          <a:srcRect b="0" l="0" r="0" t="0"/>
          <a:stretch/>
        </p:blipFill>
        <p:spPr>
          <a:xfrm>
            <a:off x="9032443" y="1689811"/>
            <a:ext cx="204825" cy="204825"/>
          </a:xfrm>
          <a:prstGeom prst="rect">
            <a:avLst/>
          </a:prstGeom>
          <a:noFill/>
          <a:ln>
            <a:noFill/>
          </a:ln>
        </p:spPr>
      </p:pic>
      <p:sp>
        <p:nvSpPr>
          <p:cNvPr id="1468" name="Google Shape;1468;p54"/>
          <p:cNvSpPr txBox="1"/>
          <p:nvPr/>
        </p:nvSpPr>
        <p:spPr>
          <a:xfrm>
            <a:off x="9409176" y="1609344"/>
            <a:ext cx="191109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Thread safety</a:t>
            </a:r>
            <a:endParaRPr/>
          </a:p>
        </p:txBody>
      </p:sp>
      <p:sp>
        <p:nvSpPr>
          <p:cNvPr id="1469" name="Google Shape;1469;p54"/>
          <p:cNvSpPr txBox="1"/>
          <p:nvPr/>
        </p:nvSpPr>
        <p:spPr>
          <a:xfrm>
            <a:off x="8951976" y="2121408"/>
            <a:ext cx="235000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lang="en-US" sz="850">
                <a:solidFill>
                  <a:srgbClr val="1565C0"/>
                </a:solidFill>
                <a:latin typeface="Consolas"/>
                <a:ea typeface="Consolas"/>
                <a:cs typeface="Consolas"/>
                <a:sym typeface="Consolas"/>
              </a:rPr>
              <a:t>CBCentralManager</a:t>
            </a:r>
            <a:r>
              <a:rPr b="0" lang="en-US" sz="950">
                <a:solidFill>
                  <a:srgbClr val="1F2A37"/>
                </a:solidFill>
                <a:latin typeface="Barlow"/>
                <a:ea typeface="Barlow"/>
                <a:cs typeface="Barlow"/>
                <a:sym typeface="Barlow"/>
              </a:rPr>
              <a:t> runs on a dedicated serial </a:t>
            </a:r>
            <a:r>
              <a:rPr b="0" lang="en-US" sz="850">
                <a:solidFill>
                  <a:srgbClr val="1565C0"/>
                </a:solidFill>
                <a:latin typeface="Consolas"/>
                <a:ea typeface="Consolas"/>
                <a:cs typeface="Consolas"/>
                <a:sym typeface="Consolas"/>
              </a:rPr>
              <a:t>DispatchQueue</a:t>
            </a:r>
            <a:r>
              <a:rPr b="0" lang="en-US" sz="950">
                <a:solidFill>
                  <a:srgbClr val="1F2A37"/>
                </a:solidFill>
                <a:latin typeface="Barlow"/>
                <a:ea typeface="Barlow"/>
                <a:cs typeface="Barlow"/>
                <a:sym typeface="Barlow"/>
              </a:rPr>
              <a:t>. GATT writes are serialized through an actor-internal queue. State streams use Combine </a:t>
            </a:r>
            <a:r>
              <a:rPr b="0" lang="en-US" sz="850">
                <a:solidFill>
                  <a:srgbClr val="1565C0"/>
                </a:solidFill>
                <a:latin typeface="Consolas"/>
                <a:ea typeface="Consolas"/>
                <a:cs typeface="Consolas"/>
                <a:sym typeface="Consolas"/>
              </a:rPr>
              <a:t>CurrentValueSubject</a:t>
            </a:r>
            <a:r>
              <a:rPr b="0" lang="en-US" sz="950">
                <a:solidFill>
                  <a:srgbClr val="1F2A37"/>
                </a:solidFill>
                <a:latin typeface="Barlow"/>
                <a:ea typeface="Barlow"/>
                <a:cs typeface="Barlow"/>
                <a:sym typeface="Barlow"/>
              </a:rPr>
              <a:t>, apart from the command path.</a:t>
            </a:r>
            <a:endParaRPr/>
          </a:p>
        </p:txBody>
      </p:sp>
      <p:sp>
        <p:nvSpPr>
          <p:cNvPr id="1470" name="Google Shape;1470;p54"/>
          <p:cNvSpPr txBox="1"/>
          <p:nvPr/>
        </p:nvSpPr>
        <p:spPr>
          <a:xfrm>
            <a:off x="457200" y="3547872"/>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SENSITIVE DATA · WHERE IT LIVES AND HOW IT IS PROTECTED</a:t>
            </a:r>
            <a:endParaRPr/>
          </a:p>
        </p:txBody>
      </p:sp>
      <p:graphicFrame>
        <p:nvGraphicFramePr>
          <p:cNvPr id="1471" name="Google Shape;1471;p54"/>
          <p:cNvGraphicFramePr/>
          <p:nvPr/>
        </p:nvGraphicFramePr>
        <p:xfrm>
          <a:off x="457200" y="3803904"/>
          <a:ext cx="3000000" cy="3000000"/>
        </p:xfrm>
        <a:graphic>
          <a:graphicData uri="http://schemas.openxmlformats.org/drawingml/2006/table">
            <a:tbl>
              <a:tblPr>
                <a:noFill/>
                <a:tableStyleId>{2140B2FF-5A71-40BD-AFFD-90A2E17B1FAF}</a:tableStyleId>
              </a:tblPr>
              <a:tblGrid>
                <a:gridCol w="1874525"/>
                <a:gridCol w="1051550"/>
                <a:gridCol w="3566150"/>
              </a:tblGrid>
              <a:tr h="292600">
                <a:tc>
                  <a:txBody>
                    <a:bodyPr/>
                    <a:lstStyle/>
                    <a:p>
                      <a:pPr indent="0" lvl="0" marL="0" marR="0" rtl="0" algn="l">
                        <a:lnSpc>
                          <a:spcPct val="100000"/>
                        </a:lnSpc>
                        <a:spcBef>
                          <a:spcPts val="0"/>
                        </a:spcBef>
                        <a:spcAft>
                          <a:spcPts val="0"/>
                        </a:spcAft>
                        <a:buNone/>
                      </a:pPr>
                      <a:r>
                        <a:rPr b="1" lang="en-US" sz="850" u="none" cap="none" strike="noStrike">
                          <a:solidFill>
                            <a:srgbClr val="FFFFFF"/>
                          </a:solidFill>
                          <a:latin typeface="Montserrat"/>
                          <a:ea typeface="Montserrat"/>
                          <a:cs typeface="Montserrat"/>
                          <a:sym typeface="Montserrat"/>
                        </a:rPr>
                        <a:t>Data</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l">
                        <a:lnSpc>
                          <a:spcPct val="100000"/>
                        </a:lnSpc>
                        <a:spcBef>
                          <a:spcPts val="0"/>
                        </a:spcBef>
                        <a:spcAft>
                          <a:spcPts val="0"/>
                        </a:spcAft>
                        <a:buNone/>
                      </a:pPr>
                      <a:r>
                        <a:rPr b="1" lang="en-US" sz="850" u="none" cap="none" strike="noStrike">
                          <a:solidFill>
                            <a:srgbClr val="FFFFFF"/>
                          </a:solidFill>
                          <a:latin typeface="Montserrat"/>
                          <a:ea typeface="Montserrat"/>
                          <a:cs typeface="Montserrat"/>
                          <a:sym typeface="Montserrat"/>
                        </a:rPr>
                        <a:t>Storage</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l">
                        <a:lnSpc>
                          <a:spcPct val="100000"/>
                        </a:lnSpc>
                        <a:spcBef>
                          <a:spcPts val="0"/>
                        </a:spcBef>
                        <a:spcAft>
                          <a:spcPts val="0"/>
                        </a:spcAft>
                        <a:buNone/>
                      </a:pPr>
                      <a:r>
                        <a:rPr b="1" lang="en-US" sz="850" u="none" cap="none" strike="noStrike">
                          <a:solidFill>
                            <a:srgbClr val="FFFFFF"/>
                          </a:solidFill>
                          <a:latin typeface="Montserrat"/>
                          <a:ea typeface="Montserrat"/>
                          <a:cs typeface="Montserrat"/>
                          <a:sym typeface="Montserrat"/>
                        </a:rPr>
                        <a:t>Accessibility / access control</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r>
              <a:tr h="420625">
                <a:tc>
                  <a:txBody>
                    <a:bodyPr/>
                    <a:lstStyle/>
                    <a:p>
                      <a:pPr indent="0" lvl="0" marL="0" marR="0" rtl="0" algn="l">
                        <a:lnSpc>
                          <a:spcPct val="100000"/>
                        </a:lnSpc>
                        <a:spcBef>
                          <a:spcPts val="0"/>
                        </a:spcBef>
                        <a:spcAft>
                          <a:spcPts val="0"/>
                        </a:spcAft>
                        <a:buNone/>
                      </a:pPr>
                      <a:r>
                        <a:rPr b="1" lang="en-US" sz="925" u="none" cap="none" strike="noStrike">
                          <a:solidFill>
                            <a:srgbClr val="0B2F5B"/>
                          </a:solidFill>
                          <a:latin typeface="Barlow"/>
                          <a:ea typeface="Barlow"/>
                          <a:cs typeface="Barlow"/>
                          <a:sym typeface="Barlow"/>
                        </a:rPr>
                        <a:t>Installer auth token</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25" u="none" cap="none" strike="noStrike">
                          <a:solidFill>
                            <a:srgbClr val="1F2A37"/>
                          </a:solidFill>
                          <a:latin typeface="Barlow"/>
                          <a:ea typeface="Barlow"/>
                          <a:cs typeface="Barlow"/>
                          <a:sym typeface="Barlow"/>
                        </a:rPr>
                        <a:t>Keychain</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825" u="none" cap="none" strike="noStrike">
                          <a:solidFill>
                            <a:srgbClr val="1565C0"/>
                          </a:solidFill>
                          <a:latin typeface="Consolas"/>
                          <a:ea typeface="Consolas"/>
                          <a:cs typeface="Consolas"/>
                          <a:sym typeface="Consolas"/>
                        </a:rPr>
                        <a:t>kSecAttrAccessibleWhenUnlockedThisDeviceOnly</a:t>
                      </a:r>
                      <a:r>
                        <a:rPr b="0" lang="en-US" sz="925" u="none" cap="none" strike="noStrike">
                          <a:solidFill>
                            <a:srgbClr val="1F2A37"/>
                          </a:solidFill>
                          <a:latin typeface="Barlow"/>
                          <a:ea typeface="Barlow"/>
                          <a:cs typeface="Barlow"/>
                          <a:sym typeface="Barlow"/>
                        </a:rPr>
                        <a:t> + </a:t>
                      </a:r>
                      <a:r>
                        <a:rPr b="0" lang="en-US" sz="825" u="none" cap="none" strike="noStrike">
                          <a:solidFill>
                            <a:srgbClr val="1565C0"/>
                          </a:solidFill>
                          <a:latin typeface="Consolas"/>
                          <a:ea typeface="Consolas"/>
                          <a:cs typeface="Consolas"/>
                          <a:sym typeface="Consolas"/>
                        </a:rPr>
                        <a:t>.biometryCurrentSet</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None/>
                      </a:pPr>
                      <a:r>
                        <a:rPr b="1" lang="en-US" sz="925" u="none" cap="none" strike="noStrike">
                          <a:solidFill>
                            <a:srgbClr val="0B2F5B"/>
                          </a:solidFill>
                          <a:latin typeface="Barlow"/>
                          <a:ea typeface="Barlow"/>
                          <a:cs typeface="Barlow"/>
                          <a:sym typeface="Barlow"/>
                        </a:rPr>
                        <a:t>Refresh token</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25" u="none" cap="none" strike="noStrike">
                          <a:solidFill>
                            <a:srgbClr val="1F2A37"/>
                          </a:solidFill>
                          <a:latin typeface="Barlow"/>
                          <a:ea typeface="Barlow"/>
                          <a:cs typeface="Barlow"/>
                          <a:sym typeface="Barlow"/>
                        </a:rPr>
                        <a:t>Keychain</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825" u="none" cap="none" strike="noStrike">
                          <a:solidFill>
                            <a:srgbClr val="1565C0"/>
                          </a:solidFill>
                          <a:latin typeface="Consolas"/>
                          <a:ea typeface="Consolas"/>
                          <a:cs typeface="Consolas"/>
                          <a:sym typeface="Consolas"/>
                        </a:rPr>
                        <a:t>kSecAttrAccessibleAfterFirstUnlockThisDeviceOnly</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r h="347475">
                <a:tc>
                  <a:txBody>
                    <a:bodyPr/>
                    <a:lstStyle/>
                    <a:p>
                      <a:pPr indent="0" lvl="0" marL="0" marR="0" rtl="0" algn="l">
                        <a:lnSpc>
                          <a:spcPct val="100000"/>
                        </a:lnSpc>
                        <a:spcBef>
                          <a:spcPts val="0"/>
                        </a:spcBef>
                        <a:spcAft>
                          <a:spcPts val="0"/>
                        </a:spcAft>
                        <a:buNone/>
                      </a:pPr>
                      <a:r>
                        <a:rPr b="1" lang="en-US" sz="925" u="none" cap="none" strike="noStrike">
                          <a:solidFill>
                            <a:srgbClr val="0B2F5B"/>
                          </a:solidFill>
                          <a:latin typeface="Barlow"/>
                          <a:ea typeface="Barlow"/>
                          <a:cs typeface="Barlow"/>
                          <a:sym typeface="Barlow"/>
                        </a:rPr>
                        <a:t>Temporary installer password</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25" u="none" cap="none" strike="noStrike">
                          <a:solidFill>
                            <a:srgbClr val="1F2A37"/>
                          </a:solidFill>
                          <a:latin typeface="Barlow"/>
                          <a:ea typeface="Barlow"/>
                          <a:cs typeface="Barlow"/>
                          <a:sym typeface="Barlow"/>
                        </a:rPr>
                        <a:t>Memory only</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25" u="none" cap="none" strike="noStrike">
                          <a:solidFill>
                            <a:srgbClr val="1F2A37"/>
                          </a:solidFill>
                          <a:latin typeface="Barlow"/>
                          <a:ea typeface="Barlow"/>
                          <a:cs typeface="Barlow"/>
                          <a:sym typeface="Barlow"/>
                        </a:rPr>
                        <a:t>Never persisted, discarded immediately after use</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None/>
                      </a:pPr>
                      <a:r>
                        <a:rPr b="1" lang="en-US" sz="925" u="none" cap="none" strike="noStrike">
                          <a:solidFill>
                            <a:srgbClr val="0B2F5B"/>
                          </a:solidFill>
                          <a:latin typeface="Barlow"/>
                          <a:ea typeface="Barlow"/>
                          <a:cs typeface="Barlow"/>
                          <a:sym typeface="Barlow"/>
                        </a:rPr>
                        <a:t>Work order data</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25" u="none" cap="none" strike="noStrike">
                          <a:solidFill>
                            <a:srgbClr val="1F2A37"/>
                          </a:solidFill>
                          <a:latin typeface="Barlow"/>
                          <a:ea typeface="Barlow"/>
                          <a:cs typeface="Barlow"/>
                          <a:sym typeface="Barlow"/>
                        </a:rPr>
                        <a:t>Local database</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25" u="none" cap="none" strike="noStrike">
                          <a:solidFill>
                            <a:srgbClr val="1F2A37"/>
                          </a:solidFill>
                          <a:latin typeface="Barlow"/>
                          <a:ea typeface="Barlow"/>
                          <a:cs typeface="Barlow"/>
                          <a:sym typeface="Barlow"/>
                        </a:rPr>
                        <a:t>Data Protection </a:t>
                      </a:r>
                      <a:r>
                        <a:rPr b="0" lang="en-US" sz="825" u="none" cap="none" strike="noStrike">
                          <a:solidFill>
                            <a:srgbClr val="1565C0"/>
                          </a:solidFill>
                          <a:latin typeface="Consolas"/>
                          <a:ea typeface="Consolas"/>
                          <a:cs typeface="Consolas"/>
                          <a:sym typeface="Consolas"/>
                        </a:rPr>
                        <a:t>.complete</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bl>
          </a:graphicData>
        </a:graphic>
      </p:graphicFrame>
      <p:sp>
        <p:nvSpPr>
          <p:cNvPr id="1472" name="Google Shape;1472;p54"/>
          <p:cNvSpPr txBox="1"/>
          <p:nvPr/>
        </p:nvSpPr>
        <p:spPr>
          <a:xfrm>
            <a:off x="457200" y="5669280"/>
            <a:ext cx="649224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875">
                <a:solidFill>
                  <a:srgbClr val="5F6B7A"/>
                </a:solidFill>
                <a:latin typeface="Barlow"/>
                <a:ea typeface="Barlow"/>
                <a:cs typeface="Barlow"/>
                <a:sym typeface="Barlow"/>
              </a:rPr>
              <a:t>ThisDeviceOnly blocks iCloud Keychain sync and backup restore. Re-enrolling biometrics invalidates the token. Serial No, NMI No and passwords are masked in logs and crash reports.</a:t>
            </a:r>
            <a:endParaRPr/>
          </a:p>
        </p:txBody>
      </p:sp>
      <p:sp>
        <p:nvSpPr>
          <p:cNvPr id="1473" name="Google Shape;1473;p54"/>
          <p:cNvSpPr txBox="1"/>
          <p:nvPr/>
        </p:nvSpPr>
        <p:spPr>
          <a:xfrm>
            <a:off x="7223760" y="3547872"/>
            <a:ext cx="42062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THE BOUNDARY THAT MAKES THE MOCK POSSIBLE</a:t>
            </a:r>
            <a:endParaRPr/>
          </a:p>
        </p:txBody>
      </p:sp>
      <p:sp>
        <p:nvSpPr>
          <p:cNvPr id="1474" name="Google Shape;1474;p54"/>
          <p:cNvSpPr/>
          <p:nvPr/>
        </p:nvSpPr>
        <p:spPr>
          <a:xfrm>
            <a:off x="7223760" y="3803904"/>
            <a:ext cx="4206240" cy="1755648"/>
          </a:xfrm>
          <a:prstGeom prst="roundRect">
            <a:avLst>
              <a:gd fmla="val 2604" name="adj"/>
            </a:avLst>
          </a:prstGeom>
          <a:solidFill>
            <a:srgbClr val="0B2F5B"/>
          </a:solidFill>
          <a:ln>
            <a:noFill/>
          </a:ln>
        </p:spPr>
        <p:txBody>
          <a:bodyPr anchorCtr="0" anchor="ctr" bIns="54850" lIns="128000" spcFirstLastPara="1" rIns="54850" wrap="square" tIns="54850">
            <a:noAutofit/>
          </a:bodyPr>
          <a:lstStyle/>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protocol BLETransport {</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  var connectionState: AnyPublisher&lt;ConnectionState, Never&gt; { get }</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  func connect(serialNo: String) async throws</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  func read(_ register: Register) async throws -&gt; Data</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  func write(_ register: Register, value: Data) async throws</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55"/>
          <p:cNvSpPr txBox="1"/>
          <p:nvPr>
            <p:ph type="ctrTitle"/>
          </p:nvPr>
        </p:nvSpPr>
        <p:spPr>
          <a:xfrm>
            <a:off x="629107" y="3364992"/>
            <a:ext cx="10881360" cy="1298448"/>
          </a:xfrm>
          <a:prstGeom prst="rect">
            <a:avLst/>
          </a:prstGeom>
          <a:noFill/>
          <a:ln>
            <a:noFill/>
          </a:ln>
        </p:spPr>
        <p:txBody>
          <a:bodyPr anchorCtr="0" anchor="t" bIns="0" lIns="0" spcFirstLastPara="1" rIns="0" wrap="square" tIns="0">
            <a:noAutofit/>
          </a:bodyPr>
          <a:lstStyle/>
          <a:p>
            <a:pPr indent="0" lvl="0" marL="0" rtl="0" algn="l">
              <a:lnSpc>
                <a:spcPct val="103000"/>
              </a:lnSpc>
              <a:spcBef>
                <a:spcPts val="0"/>
              </a:spcBef>
              <a:spcAft>
                <a:spcPts val="0"/>
              </a:spcAft>
              <a:buClr>
                <a:srgbClr val="FFFFFF"/>
              </a:buClr>
              <a:buSzPts val="4000"/>
              <a:buFont typeface="Montserrat"/>
              <a:buNone/>
            </a:pPr>
            <a:r>
              <a:rPr lang="en-US"/>
              <a:t>Qcells CORE Pro Installer App</a:t>
            </a:r>
            <a:endParaRPr/>
          </a:p>
          <a:p>
            <a:pPr indent="0" lvl="0" marL="0" rtl="0" algn="l">
              <a:lnSpc>
                <a:spcPct val="103000"/>
              </a:lnSpc>
              <a:spcBef>
                <a:spcPts val="0"/>
              </a:spcBef>
              <a:spcAft>
                <a:spcPts val="0"/>
              </a:spcAft>
              <a:buClr>
                <a:srgbClr val="8FBDF8"/>
              </a:buClr>
              <a:buSzPts val="4000"/>
              <a:buFont typeface="Montserrat"/>
              <a:buNone/>
            </a:pPr>
            <a:r>
              <a:rPr lang="en-US">
                <a:solidFill>
                  <a:srgbClr val="8FBDF8"/>
                </a:solidFill>
              </a:rPr>
              <a:t>Technical Design · Android Edition</a:t>
            </a:r>
            <a:endParaRPr/>
          </a:p>
        </p:txBody>
      </p:sp>
      <p:sp>
        <p:nvSpPr>
          <p:cNvPr id="1481" name="Google Shape;1481;p55"/>
          <p:cNvSpPr txBox="1"/>
          <p:nvPr>
            <p:ph idx="2" type="subTitle"/>
          </p:nvPr>
        </p:nvSpPr>
        <p:spPr>
          <a:xfrm>
            <a:off x="629107" y="4743907"/>
            <a:ext cx="9601200" cy="246888"/>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DCE8F7"/>
              </a:buClr>
              <a:buSzPts val="1300"/>
              <a:buNone/>
            </a:pPr>
            <a:r>
              <a:rPr lang="en-US"/>
              <a:t>What changes when the design moves from iOS to Android: radio, lifecycle, storage and test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56"/>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09 · TECHNICAL DESIGN (ANDROID) · MIGRATION MAP · iOS DESIGN TO ANDROID</a:t>
            </a:r>
            <a:endParaRPr/>
          </a:p>
        </p:txBody>
      </p:sp>
      <p:sp>
        <p:nvSpPr>
          <p:cNvPr id="1488" name="Google Shape;1488;p56"/>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The rules port unchanged; the Android work sits in radio, lifecycle and storage</a:t>
            </a:r>
            <a:endParaRPr/>
          </a:p>
        </p:txBody>
      </p:sp>
      <p:sp>
        <p:nvSpPr>
          <p:cNvPr id="1489" name="Google Shape;1489;p56"/>
          <p:cNvSpPr txBox="1"/>
          <p:nvPr/>
        </p:nvSpPr>
        <p:spPr>
          <a:xfrm>
            <a:off x="457200" y="1216152"/>
            <a:ext cx="71323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LAYER BY LAYER · WHAT PORTS, WHAT IS REBUILT, WHAT IS ANDROID-SPECIFIC</a:t>
            </a:r>
            <a:endParaRPr/>
          </a:p>
        </p:txBody>
      </p:sp>
      <p:sp>
        <p:nvSpPr>
          <p:cNvPr id="1490" name="Google Shape;1490;p56"/>
          <p:cNvSpPr/>
          <p:nvPr/>
        </p:nvSpPr>
        <p:spPr>
          <a:xfrm>
            <a:off x="457200" y="1481328"/>
            <a:ext cx="292608" cy="292608"/>
          </a:xfrm>
          <a:prstGeom prst="roundRect">
            <a:avLst>
              <a:gd fmla="val 15625" name="adj"/>
            </a:avLst>
          </a:prstGeom>
          <a:solidFill>
            <a:srgbClr val="5F6B7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91" name="Google Shape;1491;p56"/>
          <p:cNvPicPr preferRelativeResize="0"/>
          <p:nvPr/>
        </p:nvPicPr>
        <p:blipFill rotWithShape="1">
          <a:blip r:embed="rId3">
            <a:alphaModFix/>
          </a:blip>
          <a:srcRect b="0" l="0" r="0" t="0"/>
          <a:stretch/>
        </p:blipFill>
        <p:spPr>
          <a:xfrm>
            <a:off x="521573" y="1545701"/>
            <a:ext cx="163860" cy="163860"/>
          </a:xfrm>
          <a:prstGeom prst="rect">
            <a:avLst/>
          </a:prstGeom>
          <a:noFill/>
          <a:ln>
            <a:noFill/>
          </a:ln>
        </p:spPr>
      </p:pic>
      <p:sp>
        <p:nvSpPr>
          <p:cNvPr id="1492" name="Google Shape;1492;p56"/>
          <p:cNvSpPr txBox="1"/>
          <p:nvPr/>
        </p:nvSpPr>
        <p:spPr>
          <a:xfrm>
            <a:off x="841247" y="1481328"/>
            <a:ext cx="2587752"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iOS design (T5)</a:t>
            </a:r>
            <a:endParaRPr/>
          </a:p>
        </p:txBody>
      </p:sp>
      <p:sp>
        <p:nvSpPr>
          <p:cNvPr id="1493" name="Google Shape;1493;p56"/>
          <p:cNvSpPr/>
          <p:nvPr/>
        </p:nvSpPr>
        <p:spPr>
          <a:xfrm>
            <a:off x="4069080" y="1481328"/>
            <a:ext cx="292608" cy="292608"/>
          </a:xfrm>
          <a:prstGeom prst="roundRect">
            <a:avLst>
              <a:gd fmla="val 15625" name="adj"/>
            </a:avLst>
          </a:prstGeom>
          <a:solidFill>
            <a:srgbClr val="1E7B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94" name="Google Shape;1494;p56"/>
          <p:cNvPicPr preferRelativeResize="0"/>
          <p:nvPr/>
        </p:nvPicPr>
        <p:blipFill rotWithShape="1">
          <a:blip r:embed="rId4">
            <a:alphaModFix/>
          </a:blip>
          <a:srcRect b="0" l="0" r="0" t="0"/>
          <a:stretch/>
        </p:blipFill>
        <p:spPr>
          <a:xfrm>
            <a:off x="4133453" y="1545701"/>
            <a:ext cx="163860" cy="163860"/>
          </a:xfrm>
          <a:prstGeom prst="rect">
            <a:avLst/>
          </a:prstGeom>
          <a:noFill/>
          <a:ln>
            <a:noFill/>
          </a:ln>
        </p:spPr>
      </p:pic>
      <p:sp>
        <p:nvSpPr>
          <p:cNvPr id="1495" name="Google Shape;1495;p56"/>
          <p:cNvSpPr txBox="1"/>
          <p:nvPr/>
        </p:nvSpPr>
        <p:spPr>
          <a:xfrm>
            <a:off x="4453128" y="1481328"/>
            <a:ext cx="3136392"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Android</a:t>
            </a:r>
            <a:endParaRPr/>
          </a:p>
        </p:txBody>
      </p:sp>
      <p:sp>
        <p:nvSpPr>
          <p:cNvPr id="1496" name="Google Shape;1496;p56"/>
          <p:cNvSpPr/>
          <p:nvPr/>
        </p:nvSpPr>
        <p:spPr>
          <a:xfrm>
            <a:off x="457200" y="1883664"/>
            <a:ext cx="2971800" cy="914400"/>
          </a:xfrm>
          <a:prstGeom prst="roundRect">
            <a:avLst>
              <a:gd fmla="val 5000" name="adj"/>
            </a:avLst>
          </a:prstGeom>
          <a:solidFill>
            <a:srgbClr val="F5F8FC"/>
          </a:solidFill>
          <a:ln cap="flat" cmpd="sng" w="9525">
            <a:solidFill>
              <a:srgbClr val="C7D7EA"/>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UI layer</a:t>
            </a:r>
            <a:endParaRPr/>
          </a:p>
          <a:p>
            <a:pPr indent="0" lvl="0" marL="0" marR="0" rtl="0" algn="l">
              <a:lnSpc>
                <a:spcPct val="100000"/>
              </a:lnSpc>
              <a:spcBef>
                <a:spcPts val="300"/>
              </a:spcBef>
              <a:spcAft>
                <a:spcPts val="0"/>
              </a:spcAft>
              <a:buNone/>
            </a:pPr>
            <a:r>
              <a:rPr b="0" lang="en-US" sz="825">
                <a:solidFill>
                  <a:srgbClr val="5F6B7A"/>
                </a:solidFill>
                <a:latin typeface="Consolas"/>
                <a:ea typeface="Consolas"/>
                <a:cs typeface="Consolas"/>
                <a:sym typeface="Consolas"/>
              </a:rPr>
              <a:t>SwiftUI View · @MainActor ViewModel</a:t>
            </a:r>
            <a:endParaRPr/>
          </a:p>
        </p:txBody>
      </p:sp>
      <p:sp>
        <p:nvSpPr>
          <p:cNvPr id="1497" name="Google Shape;1497;p56"/>
          <p:cNvSpPr/>
          <p:nvPr/>
        </p:nvSpPr>
        <p:spPr>
          <a:xfrm>
            <a:off x="4069080" y="1883664"/>
            <a:ext cx="3520440" cy="914400"/>
          </a:xfrm>
          <a:prstGeom prst="roundRect">
            <a:avLst>
              <a:gd fmla="val 5000" name="adj"/>
            </a:avLst>
          </a:prstGeom>
          <a:solidFill>
            <a:srgbClr val="FFFFFF"/>
          </a:solidFill>
          <a:ln cap="flat" cmpd="sng" w="15875">
            <a:solidFill>
              <a:srgbClr val="1565C0"/>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UI layer</a:t>
            </a:r>
            <a:endParaRPr/>
          </a:p>
          <a:p>
            <a:pPr indent="0" lvl="0" marL="0" marR="0" rtl="0" algn="l">
              <a:lnSpc>
                <a:spcPct val="100000"/>
              </a:lnSpc>
              <a:spcBef>
                <a:spcPts val="300"/>
              </a:spcBef>
              <a:spcAft>
                <a:spcPts val="0"/>
              </a:spcAft>
              <a:buNone/>
            </a:pPr>
            <a:r>
              <a:rPr b="0" lang="en-US" sz="775">
                <a:solidFill>
                  <a:srgbClr val="1565C0"/>
                </a:solidFill>
                <a:latin typeface="Consolas"/>
                <a:ea typeface="Consolas"/>
                <a:cs typeface="Consolas"/>
                <a:sym typeface="Consolas"/>
              </a:rPr>
              <a:t>Jetpack Compose · ViewModel · StateFlow</a:t>
            </a:r>
            <a:endParaRPr/>
          </a:p>
          <a:p>
            <a:pPr indent="0" lvl="0" marL="0" marR="0" rtl="0" algn="l">
              <a:lnSpc>
                <a:spcPct val="100000"/>
              </a:lnSpc>
              <a:spcBef>
                <a:spcPts val="200"/>
              </a:spcBef>
              <a:spcAft>
                <a:spcPts val="0"/>
              </a:spcAft>
              <a:buNone/>
            </a:pPr>
            <a:r>
              <a:rPr b="0" lang="en-US" sz="925">
                <a:solidFill>
                  <a:srgbClr val="1F2A37"/>
                </a:solidFill>
                <a:latin typeface="Barlow"/>
                <a:ea typeface="Barlow"/>
                <a:cs typeface="Barlow"/>
                <a:sym typeface="Barlow"/>
              </a:rPr>
              <a:t>Screens, UI lock display, user actions</a:t>
            </a:r>
            <a:endParaRPr/>
          </a:p>
        </p:txBody>
      </p:sp>
      <p:cxnSp>
        <p:nvCxnSpPr>
          <p:cNvPr id="1498" name="Google Shape;1498;p56"/>
          <p:cNvCxnSpPr>
            <a:stCxn id="1496" idx="3"/>
            <a:endCxn id="1497" idx="1"/>
          </p:cNvCxnSpPr>
          <p:nvPr/>
        </p:nvCxnSpPr>
        <p:spPr>
          <a:xfrm>
            <a:off x="3429000" y="2340864"/>
            <a:ext cx="640200" cy="0"/>
          </a:xfrm>
          <a:prstGeom prst="straightConnector1">
            <a:avLst/>
          </a:prstGeom>
          <a:noFill/>
          <a:ln cap="flat" cmpd="sng" w="22225">
            <a:solidFill>
              <a:srgbClr val="1565C0"/>
            </a:solidFill>
            <a:prstDash val="solid"/>
            <a:round/>
            <a:headEnd len="sm" w="sm" type="none"/>
            <a:tailEnd len="med" w="med" type="triangle"/>
          </a:ln>
        </p:spPr>
      </p:cxnSp>
      <p:sp>
        <p:nvSpPr>
          <p:cNvPr id="1499" name="Google Shape;1499;p56"/>
          <p:cNvSpPr/>
          <p:nvPr/>
        </p:nvSpPr>
        <p:spPr>
          <a:xfrm>
            <a:off x="6176674" y="1984248"/>
            <a:ext cx="1321406" cy="150018"/>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1565C0"/>
                </a:solidFill>
                <a:latin typeface="Montserrat"/>
                <a:ea typeface="Montserrat"/>
                <a:cs typeface="Montserrat"/>
                <a:sym typeface="Montserrat"/>
              </a:rPr>
              <a:t>NATIVE COUNTERPART</a:t>
            </a:r>
            <a:endParaRPr/>
          </a:p>
        </p:txBody>
      </p:sp>
      <p:sp>
        <p:nvSpPr>
          <p:cNvPr id="1500" name="Google Shape;1500;p56"/>
          <p:cNvSpPr/>
          <p:nvPr/>
        </p:nvSpPr>
        <p:spPr>
          <a:xfrm>
            <a:off x="457200" y="2907792"/>
            <a:ext cx="2971800" cy="914400"/>
          </a:xfrm>
          <a:prstGeom prst="roundRect">
            <a:avLst>
              <a:gd fmla="val 5000" name="adj"/>
            </a:avLst>
          </a:prstGeom>
          <a:solidFill>
            <a:srgbClr val="F5F8FC"/>
          </a:solidFill>
          <a:ln cap="flat" cmpd="sng" w="9525">
            <a:solidFill>
              <a:srgbClr val="C7D7EA"/>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Domain layer</a:t>
            </a:r>
            <a:endParaRPr/>
          </a:p>
          <a:p>
            <a:pPr indent="0" lvl="0" marL="0" marR="0" rtl="0" algn="l">
              <a:lnSpc>
                <a:spcPct val="100000"/>
              </a:lnSpc>
              <a:spcBef>
                <a:spcPts val="300"/>
              </a:spcBef>
              <a:spcAft>
                <a:spcPts val="0"/>
              </a:spcAft>
              <a:buNone/>
            </a:pPr>
            <a:r>
              <a:rPr b="0" lang="en-US" sz="825">
                <a:solidFill>
                  <a:srgbClr val="5F6B7A"/>
                </a:solidFill>
                <a:latin typeface="Consolas"/>
                <a:ea typeface="Consolas"/>
                <a:cs typeface="Consolas"/>
                <a:sym typeface="Consolas"/>
              </a:rPr>
              <a:t>UseCase · Entity · ESSStateMachine</a:t>
            </a:r>
            <a:endParaRPr/>
          </a:p>
        </p:txBody>
      </p:sp>
      <p:sp>
        <p:nvSpPr>
          <p:cNvPr id="1501" name="Google Shape;1501;p56"/>
          <p:cNvSpPr/>
          <p:nvPr/>
        </p:nvSpPr>
        <p:spPr>
          <a:xfrm>
            <a:off x="4069080" y="2907792"/>
            <a:ext cx="3520440" cy="914400"/>
          </a:xfrm>
          <a:prstGeom prst="roundRect">
            <a:avLst>
              <a:gd fmla="val 5000" name="adj"/>
            </a:avLst>
          </a:prstGeom>
          <a:solidFill>
            <a:srgbClr val="E6F4EA"/>
          </a:solidFill>
          <a:ln cap="flat" cmpd="sng" w="15875">
            <a:solidFill>
              <a:srgbClr val="8CC9A6"/>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Domain layer</a:t>
            </a:r>
            <a:endParaRPr/>
          </a:p>
          <a:p>
            <a:pPr indent="0" lvl="0" marL="0" marR="0" rtl="0" algn="l">
              <a:lnSpc>
                <a:spcPct val="100000"/>
              </a:lnSpc>
              <a:spcBef>
                <a:spcPts val="300"/>
              </a:spcBef>
              <a:spcAft>
                <a:spcPts val="0"/>
              </a:spcAft>
              <a:buNone/>
            </a:pPr>
            <a:r>
              <a:rPr b="0" lang="en-US" sz="775">
                <a:solidFill>
                  <a:srgbClr val="1565C0"/>
                </a:solidFill>
                <a:latin typeface="Consolas"/>
                <a:ea typeface="Consolas"/>
                <a:cs typeface="Consolas"/>
                <a:sym typeface="Consolas"/>
              </a:rPr>
              <a:t>UseCase · Entity · ESSStateMachine</a:t>
            </a:r>
            <a:endParaRPr/>
          </a:p>
          <a:p>
            <a:pPr indent="0" lvl="0" marL="0" marR="0" rtl="0" algn="l">
              <a:lnSpc>
                <a:spcPct val="100000"/>
              </a:lnSpc>
              <a:spcBef>
                <a:spcPts val="200"/>
              </a:spcBef>
              <a:spcAft>
                <a:spcPts val="0"/>
              </a:spcAft>
              <a:buNone/>
            </a:pPr>
            <a:r>
              <a:rPr b="0" lang="en-US" sz="925">
                <a:solidFill>
                  <a:srgbClr val="1F2A37"/>
                </a:solidFill>
                <a:latin typeface="Barlow"/>
                <a:ea typeface="Barlow"/>
                <a:cs typeface="Barlow"/>
                <a:sym typeface="Barlow"/>
              </a:rPr>
              <a:t>Same rules in Kotlin, same UT-01 to UT-07 scenarios</a:t>
            </a:r>
            <a:endParaRPr/>
          </a:p>
        </p:txBody>
      </p:sp>
      <p:cxnSp>
        <p:nvCxnSpPr>
          <p:cNvPr id="1502" name="Google Shape;1502;p56"/>
          <p:cNvCxnSpPr>
            <a:stCxn id="1500" idx="3"/>
            <a:endCxn id="1501" idx="1"/>
          </p:cNvCxnSpPr>
          <p:nvPr/>
        </p:nvCxnSpPr>
        <p:spPr>
          <a:xfrm>
            <a:off x="3429000" y="3364992"/>
            <a:ext cx="640200" cy="0"/>
          </a:xfrm>
          <a:prstGeom prst="straightConnector1">
            <a:avLst/>
          </a:prstGeom>
          <a:noFill/>
          <a:ln cap="flat" cmpd="sng" w="22225">
            <a:solidFill>
              <a:srgbClr val="1E7B4F"/>
            </a:solidFill>
            <a:prstDash val="solid"/>
            <a:round/>
            <a:headEnd len="sm" w="sm" type="none"/>
            <a:tailEnd len="med" w="med" type="triangle"/>
          </a:ln>
        </p:spPr>
      </p:cxnSp>
      <p:sp>
        <p:nvSpPr>
          <p:cNvPr id="1503" name="Google Shape;1503;p56"/>
          <p:cNvSpPr/>
          <p:nvPr/>
        </p:nvSpPr>
        <p:spPr>
          <a:xfrm>
            <a:off x="6311231" y="3008376"/>
            <a:ext cx="1186849" cy="150018"/>
          </a:xfrm>
          <a:prstGeom prst="roundRect">
            <a:avLst>
              <a:gd fmla="val 50000" name="adj"/>
            </a:avLst>
          </a:prstGeom>
          <a:solidFill>
            <a:srgbClr val="FFFFFF"/>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1E7B4F"/>
                </a:solidFill>
                <a:latin typeface="Montserrat"/>
                <a:ea typeface="Montserrat"/>
                <a:cs typeface="Montserrat"/>
                <a:sym typeface="Montserrat"/>
              </a:rPr>
              <a:t>PORTS UNCHANGED</a:t>
            </a:r>
            <a:endParaRPr/>
          </a:p>
        </p:txBody>
      </p:sp>
      <p:sp>
        <p:nvSpPr>
          <p:cNvPr id="1504" name="Google Shape;1504;p56"/>
          <p:cNvSpPr/>
          <p:nvPr/>
        </p:nvSpPr>
        <p:spPr>
          <a:xfrm>
            <a:off x="457200" y="3931920"/>
            <a:ext cx="2971800" cy="914400"/>
          </a:xfrm>
          <a:prstGeom prst="roundRect">
            <a:avLst>
              <a:gd fmla="val 5000" name="adj"/>
            </a:avLst>
          </a:prstGeom>
          <a:solidFill>
            <a:srgbClr val="F5F8FC"/>
          </a:solidFill>
          <a:ln cap="flat" cmpd="sng" w="9525">
            <a:solidFill>
              <a:srgbClr val="C7D7EA"/>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Data layer</a:t>
            </a:r>
            <a:endParaRPr/>
          </a:p>
          <a:p>
            <a:pPr indent="0" lvl="0" marL="0" marR="0" rtl="0" algn="l">
              <a:lnSpc>
                <a:spcPct val="100000"/>
              </a:lnSpc>
              <a:spcBef>
                <a:spcPts val="300"/>
              </a:spcBef>
              <a:spcAft>
                <a:spcPts val="0"/>
              </a:spcAft>
              <a:buNone/>
            </a:pPr>
            <a:r>
              <a:rPr b="0" lang="en-US" sz="825">
                <a:solidFill>
                  <a:srgbClr val="5F6B7A"/>
                </a:solidFill>
                <a:latin typeface="Consolas"/>
                <a:ea typeface="Consolas"/>
                <a:cs typeface="Consolas"/>
                <a:sym typeface="Consolas"/>
              </a:rPr>
              <a:t>Repository · BLETransport · SoftAPTransport</a:t>
            </a:r>
            <a:endParaRPr/>
          </a:p>
          <a:p>
            <a:pPr indent="0" lvl="0" marL="0" marR="0" rtl="0" algn="l">
              <a:lnSpc>
                <a:spcPct val="100000"/>
              </a:lnSpc>
              <a:spcBef>
                <a:spcPts val="0"/>
              </a:spcBef>
              <a:spcAft>
                <a:spcPts val="0"/>
              </a:spcAft>
              <a:buNone/>
            </a:pPr>
            <a:r>
              <a:rPr b="0" lang="en-US" sz="825">
                <a:solidFill>
                  <a:srgbClr val="5F6B7A"/>
                </a:solidFill>
                <a:latin typeface="Consolas"/>
                <a:ea typeface="Consolas"/>
                <a:cs typeface="Consolas"/>
                <a:sym typeface="Consolas"/>
              </a:rPr>
              <a:t>REST · Local store</a:t>
            </a:r>
            <a:endParaRPr/>
          </a:p>
        </p:txBody>
      </p:sp>
      <p:sp>
        <p:nvSpPr>
          <p:cNvPr id="1505" name="Google Shape;1505;p56"/>
          <p:cNvSpPr/>
          <p:nvPr/>
        </p:nvSpPr>
        <p:spPr>
          <a:xfrm>
            <a:off x="4069080" y="3931920"/>
            <a:ext cx="3520440" cy="914400"/>
          </a:xfrm>
          <a:prstGeom prst="roundRect">
            <a:avLst>
              <a:gd fmla="val 5000" name="adj"/>
            </a:avLst>
          </a:prstGeom>
          <a:solidFill>
            <a:srgbClr val="FFFFFF"/>
          </a:solidFill>
          <a:ln cap="flat" cmpd="sng" w="15875">
            <a:solidFill>
              <a:srgbClr val="1565C0"/>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Data layer</a:t>
            </a:r>
            <a:endParaRPr/>
          </a:p>
          <a:p>
            <a:pPr indent="0" lvl="0" marL="0" marR="0" rtl="0" algn="l">
              <a:lnSpc>
                <a:spcPct val="100000"/>
              </a:lnSpc>
              <a:spcBef>
                <a:spcPts val="300"/>
              </a:spcBef>
              <a:spcAft>
                <a:spcPts val="0"/>
              </a:spcAft>
              <a:buNone/>
            </a:pPr>
            <a:r>
              <a:rPr b="0" lang="en-US" sz="775">
                <a:solidFill>
                  <a:srgbClr val="1565C0"/>
                </a:solidFill>
                <a:latin typeface="Consolas"/>
                <a:ea typeface="Consolas"/>
                <a:cs typeface="Consolas"/>
                <a:sym typeface="Consolas"/>
              </a:rPr>
              <a:t>Repository · BLETransport · SoftAPTransport</a:t>
            </a:r>
            <a:endParaRPr/>
          </a:p>
          <a:p>
            <a:pPr indent="0" lvl="0" marL="0" marR="0" rtl="0" algn="l">
              <a:lnSpc>
                <a:spcPct val="100000"/>
              </a:lnSpc>
              <a:spcBef>
                <a:spcPts val="0"/>
              </a:spcBef>
              <a:spcAft>
                <a:spcPts val="0"/>
              </a:spcAft>
              <a:buNone/>
            </a:pPr>
            <a:r>
              <a:rPr b="0" lang="en-US" sz="775">
                <a:solidFill>
                  <a:srgbClr val="1565C0"/>
                </a:solidFill>
                <a:latin typeface="Consolas"/>
                <a:ea typeface="Consolas"/>
                <a:cs typeface="Consolas"/>
                <a:sym typeface="Consolas"/>
              </a:rPr>
              <a:t>REST · Room</a:t>
            </a:r>
            <a:endParaRPr/>
          </a:p>
          <a:p>
            <a:pPr indent="0" lvl="0" marL="0" marR="0" rtl="0" algn="l">
              <a:lnSpc>
                <a:spcPct val="100000"/>
              </a:lnSpc>
              <a:spcBef>
                <a:spcPts val="200"/>
              </a:spcBef>
              <a:spcAft>
                <a:spcPts val="0"/>
              </a:spcAft>
              <a:buNone/>
            </a:pPr>
            <a:r>
              <a:rPr b="0" lang="en-US" sz="925">
                <a:solidFill>
                  <a:srgbClr val="1F2A37"/>
                </a:solidFill>
                <a:latin typeface="Barlow"/>
                <a:ea typeface="Barlow"/>
                <a:cs typeface="Barlow"/>
                <a:sym typeface="Barlow"/>
              </a:rPr>
              <a:t>Same interfaces; Android radio, Wi-Fi and Keystore APIs inside</a:t>
            </a:r>
            <a:endParaRPr/>
          </a:p>
        </p:txBody>
      </p:sp>
      <p:cxnSp>
        <p:nvCxnSpPr>
          <p:cNvPr id="1506" name="Google Shape;1506;p56"/>
          <p:cNvCxnSpPr>
            <a:stCxn id="1504" idx="3"/>
            <a:endCxn id="1505" idx="1"/>
          </p:cNvCxnSpPr>
          <p:nvPr/>
        </p:nvCxnSpPr>
        <p:spPr>
          <a:xfrm>
            <a:off x="3429000" y="4389120"/>
            <a:ext cx="640200" cy="0"/>
          </a:xfrm>
          <a:prstGeom prst="straightConnector1">
            <a:avLst/>
          </a:prstGeom>
          <a:noFill/>
          <a:ln cap="flat" cmpd="sng" w="22225">
            <a:solidFill>
              <a:srgbClr val="1565C0"/>
            </a:solidFill>
            <a:prstDash val="solid"/>
            <a:round/>
            <a:headEnd len="sm" w="sm" type="none"/>
            <a:tailEnd len="med" w="med" type="triangle"/>
          </a:ln>
        </p:spPr>
      </p:cxnSp>
      <p:sp>
        <p:nvSpPr>
          <p:cNvPr id="1507" name="Google Shape;1507;p56"/>
          <p:cNvSpPr/>
          <p:nvPr/>
        </p:nvSpPr>
        <p:spPr>
          <a:xfrm>
            <a:off x="6176674" y="4032504"/>
            <a:ext cx="1321406" cy="150018"/>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1565C0"/>
                </a:solidFill>
                <a:latin typeface="Montserrat"/>
                <a:ea typeface="Montserrat"/>
                <a:cs typeface="Montserrat"/>
                <a:sym typeface="Montserrat"/>
              </a:rPr>
              <a:t>NATIVE COUNTERPART</a:t>
            </a:r>
            <a:endParaRPr/>
          </a:p>
        </p:txBody>
      </p:sp>
      <p:sp>
        <p:nvSpPr>
          <p:cNvPr id="1508" name="Google Shape;1508;p56"/>
          <p:cNvSpPr/>
          <p:nvPr/>
        </p:nvSpPr>
        <p:spPr>
          <a:xfrm>
            <a:off x="457200" y="4956048"/>
            <a:ext cx="2971800" cy="859536"/>
          </a:xfrm>
          <a:prstGeom prst="roundRect">
            <a:avLst>
              <a:gd fmla="val 5319" name="adj"/>
            </a:avLst>
          </a:prstGeom>
          <a:noFill/>
          <a:ln cap="flat" cmpd="sng" w="9525">
            <a:solidFill>
              <a:srgbClr val="5F6B7A"/>
            </a:solidFill>
            <a:prstDash val="dash"/>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0" i="1" lang="en-US" sz="925">
                <a:solidFill>
                  <a:srgbClr val="5F6B7A"/>
                </a:solidFill>
                <a:latin typeface="Barlow"/>
                <a:ea typeface="Barlow"/>
                <a:cs typeface="Barlow"/>
                <a:sym typeface="Barlow"/>
              </a:rPr>
              <a:t>In the iOS design: a single setting or call each</a:t>
            </a:r>
            <a:endParaRPr/>
          </a:p>
          <a:p>
            <a:pPr indent="0" lvl="0" marL="0" marR="0" rtl="0" algn="ctr">
              <a:lnSpc>
                <a:spcPct val="100000"/>
              </a:lnSpc>
              <a:spcBef>
                <a:spcPts val="300"/>
              </a:spcBef>
              <a:spcAft>
                <a:spcPts val="0"/>
              </a:spcAft>
              <a:buNone/>
            </a:pPr>
            <a:r>
              <a:rPr b="0" lang="en-US" sz="775">
                <a:solidFill>
                  <a:srgbClr val="5F6B7A"/>
                </a:solidFill>
                <a:latin typeface="Consolas"/>
                <a:ea typeface="Consolas"/>
                <a:cs typeface="Consolas"/>
                <a:sym typeface="Consolas"/>
              </a:rPr>
              <a:t>isIdleTimerDisabled · NWPathMonitor</a:t>
            </a:r>
            <a:endParaRPr/>
          </a:p>
          <a:p>
            <a:pPr indent="0" lvl="0" marL="0" marR="0" rtl="0" algn="ctr">
              <a:lnSpc>
                <a:spcPct val="100000"/>
              </a:lnSpc>
              <a:spcBef>
                <a:spcPts val="0"/>
              </a:spcBef>
              <a:spcAft>
                <a:spcPts val="0"/>
              </a:spcAft>
              <a:buNone/>
            </a:pPr>
            <a:r>
              <a:rPr b="0" lang="en-US" sz="775">
                <a:solidFill>
                  <a:srgbClr val="5F6B7A"/>
                </a:solidFill>
                <a:latin typeface="Consolas"/>
                <a:ea typeface="Consolas"/>
                <a:cs typeface="Consolas"/>
                <a:sym typeface="Consolas"/>
              </a:rPr>
              <a:t>ThisDeviceOnly · two permissions</a:t>
            </a:r>
            <a:endParaRPr/>
          </a:p>
        </p:txBody>
      </p:sp>
      <p:sp>
        <p:nvSpPr>
          <p:cNvPr id="1509" name="Google Shape;1509;p56"/>
          <p:cNvSpPr/>
          <p:nvPr/>
        </p:nvSpPr>
        <p:spPr>
          <a:xfrm>
            <a:off x="4069080" y="4956048"/>
            <a:ext cx="3520440" cy="859536"/>
          </a:xfrm>
          <a:prstGeom prst="roundRect">
            <a:avLst>
              <a:gd fmla="val 5319" name="adj"/>
            </a:avLst>
          </a:prstGeom>
          <a:solidFill>
            <a:srgbClr val="FFF4E0"/>
          </a:solidFill>
          <a:ln cap="flat" cmpd="sng" w="15875">
            <a:solidFill>
              <a:srgbClr val="F0A93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0" name="Google Shape;1510;p56"/>
          <p:cNvSpPr txBox="1"/>
          <p:nvPr/>
        </p:nvSpPr>
        <p:spPr>
          <a:xfrm>
            <a:off x="4178808" y="5029200"/>
            <a:ext cx="3300984"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9A5B00"/>
                </a:solidFill>
                <a:latin typeface="Montserrat"/>
                <a:ea typeface="Montserrat"/>
                <a:cs typeface="Montserrat"/>
                <a:sym typeface="Montserrat"/>
              </a:rPr>
              <a:t>ANDROID-SPECIFIC BUILDING BLOCKS</a:t>
            </a:r>
            <a:endParaRPr/>
          </a:p>
        </p:txBody>
      </p:sp>
      <p:sp>
        <p:nvSpPr>
          <p:cNvPr id="1511" name="Google Shape;1511;p56"/>
          <p:cNvSpPr/>
          <p:nvPr/>
        </p:nvSpPr>
        <p:spPr>
          <a:xfrm>
            <a:off x="4178808" y="5248656"/>
            <a:ext cx="1164838" cy="22860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75">
                <a:solidFill>
                  <a:srgbClr val="9A5B00"/>
                </a:solidFill>
                <a:latin typeface="Barlow"/>
                <a:ea typeface="Barlow"/>
                <a:cs typeface="Barlow"/>
                <a:sym typeface="Barlow"/>
              </a:rPr>
              <a:t>Permission gate · A2</a:t>
            </a:r>
            <a:endParaRPr/>
          </a:p>
        </p:txBody>
      </p:sp>
      <p:sp>
        <p:nvSpPr>
          <p:cNvPr id="1512" name="Google Shape;1512;p56"/>
          <p:cNvSpPr/>
          <p:nvPr/>
        </p:nvSpPr>
        <p:spPr>
          <a:xfrm>
            <a:off x="5416798" y="5248656"/>
            <a:ext cx="1326100" cy="22860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75">
                <a:solidFill>
                  <a:srgbClr val="9A5B00"/>
                </a:solidFill>
                <a:latin typeface="Barlow"/>
                <a:ea typeface="Barlow"/>
                <a:cs typeface="Barlow"/>
                <a:sym typeface="Barlow"/>
              </a:rPr>
              <a:t>Foreground service · A5</a:t>
            </a:r>
            <a:endParaRPr/>
          </a:p>
        </p:txBody>
      </p:sp>
      <p:sp>
        <p:nvSpPr>
          <p:cNvPr id="1513" name="Google Shape;1513;p56"/>
          <p:cNvSpPr/>
          <p:nvPr/>
        </p:nvSpPr>
        <p:spPr>
          <a:xfrm>
            <a:off x="4178808" y="5522976"/>
            <a:ext cx="1414314" cy="22860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75">
                <a:solidFill>
                  <a:srgbClr val="9A5B00"/>
                </a:solidFill>
                <a:latin typeface="Barlow"/>
                <a:ea typeface="Barlow"/>
                <a:cs typeface="Barlow"/>
                <a:sym typeface="Barlow"/>
              </a:rPr>
              <a:t>WorkManager outbox · A6</a:t>
            </a:r>
            <a:endParaRPr/>
          </a:p>
        </p:txBody>
      </p:sp>
      <p:sp>
        <p:nvSpPr>
          <p:cNvPr id="1514" name="Google Shape;1514;p56"/>
          <p:cNvSpPr/>
          <p:nvPr/>
        </p:nvSpPr>
        <p:spPr>
          <a:xfrm>
            <a:off x="5666274" y="5522976"/>
            <a:ext cx="1568005" cy="22860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75">
                <a:solidFill>
                  <a:srgbClr val="9A5B00"/>
                </a:solidFill>
                <a:latin typeface="Barlow"/>
                <a:ea typeface="Barlow"/>
                <a:cs typeface="Barlow"/>
                <a:sym typeface="Barlow"/>
              </a:rPr>
              <a:t>Backup and screen rules · A7</a:t>
            </a:r>
            <a:endParaRPr/>
          </a:p>
        </p:txBody>
      </p:sp>
      <p:sp>
        <p:nvSpPr>
          <p:cNvPr id="1515" name="Google Shape;1515;p56"/>
          <p:cNvSpPr txBox="1"/>
          <p:nvPr/>
        </p:nvSpPr>
        <p:spPr>
          <a:xfrm>
            <a:off x="7909560" y="1216152"/>
            <a:ext cx="3520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PAGE BY PAGE · WHERE THE iOS DESIGN CHANGES</a:t>
            </a:r>
            <a:endParaRPr/>
          </a:p>
        </p:txBody>
      </p:sp>
      <p:sp>
        <p:nvSpPr>
          <p:cNvPr id="1516" name="Google Shape;1516;p56"/>
          <p:cNvSpPr/>
          <p:nvPr/>
        </p:nvSpPr>
        <p:spPr>
          <a:xfrm>
            <a:off x="7909560" y="1481328"/>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7" name="Google Shape;1517;p56"/>
          <p:cNvSpPr/>
          <p:nvPr/>
        </p:nvSpPr>
        <p:spPr>
          <a:xfrm>
            <a:off x="7982712" y="1549908"/>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T1</a:t>
            </a:r>
            <a:endParaRPr/>
          </a:p>
        </p:txBody>
      </p:sp>
      <p:sp>
        <p:nvSpPr>
          <p:cNvPr id="1518" name="Google Shape;1518;p56"/>
          <p:cNvSpPr txBox="1"/>
          <p:nvPr/>
        </p:nvSpPr>
        <p:spPr>
          <a:xfrm>
            <a:off x="8531352" y="1481328"/>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Installation workflow</a:t>
            </a:r>
            <a:endParaRPr/>
          </a:p>
        </p:txBody>
      </p:sp>
      <p:sp>
        <p:nvSpPr>
          <p:cNvPr id="1519" name="Google Shape;1519;p56"/>
          <p:cNvSpPr/>
          <p:nvPr/>
        </p:nvSpPr>
        <p:spPr>
          <a:xfrm>
            <a:off x="10686713" y="1549908"/>
            <a:ext cx="670135" cy="214884"/>
          </a:xfrm>
          <a:prstGeom prst="roundRect">
            <a:avLst>
              <a:gd fmla="val 500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1E7B4F"/>
                </a:solidFill>
                <a:latin typeface="Barlow"/>
                <a:ea typeface="Barlow"/>
                <a:cs typeface="Barlow"/>
                <a:sym typeface="Barlow"/>
              </a:rPr>
              <a:t>No change</a:t>
            </a:r>
            <a:endParaRPr/>
          </a:p>
        </p:txBody>
      </p:sp>
      <p:sp>
        <p:nvSpPr>
          <p:cNvPr id="1520" name="Google Shape;1520;p56"/>
          <p:cNvSpPr/>
          <p:nvPr/>
        </p:nvSpPr>
        <p:spPr>
          <a:xfrm>
            <a:off x="7909560" y="1879092"/>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1" name="Google Shape;1521;p56"/>
          <p:cNvSpPr/>
          <p:nvPr/>
        </p:nvSpPr>
        <p:spPr>
          <a:xfrm>
            <a:off x="7982712" y="1947672"/>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T2</a:t>
            </a:r>
            <a:endParaRPr/>
          </a:p>
        </p:txBody>
      </p:sp>
      <p:sp>
        <p:nvSpPr>
          <p:cNvPr id="1522" name="Google Shape;1522;p56"/>
          <p:cNvSpPr txBox="1"/>
          <p:nvPr/>
        </p:nvSpPr>
        <p:spPr>
          <a:xfrm>
            <a:off x="8531352" y="1879092"/>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States and permissions</a:t>
            </a:r>
            <a:endParaRPr/>
          </a:p>
        </p:txBody>
      </p:sp>
      <p:sp>
        <p:nvSpPr>
          <p:cNvPr id="1523" name="Google Shape;1523;p56"/>
          <p:cNvSpPr/>
          <p:nvPr/>
        </p:nvSpPr>
        <p:spPr>
          <a:xfrm>
            <a:off x="10686713" y="1947672"/>
            <a:ext cx="670135" cy="214884"/>
          </a:xfrm>
          <a:prstGeom prst="roundRect">
            <a:avLst>
              <a:gd fmla="val 500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1E7B4F"/>
                </a:solidFill>
                <a:latin typeface="Barlow"/>
                <a:ea typeface="Barlow"/>
                <a:cs typeface="Barlow"/>
                <a:sym typeface="Barlow"/>
              </a:rPr>
              <a:t>No change</a:t>
            </a:r>
            <a:endParaRPr/>
          </a:p>
        </p:txBody>
      </p:sp>
      <p:sp>
        <p:nvSpPr>
          <p:cNvPr id="1524" name="Google Shape;1524;p56"/>
          <p:cNvSpPr/>
          <p:nvPr/>
        </p:nvSpPr>
        <p:spPr>
          <a:xfrm>
            <a:off x="7909560" y="2276856"/>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5" name="Google Shape;1525;p56"/>
          <p:cNvSpPr/>
          <p:nvPr/>
        </p:nvSpPr>
        <p:spPr>
          <a:xfrm>
            <a:off x="7982712" y="2345436"/>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T3</a:t>
            </a:r>
            <a:endParaRPr/>
          </a:p>
        </p:txBody>
      </p:sp>
      <p:sp>
        <p:nvSpPr>
          <p:cNvPr id="1526" name="Google Shape;1526;p56"/>
          <p:cNvSpPr txBox="1"/>
          <p:nvPr/>
        </p:nvSpPr>
        <p:spPr>
          <a:xfrm>
            <a:off x="8531352" y="2276856"/>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Confirmed behaviors</a:t>
            </a:r>
            <a:endParaRPr/>
          </a:p>
        </p:txBody>
      </p:sp>
      <p:sp>
        <p:nvSpPr>
          <p:cNvPr id="1527" name="Google Shape;1527;p56"/>
          <p:cNvSpPr/>
          <p:nvPr/>
        </p:nvSpPr>
        <p:spPr>
          <a:xfrm>
            <a:off x="10862360" y="2345436"/>
            <a:ext cx="494488"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A3 · A5</a:t>
            </a:r>
            <a:endParaRPr/>
          </a:p>
        </p:txBody>
      </p:sp>
      <p:sp>
        <p:nvSpPr>
          <p:cNvPr id="1528" name="Google Shape;1528;p56"/>
          <p:cNvSpPr/>
          <p:nvPr/>
        </p:nvSpPr>
        <p:spPr>
          <a:xfrm>
            <a:off x="7909560" y="2674620"/>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9" name="Google Shape;1529;p56"/>
          <p:cNvSpPr/>
          <p:nvPr/>
        </p:nvSpPr>
        <p:spPr>
          <a:xfrm>
            <a:off x="7982712" y="2743200"/>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T4</a:t>
            </a:r>
            <a:endParaRPr/>
          </a:p>
        </p:txBody>
      </p:sp>
      <p:sp>
        <p:nvSpPr>
          <p:cNvPr id="1530" name="Google Shape;1530;p56"/>
          <p:cNvSpPr txBox="1"/>
          <p:nvPr/>
        </p:nvSpPr>
        <p:spPr>
          <a:xfrm>
            <a:off x="8531352" y="2674620"/>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Error and recovery</a:t>
            </a:r>
            <a:endParaRPr/>
          </a:p>
        </p:txBody>
      </p:sp>
      <p:sp>
        <p:nvSpPr>
          <p:cNvPr id="1531" name="Google Shape;1531;p56"/>
          <p:cNvSpPr/>
          <p:nvPr/>
        </p:nvSpPr>
        <p:spPr>
          <a:xfrm>
            <a:off x="10457109" y="2743200"/>
            <a:ext cx="899739"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A3 · A4 · A5 · A6</a:t>
            </a:r>
            <a:endParaRPr/>
          </a:p>
        </p:txBody>
      </p:sp>
      <p:sp>
        <p:nvSpPr>
          <p:cNvPr id="1532" name="Google Shape;1532;p56"/>
          <p:cNvSpPr/>
          <p:nvPr/>
        </p:nvSpPr>
        <p:spPr>
          <a:xfrm>
            <a:off x="7909560" y="3072384"/>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3" name="Google Shape;1533;p56"/>
          <p:cNvSpPr/>
          <p:nvPr/>
        </p:nvSpPr>
        <p:spPr>
          <a:xfrm>
            <a:off x="7982712" y="3140964"/>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T5</a:t>
            </a:r>
            <a:endParaRPr/>
          </a:p>
        </p:txBody>
      </p:sp>
      <p:sp>
        <p:nvSpPr>
          <p:cNvPr id="1534" name="Google Shape;1534;p56"/>
          <p:cNvSpPr txBox="1"/>
          <p:nvPr/>
        </p:nvSpPr>
        <p:spPr>
          <a:xfrm>
            <a:off x="8531352" y="3072384"/>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Architecture</a:t>
            </a:r>
            <a:endParaRPr/>
          </a:p>
        </p:txBody>
      </p:sp>
      <p:sp>
        <p:nvSpPr>
          <p:cNvPr id="1535" name="Google Shape;1535;p56"/>
          <p:cNvSpPr/>
          <p:nvPr/>
        </p:nvSpPr>
        <p:spPr>
          <a:xfrm>
            <a:off x="10887078" y="3140964"/>
            <a:ext cx="469770"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A1 · A7</a:t>
            </a:r>
            <a:endParaRPr/>
          </a:p>
        </p:txBody>
      </p:sp>
      <p:sp>
        <p:nvSpPr>
          <p:cNvPr id="1536" name="Google Shape;1536;p56"/>
          <p:cNvSpPr/>
          <p:nvPr/>
        </p:nvSpPr>
        <p:spPr>
          <a:xfrm>
            <a:off x="7909560" y="3470148"/>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7" name="Google Shape;1537;p56"/>
          <p:cNvSpPr/>
          <p:nvPr/>
        </p:nvSpPr>
        <p:spPr>
          <a:xfrm>
            <a:off x="7982712" y="3538728"/>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T6</a:t>
            </a:r>
            <a:endParaRPr/>
          </a:p>
        </p:txBody>
      </p:sp>
      <p:sp>
        <p:nvSpPr>
          <p:cNvPr id="1538" name="Google Shape;1538;p56"/>
          <p:cNvSpPr txBox="1"/>
          <p:nvPr/>
        </p:nvSpPr>
        <p:spPr>
          <a:xfrm>
            <a:off x="8531352" y="3470148"/>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Device link</a:t>
            </a:r>
            <a:endParaRPr/>
          </a:p>
        </p:txBody>
      </p:sp>
      <p:sp>
        <p:nvSpPr>
          <p:cNvPr id="1539" name="Google Shape;1539;p56"/>
          <p:cNvSpPr/>
          <p:nvPr/>
        </p:nvSpPr>
        <p:spPr>
          <a:xfrm>
            <a:off x="10860091" y="3538728"/>
            <a:ext cx="496757"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A2 · A3</a:t>
            </a:r>
            <a:endParaRPr/>
          </a:p>
        </p:txBody>
      </p:sp>
      <p:sp>
        <p:nvSpPr>
          <p:cNvPr id="1540" name="Google Shape;1540;p56"/>
          <p:cNvSpPr/>
          <p:nvPr/>
        </p:nvSpPr>
        <p:spPr>
          <a:xfrm>
            <a:off x="7909560" y="3867912"/>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1" name="Google Shape;1541;p56"/>
          <p:cNvSpPr/>
          <p:nvPr/>
        </p:nvSpPr>
        <p:spPr>
          <a:xfrm>
            <a:off x="7982712" y="3936492"/>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T7</a:t>
            </a:r>
            <a:endParaRPr/>
          </a:p>
        </p:txBody>
      </p:sp>
      <p:sp>
        <p:nvSpPr>
          <p:cNvPr id="1542" name="Google Shape;1542;p56"/>
          <p:cNvSpPr txBox="1"/>
          <p:nvPr/>
        </p:nvSpPr>
        <p:spPr>
          <a:xfrm>
            <a:off x="8531352" y="3867912"/>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Firmware update</a:t>
            </a:r>
            <a:endParaRPr/>
          </a:p>
        </p:txBody>
      </p:sp>
      <p:sp>
        <p:nvSpPr>
          <p:cNvPr id="1543" name="Google Shape;1543;p56"/>
          <p:cNvSpPr/>
          <p:nvPr/>
        </p:nvSpPr>
        <p:spPr>
          <a:xfrm>
            <a:off x="10855343" y="3936492"/>
            <a:ext cx="501505"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A4 · A5</a:t>
            </a:r>
            <a:endParaRPr/>
          </a:p>
        </p:txBody>
      </p:sp>
      <p:sp>
        <p:nvSpPr>
          <p:cNvPr id="1544" name="Google Shape;1544;p56"/>
          <p:cNvSpPr/>
          <p:nvPr/>
        </p:nvSpPr>
        <p:spPr>
          <a:xfrm>
            <a:off x="7909560" y="4265676"/>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5" name="Google Shape;1545;p56"/>
          <p:cNvSpPr/>
          <p:nvPr/>
        </p:nvSpPr>
        <p:spPr>
          <a:xfrm>
            <a:off x="7982712" y="4334256"/>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T8</a:t>
            </a:r>
            <a:endParaRPr/>
          </a:p>
        </p:txBody>
      </p:sp>
      <p:sp>
        <p:nvSpPr>
          <p:cNvPr id="1546" name="Google Shape;1546;p56"/>
          <p:cNvSpPr txBox="1"/>
          <p:nvPr/>
        </p:nvSpPr>
        <p:spPr>
          <a:xfrm>
            <a:off x="8531352" y="4265676"/>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Persistence and sync</a:t>
            </a:r>
            <a:endParaRPr/>
          </a:p>
        </p:txBody>
      </p:sp>
      <p:sp>
        <p:nvSpPr>
          <p:cNvPr id="1547" name="Google Shape;1547;p56"/>
          <p:cNvSpPr/>
          <p:nvPr/>
        </p:nvSpPr>
        <p:spPr>
          <a:xfrm>
            <a:off x="10862680" y="4334256"/>
            <a:ext cx="494168"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A5 · A6</a:t>
            </a:r>
            <a:endParaRPr/>
          </a:p>
        </p:txBody>
      </p:sp>
      <p:sp>
        <p:nvSpPr>
          <p:cNvPr id="1548" name="Google Shape;1548;p56"/>
          <p:cNvSpPr/>
          <p:nvPr/>
        </p:nvSpPr>
        <p:spPr>
          <a:xfrm>
            <a:off x="7909560" y="4663440"/>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9" name="Google Shape;1549;p56"/>
          <p:cNvSpPr/>
          <p:nvPr/>
        </p:nvSpPr>
        <p:spPr>
          <a:xfrm>
            <a:off x="7982712" y="4732020"/>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T9</a:t>
            </a:r>
            <a:endParaRPr/>
          </a:p>
        </p:txBody>
      </p:sp>
      <p:sp>
        <p:nvSpPr>
          <p:cNvPr id="1550" name="Google Shape;1550;p56"/>
          <p:cNvSpPr txBox="1"/>
          <p:nvPr/>
        </p:nvSpPr>
        <p:spPr>
          <a:xfrm>
            <a:off x="8531352" y="4663440"/>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Test approach</a:t>
            </a:r>
            <a:endParaRPr/>
          </a:p>
        </p:txBody>
      </p:sp>
      <p:sp>
        <p:nvSpPr>
          <p:cNvPr id="1551" name="Google Shape;1551;p56"/>
          <p:cNvSpPr/>
          <p:nvPr/>
        </p:nvSpPr>
        <p:spPr>
          <a:xfrm>
            <a:off x="11061418" y="4732020"/>
            <a:ext cx="295430"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A8</a:t>
            </a:r>
            <a:endParaRPr/>
          </a:p>
        </p:txBody>
      </p:sp>
      <p:sp>
        <p:nvSpPr>
          <p:cNvPr id="1552" name="Google Shape;1552;p56"/>
          <p:cNvSpPr/>
          <p:nvPr/>
        </p:nvSpPr>
        <p:spPr>
          <a:xfrm>
            <a:off x="7909560" y="5061203"/>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3" name="Google Shape;1553;p56"/>
          <p:cNvSpPr/>
          <p:nvPr/>
        </p:nvSpPr>
        <p:spPr>
          <a:xfrm>
            <a:off x="7982712" y="5129783"/>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T10</a:t>
            </a:r>
            <a:endParaRPr/>
          </a:p>
        </p:txBody>
      </p:sp>
      <p:sp>
        <p:nvSpPr>
          <p:cNvPr id="1554" name="Google Shape;1554;p56"/>
          <p:cNvSpPr txBox="1"/>
          <p:nvPr/>
        </p:nvSpPr>
        <p:spPr>
          <a:xfrm>
            <a:off x="8531352" y="5061203"/>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75">
                <a:solidFill>
                  <a:srgbClr val="1F2A37"/>
                </a:solidFill>
                <a:latin typeface="Barlow"/>
                <a:ea typeface="Barlow"/>
                <a:cs typeface="Barlow"/>
                <a:sym typeface="Barlow"/>
              </a:rPr>
              <a:t>Assumptions and risks</a:t>
            </a:r>
            <a:endParaRPr/>
          </a:p>
        </p:txBody>
      </p:sp>
      <p:sp>
        <p:nvSpPr>
          <p:cNvPr id="1555" name="Google Shape;1555;p56"/>
          <p:cNvSpPr/>
          <p:nvPr/>
        </p:nvSpPr>
        <p:spPr>
          <a:xfrm>
            <a:off x="11062497" y="5129783"/>
            <a:ext cx="294351"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A9</a:t>
            </a:r>
            <a:endParaRPr/>
          </a:p>
        </p:txBody>
      </p:sp>
      <p:sp>
        <p:nvSpPr>
          <p:cNvPr id="1556" name="Google Shape;1556;p56"/>
          <p:cNvSpPr/>
          <p:nvPr/>
        </p:nvSpPr>
        <p:spPr>
          <a:xfrm>
            <a:off x="7909560" y="5541263"/>
            <a:ext cx="182880" cy="146304"/>
          </a:xfrm>
          <a:prstGeom prst="rect">
            <a:avLst/>
          </a:prstGeom>
          <a:solidFill>
            <a:srgbClr val="E6F4EA"/>
          </a:solidFill>
          <a:ln cap="flat" cmpd="sng" w="12700">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7" name="Google Shape;1557;p56"/>
          <p:cNvSpPr txBox="1"/>
          <p:nvPr/>
        </p:nvSpPr>
        <p:spPr>
          <a:xfrm>
            <a:off x="8147304" y="5513831"/>
            <a:ext cx="864745"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50">
                <a:solidFill>
                  <a:srgbClr val="1F2A37"/>
                </a:solidFill>
                <a:latin typeface="Barlow"/>
                <a:ea typeface="Barlow"/>
                <a:cs typeface="Barlow"/>
                <a:sym typeface="Barlow"/>
              </a:rPr>
              <a:t>Ports unchanged</a:t>
            </a:r>
            <a:endParaRPr/>
          </a:p>
        </p:txBody>
      </p:sp>
      <p:sp>
        <p:nvSpPr>
          <p:cNvPr id="1558" name="Google Shape;1558;p56"/>
          <p:cNvSpPr/>
          <p:nvPr/>
        </p:nvSpPr>
        <p:spPr>
          <a:xfrm>
            <a:off x="9194929" y="5541263"/>
            <a:ext cx="182880" cy="146304"/>
          </a:xfrm>
          <a:prstGeom prst="rect">
            <a:avLst/>
          </a:prstGeom>
          <a:solidFill>
            <a:srgbClr val="FFFFFF"/>
          </a:solidFill>
          <a:ln cap="flat" cmpd="sng" w="12700">
            <a:solidFill>
              <a:srgbClr val="1565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9" name="Google Shape;1559;p56"/>
          <p:cNvSpPr txBox="1"/>
          <p:nvPr/>
        </p:nvSpPr>
        <p:spPr>
          <a:xfrm>
            <a:off x="9432673" y="5513831"/>
            <a:ext cx="9562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50">
                <a:solidFill>
                  <a:srgbClr val="1F2A37"/>
                </a:solidFill>
                <a:latin typeface="Barlow"/>
                <a:ea typeface="Barlow"/>
                <a:cs typeface="Barlow"/>
                <a:sym typeface="Barlow"/>
              </a:rPr>
              <a:t>Native counterpart</a:t>
            </a:r>
            <a:endParaRPr/>
          </a:p>
        </p:txBody>
      </p:sp>
      <p:sp>
        <p:nvSpPr>
          <p:cNvPr id="1560" name="Google Shape;1560;p56"/>
          <p:cNvSpPr/>
          <p:nvPr/>
        </p:nvSpPr>
        <p:spPr>
          <a:xfrm>
            <a:off x="7909560" y="5769863"/>
            <a:ext cx="182880" cy="146304"/>
          </a:xfrm>
          <a:prstGeom prst="rect">
            <a:avLst/>
          </a:prstGeom>
          <a:solidFill>
            <a:srgbClr val="FFF4E0"/>
          </a:solidFill>
          <a:ln cap="flat" cmpd="sng" w="12700">
            <a:solidFill>
              <a:srgbClr val="F0A93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1" name="Google Shape;1561;p56"/>
          <p:cNvSpPr txBox="1"/>
          <p:nvPr/>
        </p:nvSpPr>
        <p:spPr>
          <a:xfrm>
            <a:off x="8147304" y="5742431"/>
            <a:ext cx="1188275"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50">
                <a:solidFill>
                  <a:srgbClr val="1F2A37"/>
                </a:solidFill>
                <a:latin typeface="Barlow"/>
                <a:ea typeface="Barlow"/>
                <a:cs typeface="Barlow"/>
                <a:sym typeface="Barlow"/>
              </a:rPr>
              <a:t>Android-specific design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
        <p:nvSpPr>
          <p:cNvPr id="1567" name="Google Shape;1567;p57"/>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09 · TECHNICAL DESIGN (ANDROID) · PERMISSIONS AND PREREQUISITES · BY ANDROID VERSION</a:t>
            </a:r>
            <a:endParaRPr/>
          </a:p>
        </p:txBody>
      </p:sp>
      <p:sp>
        <p:nvSpPr>
          <p:cNvPr id="1568" name="Google Shape;1568;p57"/>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What the installer must grant before the first scan depends on the Android version</a:t>
            </a:r>
            <a:endParaRPr/>
          </a:p>
        </p:txBody>
      </p:sp>
      <p:sp>
        <p:nvSpPr>
          <p:cNvPr id="1569" name="Google Shape;1569;p57"/>
          <p:cNvSpPr txBox="1"/>
          <p:nvPr/>
        </p:nvSpPr>
        <p:spPr>
          <a:xfrm>
            <a:off x="457200" y="1481328"/>
            <a:ext cx="2057400" cy="4206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Android version</a:t>
            </a:r>
            <a:endParaRPr/>
          </a:p>
        </p:txBody>
      </p:sp>
      <p:sp>
        <p:nvSpPr>
          <p:cNvPr id="1570" name="Google Shape;1570;p57"/>
          <p:cNvSpPr/>
          <p:nvPr/>
        </p:nvSpPr>
        <p:spPr>
          <a:xfrm>
            <a:off x="265176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9 and lower</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28 and lower</a:t>
            </a:r>
            <a:endParaRPr/>
          </a:p>
        </p:txBody>
      </p:sp>
      <p:sp>
        <p:nvSpPr>
          <p:cNvPr id="1571" name="Google Shape;1571;p57"/>
          <p:cNvSpPr/>
          <p:nvPr/>
        </p:nvSpPr>
        <p:spPr>
          <a:xfrm>
            <a:off x="3749039"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10</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29</a:t>
            </a:r>
            <a:endParaRPr/>
          </a:p>
        </p:txBody>
      </p:sp>
      <p:sp>
        <p:nvSpPr>
          <p:cNvPr id="1572" name="Google Shape;1572;p57"/>
          <p:cNvSpPr/>
          <p:nvPr/>
        </p:nvSpPr>
        <p:spPr>
          <a:xfrm>
            <a:off x="484632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11</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30</a:t>
            </a:r>
            <a:endParaRPr/>
          </a:p>
        </p:txBody>
      </p:sp>
      <p:sp>
        <p:nvSpPr>
          <p:cNvPr id="1573" name="Google Shape;1573;p57"/>
          <p:cNvSpPr/>
          <p:nvPr/>
        </p:nvSpPr>
        <p:spPr>
          <a:xfrm>
            <a:off x="594360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12</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31–32</a:t>
            </a:r>
            <a:endParaRPr/>
          </a:p>
        </p:txBody>
      </p:sp>
      <p:sp>
        <p:nvSpPr>
          <p:cNvPr id="1574" name="Google Shape;1574;p57"/>
          <p:cNvSpPr/>
          <p:nvPr/>
        </p:nvSpPr>
        <p:spPr>
          <a:xfrm>
            <a:off x="7040879"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13</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33</a:t>
            </a:r>
            <a:endParaRPr/>
          </a:p>
        </p:txBody>
      </p:sp>
      <p:sp>
        <p:nvSpPr>
          <p:cNvPr id="1575" name="Google Shape;1575;p57"/>
          <p:cNvSpPr/>
          <p:nvPr/>
        </p:nvSpPr>
        <p:spPr>
          <a:xfrm>
            <a:off x="813816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14</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34</a:t>
            </a:r>
            <a:endParaRPr/>
          </a:p>
        </p:txBody>
      </p:sp>
      <p:sp>
        <p:nvSpPr>
          <p:cNvPr id="1576" name="Google Shape;1576;p57"/>
          <p:cNvSpPr/>
          <p:nvPr/>
        </p:nvSpPr>
        <p:spPr>
          <a:xfrm>
            <a:off x="923544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15</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35</a:t>
            </a:r>
            <a:endParaRPr/>
          </a:p>
        </p:txBody>
      </p:sp>
      <p:sp>
        <p:nvSpPr>
          <p:cNvPr id="1577" name="Google Shape;1577;p57"/>
          <p:cNvSpPr/>
          <p:nvPr/>
        </p:nvSpPr>
        <p:spPr>
          <a:xfrm>
            <a:off x="1033272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16</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36</a:t>
            </a:r>
            <a:endParaRPr/>
          </a:p>
        </p:txBody>
      </p:sp>
      <p:cxnSp>
        <p:nvCxnSpPr>
          <p:cNvPr id="1578" name="Google Shape;1578;p57"/>
          <p:cNvCxnSpPr/>
          <p:nvPr/>
        </p:nvCxnSpPr>
        <p:spPr>
          <a:xfrm>
            <a:off x="3749039"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79" name="Google Shape;1579;p57"/>
          <p:cNvCxnSpPr/>
          <p:nvPr/>
        </p:nvCxnSpPr>
        <p:spPr>
          <a:xfrm>
            <a:off x="4846320"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0" name="Google Shape;1580;p57"/>
          <p:cNvCxnSpPr/>
          <p:nvPr/>
        </p:nvCxnSpPr>
        <p:spPr>
          <a:xfrm>
            <a:off x="5943600"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1" name="Google Shape;1581;p57"/>
          <p:cNvCxnSpPr/>
          <p:nvPr/>
        </p:nvCxnSpPr>
        <p:spPr>
          <a:xfrm>
            <a:off x="7040879"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2" name="Google Shape;1582;p57"/>
          <p:cNvCxnSpPr/>
          <p:nvPr/>
        </p:nvCxnSpPr>
        <p:spPr>
          <a:xfrm>
            <a:off x="8138160"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3" name="Google Shape;1583;p57"/>
          <p:cNvCxnSpPr/>
          <p:nvPr/>
        </p:nvCxnSpPr>
        <p:spPr>
          <a:xfrm>
            <a:off x="9235440"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4" name="Google Shape;1584;p57"/>
          <p:cNvCxnSpPr/>
          <p:nvPr/>
        </p:nvCxnSpPr>
        <p:spPr>
          <a:xfrm>
            <a:off x="10332720" y="1901952"/>
            <a:ext cx="0" cy="2743200"/>
          </a:xfrm>
          <a:prstGeom prst="straightConnector1">
            <a:avLst/>
          </a:prstGeom>
          <a:noFill/>
          <a:ln cap="flat" cmpd="sng" w="9525">
            <a:solidFill>
              <a:srgbClr val="D9DEE5"/>
            </a:solidFill>
            <a:prstDash val="solid"/>
            <a:round/>
            <a:headEnd len="sm" w="sm" type="none"/>
            <a:tailEnd len="sm" w="sm" type="none"/>
          </a:ln>
        </p:spPr>
      </p:cxnSp>
      <p:sp>
        <p:nvSpPr>
          <p:cNvPr id="1585" name="Google Shape;1585;p57"/>
          <p:cNvSpPr txBox="1"/>
          <p:nvPr/>
        </p:nvSpPr>
        <p:spPr>
          <a:xfrm>
            <a:off x="457200" y="1956816"/>
            <a:ext cx="2057400" cy="4206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BLE scan and connect</a:t>
            </a:r>
            <a:endParaRPr/>
          </a:p>
        </p:txBody>
      </p:sp>
      <p:sp>
        <p:nvSpPr>
          <p:cNvPr id="1586" name="Google Shape;1586;p57"/>
          <p:cNvSpPr/>
          <p:nvPr/>
        </p:nvSpPr>
        <p:spPr>
          <a:xfrm>
            <a:off x="2679191" y="1956816"/>
            <a:ext cx="3236975" cy="420624"/>
          </a:xfrm>
          <a:prstGeom prst="roundRect">
            <a:avLst>
              <a:gd fmla="val 10869" name="adj"/>
            </a:avLst>
          </a:prstGeom>
          <a:solidFill>
            <a:srgbClr val="FFF4E0"/>
          </a:solidFill>
          <a:ln cap="flat" cmpd="sng" w="9525">
            <a:solidFill>
              <a:srgbClr val="F0A93B"/>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900">
                <a:solidFill>
                  <a:srgbClr val="9A5B00"/>
                </a:solidFill>
                <a:latin typeface="Barlow"/>
                <a:ea typeface="Barlow"/>
                <a:cs typeface="Barlow"/>
                <a:sym typeface="Barlow"/>
              </a:rPr>
              <a:t>Location permission: </a:t>
            </a:r>
            <a:r>
              <a:rPr b="0" lang="en-US" sz="825">
                <a:solidFill>
                  <a:srgbClr val="9A5B00"/>
                </a:solidFill>
                <a:latin typeface="Consolas"/>
                <a:ea typeface="Consolas"/>
                <a:cs typeface="Consolas"/>
                <a:sym typeface="Consolas"/>
              </a:rPr>
              <a:t>ACCESS_FINE_LOCATION</a:t>
            </a:r>
            <a:endParaRPr/>
          </a:p>
          <a:p>
            <a:pPr indent="0" lvl="0" marL="0" marR="0" rtl="0" algn="ctr">
              <a:lnSpc>
                <a:spcPct val="100000"/>
              </a:lnSpc>
              <a:spcBef>
                <a:spcPts val="100"/>
              </a:spcBef>
              <a:spcAft>
                <a:spcPts val="0"/>
              </a:spcAft>
              <a:buNone/>
            </a:pPr>
            <a:r>
              <a:rPr b="0" lang="en-US" sz="825">
                <a:solidFill>
                  <a:srgbClr val="9A5B00"/>
                </a:solidFill>
                <a:latin typeface="Barlow"/>
                <a:ea typeface="Barlow"/>
                <a:cs typeface="Barlow"/>
                <a:sym typeface="Barlow"/>
              </a:rPr>
              <a:t>Android 10 and 11: scan only while the app is visible</a:t>
            </a:r>
            <a:endParaRPr/>
          </a:p>
        </p:txBody>
      </p:sp>
      <p:sp>
        <p:nvSpPr>
          <p:cNvPr id="1587" name="Google Shape;1587;p57"/>
          <p:cNvSpPr/>
          <p:nvPr/>
        </p:nvSpPr>
        <p:spPr>
          <a:xfrm>
            <a:off x="5971032" y="1956816"/>
            <a:ext cx="5431536" cy="420624"/>
          </a:xfrm>
          <a:prstGeom prst="roundRect">
            <a:avLst>
              <a:gd fmla="val 10869" name="adj"/>
            </a:avLst>
          </a:prstGeom>
          <a:solidFill>
            <a:srgbClr val="FFF4E0"/>
          </a:solidFill>
          <a:ln cap="flat" cmpd="sng" w="9525">
            <a:solidFill>
              <a:srgbClr val="F0A93B"/>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900">
                <a:solidFill>
                  <a:srgbClr val="9A5B00"/>
                </a:solidFill>
                <a:latin typeface="Barlow"/>
                <a:ea typeface="Barlow"/>
                <a:cs typeface="Barlow"/>
                <a:sym typeface="Barlow"/>
              </a:rPr>
              <a:t>Nearby devices permission: </a:t>
            </a:r>
            <a:r>
              <a:rPr b="0" lang="en-US" sz="825">
                <a:solidFill>
                  <a:srgbClr val="9A5B00"/>
                </a:solidFill>
                <a:latin typeface="Consolas"/>
                <a:ea typeface="Consolas"/>
                <a:cs typeface="Consolas"/>
                <a:sym typeface="Consolas"/>
              </a:rPr>
              <a:t>BLUETOOTH_SCAN</a:t>
            </a:r>
            <a:r>
              <a:rPr b="0" lang="en-US" sz="900">
                <a:solidFill>
                  <a:srgbClr val="9A5B00"/>
                </a:solidFill>
                <a:latin typeface="Barlow"/>
                <a:ea typeface="Barlow"/>
                <a:cs typeface="Barlow"/>
                <a:sym typeface="Barlow"/>
              </a:rPr>
              <a:t> + </a:t>
            </a:r>
            <a:r>
              <a:rPr b="0" lang="en-US" sz="825">
                <a:solidFill>
                  <a:srgbClr val="9A5B00"/>
                </a:solidFill>
                <a:latin typeface="Consolas"/>
                <a:ea typeface="Consolas"/>
                <a:cs typeface="Consolas"/>
                <a:sym typeface="Consolas"/>
              </a:rPr>
              <a:t>BLUETOOTH_CONNECT</a:t>
            </a:r>
            <a:endParaRPr/>
          </a:p>
        </p:txBody>
      </p:sp>
      <p:sp>
        <p:nvSpPr>
          <p:cNvPr id="1588" name="Google Shape;1588;p57"/>
          <p:cNvSpPr txBox="1"/>
          <p:nvPr/>
        </p:nvSpPr>
        <p:spPr>
          <a:xfrm>
            <a:off x="457200" y="244144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Temporary Wi-Fi join</a:t>
            </a:r>
            <a:endParaRPr/>
          </a:p>
        </p:txBody>
      </p:sp>
      <p:sp>
        <p:nvSpPr>
          <p:cNvPr id="1589" name="Google Shape;1589;p57"/>
          <p:cNvSpPr/>
          <p:nvPr/>
        </p:nvSpPr>
        <p:spPr>
          <a:xfrm>
            <a:off x="2679191" y="2441448"/>
            <a:ext cx="1042415" cy="301752"/>
          </a:xfrm>
          <a:prstGeom prst="roundRect">
            <a:avLst>
              <a:gd fmla="val 15151" name="adj"/>
            </a:avLst>
          </a:prstGeom>
          <a:solidFill>
            <a:srgbClr val="FFFFFF"/>
          </a:solidFill>
          <a:ln cap="flat" cmpd="sng" w="9525">
            <a:solidFill>
              <a:srgbClr val="5F6B7A"/>
            </a:solidFill>
            <a:prstDash val="dash"/>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850">
                <a:solidFill>
                  <a:srgbClr val="5F6B7A"/>
                </a:solidFill>
                <a:latin typeface="Barlow"/>
                <a:ea typeface="Barlow"/>
                <a:cs typeface="Barlow"/>
                <a:sym typeface="Barlow"/>
              </a:rPr>
              <a:t>Legacy path</a:t>
            </a:r>
            <a:endParaRPr/>
          </a:p>
        </p:txBody>
      </p:sp>
      <p:sp>
        <p:nvSpPr>
          <p:cNvPr id="1590" name="Google Shape;1590;p57"/>
          <p:cNvSpPr/>
          <p:nvPr/>
        </p:nvSpPr>
        <p:spPr>
          <a:xfrm>
            <a:off x="3776472" y="2441448"/>
            <a:ext cx="7626096" cy="301752"/>
          </a:xfrm>
          <a:prstGeom prst="roundRect">
            <a:avLst>
              <a:gd fmla="val 15151" name="adj"/>
            </a:avLst>
          </a:prstGeom>
          <a:solidFill>
            <a:srgbClr val="EAF2FB"/>
          </a:solidFill>
          <a:ln cap="flat" cmpd="sng" w="9525">
            <a:solidFill>
              <a:srgbClr val="1565C0"/>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825">
                <a:solidFill>
                  <a:srgbClr val="1565C0"/>
                </a:solidFill>
                <a:latin typeface="Consolas"/>
                <a:ea typeface="Consolas"/>
                <a:cs typeface="Consolas"/>
                <a:sym typeface="Consolas"/>
              </a:rPr>
              <a:t>WifiNetworkSpecifier</a:t>
            </a:r>
            <a:r>
              <a:rPr b="0" lang="en-US" sz="900">
                <a:solidFill>
                  <a:srgbClr val="0B2F5B"/>
                </a:solidFill>
                <a:latin typeface="Barlow"/>
                <a:ea typeface="Barlow"/>
                <a:cs typeface="Barlow"/>
                <a:sym typeface="Barlow"/>
              </a:rPr>
              <a:t>: system approval dialog when the app requests the network</a:t>
            </a:r>
            <a:endParaRPr/>
          </a:p>
        </p:txBody>
      </p:sp>
      <p:sp>
        <p:nvSpPr>
          <p:cNvPr id="1591" name="Google Shape;1591;p57"/>
          <p:cNvSpPr txBox="1"/>
          <p:nvPr/>
        </p:nvSpPr>
        <p:spPr>
          <a:xfrm>
            <a:off x="457200" y="280720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Session keep-alive</a:t>
            </a:r>
            <a:endParaRPr/>
          </a:p>
        </p:txBody>
      </p:sp>
      <p:sp>
        <p:nvSpPr>
          <p:cNvPr id="1592" name="Google Shape;1592;p57"/>
          <p:cNvSpPr/>
          <p:nvPr/>
        </p:nvSpPr>
        <p:spPr>
          <a:xfrm>
            <a:off x="2679191" y="2807208"/>
            <a:ext cx="8723376" cy="301752"/>
          </a:xfrm>
          <a:prstGeom prst="roundRect">
            <a:avLst>
              <a:gd fmla="val 15151" name="adj"/>
            </a:avLst>
          </a:prstGeom>
          <a:solidFill>
            <a:srgbClr val="EEF1F5"/>
          </a:solidFill>
          <a:ln cap="flat" cmpd="sng" w="9525">
            <a:solidFill>
              <a:srgbClr val="B8C2CF"/>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900">
                <a:solidFill>
                  <a:srgbClr val="1F2A37"/>
                </a:solidFill>
                <a:latin typeface="Barlow"/>
                <a:ea typeface="Barlow"/>
                <a:cs typeface="Barlow"/>
                <a:sym typeface="Barlow"/>
              </a:rPr>
              <a:t>Foreground service during the firmware update</a:t>
            </a:r>
            <a:endParaRPr/>
          </a:p>
        </p:txBody>
      </p:sp>
      <p:sp>
        <p:nvSpPr>
          <p:cNvPr id="1593" name="Google Shape;1593;p57"/>
          <p:cNvSpPr txBox="1"/>
          <p:nvPr/>
        </p:nvSpPr>
        <p:spPr>
          <a:xfrm>
            <a:off x="457200" y="317296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from Android 13</a:t>
            </a:r>
            <a:endParaRPr/>
          </a:p>
        </p:txBody>
      </p:sp>
      <p:sp>
        <p:nvSpPr>
          <p:cNvPr id="1594" name="Google Shape;1594;p57"/>
          <p:cNvSpPr/>
          <p:nvPr/>
        </p:nvSpPr>
        <p:spPr>
          <a:xfrm>
            <a:off x="7068312" y="3172968"/>
            <a:ext cx="4334256" cy="301752"/>
          </a:xfrm>
          <a:prstGeom prst="roundRect">
            <a:avLst>
              <a:gd fmla="val 15151" name="adj"/>
            </a:avLst>
          </a:prstGeom>
          <a:solidFill>
            <a:srgbClr val="FFF4E0"/>
          </a:solidFill>
          <a:ln cap="flat" cmpd="sng" w="9525">
            <a:solidFill>
              <a:srgbClr val="F0A93B"/>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900">
                <a:solidFill>
                  <a:srgbClr val="9A5B00"/>
                </a:solidFill>
                <a:latin typeface="Barlow"/>
                <a:ea typeface="Barlow"/>
                <a:cs typeface="Barlow"/>
                <a:sym typeface="Barlow"/>
              </a:rPr>
              <a:t>Notification permission: </a:t>
            </a:r>
            <a:r>
              <a:rPr b="0" lang="en-US" sz="825">
                <a:solidFill>
                  <a:srgbClr val="9A5B00"/>
                </a:solidFill>
                <a:latin typeface="Consolas"/>
                <a:ea typeface="Consolas"/>
                <a:cs typeface="Consolas"/>
                <a:sym typeface="Consolas"/>
              </a:rPr>
              <a:t>POST_NOTIFICATIONS</a:t>
            </a:r>
            <a:endParaRPr/>
          </a:p>
        </p:txBody>
      </p:sp>
      <p:sp>
        <p:nvSpPr>
          <p:cNvPr id="1595" name="Google Shape;1595;p57"/>
          <p:cNvSpPr txBox="1"/>
          <p:nvPr/>
        </p:nvSpPr>
        <p:spPr>
          <a:xfrm>
            <a:off x="457200" y="353872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from Android 14</a:t>
            </a:r>
            <a:endParaRPr/>
          </a:p>
        </p:txBody>
      </p:sp>
      <p:sp>
        <p:nvSpPr>
          <p:cNvPr id="1596" name="Google Shape;1596;p57"/>
          <p:cNvSpPr/>
          <p:nvPr/>
        </p:nvSpPr>
        <p:spPr>
          <a:xfrm>
            <a:off x="8165592" y="3538728"/>
            <a:ext cx="3236975" cy="301752"/>
          </a:xfrm>
          <a:prstGeom prst="roundRect">
            <a:avLst>
              <a:gd fmla="val 15151" name="adj"/>
            </a:avLst>
          </a:prstGeom>
          <a:solidFill>
            <a:srgbClr val="EEF1F5"/>
          </a:solidFill>
          <a:ln cap="flat" cmpd="sng" w="9525">
            <a:solidFill>
              <a:srgbClr val="B8C2CF"/>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900">
                <a:solidFill>
                  <a:srgbClr val="1F2A37"/>
                </a:solidFill>
                <a:latin typeface="Barlow"/>
                <a:ea typeface="Barlow"/>
                <a:cs typeface="Barlow"/>
                <a:sym typeface="Barlow"/>
              </a:rPr>
              <a:t>Service type </a:t>
            </a:r>
            <a:r>
              <a:rPr b="0" lang="en-US" sz="825">
                <a:solidFill>
                  <a:srgbClr val="1565C0"/>
                </a:solidFill>
                <a:latin typeface="Consolas"/>
                <a:ea typeface="Consolas"/>
                <a:cs typeface="Consolas"/>
                <a:sym typeface="Consolas"/>
              </a:rPr>
              <a:t>connectedDevice</a:t>
            </a:r>
            <a:r>
              <a:rPr b="0" lang="en-US" sz="900">
                <a:solidFill>
                  <a:srgbClr val="1F2A37"/>
                </a:solidFill>
                <a:latin typeface="Barlow"/>
                <a:ea typeface="Barlow"/>
                <a:cs typeface="Barlow"/>
                <a:sym typeface="Barlow"/>
              </a:rPr>
              <a:t> + Play Console declaration</a:t>
            </a:r>
            <a:endParaRPr/>
          </a:p>
        </p:txBody>
      </p:sp>
      <p:sp>
        <p:nvSpPr>
          <p:cNvPr id="1597" name="Google Shape;1597;p57"/>
          <p:cNvSpPr txBox="1"/>
          <p:nvPr/>
        </p:nvSpPr>
        <p:spPr>
          <a:xfrm>
            <a:off x="457200" y="3904487"/>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Barcode scan</a:t>
            </a:r>
            <a:endParaRPr/>
          </a:p>
        </p:txBody>
      </p:sp>
      <p:sp>
        <p:nvSpPr>
          <p:cNvPr id="1598" name="Google Shape;1598;p57"/>
          <p:cNvSpPr/>
          <p:nvPr/>
        </p:nvSpPr>
        <p:spPr>
          <a:xfrm>
            <a:off x="2679191" y="3904487"/>
            <a:ext cx="8723376" cy="301752"/>
          </a:xfrm>
          <a:prstGeom prst="roundRect">
            <a:avLst>
              <a:gd fmla="val 15151" name="adj"/>
            </a:avLst>
          </a:prstGeom>
          <a:solidFill>
            <a:srgbClr val="FFF4E0"/>
          </a:solidFill>
          <a:ln cap="flat" cmpd="sng" w="9525">
            <a:solidFill>
              <a:srgbClr val="F0A93B"/>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825">
                <a:solidFill>
                  <a:srgbClr val="9A5B00"/>
                </a:solidFill>
                <a:latin typeface="Consolas"/>
                <a:ea typeface="Consolas"/>
                <a:cs typeface="Consolas"/>
                <a:sym typeface="Consolas"/>
              </a:rPr>
              <a:t>CAMERA</a:t>
            </a:r>
            <a:r>
              <a:rPr b="0" lang="en-US" sz="900">
                <a:solidFill>
                  <a:srgbClr val="9A5B00"/>
                </a:solidFill>
                <a:latin typeface="Barlow"/>
                <a:ea typeface="Barlow"/>
                <a:cs typeface="Barlow"/>
                <a:sym typeface="Barlow"/>
              </a:rPr>
              <a:t> permission, or the Google code scanner without it (needs Google Play services)</a:t>
            </a:r>
            <a:endParaRPr/>
          </a:p>
        </p:txBody>
      </p:sp>
      <p:sp>
        <p:nvSpPr>
          <p:cNvPr id="1599" name="Google Shape;1599;p57"/>
          <p:cNvSpPr txBox="1"/>
          <p:nvPr/>
        </p:nvSpPr>
        <p:spPr>
          <a:xfrm>
            <a:off x="457200" y="427024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Google Play</a:t>
            </a:r>
            <a:endParaRPr/>
          </a:p>
        </p:txBody>
      </p:sp>
      <p:sp>
        <p:nvSpPr>
          <p:cNvPr id="1600" name="Google Shape;1600;p57"/>
          <p:cNvSpPr/>
          <p:nvPr/>
        </p:nvSpPr>
        <p:spPr>
          <a:xfrm>
            <a:off x="10360152" y="4270248"/>
            <a:ext cx="1042415" cy="301752"/>
          </a:xfrm>
          <a:prstGeom prst="roundRect">
            <a:avLst>
              <a:gd fmla="val 15151" name="adj"/>
            </a:avLst>
          </a:prstGeom>
          <a:solidFill>
            <a:srgbClr val="EEF1F5"/>
          </a:solidFill>
          <a:ln cap="flat" cmpd="sng" w="9525">
            <a:solidFill>
              <a:srgbClr val="B8C2CF"/>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1" lang="en-US" sz="900">
                <a:solidFill>
                  <a:srgbClr val="1F2A37"/>
                </a:solidFill>
                <a:latin typeface="Barlow"/>
                <a:ea typeface="Barlow"/>
                <a:cs typeface="Barlow"/>
                <a:sym typeface="Barlow"/>
              </a:rPr>
              <a:t>Target API 36</a:t>
            </a:r>
            <a:endParaRPr/>
          </a:p>
        </p:txBody>
      </p:sp>
      <p:sp>
        <p:nvSpPr>
          <p:cNvPr id="1601" name="Google Shape;1601;p57"/>
          <p:cNvSpPr/>
          <p:nvPr/>
        </p:nvSpPr>
        <p:spPr>
          <a:xfrm>
            <a:off x="2679191" y="4270248"/>
            <a:ext cx="7626096" cy="301752"/>
          </a:xfrm>
          <a:prstGeom prst="rect">
            <a:avLst/>
          </a:prstGeom>
          <a:solidFill>
            <a:srgbClr val="FFFFFF"/>
          </a:solidFill>
          <a:ln>
            <a:noFill/>
          </a:ln>
        </p:spPr>
        <p:txBody>
          <a:bodyPr anchorCtr="0" anchor="ctr" bIns="0" lIns="45700" spcFirstLastPara="1" rIns="91425" wrap="square" tIns="0">
            <a:noAutofit/>
          </a:bodyPr>
          <a:lstStyle/>
          <a:p>
            <a:pPr indent="0" lvl="0" marL="0" marR="0" rtl="0" algn="r">
              <a:lnSpc>
                <a:spcPct val="100000"/>
              </a:lnSpc>
              <a:spcBef>
                <a:spcPts val="0"/>
              </a:spcBef>
              <a:spcAft>
                <a:spcPts val="0"/>
              </a:spcAft>
              <a:buNone/>
            </a:pPr>
            <a:r>
              <a:rPr b="0" lang="en-US" sz="900">
                <a:solidFill>
                  <a:srgbClr val="5F6B7A"/>
                </a:solidFill>
                <a:latin typeface="Barlow"/>
                <a:ea typeface="Barlow"/>
                <a:cs typeface="Barlow"/>
                <a:sym typeface="Barlow"/>
              </a:rPr>
              <a:t>New apps and updates must target Android 16 (API 36) since 31 Aug 2026</a:t>
            </a:r>
            <a:endParaRPr/>
          </a:p>
        </p:txBody>
      </p:sp>
      <p:sp>
        <p:nvSpPr>
          <p:cNvPr id="1602" name="Google Shape;1602;p57"/>
          <p:cNvSpPr txBox="1"/>
          <p:nvPr/>
        </p:nvSpPr>
        <p:spPr>
          <a:xfrm>
            <a:off x="457200" y="4645152"/>
            <a:ext cx="20574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Runtime prompts, at most</a:t>
            </a:r>
            <a:endParaRPr/>
          </a:p>
        </p:txBody>
      </p:sp>
      <p:sp>
        <p:nvSpPr>
          <p:cNvPr id="1603" name="Google Shape;1603;p57"/>
          <p:cNvSpPr/>
          <p:nvPr/>
        </p:nvSpPr>
        <p:spPr>
          <a:xfrm>
            <a:off x="2679191" y="4645152"/>
            <a:ext cx="3236975" cy="347472"/>
          </a:xfrm>
          <a:prstGeom prst="roundRect">
            <a:avLst>
              <a:gd fmla="val 13157"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4" name="Google Shape;1604;p57"/>
          <p:cNvSpPr txBox="1"/>
          <p:nvPr/>
        </p:nvSpPr>
        <p:spPr>
          <a:xfrm>
            <a:off x="2743199" y="4645152"/>
            <a:ext cx="20116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500">
                <a:solidFill>
                  <a:srgbClr val="FFFFFF"/>
                </a:solidFill>
                <a:latin typeface="Montserrat"/>
                <a:ea typeface="Montserrat"/>
                <a:cs typeface="Montserrat"/>
                <a:sym typeface="Montserrat"/>
              </a:rPr>
              <a:t>2</a:t>
            </a:r>
            <a:endParaRPr/>
          </a:p>
        </p:txBody>
      </p:sp>
      <p:sp>
        <p:nvSpPr>
          <p:cNvPr id="1605" name="Google Shape;1605;p57"/>
          <p:cNvSpPr txBox="1"/>
          <p:nvPr/>
        </p:nvSpPr>
        <p:spPr>
          <a:xfrm>
            <a:off x="2962656" y="4645152"/>
            <a:ext cx="2935223"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DCE8F7"/>
                </a:solidFill>
                <a:latin typeface="Barlow"/>
                <a:ea typeface="Barlow"/>
                <a:cs typeface="Barlow"/>
                <a:sym typeface="Barlow"/>
              </a:rPr>
              <a:t>Location</a:t>
            </a:r>
            <a:endParaRPr/>
          </a:p>
          <a:p>
            <a:pPr indent="0" lvl="0" marL="0" marR="0" rtl="0" algn="l">
              <a:lnSpc>
                <a:spcPct val="100000"/>
              </a:lnSpc>
              <a:spcBef>
                <a:spcPts val="0"/>
              </a:spcBef>
              <a:spcAft>
                <a:spcPts val="0"/>
              </a:spcAft>
              <a:buNone/>
            </a:pPr>
            <a:r>
              <a:rPr b="0" lang="en-US" sz="800">
                <a:solidFill>
                  <a:srgbClr val="DCE8F7"/>
                </a:solidFill>
                <a:latin typeface="Barlow"/>
                <a:ea typeface="Barlow"/>
                <a:cs typeface="Barlow"/>
                <a:sym typeface="Barlow"/>
              </a:rPr>
              <a:t>Camera</a:t>
            </a:r>
            <a:endParaRPr/>
          </a:p>
        </p:txBody>
      </p:sp>
      <p:sp>
        <p:nvSpPr>
          <p:cNvPr id="1606" name="Google Shape;1606;p57"/>
          <p:cNvSpPr/>
          <p:nvPr/>
        </p:nvSpPr>
        <p:spPr>
          <a:xfrm>
            <a:off x="5971032" y="4645152"/>
            <a:ext cx="1042415" cy="347472"/>
          </a:xfrm>
          <a:prstGeom prst="roundRect">
            <a:avLst>
              <a:gd fmla="val 13157"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7" name="Google Shape;1607;p57"/>
          <p:cNvSpPr txBox="1"/>
          <p:nvPr/>
        </p:nvSpPr>
        <p:spPr>
          <a:xfrm>
            <a:off x="6035040" y="4645152"/>
            <a:ext cx="20116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500">
                <a:solidFill>
                  <a:srgbClr val="FFFFFF"/>
                </a:solidFill>
                <a:latin typeface="Montserrat"/>
                <a:ea typeface="Montserrat"/>
                <a:cs typeface="Montserrat"/>
                <a:sym typeface="Montserrat"/>
              </a:rPr>
              <a:t>2</a:t>
            </a:r>
            <a:endParaRPr/>
          </a:p>
        </p:txBody>
      </p:sp>
      <p:sp>
        <p:nvSpPr>
          <p:cNvPr id="1608" name="Google Shape;1608;p57"/>
          <p:cNvSpPr txBox="1"/>
          <p:nvPr/>
        </p:nvSpPr>
        <p:spPr>
          <a:xfrm>
            <a:off x="6254496" y="4645152"/>
            <a:ext cx="740663"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DCE8F7"/>
                </a:solidFill>
                <a:latin typeface="Barlow"/>
                <a:ea typeface="Barlow"/>
                <a:cs typeface="Barlow"/>
                <a:sym typeface="Barlow"/>
              </a:rPr>
              <a:t>Nearby devices</a:t>
            </a:r>
            <a:endParaRPr/>
          </a:p>
          <a:p>
            <a:pPr indent="0" lvl="0" marL="0" marR="0" rtl="0" algn="l">
              <a:lnSpc>
                <a:spcPct val="100000"/>
              </a:lnSpc>
              <a:spcBef>
                <a:spcPts val="0"/>
              </a:spcBef>
              <a:spcAft>
                <a:spcPts val="0"/>
              </a:spcAft>
              <a:buNone/>
            </a:pPr>
            <a:r>
              <a:rPr b="0" lang="en-US" sz="800">
                <a:solidFill>
                  <a:srgbClr val="DCE8F7"/>
                </a:solidFill>
                <a:latin typeface="Barlow"/>
                <a:ea typeface="Barlow"/>
                <a:cs typeface="Barlow"/>
                <a:sym typeface="Barlow"/>
              </a:rPr>
              <a:t>Camera</a:t>
            </a:r>
            <a:endParaRPr/>
          </a:p>
        </p:txBody>
      </p:sp>
      <p:sp>
        <p:nvSpPr>
          <p:cNvPr id="1609" name="Google Shape;1609;p57"/>
          <p:cNvSpPr/>
          <p:nvPr/>
        </p:nvSpPr>
        <p:spPr>
          <a:xfrm>
            <a:off x="7068312" y="4645152"/>
            <a:ext cx="4334256" cy="347472"/>
          </a:xfrm>
          <a:prstGeom prst="roundRect">
            <a:avLst>
              <a:gd fmla="val 13157"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0" name="Google Shape;1610;p57"/>
          <p:cNvSpPr txBox="1"/>
          <p:nvPr/>
        </p:nvSpPr>
        <p:spPr>
          <a:xfrm>
            <a:off x="7132320" y="4645152"/>
            <a:ext cx="20116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500">
                <a:solidFill>
                  <a:srgbClr val="FFFFFF"/>
                </a:solidFill>
                <a:latin typeface="Montserrat"/>
                <a:ea typeface="Montserrat"/>
                <a:cs typeface="Montserrat"/>
                <a:sym typeface="Montserrat"/>
              </a:rPr>
              <a:t>3</a:t>
            </a:r>
            <a:endParaRPr/>
          </a:p>
        </p:txBody>
      </p:sp>
      <p:sp>
        <p:nvSpPr>
          <p:cNvPr id="1611" name="Google Shape;1611;p57"/>
          <p:cNvSpPr txBox="1"/>
          <p:nvPr/>
        </p:nvSpPr>
        <p:spPr>
          <a:xfrm>
            <a:off x="7351775" y="4645152"/>
            <a:ext cx="4032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DCE8F7"/>
                </a:solidFill>
                <a:latin typeface="Barlow"/>
                <a:ea typeface="Barlow"/>
                <a:cs typeface="Barlow"/>
                <a:sym typeface="Barlow"/>
              </a:rPr>
              <a:t>Nearby devices, Notifications</a:t>
            </a:r>
            <a:endParaRPr/>
          </a:p>
          <a:p>
            <a:pPr indent="0" lvl="0" marL="0" marR="0" rtl="0" algn="l">
              <a:lnSpc>
                <a:spcPct val="100000"/>
              </a:lnSpc>
              <a:spcBef>
                <a:spcPts val="0"/>
              </a:spcBef>
              <a:spcAft>
                <a:spcPts val="0"/>
              </a:spcAft>
              <a:buNone/>
            </a:pPr>
            <a:r>
              <a:rPr b="0" lang="en-US" sz="800">
                <a:solidFill>
                  <a:srgbClr val="DCE8F7"/>
                </a:solidFill>
                <a:latin typeface="Barlow"/>
                <a:ea typeface="Barlow"/>
                <a:cs typeface="Barlow"/>
                <a:sym typeface="Barlow"/>
              </a:rPr>
              <a:t>Camera</a:t>
            </a:r>
            <a:endParaRPr/>
          </a:p>
        </p:txBody>
      </p:sp>
      <p:sp>
        <p:nvSpPr>
          <p:cNvPr id="1612" name="Google Shape;1612;p57"/>
          <p:cNvSpPr/>
          <p:nvPr/>
        </p:nvSpPr>
        <p:spPr>
          <a:xfrm>
            <a:off x="6583680" y="1243584"/>
            <a:ext cx="182880" cy="146304"/>
          </a:xfrm>
          <a:prstGeom prst="rect">
            <a:avLst/>
          </a:prstGeom>
          <a:solidFill>
            <a:srgbClr val="FFF4E0"/>
          </a:solidFill>
          <a:ln cap="flat" cmpd="sng" w="12700">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3" name="Google Shape;1613;p57"/>
          <p:cNvSpPr txBox="1"/>
          <p:nvPr/>
        </p:nvSpPr>
        <p:spPr>
          <a:xfrm>
            <a:off x="6821424" y="1216152"/>
            <a:ext cx="8350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50">
                <a:solidFill>
                  <a:srgbClr val="1F2A37"/>
                </a:solidFill>
                <a:latin typeface="Barlow"/>
                <a:ea typeface="Barlow"/>
                <a:cs typeface="Barlow"/>
                <a:sym typeface="Barlow"/>
              </a:rPr>
              <a:t>Runtime prompt</a:t>
            </a:r>
            <a:endParaRPr/>
          </a:p>
        </p:txBody>
      </p:sp>
      <p:sp>
        <p:nvSpPr>
          <p:cNvPr id="1614" name="Google Shape;1614;p57"/>
          <p:cNvSpPr/>
          <p:nvPr/>
        </p:nvSpPr>
        <p:spPr>
          <a:xfrm>
            <a:off x="7802796" y="1243584"/>
            <a:ext cx="182880" cy="146304"/>
          </a:xfrm>
          <a:prstGeom prst="rect">
            <a:avLst/>
          </a:prstGeom>
          <a:solidFill>
            <a:srgbClr val="EAF2FB"/>
          </a:solidFill>
          <a:ln cap="flat" cmpd="sng" w="12700">
            <a:solidFill>
              <a:srgbClr val="1565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5" name="Google Shape;1615;p57"/>
          <p:cNvSpPr txBox="1"/>
          <p:nvPr/>
        </p:nvSpPr>
        <p:spPr>
          <a:xfrm>
            <a:off x="8040540" y="1216152"/>
            <a:ext cx="1262541"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50">
                <a:solidFill>
                  <a:srgbClr val="1F2A37"/>
                </a:solidFill>
                <a:latin typeface="Barlow"/>
                <a:ea typeface="Barlow"/>
                <a:cs typeface="Barlow"/>
                <a:sym typeface="Barlow"/>
              </a:rPr>
              <a:t>System dialog at use time</a:t>
            </a:r>
            <a:endParaRPr/>
          </a:p>
        </p:txBody>
      </p:sp>
      <p:sp>
        <p:nvSpPr>
          <p:cNvPr id="1616" name="Google Shape;1616;p57"/>
          <p:cNvSpPr/>
          <p:nvPr/>
        </p:nvSpPr>
        <p:spPr>
          <a:xfrm>
            <a:off x="9449385" y="1243584"/>
            <a:ext cx="182880" cy="146304"/>
          </a:xfrm>
          <a:prstGeom prst="rect">
            <a:avLst/>
          </a:prstGeom>
          <a:solidFill>
            <a:srgbClr val="EEF1F5"/>
          </a:solidFill>
          <a:ln cap="flat" cmpd="sng" w="12700">
            <a:solidFill>
              <a:srgbClr val="B8C2C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7" name="Google Shape;1617;p57"/>
          <p:cNvSpPr txBox="1"/>
          <p:nvPr/>
        </p:nvSpPr>
        <p:spPr>
          <a:xfrm>
            <a:off x="9687129" y="1216152"/>
            <a:ext cx="9217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50">
                <a:solidFill>
                  <a:srgbClr val="1F2A37"/>
                </a:solidFill>
                <a:latin typeface="Barlow"/>
                <a:ea typeface="Barlow"/>
                <a:cs typeface="Barlow"/>
                <a:sym typeface="Barlow"/>
              </a:rPr>
              <a:t>No installer action</a:t>
            </a:r>
            <a:endParaRPr/>
          </a:p>
        </p:txBody>
      </p:sp>
      <p:sp>
        <p:nvSpPr>
          <p:cNvPr id="1618" name="Google Shape;1618;p57"/>
          <p:cNvSpPr txBox="1"/>
          <p:nvPr/>
        </p:nvSpPr>
        <p:spPr>
          <a:xfrm>
            <a:off x="457200" y="1216152"/>
            <a:ext cx="45720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WHAT APPLIES FROM WHICH VERSION</a:t>
            </a:r>
            <a:endParaRPr/>
          </a:p>
        </p:txBody>
      </p:sp>
      <p:sp>
        <p:nvSpPr>
          <p:cNvPr id="1619" name="Google Shape;1619;p57"/>
          <p:cNvSpPr/>
          <p:nvPr/>
        </p:nvSpPr>
        <p:spPr>
          <a:xfrm>
            <a:off x="457200" y="5193792"/>
            <a:ext cx="1463040" cy="475488"/>
          </a:xfrm>
          <a:prstGeom prst="roundRect">
            <a:avLst>
              <a:gd fmla="val 11538"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FFFFFF"/>
                </a:solidFill>
                <a:latin typeface="Montserrat"/>
                <a:ea typeface="Montserrat"/>
                <a:cs typeface="Montserrat"/>
                <a:sym typeface="Montserrat"/>
              </a:rPr>
              <a:t>Preflight gate</a:t>
            </a:r>
            <a:endParaRPr/>
          </a:p>
          <a:p>
            <a:pPr indent="0" lvl="0" marL="0" marR="0" rtl="0" algn="ctr">
              <a:lnSpc>
                <a:spcPct val="100000"/>
              </a:lnSpc>
              <a:spcBef>
                <a:spcPts val="100"/>
              </a:spcBef>
              <a:spcAft>
                <a:spcPts val="0"/>
              </a:spcAft>
              <a:buNone/>
            </a:pPr>
            <a:r>
              <a:rPr b="0" lang="en-US" sz="850">
                <a:solidFill>
                  <a:srgbClr val="A9C7EA"/>
                </a:solidFill>
                <a:latin typeface="Barlow"/>
                <a:ea typeface="Barlow"/>
                <a:cs typeface="Barlow"/>
                <a:sym typeface="Barlow"/>
              </a:rPr>
              <a:t>One check before every scan</a:t>
            </a:r>
            <a:endParaRPr/>
          </a:p>
        </p:txBody>
      </p:sp>
      <p:sp>
        <p:nvSpPr>
          <p:cNvPr id="1620" name="Google Shape;1620;p57"/>
          <p:cNvSpPr/>
          <p:nvPr/>
        </p:nvSpPr>
        <p:spPr>
          <a:xfrm>
            <a:off x="2103120" y="5193792"/>
            <a:ext cx="1645920" cy="475488"/>
          </a:xfrm>
          <a:prstGeom prst="roundRect">
            <a:avLst>
              <a:gd fmla="val 11538" name="adj"/>
            </a:avLst>
          </a:prstGeom>
          <a:solidFill>
            <a:srgbClr val="FFFFFF"/>
          </a:solidFill>
          <a:ln cap="flat" cmpd="sng" w="12700">
            <a:solidFill>
              <a:srgbClr val="0B2F5B"/>
            </a:solidFill>
            <a:prstDash val="solid"/>
            <a:round/>
            <a:headEnd len="sm" w="sm" type="none"/>
            <a:tailEnd len="sm" w="sm" type="none"/>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Bluetooth on</a:t>
            </a:r>
            <a:endParaRPr/>
          </a:p>
          <a:p>
            <a:pPr indent="0" lvl="0" marL="0" marR="0" rtl="0" algn="ctr">
              <a:lnSpc>
                <a:spcPct val="100000"/>
              </a:lnSpc>
              <a:spcBef>
                <a:spcPts val="100"/>
              </a:spcBef>
              <a:spcAft>
                <a:spcPts val="0"/>
              </a:spcAft>
              <a:buNone/>
            </a:pPr>
            <a:r>
              <a:rPr b="0" lang="en-US" sz="850">
                <a:solidFill>
                  <a:srgbClr val="5F6B7A"/>
                </a:solidFill>
                <a:latin typeface="Barlow"/>
                <a:ea typeface="Barlow"/>
                <a:cs typeface="Barlow"/>
                <a:sym typeface="Barlow"/>
              </a:rPr>
              <a:t>Else: ask to switch it on</a:t>
            </a:r>
            <a:endParaRPr/>
          </a:p>
        </p:txBody>
      </p:sp>
      <p:cxnSp>
        <p:nvCxnSpPr>
          <p:cNvPr id="1621" name="Google Shape;1621;p57"/>
          <p:cNvCxnSpPr>
            <a:stCxn id="1619" idx="3"/>
            <a:endCxn id="1620" idx="1"/>
          </p:cNvCxnSpPr>
          <p:nvPr/>
        </p:nvCxnSpPr>
        <p:spPr>
          <a:xfrm>
            <a:off x="1920240" y="5431536"/>
            <a:ext cx="183000" cy="0"/>
          </a:xfrm>
          <a:prstGeom prst="straightConnector1">
            <a:avLst/>
          </a:prstGeom>
          <a:noFill/>
          <a:ln cap="flat" cmpd="sng" w="15875">
            <a:solidFill>
              <a:srgbClr val="0B2F5B"/>
            </a:solidFill>
            <a:prstDash val="solid"/>
            <a:round/>
            <a:headEnd len="sm" w="sm" type="none"/>
            <a:tailEnd len="med" w="med" type="triangle"/>
          </a:ln>
        </p:spPr>
      </p:cxnSp>
      <p:sp>
        <p:nvSpPr>
          <p:cNvPr id="1622" name="Google Shape;1622;p57"/>
          <p:cNvSpPr/>
          <p:nvPr/>
        </p:nvSpPr>
        <p:spPr>
          <a:xfrm>
            <a:off x="3931920" y="5193792"/>
            <a:ext cx="2240280" cy="475488"/>
          </a:xfrm>
          <a:prstGeom prst="roundRect">
            <a:avLst>
              <a:gd fmla="val 11538" name="adj"/>
            </a:avLst>
          </a:prstGeom>
          <a:solidFill>
            <a:srgbClr val="FFFFFF"/>
          </a:solidFill>
          <a:ln cap="flat" cmpd="sng" w="12700">
            <a:solidFill>
              <a:srgbClr val="0B2F5B"/>
            </a:solidFill>
            <a:prstDash val="solid"/>
            <a:round/>
            <a:headEnd len="sm" w="sm" type="none"/>
            <a:tailEnd len="sm" w="sm" type="none"/>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Permissions for this OS</a:t>
            </a:r>
            <a:endParaRPr/>
          </a:p>
          <a:p>
            <a:pPr indent="0" lvl="0" marL="0" marR="0" rtl="0" algn="ctr">
              <a:lnSpc>
                <a:spcPct val="100000"/>
              </a:lnSpc>
              <a:spcBef>
                <a:spcPts val="100"/>
              </a:spcBef>
              <a:spcAft>
                <a:spcPts val="0"/>
              </a:spcAft>
              <a:buNone/>
            </a:pPr>
            <a:r>
              <a:rPr b="0" lang="en-US" sz="850">
                <a:solidFill>
                  <a:srgbClr val="5F6B7A"/>
                </a:solidFill>
                <a:latin typeface="Barlow"/>
                <a:ea typeface="Barlow"/>
                <a:cs typeface="Barlow"/>
                <a:sym typeface="Barlow"/>
              </a:rPr>
              <a:t>Permanently denied: open app settings</a:t>
            </a:r>
            <a:endParaRPr/>
          </a:p>
        </p:txBody>
      </p:sp>
      <p:cxnSp>
        <p:nvCxnSpPr>
          <p:cNvPr id="1623" name="Google Shape;1623;p57"/>
          <p:cNvCxnSpPr>
            <a:stCxn id="1620" idx="3"/>
            <a:endCxn id="1622" idx="1"/>
          </p:cNvCxnSpPr>
          <p:nvPr/>
        </p:nvCxnSpPr>
        <p:spPr>
          <a:xfrm>
            <a:off x="3749040" y="5431536"/>
            <a:ext cx="183000" cy="0"/>
          </a:xfrm>
          <a:prstGeom prst="straightConnector1">
            <a:avLst/>
          </a:prstGeom>
          <a:noFill/>
          <a:ln cap="flat" cmpd="sng" w="15875">
            <a:solidFill>
              <a:srgbClr val="0B2F5B"/>
            </a:solidFill>
            <a:prstDash val="solid"/>
            <a:round/>
            <a:headEnd len="sm" w="sm" type="none"/>
            <a:tailEnd len="med" w="med" type="triangle"/>
          </a:ln>
        </p:spPr>
      </p:cxnSp>
      <p:sp>
        <p:nvSpPr>
          <p:cNvPr id="1624" name="Google Shape;1624;p57"/>
          <p:cNvSpPr/>
          <p:nvPr/>
        </p:nvSpPr>
        <p:spPr>
          <a:xfrm>
            <a:off x="6355080" y="5193792"/>
            <a:ext cx="2011680" cy="475488"/>
          </a:xfrm>
          <a:prstGeom prst="roundRect">
            <a:avLst>
              <a:gd fmla="val 11538" name="adj"/>
            </a:avLst>
          </a:prstGeom>
          <a:solidFill>
            <a:srgbClr val="FFFFFF"/>
          </a:solidFill>
          <a:ln cap="flat" cmpd="sng" w="12700">
            <a:solidFill>
              <a:srgbClr val="0B2F5B"/>
            </a:solidFill>
            <a:prstDash val="solid"/>
            <a:round/>
            <a:headEnd len="sm" w="sm" type="none"/>
            <a:tailEnd len="sm" w="sm" type="none"/>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Location on</a:t>
            </a:r>
            <a:endParaRPr/>
          </a:p>
          <a:p>
            <a:pPr indent="0" lvl="0" marL="0" marR="0" rtl="0" algn="ctr">
              <a:lnSpc>
                <a:spcPct val="100000"/>
              </a:lnSpc>
              <a:spcBef>
                <a:spcPts val="100"/>
              </a:spcBef>
              <a:spcAft>
                <a:spcPts val="0"/>
              </a:spcAft>
              <a:buNone/>
            </a:pPr>
            <a:r>
              <a:rPr b="0" lang="en-US" sz="850">
                <a:solidFill>
                  <a:srgbClr val="5F6B7A"/>
                </a:solidFill>
                <a:latin typeface="Barlow"/>
                <a:ea typeface="Barlow"/>
                <a:cs typeface="Barlow"/>
                <a:sym typeface="Barlow"/>
              </a:rPr>
              <a:t>Android 11 and lower · to validate</a:t>
            </a:r>
            <a:endParaRPr/>
          </a:p>
        </p:txBody>
      </p:sp>
      <p:cxnSp>
        <p:nvCxnSpPr>
          <p:cNvPr id="1625" name="Google Shape;1625;p57"/>
          <p:cNvCxnSpPr>
            <a:stCxn id="1622" idx="3"/>
            <a:endCxn id="1624" idx="1"/>
          </p:cNvCxnSpPr>
          <p:nvPr/>
        </p:nvCxnSpPr>
        <p:spPr>
          <a:xfrm>
            <a:off x="6172200" y="5431536"/>
            <a:ext cx="183000" cy="0"/>
          </a:xfrm>
          <a:prstGeom prst="straightConnector1">
            <a:avLst/>
          </a:prstGeom>
          <a:noFill/>
          <a:ln cap="flat" cmpd="sng" w="15875">
            <a:solidFill>
              <a:srgbClr val="0B2F5B"/>
            </a:solidFill>
            <a:prstDash val="solid"/>
            <a:round/>
            <a:headEnd len="sm" w="sm" type="none"/>
            <a:tailEnd len="med" w="med" type="triangle"/>
          </a:ln>
        </p:spPr>
      </p:cxnSp>
      <p:sp>
        <p:nvSpPr>
          <p:cNvPr id="1626" name="Google Shape;1626;p57"/>
          <p:cNvSpPr/>
          <p:nvPr/>
        </p:nvSpPr>
        <p:spPr>
          <a:xfrm>
            <a:off x="8549640" y="5193792"/>
            <a:ext cx="1143000" cy="475488"/>
          </a:xfrm>
          <a:prstGeom prst="roundRect">
            <a:avLst>
              <a:gd fmla="val 11538" name="adj"/>
            </a:avLst>
          </a:prstGeom>
          <a:solidFill>
            <a:srgbClr val="E6F4EA"/>
          </a:solidFill>
          <a:ln cap="flat" cmpd="sng" w="12700">
            <a:solidFill>
              <a:srgbClr val="8CC9A6"/>
            </a:solidFill>
            <a:prstDash val="solid"/>
            <a:round/>
            <a:headEnd len="sm" w="sm" type="none"/>
            <a:tailEnd len="sm" w="sm" type="none"/>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Montserrat"/>
                <a:ea typeface="Montserrat"/>
                <a:cs typeface="Montserrat"/>
                <a:sym typeface="Montserrat"/>
              </a:rPr>
              <a:t>Ready to scan</a:t>
            </a:r>
            <a:endParaRPr/>
          </a:p>
        </p:txBody>
      </p:sp>
      <p:cxnSp>
        <p:nvCxnSpPr>
          <p:cNvPr id="1627" name="Google Shape;1627;p57"/>
          <p:cNvCxnSpPr>
            <a:stCxn id="1624" idx="3"/>
            <a:endCxn id="1626" idx="1"/>
          </p:cNvCxnSpPr>
          <p:nvPr/>
        </p:nvCxnSpPr>
        <p:spPr>
          <a:xfrm>
            <a:off x="8366760" y="5431536"/>
            <a:ext cx="183000" cy="0"/>
          </a:xfrm>
          <a:prstGeom prst="straightConnector1">
            <a:avLst/>
          </a:prstGeom>
          <a:noFill/>
          <a:ln cap="flat" cmpd="sng" w="15875">
            <a:solidFill>
              <a:srgbClr val="0B2F5B"/>
            </a:solidFill>
            <a:prstDash val="solid"/>
            <a:round/>
            <a:headEnd len="sm" w="sm" type="none"/>
            <a:tailEnd len="med" w="med" type="triangle"/>
          </a:ln>
        </p:spPr>
      </p:cxnSp>
      <p:sp>
        <p:nvSpPr>
          <p:cNvPr id="1628" name="Google Shape;1628;p57"/>
          <p:cNvSpPr txBox="1"/>
          <p:nvPr/>
        </p:nvSpPr>
        <p:spPr>
          <a:xfrm>
            <a:off x="9875520" y="5157216"/>
            <a:ext cx="1554479"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Each failed check shows its own fix, not a generic “device not found”.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sp>
        <p:nvSpPr>
          <p:cNvPr id="1634" name="Google Shape;1634;p58"/>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09 · TECHNICAL DESIGN (ANDROID) · BLE LINK ON ANDROID · PROPOSED DESIGN</a:t>
            </a:r>
            <a:endParaRPr/>
          </a:p>
        </p:txBody>
      </p:sp>
      <p:sp>
        <p:nvSpPr>
          <p:cNvPr id="1635" name="Google Shape;1635;p58"/>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Android's GATT client does not queue: the single command queue is mandatory</a:t>
            </a:r>
            <a:endParaRPr/>
          </a:p>
        </p:txBody>
      </p:sp>
      <p:sp>
        <p:nvSpPr>
          <p:cNvPr id="1636" name="Google Shape;1636;p58"/>
          <p:cNvSpPr txBox="1"/>
          <p:nvPr/>
        </p:nvSpPr>
        <p:spPr>
          <a:xfrm>
            <a:off x="457200" y="1216152"/>
            <a:ext cx="45720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1 · CONNECT SEQUENCE ON ANDROID</a:t>
            </a:r>
            <a:endParaRPr/>
          </a:p>
        </p:txBody>
      </p:sp>
      <p:sp>
        <p:nvSpPr>
          <p:cNvPr id="1637" name="Google Shape;1637;p58"/>
          <p:cNvSpPr txBox="1"/>
          <p:nvPr/>
        </p:nvSpPr>
        <p:spPr>
          <a:xfrm>
            <a:off x="9958667" y="1216152"/>
            <a:ext cx="1471332"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lang="en-US" sz="875">
                <a:solidFill>
                  <a:srgbClr val="5F6B7A"/>
                </a:solidFill>
                <a:latin typeface="Barlow"/>
                <a:ea typeface="Barlow"/>
                <a:cs typeface="Barlow"/>
                <a:sym typeface="Barlow"/>
              </a:rPr>
              <a:t>Amber: extra work on Android</a:t>
            </a:r>
            <a:endParaRPr/>
          </a:p>
        </p:txBody>
      </p:sp>
      <p:sp>
        <p:nvSpPr>
          <p:cNvPr id="1638" name="Google Shape;1638;p58"/>
          <p:cNvSpPr/>
          <p:nvPr/>
        </p:nvSpPr>
        <p:spPr>
          <a:xfrm>
            <a:off x="9702635" y="1243584"/>
            <a:ext cx="182880" cy="146304"/>
          </a:xfrm>
          <a:prstGeom prst="rect">
            <a:avLst/>
          </a:prstGeom>
          <a:solidFill>
            <a:srgbClr val="FFF4E0"/>
          </a:solidFill>
          <a:ln cap="flat" cmpd="sng" w="12700">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9" name="Google Shape;1639;p58"/>
          <p:cNvSpPr/>
          <p:nvPr/>
        </p:nvSpPr>
        <p:spPr>
          <a:xfrm>
            <a:off x="457200" y="1554480"/>
            <a:ext cx="1700784" cy="1188720"/>
          </a:xfrm>
          <a:prstGeom prst="roundRect">
            <a:avLst>
              <a:gd fmla="val 4615"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0" name="Google Shape;1640;p58"/>
          <p:cNvSpPr/>
          <p:nvPr/>
        </p:nvSpPr>
        <p:spPr>
          <a:xfrm>
            <a:off x="548640"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1</a:t>
            </a:r>
            <a:endParaRPr/>
          </a:p>
        </p:txBody>
      </p:sp>
      <p:sp>
        <p:nvSpPr>
          <p:cNvPr id="1641" name="Google Shape;1641;p58"/>
          <p:cNvSpPr txBox="1"/>
          <p:nvPr/>
        </p:nvSpPr>
        <p:spPr>
          <a:xfrm>
            <a:off x="877824"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Scan</a:t>
            </a:r>
            <a:endParaRPr/>
          </a:p>
        </p:txBody>
      </p:sp>
      <p:sp>
        <p:nvSpPr>
          <p:cNvPr id="1642" name="Google Shape;1642;p58"/>
          <p:cNvSpPr txBox="1"/>
          <p:nvPr/>
        </p:nvSpPr>
        <p:spPr>
          <a:xfrm>
            <a:off x="548640"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ScanFilter(serviceUuid)</a:t>
            </a:r>
            <a:endParaRPr/>
          </a:p>
        </p:txBody>
      </p:sp>
      <p:sp>
        <p:nvSpPr>
          <p:cNvPr id="1643" name="Google Shape;1643;p58"/>
          <p:cNvSpPr txBox="1"/>
          <p:nvPr/>
        </p:nvSpPr>
        <p:spPr>
          <a:xfrm>
            <a:off x="548640"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Serial No from the advertised name; stopScan() on match</a:t>
            </a:r>
            <a:endParaRPr/>
          </a:p>
        </p:txBody>
      </p:sp>
      <p:sp>
        <p:nvSpPr>
          <p:cNvPr id="1644" name="Google Shape;1644;p58"/>
          <p:cNvSpPr/>
          <p:nvPr/>
        </p:nvSpPr>
        <p:spPr>
          <a:xfrm>
            <a:off x="2311603" y="1554480"/>
            <a:ext cx="1700784" cy="1188720"/>
          </a:xfrm>
          <a:prstGeom prst="roundRect">
            <a:avLst>
              <a:gd fmla="val 4615"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5" name="Google Shape;1645;p58"/>
          <p:cNvSpPr/>
          <p:nvPr/>
        </p:nvSpPr>
        <p:spPr>
          <a:xfrm>
            <a:off x="2403043"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2</a:t>
            </a:r>
            <a:endParaRPr/>
          </a:p>
        </p:txBody>
      </p:sp>
      <p:sp>
        <p:nvSpPr>
          <p:cNvPr id="1646" name="Google Shape;1646;p58"/>
          <p:cNvSpPr txBox="1"/>
          <p:nvPr/>
        </p:nvSpPr>
        <p:spPr>
          <a:xfrm>
            <a:off x="2732227"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Connect</a:t>
            </a:r>
            <a:endParaRPr/>
          </a:p>
        </p:txBody>
      </p:sp>
      <p:sp>
        <p:nvSpPr>
          <p:cNvPr id="1647" name="Google Shape;1647;p58"/>
          <p:cNvSpPr txBox="1"/>
          <p:nvPr/>
        </p:nvSpPr>
        <p:spPr>
          <a:xfrm>
            <a:off x="2403043"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connectGatt()</a:t>
            </a:r>
            <a:endParaRPr/>
          </a:p>
        </p:txBody>
      </p:sp>
      <p:sp>
        <p:nvSpPr>
          <p:cNvPr id="1648" name="Google Shape;1648;p58"/>
          <p:cNvSpPr txBox="1"/>
          <p:nvPr/>
        </p:nvSpPr>
        <p:spPr>
          <a:xfrm>
            <a:off x="2403043"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autoConnect = false, LE transport; result in onConnectionStateChange</a:t>
            </a:r>
            <a:endParaRPr/>
          </a:p>
        </p:txBody>
      </p:sp>
      <p:cxnSp>
        <p:nvCxnSpPr>
          <p:cNvPr id="1649" name="Google Shape;1649;p58"/>
          <p:cNvCxnSpPr>
            <a:stCxn id="1639" idx="3"/>
            <a:endCxn id="1644" idx="1"/>
          </p:cNvCxnSpPr>
          <p:nvPr/>
        </p:nvCxnSpPr>
        <p:spPr>
          <a:xfrm>
            <a:off x="2157984"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50" name="Google Shape;1650;p58"/>
          <p:cNvSpPr/>
          <p:nvPr/>
        </p:nvSpPr>
        <p:spPr>
          <a:xfrm>
            <a:off x="4166006" y="1554480"/>
            <a:ext cx="1700784" cy="1188720"/>
          </a:xfrm>
          <a:prstGeom prst="roundRect">
            <a:avLst>
              <a:gd fmla="val 4615" name="adj"/>
            </a:avLst>
          </a:prstGeom>
          <a:solidFill>
            <a:srgbClr val="FFF4E0"/>
          </a:solidFill>
          <a:ln cap="flat" cmpd="sng" w="1587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1" name="Google Shape;1651;p58"/>
          <p:cNvSpPr/>
          <p:nvPr/>
        </p:nvSpPr>
        <p:spPr>
          <a:xfrm>
            <a:off x="4257446"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3</a:t>
            </a:r>
            <a:endParaRPr/>
          </a:p>
        </p:txBody>
      </p:sp>
      <p:sp>
        <p:nvSpPr>
          <p:cNvPr id="1652" name="Google Shape;1652;p58"/>
          <p:cNvSpPr txBox="1"/>
          <p:nvPr/>
        </p:nvSpPr>
        <p:spPr>
          <a:xfrm>
            <a:off x="4586630"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Request MTU</a:t>
            </a:r>
            <a:endParaRPr/>
          </a:p>
        </p:txBody>
      </p:sp>
      <p:sp>
        <p:nvSpPr>
          <p:cNvPr id="1653" name="Google Shape;1653;p58"/>
          <p:cNvSpPr txBox="1"/>
          <p:nvPr/>
        </p:nvSpPr>
        <p:spPr>
          <a:xfrm>
            <a:off x="4257446"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requestMtu()</a:t>
            </a:r>
            <a:endParaRPr/>
          </a:p>
        </p:txBody>
      </p:sp>
      <p:sp>
        <p:nvSpPr>
          <p:cNvPr id="1654" name="Google Shape;1654;p58"/>
          <p:cNvSpPr txBox="1"/>
          <p:nvPr/>
        </p:nvSpPr>
        <p:spPr>
          <a:xfrm>
            <a:off x="4257446"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Android 14+ always asks for 517. Chunk size follows the negotiated value.</a:t>
            </a:r>
            <a:endParaRPr/>
          </a:p>
        </p:txBody>
      </p:sp>
      <p:sp>
        <p:nvSpPr>
          <p:cNvPr id="1655" name="Google Shape;1655;p58"/>
          <p:cNvSpPr/>
          <p:nvPr/>
        </p:nvSpPr>
        <p:spPr>
          <a:xfrm>
            <a:off x="4533298" y="1463039"/>
            <a:ext cx="1242052" cy="18288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50">
                <a:solidFill>
                  <a:srgbClr val="9A5B00"/>
                </a:solidFill>
                <a:latin typeface="Montserrat"/>
                <a:ea typeface="Montserrat"/>
                <a:cs typeface="Montserrat"/>
                <a:sym typeface="Montserrat"/>
              </a:rPr>
              <a:t>EXPLICIT ON ANDROID</a:t>
            </a:r>
            <a:endParaRPr/>
          </a:p>
        </p:txBody>
      </p:sp>
      <p:cxnSp>
        <p:nvCxnSpPr>
          <p:cNvPr id="1656" name="Google Shape;1656;p58"/>
          <p:cNvCxnSpPr>
            <a:stCxn id="1644" idx="3"/>
            <a:endCxn id="1650" idx="1"/>
          </p:cNvCxnSpPr>
          <p:nvPr/>
        </p:nvCxnSpPr>
        <p:spPr>
          <a:xfrm>
            <a:off x="4012387"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57" name="Google Shape;1657;p58"/>
          <p:cNvSpPr/>
          <p:nvPr/>
        </p:nvSpPr>
        <p:spPr>
          <a:xfrm>
            <a:off x="6020409" y="1554480"/>
            <a:ext cx="1700784" cy="1188720"/>
          </a:xfrm>
          <a:prstGeom prst="roundRect">
            <a:avLst>
              <a:gd fmla="val 4615"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8" name="Google Shape;1658;p58"/>
          <p:cNvSpPr/>
          <p:nvPr/>
        </p:nvSpPr>
        <p:spPr>
          <a:xfrm>
            <a:off x="6111849"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4</a:t>
            </a:r>
            <a:endParaRPr/>
          </a:p>
        </p:txBody>
      </p:sp>
      <p:sp>
        <p:nvSpPr>
          <p:cNvPr id="1659" name="Google Shape;1659;p58"/>
          <p:cNvSpPr txBox="1"/>
          <p:nvPr/>
        </p:nvSpPr>
        <p:spPr>
          <a:xfrm>
            <a:off x="6441033"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Discover services</a:t>
            </a:r>
            <a:endParaRPr/>
          </a:p>
        </p:txBody>
      </p:sp>
      <p:sp>
        <p:nvSpPr>
          <p:cNvPr id="1660" name="Google Shape;1660;p58"/>
          <p:cNvSpPr txBox="1"/>
          <p:nvPr/>
        </p:nvSpPr>
        <p:spPr>
          <a:xfrm>
            <a:off x="6111849"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discoverServices()</a:t>
            </a:r>
            <a:endParaRPr/>
          </a:p>
        </p:txBody>
      </p:sp>
      <p:sp>
        <p:nvSpPr>
          <p:cNvPr id="1661" name="Google Shape;1661;p58"/>
          <p:cNvSpPr txBox="1"/>
          <p:nvPr/>
        </p:nvSpPr>
        <p:spPr>
          <a:xfrm>
            <a:off x="6111849"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Characteristic layout: </a:t>
            </a:r>
            <a:r>
              <a:rPr b="1" lang="en-US" sz="925">
                <a:solidFill>
                  <a:srgbClr val="9A5B00"/>
                </a:solidFill>
                <a:latin typeface="Barlow"/>
                <a:ea typeface="Barlow"/>
                <a:cs typeface="Barlow"/>
                <a:sym typeface="Barlow"/>
              </a:rPr>
              <a:t>TBD</a:t>
            </a:r>
            <a:r>
              <a:rPr b="0" lang="en-US" sz="925">
                <a:solidFill>
                  <a:srgbClr val="1F2A37"/>
                </a:solidFill>
                <a:latin typeface="Barlow"/>
                <a:ea typeface="Barlow"/>
                <a:cs typeface="Barlow"/>
                <a:sym typeface="Barlow"/>
              </a:rPr>
              <a:t> with the register map</a:t>
            </a:r>
            <a:endParaRPr/>
          </a:p>
        </p:txBody>
      </p:sp>
      <p:cxnSp>
        <p:nvCxnSpPr>
          <p:cNvPr id="1662" name="Google Shape;1662;p58"/>
          <p:cNvCxnSpPr>
            <a:stCxn id="1650" idx="3"/>
            <a:endCxn id="1657" idx="1"/>
          </p:cNvCxnSpPr>
          <p:nvPr/>
        </p:nvCxnSpPr>
        <p:spPr>
          <a:xfrm>
            <a:off x="5866790"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63" name="Google Shape;1663;p58"/>
          <p:cNvSpPr/>
          <p:nvPr/>
        </p:nvSpPr>
        <p:spPr>
          <a:xfrm>
            <a:off x="7874812" y="1554480"/>
            <a:ext cx="1700784" cy="1188720"/>
          </a:xfrm>
          <a:prstGeom prst="roundRect">
            <a:avLst>
              <a:gd fmla="val 4615" name="adj"/>
            </a:avLst>
          </a:prstGeom>
          <a:solidFill>
            <a:srgbClr val="FFF4E0"/>
          </a:solidFill>
          <a:ln cap="flat" cmpd="sng" w="1587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4" name="Google Shape;1664;p58"/>
          <p:cNvSpPr/>
          <p:nvPr/>
        </p:nvSpPr>
        <p:spPr>
          <a:xfrm>
            <a:off x="7966252"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5</a:t>
            </a:r>
            <a:endParaRPr/>
          </a:p>
        </p:txBody>
      </p:sp>
      <p:sp>
        <p:nvSpPr>
          <p:cNvPr id="1665" name="Google Shape;1665;p58"/>
          <p:cNvSpPr txBox="1"/>
          <p:nvPr/>
        </p:nvSpPr>
        <p:spPr>
          <a:xfrm>
            <a:off x="8295436"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Enable events</a:t>
            </a:r>
            <a:endParaRPr/>
          </a:p>
        </p:txBody>
      </p:sp>
      <p:sp>
        <p:nvSpPr>
          <p:cNvPr id="1666" name="Google Shape;1666;p58"/>
          <p:cNvSpPr txBox="1"/>
          <p:nvPr/>
        </p:nvSpPr>
        <p:spPr>
          <a:xfrm>
            <a:off x="7966252"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writeDescriptor(CCCD)</a:t>
            </a:r>
            <a:endParaRPr/>
          </a:p>
        </p:txBody>
      </p:sp>
      <p:sp>
        <p:nvSpPr>
          <p:cNvPr id="1667" name="Google Shape;1667;p58"/>
          <p:cNvSpPr txBox="1"/>
          <p:nvPr/>
        </p:nvSpPr>
        <p:spPr>
          <a:xfrm>
            <a:off x="7966252"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One descriptor write per event characteristic, after enabling notifications</a:t>
            </a:r>
            <a:endParaRPr/>
          </a:p>
        </p:txBody>
      </p:sp>
      <p:sp>
        <p:nvSpPr>
          <p:cNvPr id="1668" name="Google Shape;1668;p58"/>
          <p:cNvSpPr/>
          <p:nvPr/>
        </p:nvSpPr>
        <p:spPr>
          <a:xfrm>
            <a:off x="8011069" y="1463039"/>
            <a:ext cx="1473087" cy="18288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50">
                <a:solidFill>
                  <a:srgbClr val="9A5B00"/>
                </a:solidFill>
                <a:latin typeface="Montserrat"/>
                <a:ea typeface="Montserrat"/>
                <a:cs typeface="Montserrat"/>
                <a:sym typeface="Montserrat"/>
              </a:rPr>
              <a:t>EXTRA WRITE ON ANDROID</a:t>
            </a:r>
            <a:endParaRPr/>
          </a:p>
        </p:txBody>
      </p:sp>
      <p:cxnSp>
        <p:nvCxnSpPr>
          <p:cNvPr id="1669" name="Google Shape;1669;p58"/>
          <p:cNvCxnSpPr>
            <a:stCxn id="1657" idx="3"/>
            <a:endCxn id="1663" idx="1"/>
          </p:cNvCxnSpPr>
          <p:nvPr/>
        </p:nvCxnSpPr>
        <p:spPr>
          <a:xfrm>
            <a:off x="7721193"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70" name="Google Shape;1670;p58"/>
          <p:cNvSpPr/>
          <p:nvPr/>
        </p:nvSpPr>
        <p:spPr>
          <a:xfrm>
            <a:off x="9729216" y="1554480"/>
            <a:ext cx="1700784" cy="1188720"/>
          </a:xfrm>
          <a:prstGeom prst="roundRect">
            <a:avLst>
              <a:gd fmla="val 461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1" name="Google Shape;1671;p58"/>
          <p:cNvSpPr/>
          <p:nvPr/>
        </p:nvSpPr>
        <p:spPr>
          <a:xfrm>
            <a:off x="9820656" y="1645920"/>
            <a:ext cx="256032" cy="256032"/>
          </a:xfrm>
          <a:prstGeom prst="ellipse">
            <a:avLst/>
          </a:prstGeom>
          <a:solidFill>
            <a:srgbClr val="5DA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0B2F5B"/>
                </a:solidFill>
                <a:latin typeface="Montserrat"/>
                <a:ea typeface="Montserrat"/>
                <a:cs typeface="Montserrat"/>
                <a:sym typeface="Montserrat"/>
              </a:rPr>
              <a:t>6</a:t>
            </a:r>
            <a:endParaRPr/>
          </a:p>
        </p:txBody>
      </p:sp>
      <p:sp>
        <p:nvSpPr>
          <p:cNvPr id="1672" name="Google Shape;1672;p58"/>
          <p:cNvSpPr txBox="1"/>
          <p:nvPr/>
        </p:nvSpPr>
        <p:spPr>
          <a:xfrm>
            <a:off x="10149840"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FFFFFF"/>
                </a:solidFill>
                <a:latin typeface="Montserrat"/>
                <a:ea typeface="Montserrat"/>
                <a:cs typeface="Montserrat"/>
                <a:sym typeface="Montserrat"/>
              </a:rPr>
              <a:t>Version gate</a:t>
            </a:r>
            <a:endParaRPr/>
          </a:p>
        </p:txBody>
      </p:sp>
      <p:sp>
        <p:nvSpPr>
          <p:cNvPr id="1673" name="Google Shape;1673;p58"/>
          <p:cNvSpPr txBox="1"/>
          <p:nvPr/>
        </p:nvSpPr>
        <p:spPr>
          <a:xfrm>
            <a:off x="9820656" y="1993391"/>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DCE8F7"/>
                </a:solidFill>
                <a:latin typeface="Barlow"/>
                <a:ea typeface="Barlow"/>
                <a:cs typeface="Barlow"/>
                <a:sym typeface="Barlow"/>
              </a:rPr>
              <a:t>Protocol version check, then bulk read, as in T6</a:t>
            </a:r>
            <a:endParaRPr/>
          </a:p>
        </p:txBody>
      </p:sp>
      <p:cxnSp>
        <p:nvCxnSpPr>
          <p:cNvPr id="1674" name="Google Shape;1674;p58"/>
          <p:cNvCxnSpPr>
            <a:stCxn id="1663" idx="3"/>
            <a:endCxn id="1670" idx="1"/>
          </p:cNvCxnSpPr>
          <p:nvPr/>
        </p:nvCxnSpPr>
        <p:spPr>
          <a:xfrm>
            <a:off x="9575596"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75" name="Google Shape;1675;p58"/>
          <p:cNvSpPr txBox="1"/>
          <p:nvPr/>
        </p:nvSpPr>
        <p:spPr>
          <a:xfrm>
            <a:off x="457200" y="2944368"/>
            <a:ext cx="53035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2 · ONE GATT OPERATION AT A TIME</a:t>
            </a:r>
            <a:endParaRPr/>
          </a:p>
        </p:txBody>
      </p:sp>
      <p:sp>
        <p:nvSpPr>
          <p:cNvPr id="1676" name="Google Shape;1676;p58"/>
          <p:cNvSpPr/>
          <p:nvPr/>
        </p:nvSpPr>
        <p:spPr>
          <a:xfrm>
            <a:off x="2148840" y="3236976"/>
            <a:ext cx="1783080" cy="1133856"/>
          </a:xfrm>
          <a:prstGeom prst="roundRect">
            <a:avLst>
              <a:gd fmla="val 4838" name="adj"/>
            </a:avLst>
          </a:prstGeom>
          <a:solidFill>
            <a:srgbClr val="0B2F5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Command queue</a:t>
            </a:r>
            <a:endParaRPr/>
          </a:p>
          <a:p>
            <a:pPr indent="0" lvl="0" marL="0" marR="0" rtl="0" algn="ctr">
              <a:lnSpc>
                <a:spcPct val="100000"/>
              </a:lnSpc>
              <a:spcBef>
                <a:spcPts val="300"/>
              </a:spcBef>
              <a:spcAft>
                <a:spcPts val="0"/>
              </a:spcAft>
              <a:buNone/>
            </a:pPr>
            <a:r>
              <a:rPr b="0" lang="en-US" sz="900">
                <a:solidFill>
                  <a:srgbClr val="DCE8F7"/>
                </a:solidFill>
                <a:latin typeface="Barlow"/>
                <a:ea typeface="Barlow"/>
                <a:cs typeface="Barlow"/>
                <a:sym typeface="Barlow"/>
              </a:rPr>
              <a:t>One coroutine consumes it; one operation is pending at a time</a:t>
            </a:r>
            <a:endParaRPr/>
          </a:p>
        </p:txBody>
      </p:sp>
      <p:sp>
        <p:nvSpPr>
          <p:cNvPr id="1677" name="Google Shape;1677;p58"/>
          <p:cNvSpPr/>
          <p:nvPr/>
        </p:nvSpPr>
        <p:spPr>
          <a:xfrm>
            <a:off x="457200" y="3236976"/>
            <a:ext cx="1325880" cy="329184"/>
          </a:xfrm>
          <a:prstGeom prst="roundRect">
            <a:avLst>
              <a:gd fmla="val 13888" name="adj"/>
            </a:avLst>
          </a:prstGeom>
          <a:solidFill>
            <a:srgbClr val="FFFFFF"/>
          </a:solidFill>
          <a:ln cap="flat" cmpd="sng" w="12700">
            <a:solidFill>
              <a:srgbClr val="0B2F5B"/>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Bulk read</a:t>
            </a:r>
            <a:endParaRPr/>
          </a:p>
        </p:txBody>
      </p:sp>
      <p:cxnSp>
        <p:nvCxnSpPr>
          <p:cNvPr id="1678" name="Google Shape;1678;p58"/>
          <p:cNvCxnSpPr/>
          <p:nvPr/>
        </p:nvCxnSpPr>
        <p:spPr>
          <a:xfrm>
            <a:off x="1783080" y="3401568"/>
            <a:ext cx="365760" cy="0"/>
          </a:xfrm>
          <a:prstGeom prst="straightConnector1">
            <a:avLst/>
          </a:prstGeom>
          <a:noFill/>
          <a:ln cap="flat" cmpd="sng" w="12700">
            <a:solidFill>
              <a:srgbClr val="0B2F5B"/>
            </a:solidFill>
            <a:prstDash val="solid"/>
            <a:round/>
            <a:headEnd len="sm" w="sm" type="none"/>
            <a:tailEnd len="med" w="med" type="triangle"/>
          </a:ln>
        </p:spPr>
      </p:cxnSp>
      <p:sp>
        <p:nvSpPr>
          <p:cNvPr id="1679" name="Google Shape;1679;p58"/>
          <p:cNvSpPr/>
          <p:nvPr/>
        </p:nvSpPr>
        <p:spPr>
          <a:xfrm>
            <a:off x="457200" y="3639312"/>
            <a:ext cx="1325880" cy="329184"/>
          </a:xfrm>
          <a:prstGeom prst="roundRect">
            <a:avLst>
              <a:gd fmla="val 13888" name="adj"/>
            </a:avLst>
          </a:prstGeom>
          <a:solidFill>
            <a:srgbClr val="FFFFFF"/>
          </a:solidFill>
          <a:ln cap="flat" cmpd="sng" w="12700">
            <a:solidFill>
              <a:srgbClr val="0B2F5B"/>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One-shot write</a:t>
            </a:r>
            <a:endParaRPr/>
          </a:p>
        </p:txBody>
      </p:sp>
      <p:cxnSp>
        <p:nvCxnSpPr>
          <p:cNvPr id="1680" name="Google Shape;1680;p58"/>
          <p:cNvCxnSpPr/>
          <p:nvPr/>
        </p:nvCxnSpPr>
        <p:spPr>
          <a:xfrm>
            <a:off x="1783080" y="3803904"/>
            <a:ext cx="365760" cy="0"/>
          </a:xfrm>
          <a:prstGeom prst="straightConnector1">
            <a:avLst/>
          </a:prstGeom>
          <a:noFill/>
          <a:ln cap="flat" cmpd="sng" w="12700">
            <a:solidFill>
              <a:srgbClr val="0B2F5B"/>
            </a:solidFill>
            <a:prstDash val="solid"/>
            <a:round/>
            <a:headEnd len="sm" w="sm" type="none"/>
            <a:tailEnd len="med" w="med" type="triangle"/>
          </a:ln>
        </p:spPr>
      </p:cxnSp>
      <p:sp>
        <p:nvSpPr>
          <p:cNvPr id="1681" name="Google Shape;1681;p58"/>
          <p:cNvSpPr/>
          <p:nvPr/>
        </p:nvSpPr>
        <p:spPr>
          <a:xfrm>
            <a:off x="457200" y="4041648"/>
            <a:ext cx="1325880" cy="329184"/>
          </a:xfrm>
          <a:prstGeom prst="roundRect">
            <a:avLst>
              <a:gd fmla="val 13888" name="adj"/>
            </a:avLst>
          </a:prstGeom>
          <a:solidFill>
            <a:srgbClr val="FFFFFF"/>
          </a:solidFill>
          <a:ln cap="flat" cmpd="sng" w="12700">
            <a:solidFill>
              <a:srgbClr val="0B2F5B"/>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Metering poll</a:t>
            </a:r>
            <a:endParaRPr/>
          </a:p>
        </p:txBody>
      </p:sp>
      <p:cxnSp>
        <p:nvCxnSpPr>
          <p:cNvPr id="1682" name="Google Shape;1682;p58"/>
          <p:cNvCxnSpPr/>
          <p:nvPr/>
        </p:nvCxnSpPr>
        <p:spPr>
          <a:xfrm>
            <a:off x="1783080" y="4206240"/>
            <a:ext cx="365760" cy="0"/>
          </a:xfrm>
          <a:prstGeom prst="straightConnector1">
            <a:avLst/>
          </a:prstGeom>
          <a:noFill/>
          <a:ln cap="flat" cmpd="sng" w="12700">
            <a:solidFill>
              <a:srgbClr val="0B2F5B"/>
            </a:solidFill>
            <a:prstDash val="solid"/>
            <a:round/>
            <a:headEnd len="sm" w="sm" type="none"/>
            <a:tailEnd len="med" w="med" type="triangle"/>
          </a:ln>
        </p:spPr>
      </p:cxnSp>
      <p:sp>
        <p:nvSpPr>
          <p:cNvPr id="1683" name="Google Shape;1683;p58"/>
          <p:cNvSpPr/>
          <p:nvPr/>
        </p:nvSpPr>
        <p:spPr>
          <a:xfrm>
            <a:off x="4480560" y="3236976"/>
            <a:ext cx="1280160" cy="1133856"/>
          </a:xfrm>
          <a:prstGeom prst="roundRect">
            <a:avLst>
              <a:gd fmla="val 4838" name="adj"/>
            </a:avLst>
          </a:prstGeom>
          <a:solidFill>
            <a:srgbClr val="FFFFFF"/>
          </a:solidFill>
          <a:ln cap="flat" cmpd="sng" w="15875">
            <a:solidFill>
              <a:srgbClr val="1565C0"/>
            </a:solidFill>
            <a:prstDash val="solid"/>
            <a:round/>
            <a:headEnd len="sm" w="sm" type="none"/>
            <a:tailEnd len="sm" w="sm" type="none"/>
          </a:ln>
        </p:spPr>
        <p:txBody>
          <a:bodyPr anchorCtr="0" anchor="ctr" bIns="45700" lIns="54850" spcFirstLastPara="1" rIns="54850" wrap="square" tIns="45700">
            <a:noAutofit/>
          </a:bodyPr>
          <a:lstStyle/>
          <a:p>
            <a:pPr indent="0" lvl="0" marL="0" marR="0" rtl="0" algn="ctr">
              <a:lnSpc>
                <a:spcPct val="100000"/>
              </a:lnSpc>
              <a:spcBef>
                <a:spcPts val="0"/>
              </a:spcBef>
              <a:spcAft>
                <a:spcPts val="0"/>
              </a:spcAft>
              <a:buNone/>
            </a:pPr>
            <a:r>
              <a:rPr b="1" lang="en-US" sz="925">
                <a:solidFill>
                  <a:srgbClr val="1565C0"/>
                </a:solidFill>
                <a:latin typeface="Consolas"/>
                <a:ea typeface="Consolas"/>
                <a:cs typeface="Consolas"/>
                <a:sym typeface="Consolas"/>
              </a:rPr>
              <a:t>BluetoothGatt</a:t>
            </a:r>
            <a:endParaRPr/>
          </a:p>
          <a:p>
            <a:pPr indent="0" lvl="0" marL="0" marR="0" rtl="0" algn="ctr">
              <a:lnSpc>
                <a:spcPct val="100000"/>
              </a:lnSpc>
              <a:spcBef>
                <a:spcPts val="300"/>
              </a:spcBef>
              <a:spcAft>
                <a:spcPts val="0"/>
              </a:spcAft>
              <a:buNone/>
            </a:pPr>
            <a:r>
              <a:rPr b="0" lang="en-US" sz="900">
                <a:solidFill>
                  <a:srgbClr val="1F2A37"/>
                </a:solidFill>
                <a:latin typeface="Barlow"/>
                <a:ea typeface="Barlow"/>
                <a:cs typeface="Barlow"/>
                <a:sym typeface="Barlow"/>
              </a:rPr>
              <a:t>One request in flight</a:t>
            </a:r>
            <a:endParaRPr/>
          </a:p>
        </p:txBody>
      </p:sp>
      <p:cxnSp>
        <p:nvCxnSpPr>
          <p:cNvPr id="1684" name="Google Shape;1684;p58"/>
          <p:cNvCxnSpPr/>
          <p:nvPr/>
        </p:nvCxnSpPr>
        <p:spPr>
          <a:xfrm>
            <a:off x="3931920" y="3566160"/>
            <a:ext cx="548640" cy="0"/>
          </a:xfrm>
          <a:prstGeom prst="straightConnector1">
            <a:avLst/>
          </a:prstGeom>
          <a:noFill/>
          <a:ln cap="flat" cmpd="sng" w="19050">
            <a:solidFill>
              <a:srgbClr val="1565C0"/>
            </a:solidFill>
            <a:prstDash val="solid"/>
            <a:round/>
            <a:headEnd len="sm" w="sm" type="none"/>
            <a:tailEnd len="med" w="med" type="triangle"/>
          </a:ln>
        </p:spPr>
      </p:cxnSp>
      <p:sp>
        <p:nvSpPr>
          <p:cNvPr id="1685" name="Google Shape;1685;p58"/>
          <p:cNvSpPr txBox="1"/>
          <p:nvPr/>
        </p:nvSpPr>
        <p:spPr>
          <a:xfrm>
            <a:off x="3931920" y="3346704"/>
            <a:ext cx="54864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lang="en-US" sz="850">
                <a:solidFill>
                  <a:srgbClr val="1565C0"/>
                </a:solidFill>
                <a:latin typeface="Barlow"/>
                <a:ea typeface="Barlow"/>
                <a:cs typeface="Barlow"/>
                <a:sym typeface="Barlow"/>
              </a:rPr>
              <a:t>next</a:t>
            </a:r>
            <a:endParaRPr/>
          </a:p>
        </p:txBody>
      </p:sp>
      <p:cxnSp>
        <p:nvCxnSpPr>
          <p:cNvPr id="1686" name="Google Shape;1686;p58"/>
          <p:cNvCxnSpPr/>
          <p:nvPr/>
        </p:nvCxnSpPr>
        <p:spPr>
          <a:xfrm rot="10800000">
            <a:off x="3931920" y="4059936"/>
            <a:ext cx="548640" cy="0"/>
          </a:xfrm>
          <a:prstGeom prst="straightConnector1">
            <a:avLst/>
          </a:prstGeom>
          <a:noFill/>
          <a:ln cap="flat" cmpd="sng" w="19050">
            <a:solidFill>
              <a:srgbClr val="1565C0"/>
            </a:solidFill>
            <a:prstDash val="dash"/>
            <a:round/>
            <a:headEnd len="sm" w="sm" type="none"/>
            <a:tailEnd len="med" w="med" type="triangle"/>
          </a:ln>
        </p:spPr>
      </p:cxnSp>
      <p:sp>
        <p:nvSpPr>
          <p:cNvPr id="1687" name="Google Shape;1687;p58"/>
          <p:cNvSpPr txBox="1"/>
          <p:nvPr/>
        </p:nvSpPr>
        <p:spPr>
          <a:xfrm>
            <a:off x="3931920" y="4096512"/>
            <a:ext cx="54864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lang="en-US" sz="850">
                <a:solidFill>
                  <a:srgbClr val="1565C0"/>
                </a:solidFill>
                <a:latin typeface="Barlow"/>
                <a:ea typeface="Barlow"/>
                <a:cs typeface="Barlow"/>
                <a:sym typeface="Barlow"/>
              </a:rPr>
              <a:t>callback</a:t>
            </a:r>
            <a:endParaRPr/>
          </a:p>
        </p:txBody>
      </p:sp>
      <p:sp>
        <p:nvSpPr>
          <p:cNvPr id="1688" name="Google Shape;1688;p58"/>
          <p:cNvSpPr/>
          <p:nvPr/>
        </p:nvSpPr>
        <p:spPr>
          <a:xfrm>
            <a:off x="457200" y="4498848"/>
            <a:ext cx="5303520" cy="512064"/>
          </a:xfrm>
          <a:prstGeom prst="roundRect">
            <a:avLst>
              <a:gd fmla="val 8928" name="adj"/>
            </a:avLst>
          </a:prstGeom>
          <a:solidFill>
            <a:srgbClr val="FFF4E0"/>
          </a:solidFill>
          <a:ln cap="flat" cmpd="sng" w="9525">
            <a:solidFill>
              <a:srgbClr val="F0A93B"/>
            </a:solidFill>
            <a:prstDash val="solid"/>
            <a:round/>
            <a:headEnd len="sm" w="sm" type="none"/>
            <a:tailEnd len="sm" w="sm" type="none"/>
          </a:ln>
        </p:spPr>
        <p:txBody>
          <a:bodyPr anchorCtr="0" anchor="ctr" bIns="27425" lIns="91425" spcFirstLastPara="1" rIns="73150" wrap="square" tIns="27425">
            <a:noAutofit/>
          </a:bodyPr>
          <a:lstStyle/>
          <a:p>
            <a:pPr indent="0" lvl="0" marL="0" marR="0" rtl="0" algn="l">
              <a:lnSpc>
                <a:spcPct val="100000"/>
              </a:lnSpc>
              <a:spcBef>
                <a:spcPts val="0"/>
              </a:spcBef>
              <a:spcAft>
                <a:spcPts val="0"/>
              </a:spcAft>
              <a:buNone/>
            </a:pPr>
            <a:r>
              <a:rPr b="0" lang="en-US" sz="925">
                <a:solidFill>
                  <a:srgbClr val="9A5B00"/>
                </a:solidFill>
                <a:latin typeface="Barlow"/>
                <a:ea typeface="Barlow"/>
                <a:cs typeface="Barlow"/>
                <a:sym typeface="Barlow"/>
              </a:rPr>
              <a:t>A read or write issued while another is pending is rejected (writes: </a:t>
            </a:r>
            <a:r>
              <a:rPr b="0" lang="en-US" sz="825">
                <a:solidFill>
                  <a:srgbClr val="9A5B00"/>
                </a:solidFill>
                <a:latin typeface="Consolas"/>
                <a:ea typeface="Consolas"/>
                <a:cs typeface="Consolas"/>
                <a:sym typeface="Consolas"/>
              </a:rPr>
              <a:t>ERROR_GATT_WRITE_REQUEST_BUSY</a:t>
            </a:r>
            <a:r>
              <a:rPr b="0" lang="en-US" sz="925">
                <a:solidFill>
                  <a:srgbClr val="9A5B00"/>
                </a:solidFill>
                <a:latin typeface="Barlow"/>
                <a:ea typeface="Barlow"/>
                <a:cs typeface="Barlow"/>
                <a:sym typeface="Barlow"/>
              </a:rPr>
              <a:t>). Each operation waits for its callback or the T6 timeout.</a:t>
            </a:r>
            <a:endParaRPr/>
          </a:p>
        </p:txBody>
      </p:sp>
      <p:sp>
        <p:nvSpPr>
          <p:cNvPr id="1689" name="Google Shape;1689;p58"/>
          <p:cNvSpPr/>
          <p:nvPr/>
        </p:nvSpPr>
        <p:spPr>
          <a:xfrm>
            <a:off x="457200" y="5102352"/>
            <a:ext cx="5303520" cy="603504"/>
          </a:xfrm>
          <a:prstGeom prst="rect">
            <a:avLst/>
          </a:prstGeom>
          <a:solidFill>
            <a:srgbClr val="F5F8FC"/>
          </a:solidFill>
          <a:ln>
            <a:noFill/>
          </a:ln>
        </p:spPr>
        <p:txBody>
          <a:bodyPr anchorCtr="0" anchor="ctr" bIns="27425" lIns="91425" spcFirstLastPara="1" rIns="73150" wrap="square" tIns="27425">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iOS design  </a:t>
            </a:r>
            <a:r>
              <a:rPr b="0" lang="en-US" sz="850">
                <a:solidFill>
                  <a:srgbClr val="1565C0"/>
                </a:solidFill>
                <a:latin typeface="Consolas"/>
                <a:ea typeface="Consolas"/>
                <a:cs typeface="Consolas"/>
                <a:sym typeface="Consolas"/>
              </a:rPr>
              <a:t>actor DeviceSession</a:t>
            </a:r>
            <a:r>
              <a:rPr b="0" lang="en-US" sz="925">
                <a:solidFill>
                  <a:srgbClr val="1F2A37"/>
                </a:solidFill>
                <a:latin typeface="Barlow"/>
                <a:ea typeface="Barlow"/>
                <a:cs typeface="Barlow"/>
                <a:sym typeface="Barlow"/>
              </a:rPr>
              <a:t>, one continuation per characteristic.</a:t>
            </a:r>
            <a:endParaRPr/>
          </a:p>
          <a:p>
            <a:pPr indent="0" lvl="0" marL="0" marR="0" rtl="0" algn="l">
              <a:lnSpc>
                <a:spcPct val="100000"/>
              </a:lnSpc>
              <a:spcBef>
                <a:spcPts val="200"/>
              </a:spcBef>
              <a:spcAft>
                <a:spcPts val="0"/>
              </a:spcAft>
              <a:buNone/>
            </a:pPr>
            <a:r>
              <a:rPr b="1" lang="en-US" sz="925">
                <a:solidFill>
                  <a:srgbClr val="0B2F5B"/>
                </a:solidFill>
                <a:latin typeface="Barlow"/>
                <a:ea typeface="Barlow"/>
                <a:cs typeface="Barlow"/>
                <a:sym typeface="Barlow"/>
              </a:rPr>
              <a:t>Android  </a:t>
            </a:r>
            <a:r>
              <a:rPr b="0" lang="en-US" sz="850">
                <a:solidFill>
                  <a:srgbClr val="1565C0"/>
                </a:solidFill>
                <a:latin typeface="Consolas"/>
                <a:ea typeface="Consolas"/>
                <a:cs typeface="Consolas"/>
                <a:sym typeface="Consolas"/>
              </a:rPr>
              <a:t>Mutex</a:t>
            </a:r>
            <a:r>
              <a:rPr b="0" lang="en-US" sz="925">
                <a:solidFill>
                  <a:srgbClr val="1F2A37"/>
                </a:solidFill>
                <a:latin typeface="Barlow"/>
                <a:ea typeface="Barlow"/>
                <a:cs typeface="Barlow"/>
                <a:sym typeface="Barlow"/>
              </a:rPr>
              <a:t> or </a:t>
            </a:r>
            <a:r>
              <a:rPr b="0" lang="en-US" sz="850">
                <a:solidFill>
                  <a:srgbClr val="1565C0"/>
                </a:solidFill>
                <a:latin typeface="Consolas"/>
                <a:ea typeface="Consolas"/>
                <a:cs typeface="Consolas"/>
                <a:sym typeface="Consolas"/>
              </a:rPr>
              <a:t>Channel</a:t>
            </a:r>
            <a:r>
              <a:rPr b="0" lang="en-US" sz="925">
                <a:solidFill>
                  <a:srgbClr val="1F2A37"/>
                </a:solidFill>
                <a:latin typeface="Barlow"/>
                <a:ea typeface="Barlow"/>
                <a:cs typeface="Barlow"/>
                <a:sym typeface="Barlow"/>
              </a:rPr>
              <a:t> queue, </a:t>
            </a:r>
            <a:r>
              <a:rPr b="0" lang="en-US" sz="850">
                <a:solidFill>
                  <a:srgbClr val="1565C0"/>
                </a:solidFill>
                <a:latin typeface="Consolas"/>
                <a:ea typeface="Consolas"/>
                <a:cs typeface="Consolas"/>
                <a:sym typeface="Consolas"/>
              </a:rPr>
              <a:t>suspendCancellableCoroutine</a:t>
            </a:r>
            <a:r>
              <a:rPr b="0" lang="en-US" sz="925">
                <a:solidFill>
                  <a:srgbClr val="1F2A37"/>
                </a:solidFill>
                <a:latin typeface="Barlow"/>
                <a:ea typeface="Barlow"/>
                <a:cs typeface="Barlow"/>
                <a:sym typeface="Barlow"/>
              </a:rPr>
              <a:t>, one pending operation.</a:t>
            </a:r>
            <a:endParaRPr/>
          </a:p>
        </p:txBody>
      </p:sp>
      <p:sp>
        <p:nvSpPr>
          <p:cNvPr id="1690" name="Google Shape;1690;p58"/>
          <p:cNvSpPr txBox="1"/>
          <p:nvPr/>
        </p:nvSpPr>
        <p:spPr>
          <a:xfrm>
            <a:off x="6035040" y="2944368"/>
            <a:ext cx="53949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3 · FOUR ANDROID GUARDS</a:t>
            </a:r>
            <a:endParaRPr/>
          </a:p>
        </p:txBody>
      </p:sp>
      <p:sp>
        <p:nvSpPr>
          <p:cNvPr id="1691" name="Google Shape;1691;p58"/>
          <p:cNvSpPr/>
          <p:nvPr/>
        </p:nvSpPr>
        <p:spPr>
          <a:xfrm>
            <a:off x="6035040" y="3236976"/>
            <a:ext cx="2606040" cy="118872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2" name="Google Shape;1692;p58"/>
          <p:cNvSpPr/>
          <p:nvPr/>
        </p:nvSpPr>
        <p:spPr>
          <a:xfrm>
            <a:off x="6163055" y="3346704"/>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693" name="Google Shape;1693;p58"/>
          <p:cNvPicPr preferRelativeResize="0"/>
          <p:nvPr/>
        </p:nvPicPr>
        <p:blipFill rotWithShape="1">
          <a:blip r:embed="rId3">
            <a:alphaModFix/>
          </a:blip>
          <a:srcRect b="0" l="0" r="0" t="0"/>
          <a:stretch/>
        </p:blipFill>
        <p:spPr>
          <a:xfrm>
            <a:off x="6235476" y="3419124"/>
            <a:ext cx="184343" cy="184343"/>
          </a:xfrm>
          <a:prstGeom prst="rect">
            <a:avLst/>
          </a:prstGeom>
          <a:noFill/>
          <a:ln>
            <a:noFill/>
          </a:ln>
        </p:spPr>
      </p:pic>
      <p:sp>
        <p:nvSpPr>
          <p:cNvPr id="1694" name="Google Shape;1694;p58"/>
          <p:cNvSpPr txBox="1"/>
          <p:nvPr/>
        </p:nvSpPr>
        <p:spPr>
          <a:xfrm>
            <a:off x="6583679" y="3346704"/>
            <a:ext cx="19476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Failed connection</a:t>
            </a:r>
            <a:endParaRPr/>
          </a:p>
        </p:txBody>
      </p:sp>
      <p:sp>
        <p:nvSpPr>
          <p:cNvPr id="1695" name="Google Shape;1695;p58"/>
          <p:cNvSpPr txBox="1"/>
          <p:nvPr/>
        </p:nvSpPr>
        <p:spPr>
          <a:xfrm>
            <a:off x="6163055" y="3758184"/>
            <a:ext cx="2350008" cy="6217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Always </a:t>
            </a:r>
            <a:r>
              <a:rPr b="0" lang="en-US" sz="850">
                <a:solidFill>
                  <a:srgbClr val="1565C0"/>
                </a:solidFill>
                <a:latin typeface="Consolas"/>
                <a:ea typeface="Consolas"/>
                <a:cs typeface="Consolas"/>
                <a:sym typeface="Consolas"/>
              </a:rPr>
              <a:t>close()</a:t>
            </a:r>
            <a:r>
              <a:rPr b="0" lang="en-US" sz="925">
                <a:solidFill>
                  <a:srgbClr val="1F2A37"/>
                </a:solidFill>
                <a:latin typeface="Barlow"/>
                <a:ea typeface="Barlow"/>
                <a:cs typeface="Barlow"/>
                <a:sym typeface="Barlow"/>
              </a:rPr>
              <a:t> the client, then retry within the T6 limit: 2× after rescan.</a:t>
            </a:r>
            <a:endParaRPr/>
          </a:p>
        </p:txBody>
      </p:sp>
      <p:sp>
        <p:nvSpPr>
          <p:cNvPr id="1696" name="Google Shape;1696;p58"/>
          <p:cNvSpPr/>
          <p:nvPr/>
        </p:nvSpPr>
        <p:spPr>
          <a:xfrm>
            <a:off x="8823960" y="3236976"/>
            <a:ext cx="2606040" cy="118872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7" name="Google Shape;1697;p58"/>
          <p:cNvSpPr/>
          <p:nvPr/>
        </p:nvSpPr>
        <p:spPr>
          <a:xfrm>
            <a:off x="8951976" y="3346704"/>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698" name="Google Shape;1698;p58"/>
          <p:cNvPicPr preferRelativeResize="0"/>
          <p:nvPr/>
        </p:nvPicPr>
        <p:blipFill rotWithShape="1">
          <a:blip r:embed="rId4">
            <a:alphaModFix/>
          </a:blip>
          <a:srcRect b="0" l="0" r="0" t="0"/>
          <a:stretch/>
        </p:blipFill>
        <p:spPr>
          <a:xfrm>
            <a:off x="9024396" y="3419124"/>
            <a:ext cx="184343" cy="184343"/>
          </a:xfrm>
          <a:prstGeom prst="rect">
            <a:avLst/>
          </a:prstGeom>
          <a:noFill/>
          <a:ln>
            <a:noFill/>
          </a:ln>
        </p:spPr>
      </p:pic>
      <p:sp>
        <p:nvSpPr>
          <p:cNvPr id="1699" name="Google Shape;1699;p58"/>
          <p:cNvSpPr txBox="1"/>
          <p:nvPr/>
        </p:nvSpPr>
        <p:spPr>
          <a:xfrm>
            <a:off x="9372600" y="3346704"/>
            <a:ext cx="19476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Scan start budget</a:t>
            </a:r>
            <a:endParaRPr/>
          </a:p>
        </p:txBody>
      </p:sp>
      <p:sp>
        <p:nvSpPr>
          <p:cNvPr id="1700" name="Google Shape;1700;p58"/>
          <p:cNvSpPr txBox="1"/>
          <p:nvPr/>
        </p:nvSpPr>
        <p:spPr>
          <a:xfrm>
            <a:off x="8951976" y="3758184"/>
            <a:ext cx="2350008" cy="6217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More than 5 scan starts in 30 s and results silently stop. Retries reuse one running scan.</a:t>
            </a:r>
            <a:endParaRPr/>
          </a:p>
        </p:txBody>
      </p:sp>
      <p:sp>
        <p:nvSpPr>
          <p:cNvPr id="1701" name="Google Shape;1701;p58"/>
          <p:cNvSpPr/>
          <p:nvPr/>
        </p:nvSpPr>
        <p:spPr>
          <a:xfrm>
            <a:off x="6035040" y="4517136"/>
            <a:ext cx="2606040" cy="118872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2" name="Google Shape;1702;p58"/>
          <p:cNvSpPr/>
          <p:nvPr/>
        </p:nvSpPr>
        <p:spPr>
          <a:xfrm>
            <a:off x="6163055" y="4626864"/>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03" name="Google Shape;1703;p58"/>
          <p:cNvPicPr preferRelativeResize="0"/>
          <p:nvPr/>
        </p:nvPicPr>
        <p:blipFill rotWithShape="1">
          <a:blip r:embed="rId5">
            <a:alphaModFix/>
          </a:blip>
          <a:srcRect b="0" l="0" r="0" t="0"/>
          <a:stretch/>
        </p:blipFill>
        <p:spPr>
          <a:xfrm>
            <a:off x="6235476" y="4699284"/>
            <a:ext cx="184343" cy="184343"/>
          </a:xfrm>
          <a:prstGeom prst="rect">
            <a:avLst/>
          </a:prstGeom>
          <a:noFill/>
          <a:ln>
            <a:noFill/>
          </a:ln>
        </p:spPr>
      </p:pic>
      <p:sp>
        <p:nvSpPr>
          <p:cNvPr id="1704" name="Google Shape;1704;p58"/>
          <p:cNvSpPr txBox="1"/>
          <p:nvPr/>
        </p:nvSpPr>
        <p:spPr>
          <a:xfrm>
            <a:off x="6583679" y="4626864"/>
            <a:ext cx="19476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The address is visible</a:t>
            </a:r>
            <a:endParaRPr/>
          </a:p>
        </p:txBody>
      </p:sp>
      <p:sp>
        <p:nvSpPr>
          <p:cNvPr id="1705" name="Google Shape;1705;p58"/>
          <p:cNvSpPr txBox="1"/>
          <p:nvPr/>
        </p:nvSpPr>
        <p:spPr>
          <a:xfrm>
            <a:off x="6163055" y="5038344"/>
            <a:ext cx="2350008" cy="6217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Android exposes the device address; iOS hides it. Serial No stays the matching key. The address can speed up the reconnect after a reboot, if it is stable.</a:t>
            </a:r>
            <a:endParaRPr/>
          </a:p>
        </p:txBody>
      </p:sp>
      <p:sp>
        <p:nvSpPr>
          <p:cNvPr id="1706" name="Google Shape;1706;p58"/>
          <p:cNvSpPr/>
          <p:nvPr/>
        </p:nvSpPr>
        <p:spPr>
          <a:xfrm>
            <a:off x="8823960" y="4517136"/>
            <a:ext cx="2606040" cy="118872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7" name="Google Shape;1707;p58"/>
          <p:cNvSpPr/>
          <p:nvPr/>
        </p:nvSpPr>
        <p:spPr>
          <a:xfrm>
            <a:off x="8951976" y="4626864"/>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08" name="Google Shape;1708;p58"/>
          <p:cNvPicPr preferRelativeResize="0"/>
          <p:nvPr/>
        </p:nvPicPr>
        <p:blipFill rotWithShape="1">
          <a:blip r:embed="rId6">
            <a:alphaModFix/>
          </a:blip>
          <a:srcRect b="0" l="0" r="0" t="0"/>
          <a:stretch/>
        </p:blipFill>
        <p:spPr>
          <a:xfrm>
            <a:off x="9024396" y="4699284"/>
            <a:ext cx="184343" cy="184343"/>
          </a:xfrm>
          <a:prstGeom prst="rect">
            <a:avLst/>
          </a:prstGeom>
          <a:noFill/>
          <a:ln>
            <a:noFill/>
          </a:ln>
        </p:spPr>
      </p:pic>
      <p:sp>
        <p:nvSpPr>
          <p:cNvPr id="1709" name="Google Shape;1709;p58"/>
          <p:cNvSpPr txBox="1"/>
          <p:nvPr/>
        </p:nvSpPr>
        <p:spPr>
          <a:xfrm>
            <a:off x="9372600" y="4626864"/>
            <a:ext cx="19476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API split at Android 13</a:t>
            </a:r>
            <a:endParaRPr/>
          </a:p>
        </p:txBody>
      </p:sp>
      <p:sp>
        <p:nvSpPr>
          <p:cNvPr id="1710" name="Google Shape;1710;p58"/>
          <p:cNvSpPr txBox="1"/>
          <p:nvPr/>
        </p:nvSpPr>
        <p:spPr>
          <a:xfrm>
            <a:off x="8951976" y="5038344"/>
            <a:ext cx="2350008" cy="6217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Write and notify calls changed in API 33. One wrapper keeps a single code path.</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5" name="Shape 1715"/>
        <p:cNvGrpSpPr/>
        <p:nvPr/>
      </p:nvGrpSpPr>
      <p:grpSpPr>
        <a:xfrm>
          <a:off x="0" y="0"/>
          <a:ext cx="0" cy="0"/>
          <a:chOff x="0" y="0"/>
          <a:chExt cx="0" cy="0"/>
        </a:xfrm>
      </p:grpSpPr>
      <p:sp>
        <p:nvSpPr>
          <p:cNvPr id="1716" name="Google Shape;1716;p59"/>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09 · TECHNICAL DESIGN (ANDROID) · TEMPORARY WI-FI FOR FIRMWARE · SEQUENCE DIAGRAM · PROPOSED DESIGN</a:t>
            </a:r>
            <a:endParaRPr/>
          </a:p>
        </p:txBody>
      </p:sp>
      <p:sp>
        <p:nvSpPr>
          <p:cNvPr id="1717" name="Google Shape;1717;p59"/>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The app requests the firmware Wi-Fi: the installer approves it, the app binds to it</a:t>
            </a:r>
            <a:endParaRPr/>
          </a:p>
        </p:txBody>
      </p:sp>
      <p:cxnSp>
        <p:nvCxnSpPr>
          <p:cNvPr id="1718" name="Google Shape;1718;p59"/>
          <p:cNvCxnSpPr/>
          <p:nvPr/>
        </p:nvCxnSpPr>
        <p:spPr>
          <a:xfrm>
            <a:off x="1280160" y="1664207"/>
            <a:ext cx="0" cy="3291841"/>
          </a:xfrm>
          <a:prstGeom prst="straightConnector1">
            <a:avLst/>
          </a:prstGeom>
          <a:noFill/>
          <a:ln cap="flat" cmpd="sng" w="12700">
            <a:solidFill>
              <a:srgbClr val="C7D7EA"/>
            </a:solidFill>
            <a:prstDash val="dash"/>
            <a:round/>
            <a:headEnd len="sm" w="sm" type="none"/>
            <a:tailEnd len="sm" w="sm" type="none"/>
          </a:ln>
        </p:spPr>
      </p:cxnSp>
      <p:sp>
        <p:nvSpPr>
          <p:cNvPr id="1719" name="Google Shape;1719;p59"/>
          <p:cNvSpPr/>
          <p:nvPr/>
        </p:nvSpPr>
        <p:spPr>
          <a:xfrm>
            <a:off x="457199" y="1261872"/>
            <a:ext cx="1645920" cy="402336"/>
          </a:xfrm>
          <a:prstGeom prst="roundRect">
            <a:avLst>
              <a:gd fmla="val 11363" name="adj"/>
            </a:avLst>
          </a:prstGeom>
          <a:solidFill>
            <a:srgbClr val="FFFFFF"/>
          </a:solidFill>
          <a:ln cap="flat" cmpd="sng" w="12700">
            <a:solidFill>
              <a:srgbClr val="0B2F5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Installer</a:t>
            </a:r>
            <a:endParaRPr/>
          </a:p>
        </p:txBody>
      </p:sp>
      <p:cxnSp>
        <p:nvCxnSpPr>
          <p:cNvPr id="1720" name="Google Shape;1720;p59"/>
          <p:cNvCxnSpPr/>
          <p:nvPr/>
        </p:nvCxnSpPr>
        <p:spPr>
          <a:xfrm>
            <a:off x="3429000" y="1664207"/>
            <a:ext cx="0" cy="3291841"/>
          </a:xfrm>
          <a:prstGeom prst="straightConnector1">
            <a:avLst/>
          </a:prstGeom>
          <a:noFill/>
          <a:ln cap="flat" cmpd="sng" w="12700">
            <a:solidFill>
              <a:srgbClr val="C7D7EA"/>
            </a:solidFill>
            <a:prstDash val="dash"/>
            <a:round/>
            <a:headEnd len="sm" w="sm" type="none"/>
            <a:tailEnd len="sm" w="sm" type="none"/>
          </a:ln>
        </p:spPr>
      </p:cxnSp>
      <p:sp>
        <p:nvSpPr>
          <p:cNvPr id="1721" name="Google Shape;1721;p59"/>
          <p:cNvSpPr/>
          <p:nvPr/>
        </p:nvSpPr>
        <p:spPr>
          <a:xfrm>
            <a:off x="2606040" y="1261872"/>
            <a:ext cx="1645920" cy="402336"/>
          </a:xfrm>
          <a:prstGeom prst="roundRect">
            <a:avLst>
              <a:gd fmla="val 11363" name="adj"/>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Installer app</a:t>
            </a:r>
            <a:endParaRPr/>
          </a:p>
        </p:txBody>
      </p:sp>
      <p:cxnSp>
        <p:nvCxnSpPr>
          <p:cNvPr id="1722" name="Google Shape;1722;p59"/>
          <p:cNvCxnSpPr/>
          <p:nvPr/>
        </p:nvCxnSpPr>
        <p:spPr>
          <a:xfrm>
            <a:off x="5989320" y="1664207"/>
            <a:ext cx="0" cy="3291841"/>
          </a:xfrm>
          <a:prstGeom prst="straightConnector1">
            <a:avLst/>
          </a:prstGeom>
          <a:noFill/>
          <a:ln cap="flat" cmpd="sng" w="12700">
            <a:solidFill>
              <a:srgbClr val="C7D7EA"/>
            </a:solidFill>
            <a:prstDash val="dash"/>
            <a:round/>
            <a:headEnd len="sm" w="sm" type="none"/>
            <a:tailEnd len="sm" w="sm" type="none"/>
          </a:ln>
        </p:spPr>
      </p:cxnSp>
      <p:sp>
        <p:nvSpPr>
          <p:cNvPr id="1723" name="Google Shape;1723;p59"/>
          <p:cNvSpPr/>
          <p:nvPr/>
        </p:nvSpPr>
        <p:spPr>
          <a:xfrm>
            <a:off x="5166359" y="1261872"/>
            <a:ext cx="1645920" cy="402336"/>
          </a:xfrm>
          <a:prstGeom prst="roundRect">
            <a:avLst>
              <a:gd fmla="val 11363" name="adj"/>
            </a:avLst>
          </a:prstGeom>
          <a:solidFill>
            <a:srgbClr val="FFFFFF"/>
          </a:solidFill>
          <a:ln cap="flat" cmpd="sng" w="12700">
            <a:solidFill>
              <a:srgbClr val="0B2F5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Android system</a:t>
            </a:r>
            <a:endParaRPr/>
          </a:p>
        </p:txBody>
      </p:sp>
      <p:cxnSp>
        <p:nvCxnSpPr>
          <p:cNvPr id="1724" name="Google Shape;1724;p59"/>
          <p:cNvCxnSpPr/>
          <p:nvPr/>
        </p:nvCxnSpPr>
        <p:spPr>
          <a:xfrm>
            <a:off x="8193024" y="1664207"/>
            <a:ext cx="0" cy="3291841"/>
          </a:xfrm>
          <a:prstGeom prst="straightConnector1">
            <a:avLst/>
          </a:prstGeom>
          <a:noFill/>
          <a:ln cap="flat" cmpd="sng" w="12700">
            <a:solidFill>
              <a:srgbClr val="C7D7EA"/>
            </a:solidFill>
            <a:prstDash val="dash"/>
            <a:round/>
            <a:headEnd len="sm" w="sm" type="none"/>
            <a:tailEnd len="sm" w="sm" type="none"/>
          </a:ln>
        </p:spPr>
      </p:cxnSp>
      <p:sp>
        <p:nvSpPr>
          <p:cNvPr id="1725" name="Google Shape;1725;p59"/>
          <p:cNvSpPr/>
          <p:nvPr/>
        </p:nvSpPr>
        <p:spPr>
          <a:xfrm>
            <a:off x="7370064" y="1261872"/>
            <a:ext cx="1645920" cy="402336"/>
          </a:xfrm>
          <a:prstGeom prst="roundRect">
            <a:avLst>
              <a:gd fmla="val 11363" name="adj"/>
            </a:avLst>
          </a:prstGeom>
          <a:solidFill>
            <a:srgbClr val="1565C0"/>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CORE Pro ESS</a:t>
            </a:r>
            <a:endParaRPr/>
          </a:p>
        </p:txBody>
      </p:sp>
      <p:cxnSp>
        <p:nvCxnSpPr>
          <p:cNvPr id="1726" name="Google Shape;1726;p59"/>
          <p:cNvCxnSpPr/>
          <p:nvPr/>
        </p:nvCxnSpPr>
        <p:spPr>
          <a:xfrm>
            <a:off x="3547872" y="2084831"/>
            <a:ext cx="4645152" cy="0"/>
          </a:xfrm>
          <a:prstGeom prst="straightConnector1">
            <a:avLst/>
          </a:prstGeom>
          <a:noFill/>
          <a:ln cap="flat" cmpd="sng" w="19050">
            <a:solidFill>
              <a:srgbClr val="1565C0"/>
            </a:solidFill>
            <a:prstDash val="solid"/>
            <a:round/>
            <a:headEnd len="sm" w="sm" type="none"/>
            <a:tailEnd len="med" w="med" type="triangle"/>
          </a:ln>
        </p:spPr>
      </p:cxnSp>
      <p:sp>
        <p:nvSpPr>
          <p:cNvPr id="1727" name="Google Shape;1727;p59"/>
          <p:cNvSpPr/>
          <p:nvPr/>
        </p:nvSpPr>
        <p:spPr>
          <a:xfrm>
            <a:off x="3319272" y="1975103"/>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1728" name="Google Shape;1728;p59"/>
          <p:cNvSpPr/>
          <p:nvPr/>
        </p:nvSpPr>
        <p:spPr>
          <a:xfrm>
            <a:off x="3611880" y="1837943"/>
            <a:ext cx="1713979"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BLE wake-up command   (BLE)</a:t>
            </a:r>
            <a:endParaRPr/>
          </a:p>
        </p:txBody>
      </p:sp>
      <p:cxnSp>
        <p:nvCxnSpPr>
          <p:cNvPr id="1729" name="Google Shape;1729;p59"/>
          <p:cNvCxnSpPr/>
          <p:nvPr/>
        </p:nvCxnSpPr>
        <p:spPr>
          <a:xfrm rot="10800000">
            <a:off x="3429000" y="2468880"/>
            <a:ext cx="4645152" cy="0"/>
          </a:xfrm>
          <a:prstGeom prst="straightConnector1">
            <a:avLst/>
          </a:prstGeom>
          <a:noFill/>
          <a:ln cap="flat" cmpd="sng" w="19050">
            <a:solidFill>
              <a:srgbClr val="1565C0"/>
            </a:solidFill>
            <a:prstDash val="dash"/>
            <a:round/>
            <a:headEnd len="sm" w="sm" type="none"/>
            <a:tailEnd len="med" w="med" type="triangle"/>
          </a:ln>
        </p:spPr>
      </p:cxnSp>
      <p:sp>
        <p:nvSpPr>
          <p:cNvPr id="1730" name="Google Shape;1730;p59"/>
          <p:cNvSpPr/>
          <p:nvPr/>
        </p:nvSpPr>
        <p:spPr>
          <a:xfrm>
            <a:off x="8083296" y="2359152"/>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1731" name="Google Shape;1731;p59"/>
          <p:cNvSpPr/>
          <p:nvPr/>
        </p:nvSpPr>
        <p:spPr>
          <a:xfrm>
            <a:off x="5928823" y="2221992"/>
            <a:ext cx="2081320"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r">
              <a:lnSpc>
                <a:spcPct val="100000"/>
              </a:lnSpc>
              <a:spcBef>
                <a:spcPts val="0"/>
              </a:spcBef>
              <a:spcAft>
                <a:spcPts val="0"/>
              </a:spcAft>
              <a:buNone/>
            </a:pPr>
            <a:r>
              <a:rPr b="0" lang="en-US" sz="950">
                <a:solidFill>
                  <a:srgbClr val="1F2A37"/>
                </a:solidFill>
                <a:latin typeface="Barlow"/>
                <a:ea typeface="Barlow"/>
                <a:cs typeface="Barlow"/>
                <a:sym typeface="Barlow"/>
              </a:rPr>
              <a:t>One-time SSID and passphrase   (BLE)</a:t>
            </a:r>
            <a:endParaRPr/>
          </a:p>
        </p:txBody>
      </p:sp>
      <p:cxnSp>
        <p:nvCxnSpPr>
          <p:cNvPr id="1732" name="Google Shape;1732;p59"/>
          <p:cNvCxnSpPr/>
          <p:nvPr/>
        </p:nvCxnSpPr>
        <p:spPr>
          <a:xfrm>
            <a:off x="3547872" y="2852928"/>
            <a:ext cx="2441448" cy="0"/>
          </a:xfrm>
          <a:prstGeom prst="straightConnector1">
            <a:avLst/>
          </a:prstGeom>
          <a:noFill/>
          <a:ln cap="flat" cmpd="sng" w="19050">
            <a:solidFill>
              <a:srgbClr val="0B2F5B"/>
            </a:solidFill>
            <a:prstDash val="solid"/>
            <a:round/>
            <a:headEnd len="sm" w="sm" type="none"/>
            <a:tailEnd len="med" w="med" type="triangle"/>
          </a:ln>
        </p:spPr>
      </p:cxnSp>
      <p:sp>
        <p:nvSpPr>
          <p:cNvPr id="1733" name="Google Shape;1733;p59"/>
          <p:cNvSpPr/>
          <p:nvPr/>
        </p:nvSpPr>
        <p:spPr>
          <a:xfrm>
            <a:off x="3319272" y="2743200"/>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sp>
        <p:nvSpPr>
          <p:cNvPr id="1734" name="Google Shape;1734;p59"/>
          <p:cNvSpPr/>
          <p:nvPr/>
        </p:nvSpPr>
        <p:spPr>
          <a:xfrm>
            <a:off x="3611880" y="2606040"/>
            <a:ext cx="2471806"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850">
                <a:solidFill>
                  <a:srgbClr val="0B2F5B"/>
                </a:solidFill>
                <a:latin typeface="Consolas"/>
                <a:ea typeface="Consolas"/>
                <a:cs typeface="Consolas"/>
                <a:sym typeface="Consolas"/>
              </a:rPr>
              <a:t>requestNetwork(WifiNetworkSpecifier)</a:t>
            </a:r>
            <a:endParaRPr/>
          </a:p>
        </p:txBody>
      </p:sp>
      <p:cxnSp>
        <p:nvCxnSpPr>
          <p:cNvPr id="1735" name="Google Shape;1735;p59"/>
          <p:cNvCxnSpPr/>
          <p:nvPr/>
        </p:nvCxnSpPr>
        <p:spPr>
          <a:xfrm rot="10800000">
            <a:off x="1280160" y="3236976"/>
            <a:ext cx="4590288" cy="0"/>
          </a:xfrm>
          <a:prstGeom prst="straightConnector1">
            <a:avLst/>
          </a:prstGeom>
          <a:noFill/>
          <a:ln cap="flat" cmpd="sng" w="19050">
            <a:solidFill>
              <a:srgbClr val="0B2F5B"/>
            </a:solidFill>
            <a:prstDash val="dash"/>
            <a:round/>
            <a:headEnd len="sm" w="sm" type="none"/>
            <a:tailEnd len="med" w="med" type="triangle"/>
          </a:ln>
        </p:spPr>
      </p:cxnSp>
      <p:sp>
        <p:nvSpPr>
          <p:cNvPr id="1736" name="Google Shape;1736;p59"/>
          <p:cNvSpPr/>
          <p:nvPr/>
        </p:nvSpPr>
        <p:spPr>
          <a:xfrm>
            <a:off x="5879592" y="3127248"/>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1737" name="Google Shape;1737;p59"/>
          <p:cNvSpPr/>
          <p:nvPr/>
        </p:nvSpPr>
        <p:spPr>
          <a:xfrm>
            <a:off x="3682043" y="2990088"/>
            <a:ext cx="2124396"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r">
              <a:lnSpc>
                <a:spcPct val="100000"/>
              </a:lnSpc>
              <a:spcBef>
                <a:spcPts val="0"/>
              </a:spcBef>
              <a:spcAft>
                <a:spcPts val="0"/>
              </a:spcAft>
              <a:buNone/>
            </a:pPr>
            <a:r>
              <a:rPr b="0" lang="en-US" sz="950">
                <a:solidFill>
                  <a:srgbClr val="1F2A37"/>
                </a:solidFill>
                <a:latin typeface="Barlow"/>
                <a:ea typeface="Barlow"/>
                <a:cs typeface="Barlow"/>
                <a:sym typeface="Barlow"/>
              </a:rPr>
              <a:t>System dialog: connect to this device?</a:t>
            </a:r>
            <a:endParaRPr/>
          </a:p>
        </p:txBody>
      </p:sp>
      <p:cxnSp>
        <p:nvCxnSpPr>
          <p:cNvPr id="1738" name="Google Shape;1738;p59"/>
          <p:cNvCxnSpPr/>
          <p:nvPr/>
        </p:nvCxnSpPr>
        <p:spPr>
          <a:xfrm>
            <a:off x="1399031" y="3621024"/>
            <a:ext cx="4590289" cy="0"/>
          </a:xfrm>
          <a:prstGeom prst="straightConnector1">
            <a:avLst/>
          </a:prstGeom>
          <a:noFill/>
          <a:ln cap="flat" cmpd="sng" w="19050">
            <a:solidFill>
              <a:srgbClr val="0B2F5B"/>
            </a:solidFill>
            <a:prstDash val="solid"/>
            <a:round/>
            <a:headEnd len="sm" w="sm" type="none"/>
            <a:tailEnd len="med" w="med" type="triangle"/>
          </a:ln>
        </p:spPr>
      </p:cxnSp>
      <p:sp>
        <p:nvSpPr>
          <p:cNvPr id="1739" name="Google Shape;1739;p59"/>
          <p:cNvSpPr/>
          <p:nvPr/>
        </p:nvSpPr>
        <p:spPr>
          <a:xfrm>
            <a:off x="1170431" y="3511296"/>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1740" name="Google Shape;1740;p59"/>
          <p:cNvSpPr/>
          <p:nvPr/>
        </p:nvSpPr>
        <p:spPr>
          <a:xfrm>
            <a:off x="1463039" y="3374136"/>
            <a:ext cx="1274417"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The installer approves</a:t>
            </a:r>
            <a:endParaRPr/>
          </a:p>
        </p:txBody>
      </p:sp>
      <p:cxnSp>
        <p:nvCxnSpPr>
          <p:cNvPr id="1741" name="Google Shape;1741;p59"/>
          <p:cNvCxnSpPr/>
          <p:nvPr/>
        </p:nvCxnSpPr>
        <p:spPr>
          <a:xfrm rot="10800000">
            <a:off x="3429000" y="4005072"/>
            <a:ext cx="2441448" cy="0"/>
          </a:xfrm>
          <a:prstGeom prst="straightConnector1">
            <a:avLst/>
          </a:prstGeom>
          <a:noFill/>
          <a:ln cap="flat" cmpd="sng" w="19050">
            <a:solidFill>
              <a:srgbClr val="0B2F5B"/>
            </a:solidFill>
            <a:prstDash val="dash"/>
            <a:round/>
            <a:headEnd len="sm" w="sm" type="none"/>
            <a:tailEnd len="med" w="med" type="triangle"/>
          </a:ln>
        </p:spPr>
      </p:cxnSp>
      <p:sp>
        <p:nvSpPr>
          <p:cNvPr id="1742" name="Google Shape;1742;p59"/>
          <p:cNvSpPr/>
          <p:nvPr/>
        </p:nvSpPr>
        <p:spPr>
          <a:xfrm>
            <a:off x="5879592" y="3895344"/>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6</a:t>
            </a:r>
            <a:endParaRPr/>
          </a:p>
        </p:txBody>
      </p:sp>
      <p:sp>
        <p:nvSpPr>
          <p:cNvPr id="1743" name="Google Shape;1743;p59"/>
          <p:cNvSpPr/>
          <p:nvPr/>
        </p:nvSpPr>
        <p:spPr>
          <a:xfrm>
            <a:off x="4376318" y="3758183"/>
            <a:ext cx="1430121"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r">
              <a:lnSpc>
                <a:spcPct val="100000"/>
              </a:lnSpc>
              <a:spcBef>
                <a:spcPts val="0"/>
              </a:spcBef>
              <a:spcAft>
                <a:spcPts val="0"/>
              </a:spcAft>
              <a:buNone/>
            </a:pPr>
            <a:r>
              <a:rPr b="0" lang="en-US" sz="850">
                <a:solidFill>
                  <a:srgbClr val="0B2F5B"/>
                </a:solidFill>
                <a:latin typeface="Consolas"/>
                <a:ea typeface="Consolas"/>
                <a:cs typeface="Consolas"/>
                <a:sym typeface="Consolas"/>
              </a:rPr>
              <a:t>onAvailable(network)</a:t>
            </a:r>
            <a:endParaRPr/>
          </a:p>
        </p:txBody>
      </p:sp>
      <p:cxnSp>
        <p:nvCxnSpPr>
          <p:cNvPr id="1744" name="Google Shape;1744;p59"/>
          <p:cNvCxnSpPr/>
          <p:nvPr/>
        </p:nvCxnSpPr>
        <p:spPr>
          <a:xfrm>
            <a:off x="3547872" y="4389120"/>
            <a:ext cx="4645152" cy="0"/>
          </a:xfrm>
          <a:prstGeom prst="straightConnector1">
            <a:avLst/>
          </a:prstGeom>
          <a:noFill/>
          <a:ln cap="flat" cmpd="sng" w="28575">
            <a:solidFill>
              <a:srgbClr val="1565C0"/>
            </a:solidFill>
            <a:prstDash val="solid"/>
            <a:round/>
            <a:headEnd len="sm" w="sm" type="none"/>
            <a:tailEnd len="med" w="med" type="triangle"/>
          </a:ln>
        </p:spPr>
      </p:cxnSp>
      <p:sp>
        <p:nvSpPr>
          <p:cNvPr id="1745" name="Google Shape;1745;p59"/>
          <p:cNvSpPr/>
          <p:nvPr/>
        </p:nvSpPr>
        <p:spPr>
          <a:xfrm>
            <a:off x="3319272" y="4279392"/>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7</a:t>
            </a:r>
            <a:endParaRPr/>
          </a:p>
        </p:txBody>
      </p:sp>
      <p:sp>
        <p:nvSpPr>
          <p:cNvPr id="1746" name="Google Shape;1746;p59"/>
          <p:cNvSpPr/>
          <p:nvPr/>
        </p:nvSpPr>
        <p:spPr>
          <a:xfrm>
            <a:off x="3611880" y="4142231"/>
            <a:ext cx="3673759"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Firmware chunks over sockets bound to this network   (SoftAP Wi-Fi)</a:t>
            </a:r>
            <a:endParaRPr/>
          </a:p>
        </p:txBody>
      </p:sp>
      <p:cxnSp>
        <p:nvCxnSpPr>
          <p:cNvPr id="1747" name="Google Shape;1747;p59"/>
          <p:cNvCxnSpPr/>
          <p:nvPr/>
        </p:nvCxnSpPr>
        <p:spPr>
          <a:xfrm>
            <a:off x="3547872" y="4773168"/>
            <a:ext cx="2441448" cy="0"/>
          </a:xfrm>
          <a:prstGeom prst="straightConnector1">
            <a:avLst/>
          </a:prstGeom>
          <a:noFill/>
          <a:ln cap="flat" cmpd="sng" w="19050">
            <a:solidFill>
              <a:srgbClr val="0B2F5B"/>
            </a:solidFill>
            <a:prstDash val="solid"/>
            <a:round/>
            <a:headEnd len="sm" w="sm" type="none"/>
            <a:tailEnd len="med" w="med" type="triangle"/>
          </a:ln>
        </p:spPr>
      </p:cxnSp>
      <p:sp>
        <p:nvSpPr>
          <p:cNvPr id="1748" name="Google Shape;1748;p59"/>
          <p:cNvSpPr/>
          <p:nvPr/>
        </p:nvSpPr>
        <p:spPr>
          <a:xfrm>
            <a:off x="3319272" y="4663440"/>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8</a:t>
            </a:r>
            <a:endParaRPr/>
          </a:p>
        </p:txBody>
      </p:sp>
      <p:sp>
        <p:nvSpPr>
          <p:cNvPr id="1749" name="Google Shape;1749;p59"/>
          <p:cNvSpPr/>
          <p:nvPr/>
        </p:nvSpPr>
        <p:spPr>
          <a:xfrm>
            <a:off x="3611880" y="4526279"/>
            <a:ext cx="2364113"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Release: </a:t>
            </a:r>
            <a:r>
              <a:rPr b="0" lang="en-US" sz="850">
                <a:solidFill>
                  <a:srgbClr val="0B2F5B"/>
                </a:solidFill>
                <a:latin typeface="Consolas"/>
                <a:ea typeface="Consolas"/>
                <a:cs typeface="Consolas"/>
                <a:sym typeface="Consolas"/>
              </a:rPr>
              <a:t>unregisterNetworkCallback()</a:t>
            </a:r>
            <a:endParaRPr/>
          </a:p>
        </p:txBody>
      </p:sp>
      <p:sp>
        <p:nvSpPr>
          <p:cNvPr id="1750" name="Google Shape;1750;p59"/>
          <p:cNvSpPr/>
          <p:nvPr/>
        </p:nvSpPr>
        <p:spPr>
          <a:xfrm>
            <a:off x="457200" y="5047488"/>
            <a:ext cx="8595360" cy="274320"/>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0" lIns="73150" spcFirstLastPara="1" rIns="73150" wrap="square" tIns="0">
            <a:noAutofit/>
          </a:bodyPr>
          <a:lstStyle/>
          <a:p>
            <a:pPr indent="0" lvl="0" marL="0" marR="0" rtl="0" algn="ctr">
              <a:lnSpc>
                <a:spcPct val="100000"/>
              </a:lnSpc>
              <a:spcBef>
                <a:spcPts val="0"/>
              </a:spcBef>
              <a:spcAft>
                <a:spcPts val="0"/>
              </a:spcAft>
              <a:buNone/>
            </a:pPr>
            <a:r>
              <a:rPr b="1" lang="en-US" sz="800">
                <a:solidFill>
                  <a:srgbClr val="9A5B00"/>
                </a:solidFill>
                <a:latin typeface="Montserrat"/>
                <a:ea typeface="Montserrat"/>
                <a:cs typeface="Montserrat"/>
                <a:sym typeface="Montserrat"/>
              </a:rPr>
              <a:t>DECLINED OR FAILED  </a:t>
            </a:r>
            <a:r>
              <a:rPr b="0" lang="en-US" sz="850">
                <a:solidFill>
                  <a:srgbClr val="9A5B00"/>
                </a:solidFill>
                <a:latin typeface="Consolas"/>
                <a:ea typeface="Consolas"/>
                <a:cs typeface="Consolas"/>
                <a:sym typeface="Consolas"/>
              </a:rPr>
              <a:t>onUnavailable()</a:t>
            </a:r>
            <a:r>
              <a:rPr b="0" lang="en-US" sz="925">
                <a:solidFill>
                  <a:srgbClr val="9A5B00"/>
                </a:solidFill>
                <a:latin typeface="Barlow"/>
                <a:ea typeface="Barlow"/>
                <a:cs typeface="Barlow"/>
                <a:sym typeface="Barlow"/>
              </a:rPr>
              <a:t>: retry once, then a new BLE wake-up and SSID (the T4 rule for a SoftAP join failure)</a:t>
            </a:r>
            <a:endParaRPr/>
          </a:p>
        </p:txBody>
      </p:sp>
      <p:sp>
        <p:nvSpPr>
          <p:cNvPr id="1751" name="Google Shape;1751;p59"/>
          <p:cNvSpPr/>
          <p:nvPr/>
        </p:nvSpPr>
        <p:spPr>
          <a:xfrm>
            <a:off x="457200" y="5394960"/>
            <a:ext cx="8595360" cy="310896"/>
          </a:xfrm>
          <a:prstGeom prst="rect">
            <a:avLst/>
          </a:prstGeom>
          <a:solidFill>
            <a:srgbClr val="F5F8FC"/>
          </a:solidFill>
          <a:ln>
            <a:noFill/>
          </a:ln>
        </p:spPr>
        <p:txBody>
          <a:bodyPr anchorCtr="0" anchor="ctr" bIns="0" lIns="109725" spcFirstLastPara="1" rIns="91425"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Where it runs  </a:t>
            </a:r>
            <a:r>
              <a:rPr b="0" lang="en-US" sz="925">
                <a:solidFill>
                  <a:srgbClr val="1F2A37"/>
                </a:solidFill>
                <a:latin typeface="Barlow"/>
                <a:ea typeface="Barlow"/>
                <a:cs typeface="Barlow"/>
                <a:sym typeface="Barlow"/>
              </a:rPr>
              <a:t>Inside the foreground service of A5, so the transfer continues when the installer leaves the screen.</a:t>
            </a:r>
            <a:endParaRPr/>
          </a:p>
        </p:txBody>
      </p:sp>
      <p:sp>
        <p:nvSpPr>
          <p:cNvPr id="1752" name="Google Shape;1752;p59"/>
          <p:cNvSpPr txBox="1"/>
          <p:nvPr/>
        </p:nvSpPr>
        <p:spPr>
          <a:xfrm>
            <a:off x="9281160" y="1261872"/>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SAME STEP IN THE iOS DESIGN</a:t>
            </a:r>
            <a:endParaRPr/>
          </a:p>
        </p:txBody>
      </p:sp>
      <p:sp>
        <p:nvSpPr>
          <p:cNvPr id="1753" name="Google Shape;1753;p59"/>
          <p:cNvSpPr/>
          <p:nvPr/>
        </p:nvSpPr>
        <p:spPr>
          <a:xfrm>
            <a:off x="9281160" y="1517904"/>
            <a:ext cx="2148840" cy="45720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b="0" lang="en-US" sz="850">
                <a:solidFill>
                  <a:srgbClr val="5F6B7A"/>
                </a:solidFill>
                <a:latin typeface="Consolas"/>
                <a:ea typeface="Consolas"/>
                <a:cs typeface="Consolas"/>
                <a:sym typeface="Consolas"/>
              </a:rPr>
              <a:t>NEHotspotConfiguration</a:t>
            </a:r>
            <a:endParaRPr/>
          </a:p>
          <a:p>
            <a:pPr indent="0" lvl="0" marL="0" marR="0" rtl="0" algn="l">
              <a:lnSpc>
                <a:spcPct val="100000"/>
              </a:lnSpc>
              <a:spcBef>
                <a:spcPts val="100"/>
              </a:spcBef>
              <a:spcAft>
                <a:spcPts val="0"/>
              </a:spcAft>
              <a:buNone/>
            </a:pPr>
            <a:r>
              <a:rPr b="0" lang="en-US" sz="900">
                <a:solidFill>
                  <a:srgbClr val="5F6B7A"/>
                </a:solidFill>
                <a:latin typeface="Barlow"/>
                <a:ea typeface="Barlow"/>
                <a:cs typeface="Barlow"/>
                <a:sym typeface="Barlow"/>
              </a:rPr>
              <a:t>joinOnce = true (T7)</a:t>
            </a:r>
            <a:endParaRPr/>
          </a:p>
        </p:txBody>
      </p:sp>
      <p:sp>
        <p:nvSpPr>
          <p:cNvPr id="1754" name="Google Shape;1754;p59"/>
          <p:cNvSpPr txBox="1"/>
          <p:nvPr/>
        </p:nvSpPr>
        <p:spPr>
          <a:xfrm>
            <a:off x="9281160" y="2103120"/>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WHAT IS DIFFERENT ON ANDROID</a:t>
            </a:r>
            <a:endParaRPr/>
          </a:p>
        </p:txBody>
      </p:sp>
      <p:sp>
        <p:nvSpPr>
          <p:cNvPr id="1755" name="Google Shape;1755;p59"/>
          <p:cNvSpPr/>
          <p:nvPr/>
        </p:nvSpPr>
        <p:spPr>
          <a:xfrm>
            <a:off x="9281160" y="2359152"/>
            <a:ext cx="2148840" cy="80467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6" name="Google Shape;1756;p59"/>
          <p:cNvSpPr txBox="1"/>
          <p:nvPr/>
        </p:nvSpPr>
        <p:spPr>
          <a:xfrm>
            <a:off x="9372600" y="2414016"/>
            <a:ext cx="200253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Montserrat"/>
                <a:ea typeface="Montserrat"/>
                <a:cs typeface="Montserrat"/>
                <a:sym typeface="Montserrat"/>
              </a:rPr>
              <a:t>Bound sockets</a:t>
            </a:r>
            <a:endParaRPr/>
          </a:p>
        </p:txBody>
      </p:sp>
      <p:sp>
        <p:nvSpPr>
          <p:cNvPr id="1757" name="Google Shape;1757;p59"/>
          <p:cNvSpPr txBox="1"/>
          <p:nvPr/>
        </p:nvSpPr>
        <p:spPr>
          <a:xfrm>
            <a:off x="9372600" y="2624328"/>
            <a:ext cx="2002536"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This network has no internet. The app sends through sockets bound to the </a:t>
            </a:r>
            <a:r>
              <a:rPr b="0" lang="en-US" sz="825">
                <a:solidFill>
                  <a:srgbClr val="1565C0"/>
                </a:solidFill>
                <a:latin typeface="Consolas"/>
                <a:ea typeface="Consolas"/>
                <a:cs typeface="Consolas"/>
                <a:sym typeface="Consolas"/>
              </a:rPr>
              <a:t>Network</a:t>
            </a:r>
            <a:r>
              <a:rPr b="0" lang="en-US" sz="900">
                <a:solidFill>
                  <a:srgbClr val="1F2A37"/>
                </a:solidFill>
                <a:latin typeface="Barlow"/>
                <a:ea typeface="Barlow"/>
                <a:cs typeface="Barlow"/>
                <a:sym typeface="Barlow"/>
              </a:rPr>
              <a:t> it receives.</a:t>
            </a:r>
            <a:endParaRPr/>
          </a:p>
        </p:txBody>
      </p:sp>
      <p:sp>
        <p:nvSpPr>
          <p:cNvPr id="1758" name="Google Shape;1758;p59"/>
          <p:cNvSpPr/>
          <p:nvPr/>
        </p:nvSpPr>
        <p:spPr>
          <a:xfrm>
            <a:off x="9281160" y="3218688"/>
            <a:ext cx="214884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9" name="Google Shape;1759;p59"/>
          <p:cNvSpPr txBox="1"/>
          <p:nvPr/>
        </p:nvSpPr>
        <p:spPr>
          <a:xfrm>
            <a:off x="9372600" y="3273552"/>
            <a:ext cx="200253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Montserrat"/>
                <a:ea typeface="Montserrat"/>
                <a:cs typeface="Montserrat"/>
                <a:sym typeface="Montserrat"/>
              </a:rPr>
              <a:t>A dialog at each update</a:t>
            </a:r>
            <a:endParaRPr/>
          </a:p>
        </p:txBody>
      </p:sp>
      <p:sp>
        <p:nvSpPr>
          <p:cNvPr id="1760" name="Google Shape;1760;p59"/>
          <p:cNvSpPr txBox="1"/>
          <p:nvPr/>
        </p:nvSpPr>
        <p:spPr>
          <a:xfrm>
            <a:off x="9372600" y="3483864"/>
            <a:ext cx="2002536" cy="5212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A one-time SSID is a new access point every time, so approval is expected at each update. To validate.</a:t>
            </a:r>
            <a:endParaRPr/>
          </a:p>
        </p:txBody>
      </p:sp>
      <p:sp>
        <p:nvSpPr>
          <p:cNvPr id="1761" name="Google Shape;1761;p59"/>
          <p:cNvSpPr/>
          <p:nvPr/>
        </p:nvSpPr>
        <p:spPr>
          <a:xfrm>
            <a:off x="9281160" y="4096512"/>
            <a:ext cx="2148840" cy="676656"/>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2" name="Google Shape;1762;p59"/>
          <p:cNvSpPr txBox="1"/>
          <p:nvPr/>
        </p:nvSpPr>
        <p:spPr>
          <a:xfrm>
            <a:off x="9372600" y="4151376"/>
            <a:ext cx="200253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Montserrat"/>
                <a:ea typeface="Montserrat"/>
                <a:cs typeface="Montserrat"/>
                <a:sym typeface="Montserrat"/>
              </a:rPr>
              <a:t>Android 9 and lower</a:t>
            </a:r>
            <a:endParaRPr/>
          </a:p>
        </p:txBody>
      </p:sp>
      <p:sp>
        <p:nvSpPr>
          <p:cNvPr id="1763" name="Google Shape;1763;p59"/>
          <p:cNvSpPr txBox="1"/>
          <p:nvPr/>
        </p:nvSpPr>
        <p:spPr>
          <a:xfrm>
            <a:off x="9372600" y="4361688"/>
            <a:ext cx="2002536" cy="3749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Would need a legacy Wi-Fi path. Only if minSdk is below 29: to confirm.</a:t>
            </a:r>
            <a:endParaRPr/>
          </a:p>
        </p:txBody>
      </p:sp>
      <p:sp>
        <p:nvSpPr>
          <p:cNvPr id="1764" name="Google Shape;1764;p59"/>
          <p:cNvSpPr/>
          <p:nvPr/>
        </p:nvSpPr>
        <p:spPr>
          <a:xfrm>
            <a:off x="9281160" y="4828032"/>
            <a:ext cx="214884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5" name="Google Shape;1765;p59"/>
          <p:cNvSpPr txBox="1"/>
          <p:nvPr/>
        </p:nvSpPr>
        <p:spPr>
          <a:xfrm>
            <a:off x="9372600" y="4882896"/>
            <a:ext cx="200253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Montserrat"/>
                <a:ea typeface="Montserrat"/>
                <a:cs typeface="Montserrat"/>
                <a:sym typeface="Montserrat"/>
              </a:rPr>
              <a:t>If the ESS speaks plain HTTP</a:t>
            </a:r>
            <a:endParaRPr/>
          </a:p>
        </p:txBody>
      </p:sp>
      <p:sp>
        <p:nvSpPr>
          <p:cNvPr id="1766" name="Google Shape;1766;p59"/>
          <p:cNvSpPr txBox="1"/>
          <p:nvPr/>
        </p:nvSpPr>
        <p:spPr>
          <a:xfrm>
            <a:off x="9372600" y="5093208"/>
            <a:ext cx="2002536" cy="5212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00">
                <a:solidFill>
                  <a:srgbClr val="1F2A37"/>
                </a:solidFill>
                <a:latin typeface="Barlow"/>
                <a:ea typeface="Barlow"/>
                <a:cs typeface="Barlow"/>
                <a:sym typeface="Barlow"/>
              </a:rPr>
              <a:t>Cleartext is off by default: a Network Security Config exception for the SoftAP host would be needed.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1" name="Shape 1771"/>
        <p:cNvGrpSpPr/>
        <p:nvPr/>
      </p:nvGrpSpPr>
      <p:grpSpPr>
        <a:xfrm>
          <a:off x="0" y="0"/>
          <a:ext cx="0" cy="0"/>
          <a:chOff x="0" y="0"/>
          <a:chExt cx="0" cy="0"/>
        </a:xfrm>
      </p:grpSpPr>
      <p:sp>
        <p:nvSpPr>
          <p:cNvPr id="1772" name="Google Shape;1772;p60"/>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09 · TECHNICAL DESIGN (ANDROID) · LIFECYCLE AND PROCESS DEATH · PROPOSED DESIGN</a:t>
            </a:r>
            <a:endParaRPr/>
          </a:p>
        </p:txBody>
      </p:sp>
      <p:sp>
        <p:nvSpPr>
          <p:cNvPr id="1773" name="Google Shape;1773;p60"/>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State is placed by what it must survive: rotation, backgrounding, process death</a:t>
            </a:r>
            <a:endParaRPr/>
          </a:p>
        </p:txBody>
      </p:sp>
      <p:sp>
        <p:nvSpPr>
          <p:cNvPr id="1774" name="Google Shape;1774;p60"/>
          <p:cNvSpPr txBox="1"/>
          <p:nvPr/>
        </p:nvSpPr>
        <p:spPr>
          <a:xfrm>
            <a:off x="457200" y="1216152"/>
            <a:ext cx="5486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WHERE EACH PIECE OF STATE LIVES, AND WHAT IT SURVIVES</a:t>
            </a:r>
            <a:endParaRPr/>
          </a:p>
        </p:txBody>
      </p:sp>
      <p:sp>
        <p:nvSpPr>
          <p:cNvPr id="1775" name="Google Shape;1775;p60"/>
          <p:cNvSpPr/>
          <p:nvPr/>
        </p:nvSpPr>
        <p:spPr>
          <a:xfrm>
            <a:off x="457200" y="1481328"/>
            <a:ext cx="210312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91425" spcFirstLastPara="1" rIns="54850" wrap="square" tIns="0">
            <a:noAutofit/>
          </a:bodyPr>
          <a:lstStyle/>
          <a:p>
            <a:pPr indent="0" lvl="0" marL="0" marR="0" rtl="0" algn="l">
              <a:lnSpc>
                <a:spcPct val="100000"/>
              </a:lnSpc>
              <a:spcBef>
                <a:spcPts val="0"/>
              </a:spcBef>
              <a:spcAft>
                <a:spcPts val="0"/>
              </a:spcAft>
              <a:buNone/>
            </a:pPr>
            <a:r>
              <a:rPr b="1" lang="en-US" sz="850">
                <a:solidFill>
                  <a:srgbClr val="FFFFFF"/>
                </a:solidFill>
                <a:latin typeface="Montserrat"/>
                <a:ea typeface="Montserrat"/>
                <a:cs typeface="Montserrat"/>
                <a:sym typeface="Montserrat"/>
              </a:rPr>
              <a:t>State holder</a:t>
            </a:r>
            <a:endParaRPr/>
          </a:p>
        </p:txBody>
      </p:sp>
      <p:sp>
        <p:nvSpPr>
          <p:cNvPr id="1776" name="Google Shape;1776;p60"/>
          <p:cNvSpPr/>
          <p:nvPr/>
        </p:nvSpPr>
        <p:spPr>
          <a:xfrm>
            <a:off x="2560320" y="1481328"/>
            <a:ext cx="233172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91425" spcFirstLastPara="1" rIns="54850" wrap="square" tIns="0">
            <a:noAutofit/>
          </a:bodyPr>
          <a:lstStyle/>
          <a:p>
            <a:pPr indent="0" lvl="0" marL="0" marR="0" rtl="0" algn="l">
              <a:lnSpc>
                <a:spcPct val="100000"/>
              </a:lnSpc>
              <a:spcBef>
                <a:spcPts val="0"/>
              </a:spcBef>
              <a:spcAft>
                <a:spcPts val="0"/>
              </a:spcAft>
              <a:buNone/>
            </a:pPr>
            <a:r>
              <a:rPr b="1" lang="en-US" sz="850">
                <a:solidFill>
                  <a:srgbClr val="FFFFFF"/>
                </a:solidFill>
                <a:latin typeface="Montserrat"/>
                <a:ea typeface="Montserrat"/>
                <a:cs typeface="Montserrat"/>
                <a:sym typeface="Montserrat"/>
              </a:rPr>
              <a:t>What the design keeps there</a:t>
            </a:r>
            <a:endParaRPr/>
          </a:p>
        </p:txBody>
      </p:sp>
      <p:sp>
        <p:nvSpPr>
          <p:cNvPr id="1777" name="Google Shape;1777;p60"/>
          <p:cNvSpPr/>
          <p:nvPr/>
        </p:nvSpPr>
        <p:spPr>
          <a:xfrm>
            <a:off x="4892040" y="1481328"/>
            <a:ext cx="91440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Rotation or resize</a:t>
            </a:r>
            <a:endParaRPr/>
          </a:p>
        </p:txBody>
      </p:sp>
      <p:sp>
        <p:nvSpPr>
          <p:cNvPr id="1778" name="Google Shape;1778;p60"/>
          <p:cNvSpPr/>
          <p:nvPr/>
        </p:nvSpPr>
        <p:spPr>
          <a:xfrm>
            <a:off x="5806440" y="1481328"/>
            <a:ext cx="91440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App in background</a:t>
            </a:r>
            <a:endParaRPr/>
          </a:p>
        </p:txBody>
      </p:sp>
      <p:sp>
        <p:nvSpPr>
          <p:cNvPr id="1779" name="Google Shape;1779;p60"/>
          <p:cNvSpPr/>
          <p:nvPr/>
        </p:nvSpPr>
        <p:spPr>
          <a:xfrm>
            <a:off x="6720840" y="1481328"/>
            <a:ext cx="91440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775">
                <a:solidFill>
                  <a:srgbClr val="FFFFFF"/>
                </a:solidFill>
                <a:latin typeface="Montserrat"/>
                <a:ea typeface="Montserrat"/>
                <a:cs typeface="Montserrat"/>
                <a:sym typeface="Montserrat"/>
              </a:rPr>
              <a:t>Process killed by the system</a:t>
            </a:r>
            <a:endParaRPr/>
          </a:p>
        </p:txBody>
      </p:sp>
      <p:sp>
        <p:nvSpPr>
          <p:cNvPr id="1780" name="Google Shape;1780;p60"/>
          <p:cNvSpPr/>
          <p:nvPr/>
        </p:nvSpPr>
        <p:spPr>
          <a:xfrm>
            <a:off x="7635240" y="1481328"/>
            <a:ext cx="91440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Phone restart</a:t>
            </a:r>
            <a:endParaRPr/>
          </a:p>
        </p:txBody>
      </p:sp>
      <p:sp>
        <p:nvSpPr>
          <p:cNvPr id="1781" name="Google Shape;1781;p60"/>
          <p:cNvSpPr/>
          <p:nvPr/>
        </p:nvSpPr>
        <p:spPr>
          <a:xfrm>
            <a:off x="457200" y="1965960"/>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ViewModel</a:t>
            </a:r>
            <a:endParaRPr/>
          </a:p>
          <a:p>
            <a:pPr indent="0" lvl="0" marL="0" marR="0" rtl="0" algn="l">
              <a:lnSpc>
                <a:spcPct val="100000"/>
              </a:lnSpc>
              <a:spcBef>
                <a:spcPts val="150"/>
              </a:spcBef>
              <a:spcAft>
                <a:spcPts val="0"/>
              </a:spcAft>
              <a:buNone/>
            </a:pPr>
            <a:r>
              <a:rPr b="0" lang="en-US" sz="850">
                <a:solidFill>
                  <a:srgbClr val="5F6B7A"/>
                </a:solidFill>
                <a:latin typeface="Barlow"/>
                <a:ea typeface="Barlow"/>
                <a:cs typeface="Barlow"/>
                <a:sym typeface="Barlow"/>
              </a:rPr>
              <a:t>Screen-scoped, in memory</a:t>
            </a:r>
            <a:endParaRPr/>
          </a:p>
        </p:txBody>
      </p:sp>
      <p:sp>
        <p:nvSpPr>
          <p:cNvPr id="1782" name="Google Shape;1782;p60"/>
          <p:cNvSpPr/>
          <p:nvPr/>
        </p:nvSpPr>
        <p:spPr>
          <a:xfrm>
            <a:off x="2560320" y="1965960"/>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Screen state and the UI lock flag</a:t>
            </a:r>
            <a:endParaRPr/>
          </a:p>
        </p:txBody>
      </p:sp>
      <p:sp>
        <p:nvSpPr>
          <p:cNvPr id="1783" name="Google Shape;1783;p60"/>
          <p:cNvSpPr/>
          <p:nvPr/>
        </p:nvSpPr>
        <p:spPr>
          <a:xfrm>
            <a:off x="4919472" y="1965960"/>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784" name="Google Shape;1784;p60"/>
          <p:cNvSpPr/>
          <p:nvPr/>
        </p:nvSpPr>
        <p:spPr>
          <a:xfrm>
            <a:off x="5833872" y="1965960"/>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785" name="Google Shape;1785;p60"/>
          <p:cNvSpPr/>
          <p:nvPr/>
        </p:nvSpPr>
        <p:spPr>
          <a:xfrm>
            <a:off x="6748272" y="1965960"/>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Lost</a:t>
            </a:r>
            <a:endParaRPr/>
          </a:p>
        </p:txBody>
      </p:sp>
      <p:sp>
        <p:nvSpPr>
          <p:cNvPr id="1786" name="Google Shape;1786;p60"/>
          <p:cNvSpPr/>
          <p:nvPr/>
        </p:nvSpPr>
        <p:spPr>
          <a:xfrm>
            <a:off x="7662671" y="1965960"/>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Lost</a:t>
            </a:r>
            <a:endParaRPr/>
          </a:p>
        </p:txBody>
      </p:sp>
      <p:sp>
        <p:nvSpPr>
          <p:cNvPr id="1787" name="Google Shape;1787;p60"/>
          <p:cNvSpPr/>
          <p:nvPr/>
        </p:nvSpPr>
        <p:spPr>
          <a:xfrm>
            <a:off x="457200" y="2638044"/>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Saved state</a:t>
            </a:r>
            <a:endParaRPr/>
          </a:p>
          <a:p>
            <a:pPr indent="0" lvl="0" marL="0" marR="0" rtl="0" algn="l">
              <a:lnSpc>
                <a:spcPct val="100000"/>
              </a:lnSpc>
              <a:spcBef>
                <a:spcPts val="150"/>
              </a:spcBef>
              <a:spcAft>
                <a:spcPts val="0"/>
              </a:spcAft>
              <a:buNone/>
            </a:pPr>
            <a:r>
              <a:rPr b="0" lang="en-US" sz="800">
                <a:solidFill>
                  <a:srgbClr val="1565C0"/>
                </a:solidFill>
                <a:latin typeface="Consolas"/>
                <a:ea typeface="Consolas"/>
                <a:cs typeface="Consolas"/>
                <a:sym typeface="Consolas"/>
              </a:rPr>
              <a:t>SavedStateHandle</a:t>
            </a:r>
            <a:endParaRPr/>
          </a:p>
        </p:txBody>
      </p:sp>
      <p:sp>
        <p:nvSpPr>
          <p:cNvPr id="1788" name="Google Shape;1788;p60"/>
          <p:cNvSpPr/>
          <p:nvPr/>
        </p:nvSpPr>
        <p:spPr>
          <a:xfrm>
            <a:off x="2560320" y="2638044"/>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Selected ESS, Install Wizard input</a:t>
            </a:r>
            <a:endParaRPr/>
          </a:p>
        </p:txBody>
      </p:sp>
      <p:sp>
        <p:nvSpPr>
          <p:cNvPr id="1789" name="Google Shape;1789;p60"/>
          <p:cNvSpPr/>
          <p:nvPr/>
        </p:nvSpPr>
        <p:spPr>
          <a:xfrm>
            <a:off x="4919472" y="2638044"/>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790" name="Google Shape;1790;p60"/>
          <p:cNvSpPr/>
          <p:nvPr/>
        </p:nvSpPr>
        <p:spPr>
          <a:xfrm>
            <a:off x="5833872" y="2638044"/>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791" name="Google Shape;1791;p60"/>
          <p:cNvSpPr/>
          <p:nvPr/>
        </p:nvSpPr>
        <p:spPr>
          <a:xfrm>
            <a:off x="6748272" y="2638044"/>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792" name="Google Shape;1792;p60"/>
          <p:cNvSpPr/>
          <p:nvPr/>
        </p:nvSpPr>
        <p:spPr>
          <a:xfrm>
            <a:off x="7662671" y="2638044"/>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Lost</a:t>
            </a:r>
            <a:endParaRPr/>
          </a:p>
        </p:txBody>
      </p:sp>
      <p:sp>
        <p:nvSpPr>
          <p:cNvPr id="1793" name="Google Shape;1793;p60"/>
          <p:cNvSpPr/>
          <p:nvPr/>
        </p:nvSpPr>
        <p:spPr>
          <a:xfrm>
            <a:off x="457200" y="3310128"/>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DeviceSession</a:t>
            </a:r>
            <a:endParaRPr/>
          </a:p>
          <a:p>
            <a:pPr indent="0" lvl="0" marL="0" marR="0" rtl="0" algn="l">
              <a:lnSpc>
                <a:spcPct val="100000"/>
              </a:lnSpc>
              <a:spcBef>
                <a:spcPts val="150"/>
              </a:spcBef>
              <a:spcAft>
                <a:spcPts val="0"/>
              </a:spcAft>
              <a:buNone/>
            </a:pPr>
            <a:r>
              <a:rPr b="0" lang="en-US" sz="850">
                <a:solidFill>
                  <a:srgbClr val="5F6B7A"/>
                </a:solidFill>
                <a:latin typeface="Barlow"/>
                <a:ea typeface="Barlow"/>
                <a:cs typeface="Barlow"/>
                <a:sym typeface="Barlow"/>
              </a:rPr>
              <a:t>App-scoped; in a foreground service during firmware</a:t>
            </a:r>
            <a:endParaRPr/>
          </a:p>
        </p:txBody>
      </p:sp>
      <p:sp>
        <p:nvSpPr>
          <p:cNvPr id="1794" name="Google Shape;1794;p60"/>
          <p:cNvSpPr/>
          <p:nvPr/>
        </p:nvSpPr>
        <p:spPr>
          <a:xfrm>
            <a:off x="2560320" y="3310128"/>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BLE link, command queue, firmware transfer</a:t>
            </a:r>
            <a:endParaRPr/>
          </a:p>
        </p:txBody>
      </p:sp>
      <p:sp>
        <p:nvSpPr>
          <p:cNvPr id="1795" name="Google Shape;1795;p60"/>
          <p:cNvSpPr/>
          <p:nvPr/>
        </p:nvSpPr>
        <p:spPr>
          <a:xfrm>
            <a:off x="4919472" y="3310128"/>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796" name="Google Shape;1796;p60"/>
          <p:cNvSpPr/>
          <p:nvPr/>
        </p:nvSpPr>
        <p:spPr>
          <a:xfrm>
            <a:off x="5833872" y="3310128"/>
            <a:ext cx="859536" cy="621792"/>
          </a:xfrm>
          <a:prstGeom prst="roundRect">
            <a:avLst>
              <a:gd fmla="val 7352" name="adj"/>
            </a:avLst>
          </a:prstGeom>
          <a:solidFill>
            <a:srgbClr val="FFF4E0"/>
          </a:solidFill>
          <a:ln cap="flat" cmpd="sng" w="9525">
            <a:solidFill>
              <a:srgbClr val="F0A93B"/>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25">
                <a:solidFill>
                  <a:srgbClr val="9A5B00"/>
                </a:solidFill>
                <a:latin typeface="Barlow"/>
                <a:ea typeface="Barlow"/>
                <a:cs typeface="Barlow"/>
                <a:sym typeface="Barlow"/>
              </a:rPr>
              <a:t>Kept during firmware</a:t>
            </a:r>
            <a:endParaRPr/>
          </a:p>
        </p:txBody>
      </p:sp>
      <p:sp>
        <p:nvSpPr>
          <p:cNvPr id="1797" name="Google Shape;1797;p60"/>
          <p:cNvSpPr/>
          <p:nvPr/>
        </p:nvSpPr>
        <p:spPr>
          <a:xfrm>
            <a:off x="6748272" y="3310128"/>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Lost</a:t>
            </a:r>
            <a:endParaRPr/>
          </a:p>
          <a:p>
            <a:pPr indent="0" lvl="0" marL="0" marR="0" rtl="0" algn="ctr">
              <a:lnSpc>
                <a:spcPct val="100000"/>
              </a:lnSpc>
              <a:spcBef>
                <a:spcPts val="100"/>
              </a:spcBef>
              <a:spcAft>
                <a:spcPts val="0"/>
              </a:spcAft>
              <a:buNone/>
            </a:pPr>
            <a:r>
              <a:rPr b="0" lang="en-US" sz="800">
                <a:solidFill>
                  <a:srgbClr val="B3261E"/>
                </a:solidFill>
                <a:latin typeface="Barlow"/>
                <a:ea typeface="Barlow"/>
                <a:cs typeface="Barlow"/>
                <a:sym typeface="Barlow"/>
              </a:rPr>
              <a:t>then T4 recovery</a:t>
            </a:r>
            <a:endParaRPr/>
          </a:p>
        </p:txBody>
      </p:sp>
      <p:sp>
        <p:nvSpPr>
          <p:cNvPr id="1798" name="Google Shape;1798;p60"/>
          <p:cNvSpPr/>
          <p:nvPr/>
        </p:nvSpPr>
        <p:spPr>
          <a:xfrm>
            <a:off x="7662671" y="3310128"/>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Lost</a:t>
            </a:r>
            <a:endParaRPr/>
          </a:p>
        </p:txBody>
      </p:sp>
      <p:sp>
        <p:nvSpPr>
          <p:cNvPr id="1799" name="Google Shape;1799;p60"/>
          <p:cNvSpPr/>
          <p:nvPr/>
        </p:nvSpPr>
        <p:spPr>
          <a:xfrm>
            <a:off x="457200" y="3982212"/>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Room journal</a:t>
            </a:r>
            <a:endParaRPr/>
          </a:p>
          <a:p>
            <a:pPr indent="0" lvl="0" marL="0" marR="0" rtl="0" algn="l">
              <a:lnSpc>
                <a:spcPct val="100000"/>
              </a:lnSpc>
              <a:spcBef>
                <a:spcPts val="150"/>
              </a:spcBef>
              <a:spcAft>
                <a:spcPts val="0"/>
              </a:spcAft>
              <a:buNone/>
            </a:pPr>
            <a:r>
              <a:rPr b="0" lang="en-US" sz="850">
                <a:solidFill>
                  <a:srgbClr val="5F6B7A"/>
                </a:solidFill>
                <a:latin typeface="Barlow"/>
                <a:ea typeface="Barlow"/>
                <a:cs typeface="Barlow"/>
                <a:sym typeface="Barlow"/>
              </a:rPr>
              <a:t>On disk</a:t>
            </a:r>
            <a:endParaRPr/>
          </a:p>
        </p:txBody>
      </p:sp>
      <p:sp>
        <p:nvSpPr>
          <p:cNvPr id="1800" name="Google Shape;1800;p60"/>
          <p:cNvSpPr/>
          <p:nvPr/>
        </p:nvSpPr>
        <p:spPr>
          <a:xfrm>
            <a:off x="2560320" y="3982212"/>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Pending / Applied / Synced, Apply marker, FW session marker</a:t>
            </a:r>
            <a:endParaRPr/>
          </a:p>
        </p:txBody>
      </p:sp>
      <p:sp>
        <p:nvSpPr>
          <p:cNvPr id="1801" name="Google Shape;1801;p60"/>
          <p:cNvSpPr/>
          <p:nvPr/>
        </p:nvSpPr>
        <p:spPr>
          <a:xfrm>
            <a:off x="4919472" y="3982212"/>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802" name="Google Shape;1802;p60"/>
          <p:cNvSpPr/>
          <p:nvPr/>
        </p:nvSpPr>
        <p:spPr>
          <a:xfrm>
            <a:off x="5833872" y="3982212"/>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803" name="Google Shape;1803;p60"/>
          <p:cNvSpPr/>
          <p:nvPr/>
        </p:nvSpPr>
        <p:spPr>
          <a:xfrm>
            <a:off x="6748272" y="3982212"/>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804" name="Google Shape;1804;p60"/>
          <p:cNvSpPr/>
          <p:nvPr/>
        </p:nvSpPr>
        <p:spPr>
          <a:xfrm>
            <a:off x="7662671" y="3982212"/>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805" name="Google Shape;1805;p60"/>
          <p:cNvSpPr/>
          <p:nvPr/>
        </p:nvSpPr>
        <p:spPr>
          <a:xfrm>
            <a:off x="457200" y="4654296"/>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WorkManager queue</a:t>
            </a:r>
            <a:endParaRPr/>
          </a:p>
          <a:p>
            <a:pPr indent="0" lvl="0" marL="0" marR="0" rtl="0" algn="l">
              <a:lnSpc>
                <a:spcPct val="100000"/>
              </a:lnSpc>
              <a:spcBef>
                <a:spcPts val="150"/>
              </a:spcBef>
              <a:spcAft>
                <a:spcPts val="0"/>
              </a:spcAft>
              <a:buNone/>
            </a:pPr>
            <a:r>
              <a:rPr b="0" lang="en-US" sz="850">
                <a:solidFill>
                  <a:srgbClr val="5F6B7A"/>
                </a:solidFill>
                <a:latin typeface="Barlow"/>
                <a:ea typeface="Barlow"/>
                <a:cs typeface="Barlow"/>
                <a:sym typeface="Barlow"/>
              </a:rPr>
              <a:t>On disk, system-scheduled</a:t>
            </a:r>
            <a:endParaRPr/>
          </a:p>
        </p:txBody>
      </p:sp>
      <p:sp>
        <p:nvSpPr>
          <p:cNvPr id="1806" name="Google Shape;1806;p60"/>
          <p:cNvSpPr/>
          <p:nvPr/>
        </p:nvSpPr>
        <p:spPr>
          <a:xfrm>
            <a:off x="2560320" y="4654296"/>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Upload of Applied changes (A6)</a:t>
            </a:r>
            <a:endParaRPr/>
          </a:p>
        </p:txBody>
      </p:sp>
      <p:sp>
        <p:nvSpPr>
          <p:cNvPr id="1807" name="Google Shape;1807;p60"/>
          <p:cNvSpPr/>
          <p:nvPr/>
        </p:nvSpPr>
        <p:spPr>
          <a:xfrm>
            <a:off x="4919472" y="4654296"/>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808" name="Google Shape;1808;p60"/>
          <p:cNvSpPr/>
          <p:nvPr/>
        </p:nvSpPr>
        <p:spPr>
          <a:xfrm>
            <a:off x="5833872" y="4654296"/>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809" name="Google Shape;1809;p60"/>
          <p:cNvSpPr/>
          <p:nvPr/>
        </p:nvSpPr>
        <p:spPr>
          <a:xfrm>
            <a:off x="6748272" y="4654296"/>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810" name="Google Shape;1810;p60"/>
          <p:cNvSpPr/>
          <p:nvPr/>
        </p:nvSpPr>
        <p:spPr>
          <a:xfrm>
            <a:off x="7662671" y="4654296"/>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Kept</a:t>
            </a:r>
            <a:endParaRPr/>
          </a:p>
        </p:txBody>
      </p:sp>
      <p:sp>
        <p:nvSpPr>
          <p:cNvPr id="1811" name="Google Shape;1811;p60"/>
          <p:cNvSpPr txBox="1"/>
          <p:nvPr/>
        </p:nvSpPr>
        <p:spPr>
          <a:xfrm>
            <a:off x="8823960" y="1216152"/>
            <a:ext cx="26060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WHY ANDROID NEEDS THIS</a:t>
            </a:r>
            <a:endParaRPr/>
          </a:p>
        </p:txBody>
      </p:sp>
      <p:sp>
        <p:nvSpPr>
          <p:cNvPr id="1812" name="Google Shape;1812;p60"/>
          <p:cNvSpPr/>
          <p:nvPr/>
        </p:nvSpPr>
        <p:spPr>
          <a:xfrm>
            <a:off x="8823960" y="1481328"/>
            <a:ext cx="2606040" cy="1210056"/>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3" name="Google Shape;1813;p60"/>
          <p:cNvSpPr/>
          <p:nvPr/>
        </p:nvSpPr>
        <p:spPr>
          <a:xfrm>
            <a:off x="8933688" y="1591056"/>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14" name="Google Shape;1814;p60"/>
          <p:cNvPicPr preferRelativeResize="0"/>
          <p:nvPr/>
        </p:nvPicPr>
        <p:blipFill rotWithShape="1">
          <a:blip r:embed="rId3">
            <a:alphaModFix/>
          </a:blip>
          <a:srcRect b="0" l="0" r="0" t="0"/>
          <a:stretch/>
        </p:blipFill>
        <p:spPr>
          <a:xfrm>
            <a:off x="9006108" y="1663476"/>
            <a:ext cx="184343" cy="184343"/>
          </a:xfrm>
          <a:prstGeom prst="rect">
            <a:avLst/>
          </a:prstGeom>
          <a:noFill/>
          <a:ln>
            <a:noFill/>
          </a:ln>
        </p:spPr>
      </p:pic>
      <p:sp>
        <p:nvSpPr>
          <p:cNvPr id="1815" name="Google Shape;1815;p60"/>
          <p:cNvSpPr txBox="1"/>
          <p:nvPr/>
        </p:nvSpPr>
        <p:spPr>
          <a:xfrm>
            <a:off x="9354312" y="1591056"/>
            <a:ext cx="198424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Home cannot be blocked</a:t>
            </a:r>
            <a:endParaRPr/>
          </a:p>
        </p:txBody>
      </p:sp>
      <p:sp>
        <p:nvSpPr>
          <p:cNvPr id="1816" name="Google Shape;1816;p60"/>
          <p:cNvSpPr txBox="1"/>
          <p:nvPr/>
        </p:nvSpPr>
        <p:spPr>
          <a:xfrm>
            <a:off x="8933688" y="1993392"/>
            <a:ext cx="2404872" cy="6614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The UI lock stops Back and touches, not Home or Recents. So the session lives outside the screen.</a:t>
            </a:r>
            <a:endParaRPr/>
          </a:p>
        </p:txBody>
      </p:sp>
      <p:sp>
        <p:nvSpPr>
          <p:cNvPr id="1817" name="Google Shape;1817;p60"/>
          <p:cNvSpPr/>
          <p:nvPr/>
        </p:nvSpPr>
        <p:spPr>
          <a:xfrm>
            <a:off x="8823960" y="2773680"/>
            <a:ext cx="2606040" cy="1210056"/>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8" name="Google Shape;1818;p60"/>
          <p:cNvSpPr/>
          <p:nvPr/>
        </p:nvSpPr>
        <p:spPr>
          <a:xfrm>
            <a:off x="8933688" y="2883408"/>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19" name="Google Shape;1819;p60"/>
          <p:cNvPicPr preferRelativeResize="0"/>
          <p:nvPr/>
        </p:nvPicPr>
        <p:blipFill rotWithShape="1">
          <a:blip r:embed="rId4">
            <a:alphaModFix/>
          </a:blip>
          <a:srcRect b="0" l="0" r="0" t="0"/>
          <a:stretch/>
        </p:blipFill>
        <p:spPr>
          <a:xfrm>
            <a:off x="9006108" y="2955828"/>
            <a:ext cx="184343" cy="184343"/>
          </a:xfrm>
          <a:prstGeom prst="rect">
            <a:avLst/>
          </a:prstGeom>
          <a:noFill/>
          <a:ln>
            <a:noFill/>
          </a:ln>
        </p:spPr>
      </p:pic>
      <p:sp>
        <p:nvSpPr>
          <p:cNvPr id="1820" name="Google Shape;1820;p60"/>
          <p:cNvSpPr txBox="1"/>
          <p:nvPr/>
        </p:nvSpPr>
        <p:spPr>
          <a:xfrm>
            <a:off x="9354312" y="2883408"/>
            <a:ext cx="198424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Screens are recreated</a:t>
            </a:r>
            <a:endParaRPr/>
          </a:p>
        </p:txBody>
      </p:sp>
      <p:sp>
        <p:nvSpPr>
          <p:cNvPr id="1821" name="Google Shape;1821;p60"/>
          <p:cNvSpPr txBox="1"/>
          <p:nvPr/>
        </p:nvSpPr>
        <p:spPr>
          <a:xfrm>
            <a:off x="8933688" y="3285744"/>
            <a:ext cx="2404872" cy="6614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Rotation and resizing rebuild the screen. With target API 36, orientation locks no longer apply on large screens.</a:t>
            </a:r>
            <a:endParaRPr/>
          </a:p>
        </p:txBody>
      </p:sp>
      <p:sp>
        <p:nvSpPr>
          <p:cNvPr id="1822" name="Google Shape;1822;p60"/>
          <p:cNvSpPr/>
          <p:nvPr/>
        </p:nvSpPr>
        <p:spPr>
          <a:xfrm>
            <a:off x="8823960" y="4066032"/>
            <a:ext cx="2606040" cy="1210056"/>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3" name="Google Shape;1823;p60"/>
          <p:cNvSpPr/>
          <p:nvPr/>
        </p:nvSpPr>
        <p:spPr>
          <a:xfrm>
            <a:off x="8933688" y="4175760"/>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24" name="Google Shape;1824;p60"/>
          <p:cNvPicPr preferRelativeResize="0"/>
          <p:nvPr/>
        </p:nvPicPr>
        <p:blipFill rotWithShape="1">
          <a:blip r:embed="rId5">
            <a:alphaModFix/>
          </a:blip>
          <a:srcRect b="0" l="0" r="0" t="0"/>
          <a:stretch/>
        </p:blipFill>
        <p:spPr>
          <a:xfrm>
            <a:off x="9006108" y="4248180"/>
            <a:ext cx="184343" cy="184343"/>
          </a:xfrm>
          <a:prstGeom prst="rect">
            <a:avLst/>
          </a:prstGeom>
          <a:noFill/>
          <a:ln>
            <a:noFill/>
          </a:ln>
        </p:spPr>
      </p:pic>
      <p:sp>
        <p:nvSpPr>
          <p:cNvPr id="1825" name="Google Shape;1825;p60"/>
          <p:cNvSpPr txBox="1"/>
          <p:nvPr/>
        </p:nvSpPr>
        <p:spPr>
          <a:xfrm>
            <a:off x="9354312" y="4175760"/>
            <a:ext cx="198424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The process can die</a:t>
            </a:r>
            <a:endParaRPr/>
          </a:p>
        </p:txBody>
      </p:sp>
      <p:sp>
        <p:nvSpPr>
          <p:cNvPr id="1826" name="Google Shape;1826;p60"/>
          <p:cNvSpPr txBox="1"/>
          <p:nvPr/>
        </p:nvSpPr>
        <p:spPr>
          <a:xfrm>
            <a:off x="8933688" y="4578096"/>
            <a:ext cx="2404872" cy="6614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In the background, or when a permission is revoked. Recovery is the T4 rule: saved marker, then device read-back.</a:t>
            </a:r>
            <a:endParaRPr/>
          </a:p>
        </p:txBody>
      </p:sp>
      <p:sp>
        <p:nvSpPr>
          <p:cNvPr id="1827" name="Google Shape;1827;p60"/>
          <p:cNvSpPr/>
          <p:nvPr/>
        </p:nvSpPr>
        <p:spPr>
          <a:xfrm>
            <a:off x="457200" y="5394960"/>
            <a:ext cx="10972800" cy="329184"/>
          </a:xfrm>
          <a:prstGeom prst="rect">
            <a:avLst/>
          </a:prstGeom>
          <a:solidFill>
            <a:srgbClr val="F5F8FC"/>
          </a:solidFill>
          <a:ln>
            <a:noFill/>
          </a:ln>
        </p:spPr>
        <p:txBody>
          <a:bodyPr anchorCtr="0" anchor="ctr" bIns="0" lIns="109725" spcFirstLastPara="1" rIns="91425"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During firmware  </a:t>
            </a:r>
            <a:r>
              <a:rPr b="0" lang="en-US" sz="925">
                <a:solidFill>
                  <a:srgbClr val="1F2A37"/>
                </a:solidFill>
                <a:latin typeface="Barlow"/>
                <a:ea typeface="Barlow"/>
                <a:cs typeface="Barlow"/>
                <a:sym typeface="Barlow"/>
              </a:rPr>
              <a:t>Foreground service of type </a:t>
            </a:r>
            <a:r>
              <a:rPr b="0" lang="en-US" sz="850">
                <a:solidFill>
                  <a:srgbClr val="1565C0"/>
                </a:solidFill>
                <a:latin typeface="Consolas"/>
                <a:ea typeface="Consolas"/>
                <a:cs typeface="Consolas"/>
                <a:sym typeface="Consolas"/>
              </a:rPr>
              <a:t>connectedDevice</a:t>
            </a:r>
            <a:r>
              <a:rPr b="0" lang="en-US" sz="925">
                <a:solidFill>
                  <a:srgbClr val="1F2A37"/>
                </a:solidFill>
                <a:latin typeface="Barlow"/>
                <a:ea typeface="Barlow"/>
                <a:cs typeface="Barlow"/>
                <a:sym typeface="Barlow"/>
              </a:rPr>
              <a:t>, started while the app is visible, plus </a:t>
            </a:r>
            <a:r>
              <a:rPr b="0" lang="en-US" sz="850">
                <a:solidFill>
                  <a:srgbClr val="1565C0"/>
                </a:solidFill>
                <a:latin typeface="Consolas"/>
                <a:ea typeface="Consolas"/>
                <a:cs typeface="Consolas"/>
                <a:sym typeface="Consolas"/>
              </a:rPr>
              <a:t>FLAG_KEEP_SCREEN_ON</a:t>
            </a:r>
            <a:r>
              <a:rPr b="0" lang="en-US" sz="925">
                <a:solidFill>
                  <a:srgbClr val="1F2A37"/>
                </a:solidFill>
                <a:latin typeface="Barlow"/>
                <a:ea typeface="Barlow"/>
                <a:cs typeface="Barlow"/>
                <a:sym typeface="Barlow"/>
              </a:rPr>
              <a:t> on the UI lock screen: the counterpart of </a:t>
            </a:r>
            <a:r>
              <a:rPr b="0" lang="en-US" sz="850">
                <a:solidFill>
                  <a:srgbClr val="5F6B7A"/>
                </a:solidFill>
                <a:latin typeface="Consolas"/>
                <a:ea typeface="Consolas"/>
                <a:cs typeface="Consolas"/>
                <a:sym typeface="Consolas"/>
              </a:rPr>
              <a:t>isIdleTimerDisabled</a:t>
            </a:r>
            <a:r>
              <a:rPr b="0" lang="en-US" sz="925">
                <a:solidFill>
                  <a:srgbClr val="1F2A37"/>
                </a:solidFill>
                <a:latin typeface="Barlow"/>
                <a:ea typeface="Barlow"/>
                <a:cs typeface="Barlow"/>
                <a:sym typeface="Barlow"/>
              </a:rPr>
              <a:t> in T7.</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61"/>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09 · TECHNICAL DESIGN (ANDROID) · BACKGROUND SYNC · PROPOSED DESIGN</a:t>
            </a:r>
            <a:endParaRPr/>
          </a:p>
        </p:txBody>
      </p:sp>
      <p:sp>
        <p:nvSpPr>
          <p:cNvPr id="1834" name="Google Shape;1834;p61"/>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Uploads run without the app open; the UUID rule keeps retries from duplicating</a:t>
            </a:r>
            <a:endParaRPr/>
          </a:p>
        </p:txBody>
      </p:sp>
      <p:sp>
        <p:nvSpPr>
          <p:cNvPr id="1835" name="Google Shape;1835;p61"/>
          <p:cNvSpPr txBox="1"/>
          <p:nvPr/>
        </p:nvSpPr>
        <p:spPr>
          <a:xfrm>
            <a:off x="457200" y="1216152"/>
            <a:ext cx="7863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1 · A CHANGE MADE OFFLINE REACHES THE CLOUD WITHOUT THE INSTALLER REOPENING THE APP</a:t>
            </a:r>
            <a:endParaRPr/>
          </a:p>
        </p:txBody>
      </p:sp>
      <p:sp>
        <p:nvSpPr>
          <p:cNvPr id="1836" name="Google Shape;1836;p61"/>
          <p:cNvSpPr txBox="1"/>
          <p:nvPr/>
        </p:nvSpPr>
        <p:spPr>
          <a:xfrm>
            <a:off x="1993392" y="1499616"/>
            <a:ext cx="42004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On site</a:t>
            </a:r>
            <a:endParaRPr/>
          </a:p>
        </p:txBody>
      </p:sp>
      <p:cxnSp>
        <p:nvCxnSpPr>
          <p:cNvPr id="1837" name="Google Shape;1837;p61"/>
          <p:cNvCxnSpPr/>
          <p:nvPr/>
        </p:nvCxnSpPr>
        <p:spPr>
          <a:xfrm>
            <a:off x="201168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38" name="Google Shape;1838;p61"/>
          <p:cNvSpPr txBox="1"/>
          <p:nvPr/>
        </p:nvSpPr>
        <p:spPr>
          <a:xfrm>
            <a:off x="2907792" y="1499616"/>
            <a:ext cx="82625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Change applied</a:t>
            </a:r>
            <a:endParaRPr/>
          </a:p>
        </p:txBody>
      </p:sp>
      <p:cxnSp>
        <p:nvCxnSpPr>
          <p:cNvPr id="1839" name="Google Shape;1839;p61"/>
          <p:cNvCxnSpPr/>
          <p:nvPr/>
        </p:nvCxnSpPr>
        <p:spPr>
          <a:xfrm>
            <a:off x="292608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40" name="Google Shape;1840;p61"/>
          <p:cNvSpPr txBox="1"/>
          <p:nvPr/>
        </p:nvSpPr>
        <p:spPr>
          <a:xfrm>
            <a:off x="4142232" y="1499616"/>
            <a:ext cx="1192201"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Installer leaves the app</a:t>
            </a:r>
            <a:endParaRPr/>
          </a:p>
        </p:txBody>
      </p:sp>
      <p:cxnSp>
        <p:nvCxnSpPr>
          <p:cNvPr id="1841" name="Google Shape;1841;p61"/>
          <p:cNvCxnSpPr/>
          <p:nvPr/>
        </p:nvCxnSpPr>
        <p:spPr>
          <a:xfrm>
            <a:off x="416052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42" name="Google Shape;1842;p61"/>
          <p:cNvSpPr txBox="1"/>
          <p:nvPr/>
        </p:nvSpPr>
        <p:spPr>
          <a:xfrm>
            <a:off x="5559552" y="1499616"/>
            <a:ext cx="1351671"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Phone restarted, unlocked</a:t>
            </a:r>
            <a:endParaRPr/>
          </a:p>
        </p:txBody>
      </p:sp>
      <p:cxnSp>
        <p:nvCxnSpPr>
          <p:cNvPr id="1843" name="Google Shape;1843;p61"/>
          <p:cNvCxnSpPr/>
          <p:nvPr/>
        </p:nvCxnSpPr>
        <p:spPr>
          <a:xfrm>
            <a:off x="557784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44" name="Google Shape;1844;p61"/>
          <p:cNvSpPr txBox="1"/>
          <p:nvPr/>
        </p:nvSpPr>
        <p:spPr>
          <a:xfrm>
            <a:off x="7159752" y="1499616"/>
            <a:ext cx="875477"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Network returns</a:t>
            </a:r>
            <a:endParaRPr/>
          </a:p>
        </p:txBody>
      </p:sp>
      <p:cxnSp>
        <p:nvCxnSpPr>
          <p:cNvPr id="1845" name="Google Shape;1845;p61"/>
          <p:cNvCxnSpPr/>
          <p:nvPr/>
        </p:nvCxnSpPr>
        <p:spPr>
          <a:xfrm>
            <a:off x="717804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46" name="Google Shape;1846;p61"/>
          <p:cNvSpPr txBox="1"/>
          <p:nvPr/>
        </p:nvSpPr>
        <p:spPr>
          <a:xfrm>
            <a:off x="457200" y="1828800"/>
            <a:ext cx="14173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Installer app</a:t>
            </a:r>
            <a:endParaRPr/>
          </a:p>
        </p:txBody>
      </p:sp>
      <p:sp>
        <p:nvSpPr>
          <p:cNvPr id="1847" name="Google Shape;1847;p61"/>
          <p:cNvSpPr txBox="1"/>
          <p:nvPr/>
        </p:nvSpPr>
        <p:spPr>
          <a:xfrm>
            <a:off x="457200" y="2286000"/>
            <a:ext cx="14173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Network</a:t>
            </a:r>
            <a:endParaRPr/>
          </a:p>
        </p:txBody>
      </p:sp>
      <p:sp>
        <p:nvSpPr>
          <p:cNvPr id="1848" name="Google Shape;1848;p61"/>
          <p:cNvSpPr txBox="1"/>
          <p:nvPr/>
        </p:nvSpPr>
        <p:spPr>
          <a:xfrm>
            <a:off x="457200" y="2743200"/>
            <a:ext cx="14173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WorkManager</a:t>
            </a:r>
            <a:endParaRPr/>
          </a:p>
        </p:txBody>
      </p:sp>
      <p:sp>
        <p:nvSpPr>
          <p:cNvPr id="1849" name="Google Shape;1849;p61"/>
          <p:cNvSpPr/>
          <p:nvPr/>
        </p:nvSpPr>
        <p:spPr>
          <a:xfrm>
            <a:off x="2039112" y="1828800"/>
            <a:ext cx="2093975" cy="365760"/>
          </a:xfrm>
          <a:prstGeom prst="roundRect">
            <a:avLst>
              <a:gd fmla="val 125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FFFFFF"/>
                </a:solidFill>
                <a:latin typeface="Barlow"/>
                <a:ea typeface="Barlow"/>
                <a:cs typeface="Barlow"/>
                <a:sym typeface="Barlow"/>
              </a:rPr>
              <a:t>On-site session</a:t>
            </a:r>
            <a:endParaRPr/>
          </a:p>
        </p:txBody>
      </p:sp>
      <p:sp>
        <p:nvSpPr>
          <p:cNvPr id="1850" name="Google Shape;1850;p61"/>
          <p:cNvSpPr/>
          <p:nvPr/>
        </p:nvSpPr>
        <p:spPr>
          <a:xfrm>
            <a:off x="4187952" y="1828800"/>
            <a:ext cx="4105656" cy="365760"/>
          </a:xfrm>
          <a:prstGeom prst="roundRect">
            <a:avLst>
              <a:gd fmla="val 12500" name="adj"/>
            </a:avLst>
          </a:prstGeom>
          <a:solidFill>
            <a:srgbClr val="FFFFFF"/>
          </a:solidFill>
          <a:ln cap="flat" cmpd="sng" w="9525">
            <a:solidFill>
              <a:srgbClr val="5F6B7A"/>
            </a:solidFill>
            <a:prstDash val="dash"/>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900">
                <a:solidFill>
                  <a:srgbClr val="5F6B7A"/>
                </a:solidFill>
                <a:latin typeface="Barlow"/>
                <a:ea typeface="Barlow"/>
                <a:cs typeface="Barlow"/>
                <a:sym typeface="Barlow"/>
              </a:rPr>
              <a:t>App not running</a:t>
            </a:r>
            <a:endParaRPr/>
          </a:p>
        </p:txBody>
      </p:sp>
      <p:sp>
        <p:nvSpPr>
          <p:cNvPr id="1851" name="Google Shape;1851;p61"/>
          <p:cNvSpPr/>
          <p:nvPr/>
        </p:nvSpPr>
        <p:spPr>
          <a:xfrm>
            <a:off x="2039112" y="2286000"/>
            <a:ext cx="5111496" cy="365760"/>
          </a:xfrm>
          <a:prstGeom prst="roundRect">
            <a:avLst>
              <a:gd fmla="val 125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900">
                <a:solidFill>
                  <a:srgbClr val="9A5B00"/>
                </a:solidFill>
                <a:latin typeface="Barlow"/>
                <a:ea typeface="Barlow"/>
                <a:cs typeface="Barlow"/>
                <a:sym typeface="Barlow"/>
              </a:rPr>
              <a:t>Offline</a:t>
            </a:r>
            <a:endParaRPr/>
          </a:p>
        </p:txBody>
      </p:sp>
      <p:sp>
        <p:nvSpPr>
          <p:cNvPr id="1852" name="Google Shape;1852;p61"/>
          <p:cNvSpPr/>
          <p:nvPr/>
        </p:nvSpPr>
        <p:spPr>
          <a:xfrm>
            <a:off x="7205472" y="2286000"/>
            <a:ext cx="1088136" cy="365760"/>
          </a:xfrm>
          <a:prstGeom prst="roundRect">
            <a:avLst>
              <a:gd fmla="val 125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900">
                <a:solidFill>
                  <a:srgbClr val="1E7B4F"/>
                </a:solidFill>
                <a:latin typeface="Barlow"/>
                <a:ea typeface="Barlow"/>
                <a:cs typeface="Barlow"/>
                <a:sym typeface="Barlow"/>
              </a:rPr>
              <a:t>Online</a:t>
            </a:r>
            <a:endParaRPr/>
          </a:p>
        </p:txBody>
      </p:sp>
      <p:sp>
        <p:nvSpPr>
          <p:cNvPr id="1853" name="Google Shape;1853;p61"/>
          <p:cNvSpPr/>
          <p:nvPr/>
        </p:nvSpPr>
        <p:spPr>
          <a:xfrm>
            <a:off x="2953512" y="2743200"/>
            <a:ext cx="4197096" cy="365760"/>
          </a:xfrm>
          <a:prstGeom prst="roundRect">
            <a:avLst>
              <a:gd fmla="val 12500" name="adj"/>
            </a:avLst>
          </a:prstGeom>
          <a:solidFill>
            <a:srgbClr val="EAF2FB"/>
          </a:solidFill>
          <a:ln cap="flat" cmpd="sng" w="9525">
            <a:solidFill>
              <a:srgbClr val="1565C0"/>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900">
                <a:solidFill>
                  <a:srgbClr val="0B2F5B"/>
                </a:solidFill>
                <a:latin typeface="Barlow"/>
                <a:ea typeface="Barlow"/>
                <a:cs typeface="Barlow"/>
                <a:sym typeface="Barlow"/>
              </a:rPr>
              <a:t>Unique work enqueued: waits for a network</a:t>
            </a:r>
            <a:endParaRPr/>
          </a:p>
        </p:txBody>
      </p:sp>
      <p:sp>
        <p:nvSpPr>
          <p:cNvPr id="1854" name="Google Shape;1854;p61"/>
          <p:cNvSpPr/>
          <p:nvPr/>
        </p:nvSpPr>
        <p:spPr>
          <a:xfrm>
            <a:off x="7205472" y="2743200"/>
            <a:ext cx="539496" cy="365760"/>
          </a:xfrm>
          <a:prstGeom prst="roundRect">
            <a:avLst>
              <a:gd fmla="val 12500" name="adj"/>
            </a:avLst>
          </a:prstGeom>
          <a:solidFill>
            <a:srgbClr val="1565C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FFFFFF"/>
                </a:solidFill>
                <a:latin typeface="Barlow"/>
                <a:ea typeface="Barlow"/>
                <a:cs typeface="Barlow"/>
                <a:sym typeface="Barlow"/>
              </a:rPr>
              <a:t>Uploads</a:t>
            </a:r>
            <a:endParaRPr/>
          </a:p>
        </p:txBody>
      </p:sp>
      <p:sp>
        <p:nvSpPr>
          <p:cNvPr id="1855" name="Google Shape;1855;p61"/>
          <p:cNvSpPr/>
          <p:nvPr/>
        </p:nvSpPr>
        <p:spPr>
          <a:xfrm>
            <a:off x="7799831" y="2743200"/>
            <a:ext cx="493775" cy="365760"/>
          </a:xfrm>
          <a:prstGeom prst="roundRect">
            <a:avLst>
              <a:gd fmla="val 125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1E7B4F"/>
                </a:solidFill>
                <a:latin typeface="Barlow"/>
                <a:ea typeface="Barlow"/>
                <a:cs typeface="Barlow"/>
                <a:sym typeface="Barlow"/>
              </a:rPr>
              <a:t>Synced</a:t>
            </a:r>
            <a:endParaRPr/>
          </a:p>
        </p:txBody>
      </p:sp>
      <p:sp>
        <p:nvSpPr>
          <p:cNvPr id="1856" name="Google Shape;1856;p61"/>
          <p:cNvSpPr txBox="1"/>
          <p:nvPr/>
        </p:nvSpPr>
        <p:spPr>
          <a:xfrm>
            <a:off x="457200" y="3328416"/>
            <a:ext cx="7863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2 · WHAT THE WORKER DOES WITH EACH CHANGE</a:t>
            </a:r>
            <a:endParaRPr/>
          </a:p>
        </p:txBody>
      </p:sp>
      <p:sp>
        <p:nvSpPr>
          <p:cNvPr id="1857" name="Google Shape;1857;p61"/>
          <p:cNvSpPr/>
          <p:nvPr/>
        </p:nvSpPr>
        <p:spPr>
          <a:xfrm>
            <a:off x="457200" y="4032504"/>
            <a:ext cx="1645920" cy="768096"/>
          </a:xfrm>
          <a:prstGeom prst="roundRect">
            <a:avLst>
              <a:gd fmla="val 7142" name="adj"/>
            </a:avLst>
          </a:prstGeom>
          <a:solidFill>
            <a:srgbClr val="FFFFFF"/>
          </a:solidFill>
          <a:ln cap="flat" cmpd="sng" w="12700">
            <a:solidFill>
              <a:srgbClr val="0B2F5B"/>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Next Applied change</a:t>
            </a:r>
            <a:endParaRPr/>
          </a:p>
          <a:p>
            <a:pPr indent="0" lvl="0" marL="0" marR="0" rtl="0" algn="ctr">
              <a:lnSpc>
                <a:spcPct val="100000"/>
              </a:lnSpc>
              <a:spcBef>
                <a:spcPts val="150"/>
              </a:spcBef>
              <a:spcAft>
                <a:spcPts val="0"/>
              </a:spcAft>
              <a:buNone/>
            </a:pPr>
            <a:r>
              <a:rPr b="0" lang="en-US" sz="900">
                <a:solidFill>
                  <a:srgbClr val="5F6B7A"/>
                </a:solidFill>
                <a:latin typeface="Barlow"/>
                <a:ea typeface="Barlow"/>
                <a:cs typeface="Barlow"/>
                <a:sym typeface="Barlow"/>
              </a:rPr>
              <a:t>With its UUID, in order</a:t>
            </a:r>
            <a:endParaRPr/>
          </a:p>
        </p:txBody>
      </p:sp>
      <p:sp>
        <p:nvSpPr>
          <p:cNvPr id="1858" name="Google Shape;1858;p61"/>
          <p:cNvSpPr/>
          <p:nvPr/>
        </p:nvSpPr>
        <p:spPr>
          <a:xfrm>
            <a:off x="2423160" y="4032504"/>
            <a:ext cx="1645920" cy="768096"/>
          </a:xfrm>
          <a:prstGeom prst="roundRect">
            <a:avLst>
              <a:gd fmla="val 7142" name="adj"/>
            </a:avLst>
          </a:prstGeom>
          <a:solidFill>
            <a:srgbClr val="0B2F5B"/>
          </a:solidFill>
          <a:ln>
            <a:noFill/>
          </a:ln>
        </p:spPr>
        <p:txBody>
          <a:bodyPr anchorCtr="0" anchor="ctr" bIns="27425" lIns="45700" spcFirstLastPara="1" rIns="45700" wrap="square" tIns="2742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Transaction Sync call</a:t>
            </a:r>
            <a:endParaRPr/>
          </a:p>
          <a:p>
            <a:pPr indent="0" lvl="0" marL="0" marR="0" rtl="0" algn="ctr">
              <a:lnSpc>
                <a:spcPct val="100000"/>
              </a:lnSpc>
              <a:spcBef>
                <a:spcPts val="150"/>
              </a:spcBef>
              <a:spcAft>
                <a:spcPts val="0"/>
              </a:spcAft>
              <a:buNone/>
            </a:pPr>
            <a:r>
              <a:rPr b="0" lang="en-US" sz="900">
                <a:solidFill>
                  <a:srgbClr val="A9C7EA"/>
                </a:solidFill>
                <a:latin typeface="Barlow"/>
                <a:ea typeface="Barlow"/>
                <a:cs typeface="Barlow"/>
                <a:sym typeface="Barlow"/>
              </a:rPr>
              <a:t>HTTPS</a:t>
            </a:r>
            <a:endParaRPr/>
          </a:p>
        </p:txBody>
      </p:sp>
      <p:cxnSp>
        <p:nvCxnSpPr>
          <p:cNvPr id="1859" name="Google Shape;1859;p61"/>
          <p:cNvCxnSpPr>
            <a:stCxn id="1857" idx="3"/>
            <a:endCxn id="1858" idx="1"/>
          </p:cNvCxnSpPr>
          <p:nvPr/>
        </p:nvCxnSpPr>
        <p:spPr>
          <a:xfrm>
            <a:off x="2103120" y="4416552"/>
            <a:ext cx="320100" cy="0"/>
          </a:xfrm>
          <a:prstGeom prst="straightConnector1">
            <a:avLst/>
          </a:prstGeom>
          <a:noFill/>
          <a:ln cap="flat" cmpd="sng" w="15875">
            <a:solidFill>
              <a:srgbClr val="0B2F5B"/>
            </a:solidFill>
            <a:prstDash val="solid"/>
            <a:round/>
            <a:headEnd len="sm" w="sm" type="none"/>
            <a:tailEnd len="med" w="med" type="triangle"/>
          </a:ln>
        </p:spPr>
      </p:cxnSp>
      <p:sp>
        <p:nvSpPr>
          <p:cNvPr id="1860" name="Google Shape;1860;p61"/>
          <p:cNvSpPr/>
          <p:nvPr/>
        </p:nvSpPr>
        <p:spPr>
          <a:xfrm>
            <a:off x="4572000" y="3602736"/>
            <a:ext cx="3749039" cy="365760"/>
          </a:xfrm>
          <a:prstGeom prst="roundRect">
            <a:avLst>
              <a:gd fmla="val 12500" name="adj"/>
            </a:avLst>
          </a:prstGeom>
          <a:solidFill>
            <a:srgbClr val="E6F4EA"/>
          </a:solidFill>
          <a:ln cap="flat" cmpd="sng" w="9525">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1" name="Google Shape;1861;p61"/>
          <p:cNvSpPr/>
          <p:nvPr/>
        </p:nvSpPr>
        <p:spPr>
          <a:xfrm>
            <a:off x="4626864" y="3666744"/>
            <a:ext cx="1143000" cy="237744"/>
          </a:xfrm>
          <a:prstGeom prst="roundRect">
            <a:avLst>
              <a:gd fmla="val 19230" name="adj"/>
            </a:avLst>
          </a:prstGeom>
          <a:solidFill>
            <a:srgbClr val="1E7B4F"/>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2xx</a:t>
            </a:r>
            <a:endParaRPr/>
          </a:p>
        </p:txBody>
      </p:sp>
      <p:sp>
        <p:nvSpPr>
          <p:cNvPr id="1862" name="Google Shape;1862;p61"/>
          <p:cNvSpPr txBox="1"/>
          <p:nvPr/>
        </p:nvSpPr>
        <p:spPr>
          <a:xfrm>
            <a:off x="5861304" y="3602736"/>
            <a:ext cx="2404871"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E7B4F"/>
                </a:solidFill>
                <a:latin typeface="Barlow"/>
                <a:ea typeface="Barlow"/>
                <a:cs typeface="Barlow"/>
                <a:sym typeface="Barlow"/>
              </a:rPr>
              <a:t>Mark the change Synced</a:t>
            </a:r>
            <a:endParaRPr/>
          </a:p>
        </p:txBody>
      </p:sp>
      <p:sp>
        <p:nvSpPr>
          <p:cNvPr id="1863" name="Google Shape;1863;p61"/>
          <p:cNvSpPr/>
          <p:nvPr/>
        </p:nvSpPr>
        <p:spPr>
          <a:xfrm>
            <a:off x="4069080" y="3785616"/>
            <a:ext cx="502920" cy="630936"/>
          </a:xfrm>
          <a:custGeom>
            <a:rect b="b" l="l" r="r" t="t"/>
            <a:pathLst>
              <a:path extrusionOk="0" h="630936" w="502920">
                <a:moveTo>
                  <a:pt x="0" y="630936"/>
                </a:moveTo>
                <a:lnTo>
                  <a:pt x="246888" y="630936"/>
                </a:lnTo>
                <a:lnTo>
                  <a:pt x="246888" y="0"/>
                </a:lnTo>
                <a:lnTo>
                  <a:pt x="502920" y="0"/>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4" name="Google Shape;1864;p61"/>
          <p:cNvSpPr/>
          <p:nvPr/>
        </p:nvSpPr>
        <p:spPr>
          <a:xfrm>
            <a:off x="4572000" y="4023360"/>
            <a:ext cx="3749039" cy="365760"/>
          </a:xfrm>
          <a:prstGeom prst="roundRect">
            <a:avLst>
              <a:gd fmla="val 12500" name="adj"/>
            </a:avLst>
          </a:prstGeom>
          <a:solidFill>
            <a:srgbClr val="E6F4EA"/>
          </a:solidFill>
          <a:ln cap="flat" cmpd="sng" w="9525">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5" name="Google Shape;1865;p61"/>
          <p:cNvSpPr/>
          <p:nvPr/>
        </p:nvSpPr>
        <p:spPr>
          <a:xfrm>
            <a:off x="4626864" y="4087368"/>
            <a:ext cx="1143000" cy="237744"/>
          </a:xfrm>
          <a:prstGeom prst="roundRect">
            <a:avLst>
              <a:gd fmla="val 19230" name="adj"/>
            </a:avLst>
          </a:prstGeom>
          <a:solidFill>
            <a:srgbClr val="1E7B4F"/>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409</a:t>
            </a:r>
            <a:endParaRPr/>
          </a:p>
        </p:txBody>
      </p:sp>
      <p:sp>
        <p:nvSpPr>
          <p:cNvPr id="1866" name="Google Shape;1866;p61"/>
          <p:cNvSpPr txBox="1"/>
          <p:nvPr/>
        </p:nvSpPr>
        <p:spPr>
          <a:xfrm>
            <a:off x="5861304" y="4023360"/>
            <a:ext cx="2404871"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E7B4F"/>
                </a:solidFill>
                <a:latin typeface="Barlow"/>
                <a:ea typeface="Barlow"/>
                <a:cs typeface="Barlow"/>
                <a:sym typeface="Barlow"/>
              </a:rPr>
              <a:t>Duplicate: treated as success, mark Synced</a:t>
            </a:r>
            <a:endParaRPr/>
          </a:p>
        </p:txBody>
      </p:sp>
      <p:sp>
        <p:nvSpPr>
          <p:cNvPr id="1867" name="Google Shape;1867;p61"/>
          <p:cNvSpPr/>
          <p:nvPr/>
        </p:nvSpPr>
        <p:spPr>
          <a:xfrm>
            <a:off x="4069080" y="4206240"/>
            <a:ext cx="502920" cy="210312"/>
          </a:xfrm>
          <a:custGeom>
            <a:rect b="b" l="l" r="r" t="t"/>
            <a:pathLst>
              <a:path extrusionOk="0" h="210312" w="502920">
                <a:moveTo>
                  <a:pt x="0" y="210312"/>
                </a:moveTo>
                <a:lnTo>
                  <a:pt x="246888" y="210312"/>
                </a:lnTo>
                <a:lnTo>
                  <a:pt x="246888" y="0"/>
                </a:lnTo>
                <a:lnTo>
                  <a:pt x="502920" y="0"/>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8" name="Google Shape;1868;p61"/>
          <p:cNvSpPr/>
          <p:nvPr/>
        </p:nvSpPr>
        <p:spPr>
          <a:xfrm>
            <a:off x="4572000" y="4443984"/>
            <a:ext cx="3749039" cy="365760"/>
          </a:xfrm>
          <a:prstGeom prst="roundRect">
            <a:avLst>
              <a:gd fmla="val 12500" name="adj"/>
            </a:avLst>
          </a:prstGeom>
          <a:solidFill>
            <a:srgbClr val="EAF2FB"/>
          </a:solidFill>
          <a:ln cap="flat" cmpd="sng" w="9525">
            <a:solidFill>
              <a:srgbClr val="1565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9" name="Google Shape;1869;p61"/>
          <p:cNvSpPr/>
          <p:nvPr/>
        </p:nvSpPr>
        <p:spPr>
          <a:xfrm>
            <a:off x="4626864" y="4507992"/>
            <a:ext cx="1143000" cy="237744"/>
          </a:xfrm>
          <a:prstGeom prst="roundRect">
            <a:avLst>
              <a:gd fmla="val 1923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401</a:t>
            </a:r>
            <a:endParaRPr/>
          </a:p>
        </p:txBody>
      </p:sp>
      <p:sp>
        <p:nvSpPr>
          <p:cNvPr id="1870" name="Google Shape;1870;p61"/>
          <p:cNvSpPr txBox="1"/>
          <p:nvPr/>
        </p:nvSpPr>
        <p:spPr>
          <a:xfrm>
            <a:off x="5861304" y="4443984"/>
            <a:ext cx="2404871"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Refresh the token, repeat the call</a:t>
            </a:r>
            <a:endParaRPr/>
          </a:p>
        </p:txBody>
      </p:sp>
      <p:sp>
        <p:nvSpPr>
          <p:cNvPr id="1871" name="Google Shape;1871;p61"/>
          <p:cNvSpPr/>
          <p:nvPr/>
        </p:nvSpPr>
        <p:spPr>
          <a:xfrm>
            <a:off x="4069080" y="4416552"/>
            <a:ext cx="502920" cy="210312"/>
          </a:xfrm>
          <a:custGeom>
            <a:rect b="b" l="l" r="r" t="t"/>
            <a:pathLst>
              <a:path extrusionOk="0" h="210312" w="502920">
                <a:moveTo>
                  <a:pt x="0" y="0"/>
                </a:moveTo>
                <a:lnTo>
                  <a:pt x="246888" y="0"/>
                </a:lnTo>
                <a:lnTo>
                  <a:pt x="246888" y="210312"/>
                </a:lnTo>
                <a:lnTo>
                  <a:pt x="502920" y="210312"/>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2" name="Google Shape;1872;p61"/>
          <p:cNvSpPr/>
          <p:nvPr/>
        </p:nvSpPr>
        <p:spPr>
          <a:xfrm>
            <a:off x="4572000" y="4864608"/>
            <a:ext cx="3749039" cy="365760"/>
          </a:xfrm>
          <a:prstGeom prst="roundRect">
            <a:avLst>
              <a:gd fmla="val 12500" name="adj"/>
            </a:avLst>
          </a:prstGeom>
          <a:solidFill>
            <a:srgbClr val="FFF4E0"/>
          </a:solidFill>
          <a:ln cap="flat" cmpd="sng" w="952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3" name="Google Shape;1873;p61"/>
          <p:cNvSpPr/>
          <p:nvPr/>
        </p:nvSpPr>
        <p:spPr>
          <a:xfrm>
            <a:off x="4626864" y="4928616"/>
            <a:ext cx="1143000" cy="237744"/>
          </a:xfrm>
          <a:prstGeom prst="roundRect">
            <a:avLst>
              <a:gd fmla="val 19230" name="adj"/>
            </a:avLst>
          </a:prstGeom>
          <a:solidFill>
            <a:srgbClr val="9A5B0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5xx · no network</a:t>
            </a:r>
            <a:endParaRPr/>
          </a:p>
        </p:txBody>
      </p:sp>
      <p:sp>
        <p:nvSpPr>
          <p:cNvPr id="1874" name="Google Shape;1874;p61"/>
          <p:cNvSpPr txBox="1"/>
          <p:nvPr/>
        </p:nvSpPr>
        <p:spPr>
          <a:xfrm>
            <a:off x="5861304" y="4864608"/>
            <a:ext cx="2404871"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50">
                <a:solidFill>
                  <a:srgbClr val="9A5B00"/>
                </a:solidFill>
                <a:latin typeface="Consolas"/>
                <a:ea typeface="Consolas"/>
                <a:cs typeface="Consolas"/>
                <a:sym typeface="Consolas"/>
              </a:rPr>
              <a:t>Result.retry()</a:t>
            </a:r>
            <a:r>
              <a:rPr b="0" lang="en-US" sz="925">
                <a:solidFill>
                  <a:srgbClr val="9A5B00"/>
                </a:solidFill>
                <a:latin typeface="Barlow"/>
                <a:ea typeface="Barlow"/>
                <a:cs typeface="Barlow"/>
                <a:sym typeface="Barlow"/>
              </a:rPr>
              <a:t>: exponential backoff</a:t>
            </a:r>
            <a:endParaRPr/>
          </a:p>
        </p:txBody>
      </p:sp>
      <p:sp>
        <p:nvSpPr>
          <p:cNvPr id="1875" name="Google Shape;1875;p61"/>
          <p:cNvSpPr/>
          <p:nvPr/>
        </p:nvSpPr>
        <p:spPr>
          <a:xfrm>
            <a:off x="4069080" y="4416552"/>
            <a:ext cx="502920" cy="630936"/>
          </a:xfrm>
          <a:custGeom>
            <a:rect b="b" l="l" r="r" t="t"/>
            <a:pathLst>
              <a:path extrusionOk="0" h="630936" w="502920">
                <a:moveTo>
                  <a:pt x="0" y="0"/>
                </a:moveTo>
                <a:lnTo>
                  <a:pt x="246888" y="0"/>
                </a:lnTo>
                <a:lnTo>
                  <a:pt x="246888" y="630936"/>
                </a:lnTo>
                <a:lnTo>
                  <a:pt x="502920" y="630936"/>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6" name="Google Shape;1876;p61"/>
          <p:cNvSpPr/>
          <p:nvPr/>
        </p:nvSpPr>
        <p:spPr>
          <a:xfrm>
            <a:off x="457200" y="5321808"/>
            <a:ext cx="7863840" cy="402336"/>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lnSpc>
                <a:spcPct val="100000"/>
              </a:lnSpc>
              <a:spcBef>
                <a:spcPts val="0"/>
              </a:spcBef>
              <a:spcAft>
                <a:spcPts val="0"/>
              </a:spcAft>
              <a:buNone/>
            </a:pPr>
            <a:r>
              <a:rPr b="1" lang="en-US" sz="925">
                <a:solidFill>
                  <a:srgbClr val="9A5B00"/>
                </a:solidFill>
                <a:latin typeface="Barlow"/>
                <a:ea typeface="Barlow"/>
                <a:cs typeface="Barlow"/>
                <a:sym typeface="Barlow"/>
              </a:rPr>
              <a:t>Limits  </a:t>
            </a:r>
            <a:r>
              <a:rPr b="0" lang="en-US" sz="925">
                <a:solidFill>
                  <a:srgbClr val="9A5B00"/>
                </a:solidFill>
                <a:latin typeface="Barlow"/>
                <a:ea typeface="Barlow"/>
                <a:cs typeface="Barlow"/>
                <a:sym typeface="Barlow"/>
              </a:rPr>
              <a:t>After a restart the worker runs once the phone has been unlocked. A force stop cancels pending work until the app is opened again. To validate on installer phones: deferral under battery saver.</a:t>
            </a:r>
            <a:endParaRPr/>
          </a:p>
        </p:txBody>
      </p:sp>
      <p:sp>
        <p:nvSpPr>
          <p:cNvPr id="1877" name="Google Shape;1877;p61"/>
          <p:cNvSpPr txBox="1"/>
          <p:nvPr/>
        </p:nvSpPr>
        <p:spPr>
          <a:xfrm>
            <a:off x="8641080" y="1216152"/>
            <a:ext cx="2788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DESIGN RULES ON ANDROID</a:t>
            </a:r>
            <a:endParaRPr/>
          </a:p>
        </p:txBody>
      </p:sp>
      <p:sp>
        <p:nvSpPr>
          <p:cNvPr id="1878" name="Google Shape;1878;p61"/>
          <p:cNvSpPr/>
          <p:nvPr/>
        </p:nvSpPr>
        <p:spPr>
          <a:xfrm>
            <a:off x="8641080" y="1481328"/>
            <a:ext cx="2788920" cy="1005839"/>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9" name="Google Shape;1879;p61"/>
          <p:cNvSpPr/>
          <p:nvPr/>
        </p:nvSpPr>
        <p:spPr>
          <a:xfrm>
            <a:off x="8750807" y="1591056"/>
            <a:ext cx="310896" cy="310896"/>
          </a:xfrm>
          <a:prstGeom prst="roundRect">
            <a:avLst>
              <a:gd fmla="val 14705"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80" name="Google Shape;1880;p61"/>
          <p:cNvPicPr preferRelativeResize="0"/>
          <p:nvPr/>
        </p:nvPicPr>
        <p:blipFill rotWithShape="1">
          <a:blip r:embed="rId3">
            <a:alphaModFix/>
          </a:blip>
          <a:srcRect b="0" l="0" r="0" t="0"/>
          <a:stretch/>
        </p:blipFill>
        <p:spPr>
          <a:xfrm>
            <a:off x="8819205" y="1659453"/>
            <a:ext cx="174101" cy="174101"/>
          </a:xfrm>
          <a:prstGeom prst="rect">
            <a:avLst/>
          </a:prstGeom>
          <a:noFill/>
          <a:ln>
            <a:noFill/>
          </a:ln>
        </p:spPr>
      </p:pic>
      <p:sp>
        <p:nvSpPr>
          <p:cNvPr id="1881" name="Google Shape;1881;p61"/>
          <p:cNvSpPr txBox="1"/>
          <p:nvPr/>
        </p:nvSpPr>
        <p:spPr>
          <a:xfrm>
            <a:off x="9153144" y="1591056"/>
            <a:ext cx="2185415"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One unique work chain</a:t>
            </a:r>
            <a:endParaRPr/>
          </a:p>
        </p:txBody>
      </p:sp>
      <p:sp>
        <p:nvSpPr>
          <p:cNvPr id="1882" name="Google Shape;1882;p61"/>
          <p:cNvSpPr txBox="1"/>
          <p:nvPr/>
        </p:nvSpPr>
        <p:spPr>
          <a:xfrm>
            <a:off x="8750807" y="1956816"/>
            <a:ext cx="2587751" cy="4937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Enqueuing again does not start a second upload, so changes keep their order.</a:t>
            </a:r>
            <a:endParaRPr/>
          </a:p>
        </p:txBody>
      </p:sp>
      <p:sp>
        <p:nvSpPr>
          <p:cNvPr id="1883" name="Google Shape;1883;p61"/>
          <p:cNvSpPr/>
          <p:nvPr/>
        </p:nvSpPr>
        <p:spPr>
          <a:xfrm>
            <a:off x="8641080" y="2560320"/>
            <a:ext cx="2788920" cy="1005839"/>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4" name="Google Shape;1884;p61"/>
          <p:cNvSpPr/>
          <p:nvPr/>
        </p:nvSpPr>
        <p:spPr>
          <a:xfrm>
            <a:off x="8750807" y="2670048"/>
            <a:ext cx="310896" cy="310896"/>
          </a:xfrm>
          <a:prstGeom prst="roundRect">
            <a:avLst>
              <a:gd fmla="val 14705"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85" name="Google Shape;1885;p61"/>
          <p:cNvPicPr preferRelativeResize="0"/>
          <p:nvPr/>
        </p:nvPicPr>
        <p:blipFill rotWithShape="1">
          <a:blip r:embed="rId4">
            <a:alphaModFix/>
          </a:blip>
          <a:srcRect b="0" l="0" r="0" t="0"/>
          <a:stretch/>
        </p:blipFill>
        <p:spPr>
          <a:xfrm>
            <a:off x="8819205" y="2738445"/>
            <a:ext cx="174101" cy="174101"/>
          </a:xfrm>
          <a:prstGeom prst="rect">
            <a:avLst/>
          </a:prstGeom>
          <a:noFill/>
          <a:ln>
            <a:noFill/>
          </a:ln>
        </p:spPr>
      </p:pic>
      <p:sp>
        <p:nvSpPr>
          <p:cNvPr id="1886" name="Google Shape;1886;p61"/>
          <p:cNvSpPr txBox="1"/>
          <p:nvPr/>
        </p:nvSpPr>
        <p:spPr>
          <a:xfrm>
            <a:off x="9153144" y="2670048"/>
            <a:ext cx="2185415"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A network constraint</a:t>
            </a:r>
            <a:endParaRPr/>
          </a:p>
        </p:txBody>
      </p:sp>
      <p:sp>
        <p:nvSpPr>
          <p:cNvPr id="1887" name="Google Shape;1887;p61"/>
          <p:cNvSpPr txBox="1"/>
          <p:nvPr/>
        </p:nvSpPr>
        <p:spPr>
          <a:xfrm>
            <a:off x="8750807" y="3035808"/>
            <a:ext cx="2587751" cy="4937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It replaces the NWPathMonitor trigger of T8: the system starts the worker when a network is available.</a:t>
            </a:r>
            <a:endParaRPr/>
          </a:p>
        </p:txBody>
      </p:sp>
      <p:sp>
        <p:nvSpPr>
          <p:cNvPr id="1888" name="Google Shape;1888;p61"/>
          <p:cNvSpPr/>
          <p:nvPr/>
        </p:nvSpPr>
        <p:spPr>
          <a:xfrm>
            <a:off x="8641080" y="3639312"/>
            <a:ext cx="2788920" cy="1005839"/>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9" name="Google Shape;1889;p61"/>
          <p:cNvSpPr/>
          <p:nvPr/>
        </p:nvSpPr>
        <p:spPr>
          <a:xfrm>
            <a:off x="8750807" y="3749039"/>
            <a:ext cx="310896" cy="310896"/>
          </a:xfrm>
          <a:prstGeom prst="roundRect">
            <a:avLst>
              <a:gd fmla="val 14705"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90" name="Google Shape;1890;p61"/>
          <p:cNvPicPr preferRelativeResize="0"/>
          <p:nvPr/>
        </p:nvPicPr>
        <p:blipFill rotWithShape="1">
          <a:blip r:embed="rId5">
            <a:alphaModFix/>
          </a:blip>
          <a:srcRect b="0" l="0" r="0" t="0"/>
          <a:stretch/>
        </p:blipFill>
        <p:spPr>
          <a:xfrm>
            <a:off x="8819205" y="3817437"/>
            <a:ext cx="174101" cy="174101"/>
          </a:xfrm>
          <a:prstGeom prst="rect">
            <a:avLst/>
          </a:prstGeom>
          <a:noFill/>
          <a:ln>
            <a:noFill/>
          </a:ln>
        </p:spPr>
      </p:pic>
      <p:sp>
        <p:nvSpPr>
          <p:cNvPr id="1891" name="Google Shape;1891;p61"/>
          <p:cNvSpPr txBox="1"/>
          <p:nvPr/>
        </p:nvSpPr>
        <p:spPr>
          <a:xfrm>
            <a:off x="9153144" y="3749039"/>
            <a:ext cx="2185415"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Repeats are expected</a:t>
            </a:r>
            <a:endParaRPr/>
          </a:p>
        </p:txBody>
      </p:sp>
      <p:sp>
        <p:nvSpPr>
          <p:cNvPr id="1892" name="Google Shape;1892;p61"/>
          <p:cNvSpPr txBox="1"/>
          <p:nvPr/>
        </p:nvSpPr>
        <p:spPr>
          <a:xfrm>
            <a:off x="8750807" y="4114800"/>
            <a:ext cx="2587751" cy="4937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A worker can run again after a retry. The server's UUID rule makes a repeat harmless.</a:t>
            </a:r>
            <a:endParaRPr/>
          </a:p>
        </p:txBody>
      </p:sp>
      <p:sp>
        <p:nvSpPr>
          <p:cNvPr id="1893" name="Google Shape;1893;p61"/>
          <p:cNvSpPr/>
          <p:nvPr/>
        </p:nvSpPr>
        <p:spPr>
          <a:xfrm>
            <a:off x="8641080" y="4718304"/>
            <a:ext cx="2788920" cy="1005839"/>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4" name="Google Shape;1894;p61"/>
          <p:cNvSpPr/>
          <p:nvPr/>
        </p:nvSpPr>
        <p:spPr>
          <a:xfrm>
            <a:off x="8750807" y="4828032"/>
            <a:ext cx="310896" cy="310896"/>
          </a:xfrm>
          <a:prstGeom prst="roundRect">
            <a:avLst>
              <a:gd fmla="val 14705"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95" name="Google Shape;1895;p61"/>
          <p:cNvPicPr preferRelativeResize="0"/>
          <p:nvPr/>
        </p:nvPicPr>
        <p:blipFill rotWithShape="1">
          <a:blip r:embed="rId6">
            <a:alphaModFix/>
          </a:blip>
          <a:srcRect b="0" l="0" r="0" t="0"/>
          <a:stretch/>
        </p:blipFill>
        <p:spPr>
          <a:xfrm>
            <a:off x="8819205" y="4896429"/>
            <a:ext cx="174101" cy="174101"/>
          </a:xfrm>
          <a:prstGeom prst="rect">
            <a:avLst/>
          </a:prstGeom>
          <a:noFill/>
          <a:ln>
            <a:noFill/>
          </a:ln>
        </p:spPr>
      </p:pic>
      <p:sp>
        <p:nvSpPr>
          <p:cNvPr id="1896" name="Google Shape;1896;p61"/>
          <p:cNvSpPr txBox="1"/>
          <p:nvPr/>
        </p:nvSpPr>
        <p:spPr>
          <a:xfrm>
            <a:off x="9153144" y="4828032"/>
            <a:ext cx="2185415"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Still visible in the app</a:t>
            </a:r>
            <a:endParaRPr/>
          </a:p>
        </p:txBody>
      </p:sp>
      <p:sp>
        <p:nvSpPr>
          <p:cNvPr id="1897" name="Google Shape;1897;p61"/>
          <p:cNvSpPr txBox="1"/>
          <p:nvPr/>
        </p:nvSpPr>
        <p:spPr>
          <a:xfrm>
            <a:off x="8750807" y="5193792"/>
            <a:ext cx="2587751" cy="4937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Unsynced items stay marked in the Dashboard list, as in T8.</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sp>
        <p:nvSpPr>
          <p:cNvPr id="1903" name="Google Shape;1903;p62"/>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09 · TECHNICAL DESIGN (ANDROID) · STORAGE AND SECRETS · iOS PROTECTIONS MAPPED TO ANDROID</a:t>
            </a:r>
            <a:endParaRPr/>
          </a:p>
        </p:txBody>
      </p:sp>
      <p:sp>
        <p:nvSpPr>
          <p:cNvPr id="1904" name="Google Shape;1904;p62"/>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Token protection maps one to one; Android needs three additions for the rest</a:t>
            </a:r>
            <a:endParaRPr/>
          </a:p>
        </p:txBody>
      </p:sp>
      <p:sp>
        <p:nvSpPr>
          <p:cNvPr id="1905" name="Google Shape;1905;p62"/>
          <p:cNvSpPr txBox="1"/>
          <p:nvPr/>
        </p:nvSpPr>
        <p:spPr>
          <a:xfrm>
            <a:off x="457200" y="1216152"/>
            <a:ext cx="8229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EACH PROTECTION IN THE iOS DESIGN, ITS ANDROID COUNTERPART, AND WHAT ANDROID ADDS</a:t>
            </a:r>
            <a:endParaRPr/>
          </a:p>
        </p:txBody>
      </p:sp>
      <p:sp>
        <p:nvSpPr>
          <p:cNvPr id="1906" name="Google Shape;1906;p62"/>
          <p:cNvSpPr/>
          <p:nvPr/>
        </p:nvSpPr>
        <p:spPr>
          <a:xfrm>
            <a:off x="457200" y="1481328"/>
            <a:ext cx="2926080" cy="310896"/>
          </a:xfrm>
          <a:prstGeom prst="rect">
            <a:avLst/>
          </a:prstGeom>
          <a:solidFill>
            <a:srgbClr val="5F6B7A"/>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iOS design (T5, B2)</a:t>
            </a:r>
            <a:endParaRPr/>
          </a:p>
        </p:txBody>
      </p:sp>
      <p:sp>
        <p:nvSpPr>
          <p:cNvPr id="1907" name="Google Shape;1907;p62"/>
          <p:cNvSpPr/>
          <p:nvPr/>
        </p:nvSpPr>
        <p:spPr>
          <a:xfrm>
            <a:off x="3703320" y="1481328"/>
            <a:ext cx="3429000" cy="310896"/>
          </a:xfrm>
          <a:prstGeom prst="rect">
            <a:avLst/>
          </a:prstGeom>
          <a:solidFill>
            <a:srgbClr val="1565C0"/>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counterpart</a:t>
            </a:r>
            <a:endParaRPr/>
          </a:p>
        </p:txBody>
      </p:sp>
      <p:sp>
        <p:nvSpPr>
          <p:cNvPr id="1908" name="Google Shape;1908;p62"/>
          <p:cNvSpPr/>
          <p:nvPr/>
        </p:nvSpPr>
        <p:spPr>
          <a:xfrm>
            <a:off x="7452360" y="1481328"/>
            <a:ext cx="3977639" cy="310896"/>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What Android needs in addition</a:t>
            </a:r>
            <a:endParaRPr/>
          </a:p>
        </p:txBody>
      </p:sp>
      <p:sp>
        <p:nvSpPr>
          <p:cNvPr id="1909" name="Google Shape;1909;p62"/>
          <p:cNvSpPr/>
          <p:nvPr/>
        </p:nvSpPr>
        <p:spPr>
          <a:xfrm>
            <a:off x="457200" y="1865376"/>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Installer auth token</a:t>
            </a:r>
            <a:endParaRPr/>
          </a:p>
          <a:p>
            <a:pPr indent="0" lvl="0" marL="0" marR="0" rtl="0" algn="l">
              <a:lnSpc>
                <a:spcPct val="100000"/>
              </a:lnSpc>
              <a:spcBef>
                <a:spcPts val="200"/>
              </a:spcBef>
              <a:spcAft>
                <a:spcPts val="0"/>
              </a:spcAft>
              <a:buNone/>
            </a:pPr>
            <a:r>
              <a:rPr b="0" lang="en-US" sz="775">
                <a:solidFill>
                  <a:srgbClr val="5F6B7A"/>
                </a:solidFill>
                <a:latin typeface="Consolas"/>
                <a:ea typeface="Consolas"/>
                <a:cs typeface="Consolas"/>
                <a:sym typeface="Consolas"/>
              </a:rPr>
              <a:t>Keychain · WhenUnlockedThisDeviceOnly</a:t>
            </a:r>
            <a:endParaRPr/>
          </a:p>
          <a:p>
            <a:pPr indent="0" lvl="0" marL="0" marR="0" rtl="0" algn="l">
              <a:lnSpc>
                <a:spcPct val="100000"/>
              </a:lnSpc>
              <a:spcBef>
                <a:spcPts val="0"/>
              </a:spcBef>
              <a:spcAft>
                <a:spcPts val="0"/>
              </a:spcAft>
              <a:buNone/>
            </a:pPr>
            <a:r>
              <a:rPr b="0" lang="en-US" sz="775">
                <a:solidFill>
                  <a:srgbClr val="5F6B7A"/>
                </a:solidFill>
                <a:latin typeface="Consolas"/>
                <a:ea typeface="Consolas"/>
                <a:cs typeface="Consolas"/>
                <a:sym typeface="Consolas"/>
              </a:rPr>
              <a:t>+ .biometryCurrentSet</a:t>
            </a:r>
            <a:endParaRPr/>
          </a:p>
        </p:txBody>
      </p:sp>
      <p:sp>
        <p:nvSpPr>
          <p:cNvPr id="1910" name="Google Shape;1910;p62"/>
          <p:cNvSpPr/>
          <p:nvPr/>
        </p:nvSpPr>
        <p:spPr>
          <a:xfrm>
            <a:off x="3703320" y="1865376"/>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Keystore key with user authentication</a:t>
            </a:r>
            <a:endParaRPr/>
          </a:p>
          <a:p>
            <a:pPr indent="0" lvl="0" marL="0" marR="0" rtl="0" algn="l">
              <a:lnSpc>
                <a:spcPct val="100000"/>
              </a:lnSpc>
              <a:spcBef>
                <a:spcPts val="200"/>
              </a:spcBef>
              <a:spcAft>
                <a:spcPts val="0"/>
              </a:spcAft>
              <a:buNone/>
            </a:pPr>
            <a:r>
              <a:rPr b="0" lang="en-US" sz="900">
                <a:solidFill>
                  <a:srgbClr val="1F2A37"/>
                </a:solidFill>
                <a:latin typeface="Barlow"/>
                <a:ea typeface="Barlow"/>
                <a:cs typeface="Barlow"/>
                <a:sym typeface="Barlow"/>
              </a:rPr>
              <a:t>Non-exportable. Invalidated when a new biometric is enrolled.</a:t>
            </a:r>
            <a:endParaRPr/>
          </a:p>
        </p:txBody>
      </p:sp>
      <p:cxnSp>
        <p:nvCxnSpPr>
          <p:cNvPr id="1911" name="Google Shape;1911;p62"/>
          <p:cNvCxnSpPr>
            <a:stCxn id="1909" idx="3"/>
            <a:endCxn id="1910" idx="1"/>
          </p:cNvCxnSpPr>
          <p:nvPr/>
        </p:nvCxnSpPr>
        <p:spPr>
          <a:xfrm>
            <a:off x="3383280" y="2231136"/>
            <a:ext cx="320100" cy="0"/>
          </a:xfrm>
          <a:prstGeom prst="straightConnector1">
            <a:avLst/>
          </a:prstGeom>
          <a:noFill/>
          <a:ln cap="flat" cmpd="sng" w="15875">
            <a:solidFill>
              <a:srgbClr val="0B2F5B"/>
            </a:solidFill>
            <a:prstDash val="solid"/>
            <a:round/>
            <a:headEnd len="sm" w="sm" type="none"/>
            <a:tailEnd len="med" w="med" type="triangle"/>
          </a:ln>
        </p:spPr>
      </p:cxnSp>
      <p:sp>
        <p:nvSpPr>
          <p:cNvPr id="1912" name="Google Shape;1912;p62"/>
          <p:cNvSpPr/>
          <p:nvPr/>
        </p:nvSpPr>
        <p:spPr>
          <a:xfrm>
            <a:off x="7452360" y="1865376"/>
            <a:ext cx="3977639" cy="731520"/>
          </a:xfrm>
          <a:prstGeom prst="roundRect">
            <a:avLst>
              <a:gd fmla="val 6250" name="adj"/>
            </a:avLst>
          </a:prstGeom>
          <a:solidFill>
            <a:srgbClr val="E6F4EA"/>
          </a:solidFill>
          <a:ln cap="flat" cmpd="sng" w="9525">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3" name="Google Shape;1913;p62"/>
          <p:cNvSpPr/>
          <p:nvPr/>
        </p:nvSpPr>
        <p:spPr>
          <a:xfrm>
            <a:off x="7562088" y="2050923"/>
            <a:ext cx="804657" cy="173736"/>
          </a:xfrm>
          <a:prstGeom prst="roundRect">
            <a:avLst>
              <a:gd fmla="val 50000" name="adj"/>
            </a:avLst>
          </a:prstGeom>
          <a:solidFill>
            <a:srgbClr val="1E7B4F"/>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EQUIVALENT</a:t>
            </a:r>
            <a:endParaRPr/>
          </a:p>
        </p:txBody>
      </p:sp>
      <p:sp>
        <p:nvSpPr>
          <p:cNvPr id="1914" name="Google Shape;1914;p62"/>
          <p:cNvSpPr txBox="1"/>
          <p:nvPr/>
        </p:nvSpPr>
        <p:spPr>
          <a:xfrm>
            <a:off x="7562088" y="2270379"/>
            <a:ext cx="3758183" cy="15925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E7B4F"/>
                </a:solidFill>
                <a:latin typeface="Barlow"/>
                <a:ea typeface="Barlow"/>
                <a:cs typeface="Barlow"/>
                <a:sym typeface="Barlow"/>
              </a:rPr>
              <a:t>Same effect: bound to this device and to the enrolled biometrics.</a:t>
            </a:r>
            <a:endParaRPr/>
          </a:p>
        </p:txBody>
      </p:sp>
      <p:cxnSp>
        <p:nvCxnSpPr>
          <p:cNvPr id="1915" name="Google Shape;1915;p62"/>
          <p:cNvCxnSpPr>
            <a:stCxn id="1910" idx="3"/>
            <a:endCxn id="1912" idx="1"/>
          </p:cNvCxnSpPr>
          <p:nvPr/>
        </p:nvCxnSpPr>
        <p:spPr>
          <a:xfrm>
            <a:off x="7132320" y="2231136"/>
            <a:ext cx="320100" cy="0"/>
          </a:xfrm>
          <a:prstGeom prst="straightConnector1">
            <a:avLst/>
          </a:prstGeom>
          <a:noFill/>
          <a:ln cap="flat" cmpd="sng" w="15875">
            <a:solidFill>
              <a:srgbClr val="1E7B4F"/>
            </a:solidFill>
            <a:prstDash val="solid"/>
            <a:round/>
            <a:headEnd len="sm" w="sm" type="none"/>
            <a:tailEnd len="med" w="med" type="triangle"/>
          </a:ln>
        </p:spPr>
      </p:cxnSp>
      <p:sp>
        <p:nvSpPr>
          <p:cNvPr id="1916" name="Google Shape;1916;p62"/>
          <p:cNvSpPr/>
          <p:nvPr/>
        </p:nvSpPr>
        <p:spPr>
          <a:xfrm>
            <a:off x="457200" y="2647188"/>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Refresh token</a:t>
            </a:r>
            <a:endParaRPr/>
          </a:p>
          <a:p>
            <a:pPr indent="0" lvl="0" marL="0" marR="0" rtl="0" algn="l">
              <a:lnSpc>
                <a:spcPct val="100000"/>
              </a:lnSpc>
              <a:spcBef>
                <a:spcPts val="200"/>
              </a:spcBef>
              <a:spcAft>
                <a:spcPts val="0"/>
              </a:spcAft>
              <a:buNone/>
            </a:pPr>
            <a:r>
              <a:rPr b="0" lang="en-US" sz="775">
                <a:solidFill>
                  <a:srgbClr val="5F6B7A"/>
                </a:solidFill>
                <a:latin typeface="Consolas"/>
                <a:ea typeface="Consolas"/>
                <a:cs typeface="Consolas"/>
                <a:sym typeface="Consolas"/>
              </a:rPr>
              <a:t>Keychain · AfterFirstUnlockThisDeviceOnly</a:t>
            </a:r>
            <a:endParaRPr/>
          </a:p>
        </p:txBody>
      </p:sp>
      <p:sp>
        <p:nvSpPr>
          <p:cNvPr id="1917" name="Google Shape;1917;p62"/>
          <p:cNvSpPr/>
          <p:nvPr/>
        </p:nvSpPr>
        <p:spPr>
          <a:xfrm>
            <a:off x="3703320" y="2647188"/>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Keystore key without user authentication</a:t>
            </a:r>
            <a:endParaRPr/>
          </a:p>
          <a:p>
            <a:pPr indent="0" lvl="0" marL="0" marR="0" rtl="0" algn="l">
              <a:lnSpc>
                <a:spcPct val="100000"/>
              </a:lnSpc>
              <a:spcBef>
                <a:spcPts val="200"/>
              </a:spcBef>
              <a:spcAft>
                <a:spcPts val="0"/>
              </a:spcAft>
              <a:buNone/>
            </a:pPr>
            <a:r>
              <a:rPr b="0" lang="en-US" sz="900">
                <a:solidFill>
                  <a:srgbClr val="1F2A37"/>
                </a:solidFill>
                <a:latin typeface="Barlow"/>
                <a:ea typeface="Barlow"/>
                <a:cs typeface="Barlow"/>
                <a:sym typeface="Barlow"/>
              </a:rPr>
              <a:t>Ciphertext in app storage, available after the first unlock.</a:t>
            </a:r>
            <a:endParaRPr/>
          </a:p>
        </p:txBody>
      </p:sp>
      <p:cxnSp>
        <p:nvCxnSpPr>
          <p:cNvPr id="1918" name="Google Shape;1918;p62"/>
          <p:cNvCxnSpPr>
            <a:stCxn id="1916" idx="3"/>
            <a:endCxn id="1917" idx="1"/>
          </p:cNvCxnSpPr>
          <p:nvPr/>
        </p:nvCxnSpPr>
        <p:spPr>
          <a:xfrm>
            <a:off x="3383280" y="3012948"/>
            <a:ext cx="320100" cy="0"/>
          </a:xfrm>
          <a:prstGeom prst="straightConnector1">
            <a:avLst/>
          </a:prstGeom>
          <a:noFill/>
          <a:ln cap="flat" cmpd="sng" w="15875">
            <a:solidFill>
              <a:srgbClr val="0B2F5B"/>
            </a:solidFill>
            <a:prstDash val="solid"/>
            <a:round/>
            <a:headEnd len="sm" w="sm" type="none"/>
            <a:tailEnd len="med" w="med" type="triangle"/>
          </a:ln>
        </p:spPr>
      </p:cxnSp>
      <p:sp>
        <p:nvSpPr>
          <p:cNvPr id="1919" name="Google Shape;1919;p62"/>
          <p:cNvSpPr/>
          <p:nvPr/>
        </p:nvSpPr>
        <p:spPr>
          <a:xfrm>
            <a:off x="7452360" y="2647188"/>
            <a:ext cx="3977639" cy="731520"/>
          </a:xfrm>
          <a:prstGeom prst="roundRect">
            <a:avLst>
              <a:gd fmla="val 6250" name="adj"/>
            </a:avLst>
          </a:prstGeom>
          <a:solidFill>
            <a:srgbClr val="E6F4EA"/>
          </a:solidFill>
          <a:ln cap="flat" cmpd="sng" w="9525">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0" name="Google Shape;1920;p62"/>
          <p:cNvSpPr/>
          <p:nvPr/>
        </p:nvSpPr>
        <p:spPr>
          <a:xfrm>
            <a:off x="7562088" y="2832735"/>
            <a:ext cx="804657" cy="173736"/>
          </a:xfrm>
          <a:prstGeom prst="roundRect">
            <a:avLst>
              <a:gd fmla="val 50000" name="adj"/>
            </a:avLst>
          </a:prstGeom>
          <a:solidFill>
            <a:srgbClr val="1E7B4F"/>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EQUIVALENT</a:t>
            </a:r>
            <a:endParaRPr/>
          </a:p>
        </p:txBody>
      </p:sp>
      <p:sp>
        <p:nvSpPr>
          <p:cNvPr id="1921" name="Google Shape;1921;p62"/>
          <p:cNvSpPr txBox="1"/>
          <p:nvPr/>
        </p:nvSpPr>
        <p:spPr>
          <a:xfrm>
            <a:off x="7562088" y="3052191"/>
            <a:ext cx="3758183" cy="15925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E7B4F"/>
                </a:solidFill>
                <a:latin typeface="Barlow"/>
                <a:ea typeface="Barlow"/>
                <a:cs typeface="Barlow"/>
                <a:sym typeface="Barlow"/>
              </a:rPr>
              <a:t>Same effect. The background upload of A6 can use it.</a:t>
            </a:r>
            <a:endParaRPr/>
          </a:p>
        </p:txBody>
      </p:sp>
      <p:cxnSp>
        <p:nvCxnSpPr>
          <p:cNvPr id="1922" name="Google Shape;1922;p62"/>
          <p:cNvCxnSpPr>
            <a:stCxn id="1917" idx="3"/>
            <a:endCxn id="1919" idx="1"/>
          </p:cNvCxnSpPr>
          <p:nvPr/>
        </p:nvCxnSpPr>
        <p:spPr>
          <a:xfrm>
            <a:off x="7132320" y="3012948"/>
            <a:ext cx="320100" cy="0"/>
          </a:xfrm>
          <a:prstGeom prst="straightConnector1">
            <a:avLst/>
          </a:prstGeom>
          <a:noFill/>
          <a:ln cap="flat" cmpd="sng" w="15875">
            <a:solidFill>
              <a:srgbClr val="1E7B4F"/>
            </a:solidFill>
            <a:prstDash val="solid"/>
            <a:round/>
            <a:headEnd len="sm" w="sm" type="none"/>
            <a:tailEnd len="med" w="med" type="triangle"/>
          </a:ln>
        </p:spPr>
      </p:cxnSp>
      <p:sp>
        <p:nvSpPr>
          <p:cNvPr id="1923" name="Google Shape;1923;p62"/>
          <p:cNvSpPr/>
          <p:nvPr/>
        </p:nvSpPr>
        <p:spPr>
          <a:xfrm>
            <a:off x="457200" y="3429000"/>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Temporary installer password</a:t>
            </a:r>
            <a:endParaRPr/>
          </a:p>
          <a:p>
            <a:pPr indent="0" lvl="0" marL="0" marR="0" rtl="0" algn="l">
              <a:lnSpc>
                <a:spcPct val="100000"/>
              </a:lnSpc>
              <a:spcBef>
                <a:spcPts val="200"/>
              </a:spcBef>
              <a:spcAft>
                <a:spcPts val="0"/>
              </a:spcAft>
              <a:buNone/>
            </a:pPr>
            <a:r>
              <a:rPr b="0" lang="en-US" sz="875">
                <a:solidFill>
                  <a:srgbClr val="5F6B7A"/>
                </a:solidFill>
                <a:latin typeface="Barlow"/>
                <a:ea typeface="Barlow"/>
                <a:cs typeface="Barlow"/>
                <a:sym typeface="Barlow"/>
              </a:rPr>
              <a:t>Memory only, never persisted</a:t>
            </a:r>
            <a:endParaRPr/>
          </a:p>
        </p:txBody>
      </p:sp>
      <p:sp>
        <p:nvSpPr>
          <p:cNvPr id="1924" name="Google Shape;1924;p62"/>
          <p:cNvSpPr/>
          <p:nvPr/>
        </p:nvSpPr>
        <p:spPr>
          <a:xfrm>
            <a:off x="3703320" y="3429000"/>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Memory only, never persisted</a:t>
            </a:r>
            <a:endParaRPr/>
          </a:p>
          <a:p>
            <a:pPr indent="0" lvl="0" marL="0" marR="0" rtl="0" algn="l">
              <a:lnSpc>
                <a:spcPct val="100000"/>
              </a:lnSpc>
              <a:spcBef>
                <a:spcPts val="200"/>
              </a:spcBef>
              <a:spcAft>
                <a:spcPts val="0"/>
              </a:spcAft>
              <a:buNone/>
            </a:pPr>
            <a:r>
              <a:rPr b="0" lang="en-US" sz="900">
                <a:solidFill>
                  <a:srgbClr val="1F2A37"/>
                </a:solidFill>
                <a:latin typeface="Barlow"/>
                <a:ea typeface="Barlow"/>
                <a:cs typeface="Barlow"/>
                <a:sym typeface="Barlow"/>
              </a:rPr>
              <a:t>Discarded immediately after use.</a:t>
            </a:r>
            <a:endParaRPr/>
          </a:p>
        </p:txBody>
      </p:sp>
      <p:cxnSp>
        <p:nvCxnSpPr>
          <p:cNvPr id="1925" name="Google Shape;1925;p62"/>
          <p:cNvCxnSpPr>
            <a:stCxn id="1923" idx="3"/>
            <a:endCxn id="1924" idx="1"/>
          </p:cNvCxnSpPr>
          <p:nvPr/>
        </p:nvCxnSpPr>
        <p:spPr>
          <a:xfrm>
            <a:off x="3383280" y="3794760"/>
            <a:ext cx="320100" cy="0"/>
          </a:xfrm>
          <a:prstGeom prst="straightConnector1">
            <a:avLst/>
          </a:prstGeom>
          <a:noFill/>
          <a:ln cap="flat" cmpd="sng" w="15875">
            <a:solidFill>
              <a:srgbClr val="0B2F5B"/>
            </a:solidFill>
            <a:prstDash val="solid"/>
            <a:round/>
            <a:headEnd len="sm" w="sm" type="none"/>
            <a:tailEnd len="med" w="med" type="triangle"/>
          </a:ln>
        </p:spPr>
      </p:cxnSp>
      <p:sp>
        <p:nvSpPr>
          <p:cNvPr id="1926" name="Google Shape;1926;p62"/>
          <p:cNvSpPr/>
          <p:nvPr/>
        </p:nvSpPr>
        <p:spPr>
          <a:xfrm>
            <a:off x="7452360" y="3429000"/>
            <a:ext cx="3977639" cy="731520"/>
          </a:xfrm>
          <a:prstGeom prst="roundRect">
            <a:avLst>
              <a:gd fmla="val 6250" name="adj"/>
            </a:avLst>
          </a:prstGeom>
          <a:solidFill>
            <a:srgbClr val="FFF4E0"/>
          </a:solidFill>
          <a:ln cap="flat" cmpd="sng" w="952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7" name="Google Shape;1927;p62"/>
          <p:cNvSpPr/>
          <p:nvPr/>
        </p:nvSpPr>
        <p:spPr>
          <a:xfrm>
            <a:off x="7562088" y="3544062"/>
            <a:ext cx="376451" cy="173736"/>
          </a:xfrm>
          <a:prstGeom prst="roundRect">
            <a:avLst>
              <a:gd fmla="val 50000" name="adj"/>
            </a:avLst>
          </a:prstGeom>
          <a:solidFill>
            <a:srgbClr val="9A5B0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ADD</a:t>
            </a:r>
            <a:endParaRPr/>
          </a:p>
        </p:txBody>
      </p:sp>
      <p:sp>
        <p:nvSpPr>
          <p:cNvPr id="1928" name="Google Shape;1928;p62"/>
          <p:cNvSpPr txBox="1"/>
          <p:nvPr/>
        </p:nvSpPr>
        <p:spPr>
          <a:xfrm>
            <a:off x="7562088" y="3763518"/>
            <a:ext cx="3758183" cy="3002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850">
                <a:solidFill>
                  <a:srgbClr val="9A5B00"/>
                </a:solidFill>
                <a:latin typeface="Consolas"/>
                <a:ea typeface="Consolas"/>
                <a:cs typeface="Consolas"/>
                <a:sym typeface="Consolas"/>
              </a:rPr>
              <a:t>FLAG_SECURE</a:t>
            </a:r>
            <a:r>
              <a:rPr b="0" lang="en-US" sz="925">
                <a:solidFill>
                  <a:srgbClr val="9A5B00"/>
                </a:solidFill>
                <a:latin typeface="Barlow"/>
                <a:ea typeface="Barlow"/>
                <a:cs typeface="Barlow"/>
                <a:sym typeface="Barlow"/>
              </a:rPr>
              <a:t> on the screens that show it: kept out of screenshots and non-secure displays.</a:t>
            </a:r>
            <a:endParaRPr/>
          </a:p>
        </p:txBody>
      </p:sp>
      <p:cxnSp>
        <p:nvCxnSpPr>
          <p:cNvPr id="1929" name="Google Shape;1929;p62"/>
          <p:cNvCxnSpPr>
            <a:stCxn id="1924" idx="3"/>
            <a:endCxn id="1926" idx="1"/>
          </p:cNvCxnSpPr>
          <p:nvPr/>
        </p:nvCxnSpPr>
        <p:spPr>
          <a:xfrm>
            <a:off x="7132320" y="3794760"/>
            <a:ext cx="320100" cy="0"/>
          </a:xfrm>
          <a:prstGeom prst="straightConnector1">
            <a:avLst/>
          </a:prstGeom>
          <a:noFill/>
          <a:ln cap="flat" cmpd="sng" w="15875">
            <a:solidFill>
              <a:srgbClr val="F0A93B"/>
            </a:solidFill>
            <a:prstDash val="solid"/>
            <a:round/>
            <a:headEnd len="sm" w="sm" type="none"/>
            <a:tailEnd len="med" w="med" type="triangle"/>
          </a:ln>
        </p:spPr>
      </p:cxnSp>
      <p:sp>
        <p:nvSpPr>
          <p:cNvPr id="1930" name="Google Shape;1930;p62"/>
          <p:cNvSpPr/>
          <p:nvPr/>
        </p:nvSpPr>
        <p:spPr>
          <a:xfrm>
            <a:off x="457200" y="4210812"/>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Work order data</a:t>
            </a:r>
            <a:endParaRPr/>
          </a:p>
          <a:p>
            <a:pPr indent="0" lvl="0" marL="0" marR="0" rtl="0" algn="l">
              <a:lnSpc>
                <a:spcPct val="100000"/>
              </a:lnSpc>
              <a:spcBef>
                <a:spcPts val="200"/>
              </a:spcBef>
              <a:spcAft>
                <a:spcPts val="0"/>
              </a:spcAft>
              <a:buNone/>
            </a:pPr>
            <a:r>
              <a:rPr b="0" lang="en-US" sz="875">
                <a:solidFill>
                  <a:srgbClr val="5F6B7A"/>
                </a:solidFill>
                <a:latin typeface="Barlow"/>
                <a:ea typeface="Barlow"/>
                <a:cs typeface="Barlow"/>
                <a:sym typeface="Barlow"/>
              </a:rPr>
              <a:t>Local DB · Data Protection </a:t>
            </a:r>
            <a:r>
              <a:rPr b="0" lang="en-US" sz="775">
                <a:solidFill>
                  <a:srgbClr val="5F6B7A"/>
                </a:solidFill>
                <a:latin typeface="Consolas"/>
                <a:ea typeface="Consolas"/>
                <a:cs typeface="Consolas"/>
                <a:sym typeface="Consolas"/>
              </a:rPr>
              <a:t>.complete</a:t>
            </a:r>
            <a:endParaRPr/>
          </a:p>
        </p:txBody>
      </p:sp>
      <p:sp>
        <p:nvSpPr>
          <p:cNvPr id="1931" name="Google Shape;1931;p62"/>
          <p:cNvSpPr/>
          <p:nvPr/>
        </p:nvSpPr>
        <p:spPr>
          <a:xfrm>
            <a:off x="3703320" y="4210812"/>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Room database in app storage</a:t>
            </a:r>
            <a:endParaRPr/>
          </a:p>
          <a:p>
            <a:pPr indent="0" lvl="0" marL="0" marR="0" rtl="0" algn="l">
              <a:lnSpc>
                <a:spcPct val="100000"/>
              </a:lnSpc>
              <a:spcBef>
                <a:spcPts val="200"/>
              </a:spcBef>
              <a:spcAft>
                <a:spcPts val="0"/>
              </a:spcAft>
              <a:buNone/>
            </a:pPr>
            <a:r>
              <a:rPr b="0" lang="en-US" sz="900">
                <a:solidFill>
                  <a:srgbClr val="1F2A37"/>
                </a:solidFill>
                <a:latin typeface="Barlow"/>
                <a:ea typeface="Barlow"/>
                <a:cs typeface="Barlow"/>
                <a:sym typeface="Barlow"/>
              </a:rPr>
              <a:t>Stays readable while the phone is locked, after the first unlock.</a:t>
            </a:r>
            <a:endParaRPr/>
          </a:p>
        </p:txBody>
      </p:sp>
      <p:cxnSp>
        <p:nvCxnSpPr>
          <p:cNvPr id="1932" name="Google Shape;1932;p62"/>
          <p:cNvCxnSpPr>
            <a:stCxn id="1930" idx="3"/>
            <a:endCxn id="1931" idx="1"/>
          </p:cNvCxnSpPr>
          <p:nvPr/>
        </p:nvCxnSpPr>
        <p:spPr>
          <a:xfrm>
            <a:off x="3383280" y="4576572"/>
            <a:ext cx="320100" cy="0"/>
          </a:xfrm>
          <a:prstGeom prst="straightConnector1">
            <a:avLst/>
          </a:prstGeom>
          <a:noFill/>
          <a:ln cap="flat" cmpd="sng" w="15875">
            <a:solidFill>
              <a:srgbClr val="0B2F5B"/>
            </a:solidFill>
            <a:prstDash val="solid"/>
            <a:round/>
            <a:headEnd len="sm" w="sm" type="none"/>
            <a:tailEnd len="med" w="med" type="triangle"/>
          </a:ln>
        </p:spPr>
      </p:cxnSp>
      <p:sp>
        <p:nvSpPr>
          <p:cNvPr id="1933" name="Google Shape;1933;p62"/>
          <p:cNvSpPr/>
          <p:nvPr/>
        </p:nvSpPr>
        <p:spPr>
          <a:xfrm>
            <a:off x="7452360" y="4210812"/>
            <a:ext cx="3977639" cy="731520"/>
          </a:xfrm>
          <a:prstGeom prst="roundRect">
            <a:avLst>
              <a:gd fmla="val 6250" name="adj"/>
            </a:avLst>
          </a:prstGeom>
          <a:solidFill>
            <a:srgbClr val="FFF4E0"/>
          </a:solidFill>
          <a:ln cap="flat" cmpd="sng" w="952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4" name="Google Shape;1934;p62"/>
          <p:cNvSpPr/>
          <p:nvPr/>
        </p:nvSpPr>
        <p:spPr>
          <a:xfrm>
            <a:off x="7562088" y="4255389"/>
            <a:ext cx="376451" cy="173736"/>
          </a:xfrm>
          <a:prstGeom prst="roundRect">
            <a:avLst>
              <a:gd fmla="val 50000" name="adj"/>
            </a:avLst>
          </a:prstGeom>
          <a:solidFill>
            <a:srgbClr val="9A5B0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ADD</a:t>
            </a:r>
            <a:endParaRPr/>
          </a:p>
        </p:txBody>
      </p:sp>
      <p:sp>
        <p:nvSpPr>
          <p:cNvPr id="1935" name="Google Shape;1935;p62"/>
          <p:cNvSpPr txBox="1"/>
          <p:nvPr/>
        </p:nvSpPr>
        <p:spPr>
          <a:xfrm>
            <a:off x="7562088" y="4474845"/>
            <a:ext cx="3758183" cy="44119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9A5B00"/>
                </a:solidFill>
                <a:latin typeface="Barlow"/>
                <a:ea typeface="Barlow"/>
                <a:cs typeface="Barlow"/>
                <a:sym typeface="Barlow"/>
              </a:rPr>
              <a:t>Database encryption with a Keystore key that needs an unlocked device. Documentation advises Android 15+; uploads (A6) would then wait for an unlock. A decision for Qcells security.</a:t>
            </a:r>
            <a:endParaRPr/>
          </a:p>
        </p:txBody>
      </p:sp>
      <p:cxnSp>
        <p:nvCxnSpPr>
          <p:cNvPr id="1936" name="Google Shape;1936;p62"/>
          <p:cNvCxnSpPr>
            <a:stCxn id="1931" idx="3"/>
            <a:endCxn id="1933" idx="1"/>
          </p:cNvCxnSpPr>
          <p:nvPr/>
        </p:nvCxnSpPr>
        <p:spPr>
          <a:xfrm>
            <a:off x="7132320" y="4576572"/>
            <a:ext cx="320100" cy="0"/>
          </a:xfrm>
          <a:prstGeom prst="straightConnector1">
            <a:avLst/>
          </a:prstGeom>
          <a:noFill/>
          <a:ln cap="flat" cmpd="sng" w="15875">
            <a:solidFill>
              <a:srgbClr val="F0A93B"/>
            </a:solidFill>
            <a:prstDash val="solid"/>
            <a:round/>
            <a:headEnd len="sm" w="sm" type="none"/>
            <a:tailEnd len="med" w="med" type="triangle"/>
          </a:ln>
        </p:spPr>
      </p:cxnSp>
      <p:sp>
        <p:nvSpPr>
          <p:cNvPr id="1937" name="Google Shape;1937;p62"/>
          <p:cNvSpPr/>
          <p:nvPr/>
        </p:nvSpPr>
        <p:spPr>
          <a:xfrm>
            <a:off x="457200" y="4992624"/>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ThisDeviceOnly</a:t>
            </a:r>
            <a:endParaRPr/>
          </a:p>
          <a:p>
            <a:pPr indent="0" lvl="0" marL="0" marR="0" rtl="0" algn="l">
              <a:lnSpc>
                <a:spcPct val="100000"/>
              </a:lnSpc>
              <a:spcBef>
                <a:spcPts val="200"/>
              </a:spcBef>
              <a:spcAft>
                <a:spcPts val="0"/>
              </a:spcAft>
              <a:buNone/>
            </a:pPr>
            <a:r>
              <a:rPr b="0" lang="en-US" sz="875">
                <a:solidFill>
                  <a:srgbClr val="5F6B7A"/>
                </a:solidFill>
                <a:latin typeface="Barlow"/>
                <a:ea typeface="Barlow"/>
                <a:cs typeface="Barlow"/>
                <a:sym typeface="Barlow"/>
              </a:rPr>
              <a:t>No iCloud Keychain sync, no backup restore</a:t>
            </a:r>
            <a:endParaRPr/>
          </a:p>
        </p:txBody>
      </p:sp>
      <p:sp>
        <p:nvSpPr>
          <p:cNvPr id="1938" name="Google Shape;1938;p62"/>
          <p:cNvSpPr/>
          <p:nvPr/>
        </p:nvSpPr>
        <p:spPr>
          <a:xfrm>
            <a:off x="3703320" y="4992624"/>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Keystore keys never leave the device</a:t>
            </a:r>
            <a:endParaRPr/>
          </a:p>
          <a:p>
            <a:pPr indent="0" lvl="0" marL="0" marR="0" rtl="0" algn="l">
              <a:lnSpc>
                <a:spcPct val="100000"/>
              </a:lnSpc>
              <a:spcBef>
                <a:spcPts val="200"/>
              </a:spcBef>
              <a:spcAft>
                <a:spcPts val="0"/>
              </a:spcAft>
              <a:buNone/>
            </a:pPr>
            <a:r>
              <a:rPr b="0" lang="en-US" sz="900">
                <a:solidFill>
                  <a:srgbClr val="1F2A37"/>
                </a:solidFill>
                <a:latin typeface="Barlow"/>
                <a:ea typeface="Barlow"/>
                <a:cs typeface="Barlow"/>
                <a:sym typeface="Barlow"/>
              </a:rPr>
              <a:t>But app files join Auto Backup and device transfer by default.</a:t>
            </a:r>
            <a:endParaRPr/>
          </a:p>
        </p:txBody>
      </p:sp>
      <p:cxnSp>
        <p:nvCxnSpPr>
          <p:cNvPr id="1939" name="Google Shape;1939;p62"/>
          <p:cNvCxnSpPr>
            <a:stCxn id="1937" idx="3"/>
            <a:endCxn id="1938" idx="1"/>
          </p:cNvCxnSpPr>
          <p:nvPr/>
        </p:nvCxnSpPr>
        <p:spPr>
          <a:xfrm>
            <a:off x="3383280" y="5358384"/>
            <a:ext cx="320100" cy="0"/>
          </a:xfrm>
          <a:prstGeom prst="straightConnector1">
            <a:avLst/>
          </a:prstGeom>
          <a:noFill/>
          <a:ln cap="flat" cmpd="sng" w="15875">
            <a:solidFill>
              <a:srgbClr val="0B2F5B"/>
            </a:solidFill>
            <a:prstDash val="solid"/>
            <a:round/>
            <a:headEnd len="sm" w="sm" type="none"/>
            <a:tailEnd len="med" w="med" type="triangle"/>
          </a:ln>
        </p:spPr>
      </p:cxnSp>
      <p:sp>
        <p:nvSpPr>
          <p:cNvPr id="1940" name="Google Shape;1940;p62"/>
          <p:cNvSpPr/>
          <p:nvPr/>
        </p:nvSpPr>
        <p:spPr>
          <a:xfrm>
            <a:off x="7452360" y="4992624"/>
            <a:ext cx="3977639" cy="731520"/>
          </a:xfrm>
          <a:prstGeom prst="roundRect">
            <a:avLst>
              <a:gd fmla="val 6250" name="adj"/>
            </a:avLst>
          </a:prstGeom>
          <a:solidFill>
            <a:srgbClr val="FFF4E0"/>
          </a:solidFill>
          <a:ln cap="flat" cmpd="sng" w="952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1" name="Google Shape;1941;p62"/>
          <p:cNvSpPr/>
          <p:nvPr/>
        </p:nvSpPr>
        <p:spPr>
          <a:xfrm>
            <a:off x="7562088" y="5107686"/>
            <a:ext cx="376451" cy="173736"/>
          </a:xfrm>
          <a:prstGeom prst="roundRect">
            <a:avLst>
              <a:gd fmla="val 50000" name="adj"/>
            </a:avLst>
          </a:prstGeom>
          <a:solidFill>
            <a:srgbClr val="9A5B0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ADD</a:t>
            </a:r>
            <a:endParaRPr/>
          </a:p>
        </p:txBody>
      </p:sp>
      <p:sp>
        <p:nvSpPr>
          <p:cNvPr id="1942" name="Google Shape;1942;p62"/>
          <p:cNvSpPr txBox="1"/>
          <p:nvPr/>
        </p:nvSpPr>
        <p:spPr>
          <a:xfrm>
            <a:off x="7562088" y="5327142"/>
            <a:ext cx="3758183" cy="3002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9A5B00"/>
                </a:solidFill>
                <a:latin typeface="Barlow"/>
                <a:ea typeface="Barlow"/>
                <a:cs typeface="Barlow"/>
                <a:sym typeface="Barlow"/>
              </a:rPr>
              <a:t>Backup rules that exclude the database, journal and token files. </a:t>
            </a:r>
            <a:r>
              <a:rPr b="0" lang="en-US" sz="825">
                <a:solidFill>
                  <a:srgbClr val="9A5B00"/>
                </a:solidFill>
                <a:latin typeface="Consolas"/>
                <a:ea typeface="Consolas"/>
                <a:cs typeface="Consolas"/>
                <a:sym typeface="Consolas"/>
              </a:rPr>
              <a:t>allowBackup="false"</a:t>
            </a:r>
            <a:r>
              <a:rPr b="0" lang="en-US" sz="925">
                <a:solidFill>
                  <a:srgbClr val="9A5B00"/>
                </a:solidFill>
                <a:latin typeface="Barlow"/>
                <a:ea typeface="Barlow"/>
                <a:cs typeface="Barlow"/>
                <a:sym typeface="Barlow"/>
              </a:rPr>
              <a:t> alone may not stop device transfer.</a:t>
            </a:r>
            <a:endParaRPr/>
          </a:p>
        </p:txBody>
      </p:sp>
      <p:cxnSp>
        <p:nvCxnSpPr>
          <p:cNvPr id="1943" name="Google Shape;1943;p62"/>
          <p:cNvCxnSpPr>
            <a:stCxn id="1938" idx="3"/>
            <a:endCxn id="1940" idx="1"/>
          </p:cNvCxnSpPr>
          <p:nvPr/>
        </p:nvCxnSpPr>
        <p:spPr>
          <a:xfrm>
            <a:off x="7132320" y="5358384"/>
            <a:ext cx="320100" cy="0"/>
          </a:xfrm>
          <a:prstGeom prst="straightConnector1">
            <a:avLst/>
          </a:prstGeom>
          <a:noFill/>
          <a:ln cap="flat" cmpd="sng" w="15875">
            <a:solidFill>
              <a:srgbClr val="F0A93B"/>
            </a:solidFill>
            <a:prstDash val="solid"/>
            <a:round/>
            <a:headEnd len="sm" w="sm"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p63"/>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09 · TECHNICAL DESIGN (ANDROID) · TEST APPROACH · ANDROID ADDITIONS</a:t>
            </a:r>
            <a:endParaRPr/>
          </a:p>
        </p:txBody>
      </p:sp>
      <p:sp>
        <p:nvSpPr>
          <p:cNvPr id="1950" name="Google Shape;1950;p63"/>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Android adds two test dimensions: OS-version behavior and process death</a:t>
            </a:r>
            <a:endParaRPr/>
          </a:p>
        </p:txBody>
      </p:sp>
      <p:sp>
        <p:nvSpPr>
          <p:cNvPr id="1951" name="Google Shape;1951;p63"/>
          <p:cNvSpPr/>
          <p:nvPr/>
        </p:nvSpPr>
        <p:spPr>
          <a:xfrm>
            <a:off x="457200" y="1234440"/>
            <a:ext cx="3200400" cy="4480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2" name="Google Shape;1952;p63"/>
          <p:cNvSpPr/>
          <p:nvPr/>
        </p:nvSpPr>
        <p:spPr>
          <a:xfrm>
            <a:off x="457200" y="1234440"/>
            <a:ext cx="603504" cy="603504"/>
          </a:xfrm>
          <a:prstGeom prst="rect">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953" name="Google Shape;1953;p63"/>
          <p:cNvPicPr preferRelativeResize="0"/>
          <p:nvPr/>
        </p:nvPicPr>
        <p:blipFill rotWithShape="1">
          <a:blip r:embed="rId3">
            <a:alphaModFix/>
          </a:blip>
          <a:srcRect b="0" l="0" r="0" t="0"/>
          <a:stretch/>
        </p:blipFill>
        <p:spPr>
          <a:xfrm>
            <a:off x="621792" y="1399032"/>
            <a:ext cx="274320" cy="274320"/>
          </a:xfrm>
          <a:prstGeom prst="rect">
            <a:avLst/>
          </a:prstGeom>
          <a:noFill/>
          <a:ln>
            <a:noFill/>
          </a:ln>
        </p:spPr>
      </p:pic>
      <p:sp>
        <p:nvSpPr>
          <p:cNvPr id="1954" name="Google Shape;1954;p63"/>
          <p:cNvSpPr txBox="1"/>
          <p:nvPr/>
        </p:nvSpPr>
        <p:spPr>
          <a:xfrm>
            <a:off x="1188720" y="1298448"/>
            <a:ext cx="2377439"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150">
                <a:solidFill>
                  <a:srgbClr val="0B2F5B"/>
                </a:solidFill>
                <a:latin typeface="Montserrat"/>
                <a:ea typeface="Montserrat"/>
                <a:cs typeface="Montserrat"/>
                <a:sym typeface="Montserrat"/>
              </a:rPr>
              <a:t>Same logic tests</a:t>
            </a:r>
            <a:endParaRPr/>
          </a:p>
        </p:txBody>
      </p:sp>
      <p:sp>
        <p:nvSpPr>
          <p:cNvPr id="1955" name="Google Shape;1955;p63"/>
          <p:cNvSpPr txBox="1"/>
          <p:nvPr/>
        </p:nvSpPr>
        <p:spPr>
          <a:xfrm>
            <a:off x="1188720" y="1554480"/>
            <a:ext cx="237743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25">
                <a:solidFill>
                  <a:srgbClr val="5F6B7A"/>
                </a:solidFill>
                <a:latin typeface="Barlow"/>
                <a:ea typeface="Barlow"/>
                <a:cs typeface="Barlow"/>
                <a:sym typeface="Barlow"/>
              </a:rPr>
              <a:t>Android injection for the T9 mock</a:t>
            </a:r>
            <a:endParaRPr/>
          </a:p>
        </p:txBody>
      </p:sp>
      <p:sp>
        <p:nvSpPr>
          <p:cNvPr id="1956" name="Google Shape;1956;p63"/>
          <p:cNvSpPr/>
          <p:nvPr/>
        </p:nvSpPr>
        <p:spPr>
          <a:xfrm>
            <a:off x="3749039" y="1234440"/>
            <a:ext cx="3749039" cy="4480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7" name="Google Shape;1957;p63"/>
          <p:cNvSpPr/>
          <p:nvPr/>
        </p:nvSpPr>
        <p:spPr>
          <a:xfrm>
            <a:off x="3749039" y="1234440"/>
            <a:ext cx="603504" cy="603504"/>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2200">
                <a:solidFill>
                  <a:srgbClr val="FFFFFF"/>
                </a:solidFill>
                <a:latin typeface="Montserrat"/>
                <a:ea typeface="Montserrat"/>
                <a:cs typeface="Montserrat"/>
                <a:sym typeface="Montserrat"/>
              </a:rPr>
              <a:t>7</a:t>
            </a:r>
            <a:endParaRPr/>
          </a:p>
        </p:txBody>
      </p:sp>
      <p:sp>
        <p:nvSpPr>
          <p:cNvPr id="1958" name="Google Shape;1958;p63"/>
          <p:cNvSpPr txBox="1"/>
          <p:nvPr/>
        </p:nvSpPr>
        <p:spPr>
          <a:xfrm>
            <a:off x="4480559" y="1298448"/>
            <a:ext cx="2926079"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150">
                <a:solidFill>
                  <a:srgbClr val="0B2F5B"/>
                </a:solidFill>
                <a:latin typeface="Montserrat"/>
                <a:ea typeface="Montserrat"/>
                <a:cs typeface="Montserrat"/>
                <a:sym typeface="Montserrat"/>
              </a:rPr>
              <a:t>Android-only scenarios</a:t>
            </a:r>
            <a:endParaRPr/>
          </a:p>
        </p:txBody>
      </p:sp>
      <p:sp>
        <p:nvSpPr>
          <p:cNvPr id="1959" name="Google Shape;1959;p63"/>
          <p:cNvSpPr txBox="1"/>
          <p:nvPr/>
        </p:nvSpPr>
        <p:spPr>
          <a:xfrm>
            <a:off x="4480559" y="1554480"/>
            <a:ext cx="292607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25">
                <a:solidFill>
                  <a:srgbClr val="5F6B7A"/>
                </a:solidFill>
                <a:latin typeface="Barlow"/>
                <a:ea typeface="Barlow"/>
                <a:cs typeface="Barlow"/>
                <a:sym typeface="Barlow"/>
              </a:rPr>
              <a:t>Lifecycle, permissions, Wi-Fi dialog, restart</a:t>
            </a:r>
            <a:endParaRPr/>
          </a:p>
        </p:txBody>
      </p:sp>
      <p:sp>
        <p:nvSpPr>
          <p:cNvPr id="1960" name="Google Shape;1960;p63"/>
          <p:cNvSpPr/>
          <p:nvPr/>
        </p:nvSpPr>
        <p:spPr>
          <a:xfrm>
            <a:off x="7589520" y="1234440"/>
            <a:ext cx="3840480" cy="4480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1" name="Google Shape;1961;p63"/>
          <p:cNvSpPr/>
          <p:nvPr/>
        </p:nvSpPr>
        <p:spPr>
          <a:xfrm>
            <a:off x="7589520" y="1234440"/>
            <a:ext cx="603504" cy="603504"/>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2200">
                <a:solidFill>
                  <a:srgbClr val="FFFFFF"/>
                </a:solidFill>
                <a:latin typeface="Montserrat"/>
                <a:ea typeface="Montserrat"/>
                <a:cs typeface="Montserrat"/>
                <a:sym typeface="Montserrat"/>
              </a:rPr>
              <a:t>6</a:t>
            </a:r>
            <a:endParaRPr/>
          </a:p>
        </p:txBody>
      </p:sp>
      <p:sp>
        <p:nvSpPr>
          <p:cNvPr id="1962" name="Google Shape;1962;p63"/>
          <p:cNvSpPr txBox="1"/>
          <p:nvPr/>
        </p:nvSpPr>
        <p:spPr>
          <a:xfrm>
            <a:off x="8321040" y="1298448"/>
            <a:ext cx="3017519"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150">
                <a:solidFill>
                  <a:srgbClr val="0B2F5B"/>
                </a:solidFill>
                <a:latin typeface="Montserrat"/>
                <a:ea typeface="Montserrat"/>
                <a:cs typeface="Montserrat"/>
                <a:sym typeface="Montserrat"/>
              </a:rPr>
              <a:t>OS bands on the bench</a:t>
            </a:r>
            <a:endParaRPr/>
          </a:p>
        </p:txBody>
      </p:sp>
      <p:sp>
        <p:nvSpPr>
          <p:cNvPr id="1963" name="Google Shape;1963;p63"/>
          <p:cNvSpPr txBox="1"/>
          <p:nvPr/>
        </p:nvSpPr>
        <p:spPr>
          <a:xfrm>
            <a:off x="8321040" y="1554480"/>
            <a:ext cx="301751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25">
                <a:solidFill>
                  <a:srgbClr val="5F6B7A"/>
                </a:solidFill>
                <a:latin typeface="Barlow"/>
                <a:ea typeface="Barlow"/>
                <a:cs typeface="Barlow"/>
                <a:sym typeface="Barlow"/>
              </a:rPr>
              <a:t>One phone per band, at least</a:t>
            </a:r>
            <a:endParaRPr/>
          </a:p>
        </p:txBody>
      </p:sp>
      <p:sp>
        <p:nvSpPr>
          <p:cNvPr id="1964" name="Google Shape;1964;p63"/>
          <p:cNvSpPr/>
          <p:nvPr/>
        </p:nvSpPr>
        <p:spPr>
          <a:xfrm>
            <a:off x="731520" y="2011680"/>
            <a:ext cx="2651760" cy="512064"/>
          </a:xfrm>
          <a:prstGeom prst="roundRect">
            <a:avLst>
              <a:gd fmla="val 10714"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App under test</a:t>
            </a:r>
            <a:endParaRPr/>
          </a:p>
          <a:p>
            <a:pPr indent="0" lvl="0" marL="0" marR="0" rtl="0" algn="ctr">
              <a:lnSpc>
                <a:spcPct val="100000"/>
              </a:lnSpc>
              <a:spcBef>
                <a:spcPts val="150"/>
              </a:spcBef>
              <a:spcAft>
                <a:spcPts val="0"/>
              </a:spcAft>
              <a:buNone/>
            </a:pPr>
            <a:r>
              <a:rPr b="0" lang="en-US" sz="900">
                <a:solidFill>
                  <a:srgbClr val="5F6B7A"/>
                </a:solidFill>
                <a:latin typeface="Barlow"/>
                <a:ea typeface="Barlow"/>
                <a:cs typeface="Barlow"/>
                <a:sym typeface="Barlow"/>
              </a:rPr>
              <a:t>JVM or emulator</a:t>
            </a:r>
            <a:endParaRPr/>
          </a:p>
        </p:txBody>
      </p:sp>
      <p:sp>
        <p:nvSpPr>
          <p:cNvPr id="1965" name="Google Shape;1965;p63"/>
          <p:cNvSpPr/>
          <p:nvPr/>
        </p:nvSpPr>
        <p:spPr>
          <a:xfrm>
            <a:off x="731520" y="2743200"/>
            <a:ext cx="2651760" cy="512064"/>
          </a:xfrm>
          <a:prstGeom prst="roundRect">
            <a:avLst>
              <a:gd fmla="val 10714" name="adj"/>
            </a:avLst>
          </a:prstGeom>
          <a:solidFill>
            <a:srgbClr val="0B2F5B"/>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FFFFFF"/>
                </a:solidFill>
                <a:latin typeface="Consolas"/>
                <a:ea typeface="Consolas"/>
                <a:cs typeface="Consolas"/>
                <a:sym typeface="Consolas"/>
              </a:rPr>
              <a:t>BLETransport</a:t>
            </a:r>
            <a:endParaRPr/>
          </a:p>
          <a:p>
            <a:pPr indent="0" lvl="0" marL="0" marR="0" rtl="0" algn="ctr">
              <a:lnSpc>
                <a:spcPct val="100000"/>
              </a:lnSpc>
              <a:spcBef>
                <a:spcPts val="150"/>
              </a:spcBef>
              <a:spcAft>
                <a:spcPts val="0"/>
              </a:spcAft>
              <a:buNone/>
            </a:pPr>
            <a:r>
              <a:rPr b="0" lang="en-US" sz="900">
                <a:solidFill>
                  <a:srgbClr val="A9C7EA"/>
                </a:solidFill>
                <a:latin typeface="Barlow"/>
                <a:ea typeface="Barlow"/>
                <a:cs typeface="Barlow"/>
                <a:sym typeface="Barlow"/>
              </a:rPr>
              <a:t>Interface</a:t>
            </a:r>
            <a:endParaRPr/>
          </a:p>
        </p:txBody>
      </p:sp>
      <p:sp>
        <p:nvSpPr>
          <p:cNvPr id="1966" name="Google Shape;1966;p63"/>
          <p:cNvSpPr/>
          <p:nvPr/>
        </p:nvSpPr>
        <p:spPr>
          <a:xfrm>
            <a:off x="731520" y="3474720"/>
            <a:ext cx="2651760" cy="512064"/>
          </a:xfrm>
          <a:prstGeom prst="roundRect">
            <a:avLst>
              <a:gd fmla="val 10714" name="adj"/>
            </a:avLst>
          </a:prstGeom>
          <a:solidFill>
            <a:srgbClr val="E6F4EA"/>
          </a:solidFill>
          <a:ln cap="flat" cmpd="sng" w="12700">
            <a:solidFill>
              <a:srgbClr val="8CC9A6"/>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1E7B4F"/>
                </a:solidFill>
                <a:latin typeface="Montserrat"/>
                <a:ea typeface="Montserrat"/>
                <a:cs typeface="Montserrat"/>
                <a:sym typeface="Montserrat"/>
              </a:rPr>
              <a:t>Fake transport</a:t>
            </a:r>
            <a:endParaRPr/>
          </a:p>
          <a:p>
            <a:pPr indent="0" lvl="0" marL="0" marR="0" rtl="0" algn="ctr">
              <a:lnSpc>
                <a:spcPct val="100000"/>
              </a:lnSpc>
              <a:spcBef>
                <a:spcPts val="150"/>
              </a:spcBef>
              <a:spcAft>
                <a:spcPts val="0"/>
              </a:spcAft>
              <a:buNone/>
            </a:pPr>
            <a:r>
              <a:rPr b="0" lang="en-US" sz="900">
                <a:solidFill>
                  <a:srgbClr val="1E7B4F"/>
                </a:solidFill>
                <a:latin typeface="Barlow"/>
                <a:ea typeface="Barlow"/>
                <a:cs typeface="Barlow"/>
                <a:sym typeface="Barlow"/>
              </a:rPr>
              <a:t>Virtual device data dictionary</a:t>
            </a:r>
            <a:endParaRPr/>
          </a:p>
        </p:txBody>
      </p:sp>
      <p:cxnSp>
        <p:nvCxnSpPr>
          <p:cNvPr id="1967" name="Google Shape;1967;p63"/>
          <p:cNvCxnSpPr>
            <a:stCxn id="1964" idx="2"/>
            <a:endCxn id="1965" idx="0"/>
          </p:cNvCxnSpPr>
          <p:nvPr/>
        </p:nvCxnSpPr>
        <p:spPr>
          <a:xfrm>
            <a:off x="2057400" y="2523744"/>
            <a:ext cx="0" cy="219600"/>
          </a:xfrm>
          <a:prstGeom prst="straightConnector1">
            <a:avLst/>
          </a:prstGeom>
          <a:noFill/>
          <a:ln cap="flat" cmpd="sng" w="15875">
            <a:solidFill>
              <a:srgbClr val="0B2F5B"/>
            </a:solidFill>
            <a:prstDash val="solid"/>
            <a:round/>
            <a:headEnd len="sm" w="sm" type="none"/>
            <a:tailEnd len="med" w="med" type="triangle"/>
          </a:ln>
        </p:spPr>
      </p:cxnSp>
      <p:cxnSp>
        <p:nvCxnSpPr>
          <p:cNvPr id="1968" name="Google Shape;1968;p63"/>
          <p:cNvCxnSpPr>
            <a:stCxn id="1965" idx="2"/>
            <a:endCxn id="1966" idx="0"/>
          </p:cNvCxnSpPr>
          <p:nvPr/>
        </p:nvCxnSpPr>
        <p:spPr>
          <a:xfrm>
            <a:off x="2057400" y="3255264"/>
            <a:ext cx="0" cy="219600"/>
          </a:xfrm>
          <a:prstGeom prst="straightConnector1">
            <a:avLst/>
          </a:prstGeom>
          <a:noFill/>
          <a:ln cap="flat" cmpd="sng" w="15875">
            <a:solidFill>
              <a:srgbClr val="1E7B4F"/>
            </a:solidFill>
            <a:prstDash val="solid"/>
            <a:round/>
            <a:headEnd len="sm" w="sm" type="none"/>
            <a:tailEnd len="med" w="med" type="triangle"/>
          </a:ln>
        </p:spPr>
      </p:cxnSp>
      <p:sp>
        <p:nvSpPr>
          <p:cNvPr id="1969" name="Google Shape;1969;p63"/>
          <p:cNvSpPr txBox="1"/>
          <p:nvPr/>
        </p:nvSpPr>
        <p:spPr>
          <a:xfrm>
            <a:off x="640080" y="4206240"/>
            <a:ext cx="2834640" cy="1417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Injection  </a:t>
            </a:r>
            <a:r>
              <a:rPr b="0" lang="en-US" sz="925">
                <a:solidFill>
                  <a:srgbClr val="1F2A37"/>
                </a:solidFill>
                <a:latin typeface="Barlow"/>
                <a:ea typeface="Barlow"/>
                <a:cs typeface="Barlow"/>
                <a:sym typeface="Barlow"/>
              </a:rPr>
              <a:t>a Hilt test module, where iOS uses a launch argument.</a:t>
            </a:r>
            <a:endParaRPr/>
          </a:p>
          <a:p>
            <a:pPr indent="0" lvl="0" marL="0" marR="0" rtl="0" algn="l">
              <a:lnSpc>
                <a:spcPct val="100000"/>
              </a:lnSpc>
              <a:spcBef>
                <a:spcPts val="500"/>
              </a:spcBef>
              <a:spcAft>
                <a:spcPts val="0"/>
              </a:spcAft>
              <a:buNone/>
            </a:pPr>
            <a:r>
              <a:rPr b="1" lang="en-US" sz="925">
                <a:solidFill>
                  <a:srgbClr val="0B2F5B"/>
                </a:solidFill>
                <a:latin typeface="Barlow"/>
                <a:ea typeface="Barlow"/>
                <a:cs typeface="Barlow"/>
                <a:sym typeface="Barlow"/>
              </a:rPr>
              <a:t>Scenarios  </a:t>
            </a:r>
            <a:r>
              <a:rPr b="0" lang="en-US" sz="925">
                <a:solidFill>
                  <a:srgbClr val="1F2A37"/>
                </a:solidFill>
                <a:latin typeface="Barlow"/>
                <a:ea typeface="Barlow"/>
                <a:cs typeface="Barlow"/>
                <a:sym typeface="Barlow"/>
              </a:rPr>
              <a:t>UT-01 to UT-07 run unchanged.</a:t>
            </a:r>
            <a:endParaRPr/>
          </a:p>
          <a:p>
            <a:pPr indent="0" lvl="0" marL="0" marR="0" rtl="0" algn="l">
              <a:lnSpc>
                <a:spcPct val="100000"/>
              </a:lnSpc>
              <a:spcBef>
                <a:spcPts val="500"/>
              </a:spcBef>
              <a:spcAft>
                <a:spcPts val="0"/>
              </a:spcAft>
              <a:buNone/>
            </a:pPr>
            <a:r>
              <a:rPr b="1" lang="en-US" sz="925">
                <a:solidFill>
                  <a:srgbClr val="0B2F5B"/>
                </a:solidFill>
                <a:latin typeface="Barlow"/>
                <a:ea typeface="Barlow"/>
                <a:cs typeface="Barlow"/>
                <a:sym typeface="Barlow"/>
              </a:rPr>
              <a:t>Faults  </a:t>
            </a:r>
            <a:r>
              <a:rPr b="0" lang="en-US" sz="925">
                <a:solidFill>
                  <a:srgbClr val="1F2A37"/>
                </a:solidFill>
                <a:latin typeface="Barlow"/>
                <a:ea typeface="Barlow"/>
                <a:cs typeface="Barlow"/>
                <a:sym typeface="Barlow"/>
              </a:rPr>
              <a:t>delay, no response, disconnect, as in T9.</a:t>
            </a:r>
            <a:endParaRPr/>
          </a:p>
          <a:p>
            <a:pPr indent="0" lvl="0" marL="0" marR="0" rtl="0" algn="l">
              <a:lnSpc>
                <a:spcPct val="100000"/>
              </a:lnSpc>
              <a:spcBef>
                <a:spcPts val="500"/>
              </a:spcBef>
              <a:spcAft>
                <a:spcPts val="0"/>
              </a:spcAft>
              <a:buNone/>
            </a:pPr>
            <a:r>
              <a:rPr b="1" lang="en-US" sz="925">
                <a:solidFill>
                  <a:srgbClr val="0B2F5B"/>
                </a:solidFill>
                <a:latin typeface="Barlow"/>
                <a:ea typeface="Barlow"/>
                <a:cs typeface="Barlow"/>
                <a:sym typeface="Barlow"/>
              </a:rPr>
              <a:t>Process death  </a:t>
            </a:r>
            <a:r>
              <a:rPr b="0" lang="en-US" sz="925">
                <a:solidFill>
                  <a:srgbClr val="1F2A37"/>
                </a:solidFill>
                <a:latin typeface="Barlow"/>
                <a:ea typeface="Barlow"/>
                <a:cs typeface="Barlow"/>
                <a:sym typeface="Barlow"/>
              </a:rPr>
              <a:t>a debug-only hook ends the process at a chosen step.</a:t>
            </a:r>
            <a:endParaRPr/>
          </a:p>
        </p:txBody>
      </p:sp>
      <p:sp>
        <p:nvSpPr>
          <p:cNvPr id="1970" name="Google Shape;1970;p63"/>
          <p:cNvSpPr/>
          <p:nvPr/>
        </p:nvSpPr>
        <p:spPr>
          <a:xfrm>
            <a:off x="3886200" y="201168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AT-01</a:t>
            </a:r>
            <a:endParaRPr/>
          </a:p>
        </p:txBody>
      </p:sp>
      <p:sp>
        <p:nvSpPr>
          <p:cNvPr id="1971" name="Google Shape;1971;p63"/>
          <p:cNvSpPr txBox="1"/>
          <p:nvPr/>
        </p:nvSpPr>
        <p:spPr>
          <a:xfrm>
            <a:off x="4553712" y="195681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Permission permanently denied</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a:t>
            </a:r>
            <a:r>
              <a:rPr b="1" lang="en-US" sz="950">
                <a:solidFill>
                  <a:srgbClr val="0B2F5B"/>
                </a:solidFill>
                <a:latin typeface="Barlow"/>
                <a:ea typeface="Barlow"/>
                <a:cs typeface="Barlow"/>
                <a:sym typeface="Barlow"/>
              </a:rPr>
              <a:t>gate links to app settings</a:t>
            </a:r>
            <a:endParaRPr/>
          </a:p>
        </p:txBody>
      </p:sp>
      <p:sp>
        <p:nvSpPr>
          <p:cNvPr id="1972" name="Google Shape;1972;p63"/>
          <p:cNvSpPr/>
          <p:nvPr/>
        </p:nvSpPr>
        <p:spPr>
          <a:xfrm>
            <a:off x="3886200" y="253746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AT-02</a:t>
            </a:r>
            <a:endParaRPr/>
          </a:p>
        </p:txBody>
      </p:sp>
      <p:sp>
        <p:nvSpPr>
          <p:cNvPr id="1973" name="Google Shape;1973;p63"/>
          <p:cNvSpPr txBox="1"/>
          <p:nvPr/>
        </p:nvSpPr>
        <p:spPr>
          <a:xfrm>
            <a:off x="4553712" y="248259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Bluetooth switched off mid-session</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a:t>
            </a:r>
            <a:r>
              <a:rPr b="1" lang="en-US" sz="950">
                <a:solidFill>
                  <a:srgbClr val="0B2F5B"/>
                </a:solidFill>
                <a:latin typeface="Barlow"/>
                <a:ea typeface="Barlow"/>
                <a:cs typeface="Barlow"/>
                <a:sym typeface="Barlow"/>
              </a:rPr>
              <a:t>lock released, reconnect path</a:t>
            </a:r>
            <a:endParaRPr/>
          </a:p>
        </p:txBody>
      </p:sp>
      <p:sp>
        <p:nvSpPr>
          <p:cNvPr id="1974" name="Google Shape;1974;p63"/>
          <p:cNvSpPr/>
          <p:nvPr/>
        </p:nvSpPr>
        <p:spPr>
          <a:xfrm>
            <a:off x="3886200" y="306324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AT-03</a:t>
            </a:r>
            <a:endParaRPr/>
          </a:p>
        </p:txBody>
      </p:sp>
      <p:sp>
        <p:nvSpPr>
          <p:cNvPr id="1975" name="Google Shape;1975;p63"/>
          <p:cNvSpPr txBox="1"/>
          <p:nvPr/>
        </p:nvSpPr>
        <p:spPr>
          <a:xfrm>
            <a:off x="4553712" y="300837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Rotation during bulk read</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a:t>
            </a:r>
            <a:r>
              <a:rPr b="1" lang="en-US" sz="950">
                <a:solidFill>
                  <a:srgbClr val="0B2F5B"/>
                </a:solidFill>
                <a:latin typeface="Barlow"/>
                <a:ea typeface="Barlow"/>
                <a:cs typeface="Barlow"/>
                <a:sym typeface="Barlow"/>
              </a:rPr>
              <a:t>lock and session unaffected</a:t>
            </a:r>
            <a:endParaRPr/>
          </a:p>
        </p:txBody>
      </p:sp>
      <p:sp>
        <p:nvSpPr>
          <p:cNvPr id="1976" name="Google Shape;1976;p63"/>
          <p:cNvSpPr/>
          <p:nvPr/>
        </p:nvSpPr>
        <p:spPr>
          <a:xfrm>
            <a:off x="3886200" y="358902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AT-04</a:t>
            </a:r>
            <a:endParaRPr/>
          </a:p>
        </p:txBody>
      </p:sp>
      <p:sp>
        <p:nvSpPr>
          <p:cNvPr id="1977" name="Google Shape;1977;p63"/>
          <p:cNvSpPr txBox="1"/>
          <p:nvPr/>
        </p:nvSpPr>
        <p:spPr>
          <a:xfrm>
            <a:off x="4553712" y="353415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Process killed during Apply</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a:t>
            </a:r>
            <a:r>
              <a:rPr b="1" lang="en-US" sz="950">
                <a:solidFill>
                  <a:srgbClr val="0B2F5B"/>
                </a:solidFill>
                <a:latin typeface="Barlow"/>
                <a:ea typeface="Barlow"/>
                <a:cs typeface="Barlow"/>
                <a:sym typeface="Barlow"/>
              </a:rPr>
              <a:t>marker, then read-back on relaunch</a:t>
            </a:r>
            <a:endParaRPr/>
          </a:p>
        </p:txBody>
      </p:sp>
      <p:sp>
        <p:nvSpPr>
          <p:cNvPr id="1978" name="Google Shape;1978;p63"/>
          <p:cNvSpPr/>
          <p:nvPr/>
        </p:nvSpPr>
        <p:spPr>
          <a:xfrm>
            <a:off x="3886200" y="411480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AT-05</a:t>
            </a:r>
            <a:endParaRPr/>
          </a:p>
        </p:txBody>
      </p:sp>
      <p:sp>
        <p:nvSpPr>
          <p:cNvPr id="1979" name="Google Shape;1979;p63"/>
          <p:cNvSpPr txBox="1"/>
          <p:nvPr/>
        </p:nvSpPr>
        <p:spPr>
          <a:xfrm>
            <a:off x="4553712" y="405993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Process killed during flash</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a:t>
            </a:r>
            <a:r>
              <a:rPr b="1" lang="en-US" sz="950">
                <a:solidFill>
                  <a:srgbClr val="0B2F5B"/>
                </a:solidFill>
                <a:latin typeface="Barlow"/>
                <a:ea typeface="Barlow"/>
                <a:cs typeface="Barlow"/>
                <a:sym typeface="Barlow"/>
              </a:rPr>
              <a:t>FW marker, version read-back</a:t>
            </a:r>
            <a:endParaRPr/>
          </a:p>
        </p:txBody>
      </p:sp>
      <p:sp>
        <p:nvSpPr>
          <p:cNvPr id="1980" name="Google Shape;1980;p63"/>
          <p:cNvSpPr/>
          <p:nvPr/>
        </p:nvSpPr>
        <p:spPr>
          <a:xfrm>
            <a:off x="3886200" y="464058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AT-06</a:t>
            </a:r>
            <a:endParaRPr/>
          </a:p>
        </p:txBody>
      </p:sp>
      <p:sp>
        <p:nvSpPr>
          <p:cNvPr id="1981" name="Google Shape;1981;p63"/>
          <p:cNvSpPr txBox="1"/>
          <p:nvPr/>
        </p:nvSpPr>
        <p:spPr>
          <a:xfrm>
            <a:off x="4553712" y="458571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Wi-Fi approval dialog declined</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a:t>
            </a:r>
            <a:r>
              <a:rPr b="1" lang="en-US" sz="950">
                <a:solidFill>
                  <a:srgbClr val="0B2F5B"/>
                </a:solidFill>
                <a:latin typeface="Barlow"/>
                <a:ea typeface="Barlow"/>
                <a:cs typeface="Barlow"/>
                <a:sym typeface="Barlow"/>
              </a:rPr>
              <a:t>retry once, then new wake-up</a:t>
            </a:r>
            <a:endParaRPr/>
          </a:p>
        </p:txBody>
      </p:sp>
      <p:sp>
        <p:nvSpPr>
          <p:cNvPr id="1982" name="Google Shape;1982;p63"/>
          <p:cNvSpPr/>
          <p:nvPr/>
        </p:nvSpPr>
        <p:spPr>
          <a:xfrm>
            <a:off x="3886200" y="516636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AT-07</a:t>
            </a:r>
            <a:endParaRPr/>
          </a:p>
        </p:txBody>
      </p:sp>
      <p:sp>
        <p:nvSpPr>
          <p:cNvPr id="1983" name="Google Shape;1983;p63"/>
          <p:cNvSpPr txBox="1"/>
          <p:nvPr/>
        </p:nvSpPr>
        <p:spPr>
          <a:xfrm>
            <a:off x="4553712" y="511149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Phone restarted with unsynced changes</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a:t>
            </a:r>
            <a:r>
              <a:rPr b="1" lang="en-US" sz="950">
                <a:solidFill>
                  <a:srgbClr val="0B2F5B"/>
                </a:solidFill>
                <a:latin typeface="Barlow"/>
                <a:ea typeface="Barlow"/>
                <a:cs typeface="Barlow"/>
                <a:sym typeface="Barlow"/>
              </a:rPr>
              <a:t>upload after unlock, no duplicates</a:t>
            </a:r>
            <a:endParaRPr/>
          </a:p>
        </p:txBody>
      </p:sp>
      <p:sp>
        <p:nvSpPr>
          <p:cNvPr id="1984" name="Google Shape;1984;p63"/>
          <p:cNvSpPr/>
          <p:nvPr/>
        </p:nvSpPr>
        <p:spPr>
          <a:xfrm>
            <a:off x="7726680" y="1975104"/>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11 and lower</a:t>
            </a:r>
            <a:endParaRPr/>
          </a:p>
        </p:txBody>
      </p:sp>
      <p:sp>
        <p:nvSpPr>
          <p:cNvPr id="1985" name="Google Shape;1985;p63"/>
          <p:cNvSpPr/>
          <p:nvPr/>
        </p:nvSpPr>
        <p:spPr>
          <a:xfrm>
            <a:off x="8961120" y="1975104"/>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Location permission path for the BLE scan</a:t>
            </a:r>
            <a:endParaRPr/>
          </a:p>
        </p:txBody>
      </p:sp>
      <p:sp>
        <p:nvSpPr>
          <p:cNvPr id="1986" name="Google Shape;1986;p63"/>
          <p:cNvSpPr/>
          <p:nvPr/>
        </p:nvSpPr>
        <p:spPr>
          <a:xfrm>
            <a:off x="7726680" y="2450592"/>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12</a:t>
            </a:r>
            <a:endParaRPr/>
          </a:p>
        </p:txBody>
      </p:sp>
      <p:sp>
        <p:nvSpPr>
          <p:cNvPr id="1987" name="Google Shape;1987;p63"/>
          <p:cNvSpPr/>
          <p:nvPr/>
        </p:nvSpPr>
        <p:spPr>
          <a:xfrm>
            <a:off x="8961120" y="2450592"/>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Nearby devices permission</a:t>
            </a:r>
            <a:endParaRPr/>
          </a:p>
        </p:txBody>
      </p:sp>
      <p:sp>
        <p:nvSpPr>
          <p:cNvPr id="1988" name="Google Shape;1988;p63"/>
          <p:cNvSpPr/>
          <p:nvPr/>
        </p:nvSpPr>
        <p:spPr>
          <a:xfrm>
            <a:off x="7726680" y="2926080"/>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13</a:t>
            </a:r>
            <a:endParaRPr/>
          </a:p>
        </p:txBody>
      </p:sp>
      <p:sp>
        <p:nvSpPr>
          <p:cNvPr id="1989" name="Google Shape;1989;p63"/>
          <p:cNvSpPr/>
          <p:nvPr/>
        </p:nvSpPr>
        <p:spPr>
          <a:xfrm>
            <a:off x="8961120" y="2926080"/>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Notification permission; new GATT calls (API 33)</a:t>
            </a:r>
            <a:endParaRPr/>
          </a:p>
        </p:txBody>
      </p:sp>
      <p:sp>
        <p:nvSpPr>
          <p:cNvPr id="1990" name="Google Shape;1990;p63"/>
          <p:cNvSpPr/>
          <p:nvPr/>
        </p:nvSpPr>
        <p:spPr>
          <a:xfrm>
            <a:off x="7726680" y="3401568"/>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14</a:t>
            </a:r>
            <a:endParaRPr/>
          </a:p>
        </p:txBody>
      </p:sp>
      <p:sp>
        <p:nvSpPr>
          <p:cNvPr id="1991" name="Google Shape;1991;p63"/>
          <p:cNvSpPr/>
          <p:nvPr/>
        </p:nvSpPr>
        <p:spPr>
          <a:xfrm>
            <a:off x="8961120" y="3401568"/>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Service type declared; MTU request is always 517</a:t>
            </a:r>
            <a:endParaRPr/>
          </a:p>
        </p:txBody>
      </p:sp>
      <p:sp>
        <p:nvSpPr>
          <p:cNvPr id="1992" name="Google Shape;1992;p63"/>
          <p:cNvSpPr/>
          <p:nvPr/>
        </p:nvSpPr>
        <p:spPr>
          <a:xfrm>
            <a:off x="7726680" y="3877056"/>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15</a:t>
            </a:r>
            <a:endParaRPr/>
          </a:p>
        </p:txBody>
      </p:sp>
      <p:sp>
        <p:nvSpPr>
          <p:cNvPr id="1993" name="Google Shape;1993;p63"/>
          <p:cNvSpPr/>
          <p:nvPr/>
        </p:nvSpPr>
        <p:spPr>
          <a:xfrm>
            <a:off x="8961120" y="3877056"/>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Unlocked-device key, if adopted (A7)</a:t>
            </a:r>
            <a:endParaRPr/>
          </a:p>
        </p:txBody>
      </p:sp>
      <p:sp>
        <p:nvSpPr>
          <p:cNvPr id="1994" name="Google Shape;1994;p63"/>
          <p:cNvSpPr/>
          <p:nvPr/>
        </p:nvSpPr>
        <p:spPr>
          <a:xfrm>
            <a:off x="7726680" y="4352544"/>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16</a:t>
            </a:r>
            <a:endParaRPr/>
          </a:p>
        </p:txBody>
      </p:sp>
      <p:sp>
        <p:nvSpPr>
          <p:cNvPr id="1995" name="Google Shape;1995;p63"/>
          <p:cNvSpPr/>
          <p:nvPr/>
        </p:nvSpPr>
        <p:spPr>
          <a:xfrm>
            <a:off x="8961120" y="4352544"/>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Large screens ignore orientation locks (A5)</a:t>
            </a:r>
            <a:endParaRPr/>
          </a:p>
        </p:txBody>
      </p:sp>
      <p:sp>
        <p:nvSpPr>
          <p:cNvPr id="1996" name="Google Shape;1996;p63"/>
          <p:cNvSpPr txBox="1"/>
          <p:nvPr/>
        </p:nvSpPr>
        <p:spPr>
          <a:xfrm>
            <a:off x="7726680" y="4864607"/>
            <a:ext cx="35661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1" lang="en-US" sz="900">
                <a:solidFill>
                  <a:srgbClr val="C0392B"/>
                </a:solidFill>
                <a:latin typeface="Barlow"/>
                <a:ea typeface="Barlow"/>
                <a:cs typeface="Barlow"/>
                <a:sym typeface="Barlow"/>
              </a:rPr>
              <a:t>[Phone models per band: to agree with Qcells, from fleet data]</a:t>
            </a:r>
            <a:endParaRPr/>
          </a:p>
        </p:txBody>
      </p:sp>
      <p:sp>
        <p:nvSpPr>
          <p:cNvPr id="1997" name="Google Shape;1997;p63"/>
          <p:cNvSpPr txBox="1"/>
          <p:nvPr/>
        </p:nvSpPr>
        <p:spPr>
          <a:xfrm>
            <a:off x="7726680" y="5157216"/>
            <a:ext cx="35661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Bench  </a:t>
            </a:r>
            <a:r>
              <a:rPr b="0" lang="en-US" sz="925">
                <a:solidFill>
                  <a:srgbClr val="1F2A37"/>
                </a:solidFill>
                <a:latin typeface="Barlow"/>
                <a:ea typeface="Barlow"/>
                <a:cs typeface="Barlow"/>
                <a:sym typeface="Barlow"/>
              </a:rPr>
              <a:t>the hardware bench of T9, with Android phones added to the phone farm.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2" name="Shape 2002"/>
        <p:cNvGrpSpPr/>
        <p:nvPr/>
      </p:nvGrpSpPr>
      <p:grpSpPr>
        <a:xfrm>
          <a:off x="0" y="0"/>
          <a:ext cx="0" cy="0"/>
          <a:chOff x="0" y="0"/>
          <a:chExt cx="0" cy="0"/>
        </a:xfrm>
      </p:grpSpPr>
      <p:sp>
        <p:nvSpPr>
          <p:cNvPr id="2003" name="Google Shape;2003;p64"/>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b="1" lang="en-US" sz="825">
                <a:solidFill>
                  <a:srgbClr val="1867DC"/>
                </a:solidFill>
                <a:latin typeface="Montserrat"/>
                <a:ea typeface="Montserrat"/>
                <a:cs typeface="Montserrat"/>
                <a:sym typeface="Montserrat"/>
              </a:rPr>
              <a:t>09 · TECHNICAL DESIGN (ANDROID) · ANDROID ASSUMPTIONS, TRADE-OFFS, RISKS AND OPEN QUESTIONS</a:t>
            </a:r>
            <a:endParaRPr/>
          </a:p>
        </p:txBody>
      </p:sp>
      <p:sp>
        <p:nvSpPr>
          <p:cNvPr id="2004" name="Google Shape;2004;p64"/>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b="1" lang="en-US" sz="2000">
                <a:solidFill>
                  <a:srgbClr val="0B2F5B"/>
                </a:solidFill>
                <a:latin typeface="Montserrat"/>
                <a:ea typeface="Montserrat"/>
                <a:cs typeface="Montserrat"/>
                <a:sym typeface="Montserrat"/>
              </a:rPr>
              <a:t>What we assumed for Android, what we traded off, and what we ask Qcells first</a:t>
            </a:r>
            <a:endParaRPr/>
          </a:p>
        </p:txBody>
      </p:sp>
      <p:sp>
        <p:nvSpPr>
          <p:cNvPr id="2005" name="Google Shape;2005;p64"/>
          <p:cNvSpPr/>
          <p:nvPr/>
        </p:nvSpPr>
        <p:spPr>
          <a:xfrm>
            <a:off x="457200" y="123444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6" name="Google Shape;2006;p64"/>
          <p:cNvSpPr/>
          <p:nvPr/>
        </p:nvSpPr>
        <p:spPr>
          <a:xfrm>
            <a:off x="585216" y="1344168"/>
            <a:ext cx="310896" cy="310896"/>
          </a:xfrm>
          <a:prstGeom prst="roundRect">
            <a:avLst>
              <a:gd fmla="val 1470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07" name="Google Shape;2007;p64"/>
          <p:cNvPicPr preferRelativeResize="0"/>
          <p:nvPr/>
        </p:nvPicPr>
        <p:blipFill rotWithShape="1">
          <a:blip r:embed="rId3">
            <a:alphaModFix/>
          </a:blip>
          <a:srcRect b="0" l="0" r="0" t="0"/>
          <a:stretch/>
        </p:blipFill>
        <p:spPr>
          <a:xfrm>
            <a:off x="653613" y="1412565"/>
            <a:ext cx="174101" cy="174101"/>
          </a:xfrm>
          <a:prstGeom prst="rect">
            <a:avLst/>
          </a:prstGeom>
          <a:noFill/>
          <a:ln>
            <a:noFill/>
          </a:ln>
        </p:spPr>
      </p:pic>
      <p:sp>
        <p:nvSpPr>
          <p:cNvPr id="2008" name="Google Shape;2008;p64"/>
          <p:cNvSpPr txBox="1"/>
          <p:nvPr/>
        </p:nvSpPr>
        <p:spPr>
          <a:xfrm>
            <a:off x="987552" y="1344168"/>
            <a:ext cx="46634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Assumptions</a:t>
            </a:r>
            <a:endParaRPr/>
          </a:p>
        </p:txBody>
      </p:sp>
      <p:sp>
        <p:nvSpPr>
          <p:cNvPr id="2009" name="Google Shape;2009;p64"/>
          <p:cNvSpPr/>
          <p:nvPr/>
        </p:nvSpPr>
        <p:spPr>
          <a:xfrm>
            <a:off x="6035040" y="123444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0" name="Google Shape;2010;p64"/>
          <p:cNvSpPr/>
          <p:nvPr/>
        </p:nvSpPr>
        <p:spPr>
          <a:xfrm>
            <a:off x="6163055" y="1344168"/>
            <a:ext cx="310896" cy="310896"/>
          </a:xfrm>
          <a:prstGeom prst="roundRect">
            <a:avLst>
              <a:gd fmla="val 1470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11" name="Google Shape;2011;p64"/>
          <p:cNvPicPr preferRelativeResize="0"/>
          <p:nvPr/>
        </p:nvPicPr>
        <p:blipFill rotWithShape="1">
          <a:blip r:embed="rId4">
            <a:alphaModFix/>
          </a:blip>
          <a:srcRect b="0" l="0" r="0" t="0"/>
          <a:stretch/>
        </p:blipFill>
        <p:spPr>
          <a:xfrm>
            <a:off x="6231453" y="1412565"/>
            <a:ext cx="174101" cy="174101"/>
          </a:xfrm>
          <a:prstGeom prst="rect">
            <a:avLst/>
          </a:prstGeom>
          <a:noFill/>
          <a:ln>
            <a:noFill/>
          </a:ln>
        </p:spPr>
      </p:pic>
      <p:sp>
        <p:nvSpPr>
          <p:cNvPr id="2012" name="Google Shape;2012;p64"/>
          <p:cNvSpPr txBox="1"/>
          <p:nvPr/>
        </p:nvSpPr>
        <p:spPr>
          <a:xfrm>
            <a:off x="6565392" y="1344168"/>
            <a:ext cx="46634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Trade-offs</a:t>
            </a:r>
            <a:endParaRPr/>
          </a:p>
        </p:txBody>
      </p:sp>
      <p:sp>
        <p:nvSpPr>
          <p:cNvPr id="2013" name="Google Shape;2013;p64"/>
          <p:cNvSpPr/>
          <p:nvPr/>
        </p:nvSpPr>
        <p:spPr>
          <a:xfrm>
            <a:off x="457200" y="3538728"/>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4" name="Google Shape;2014;p64"/>
          <p:cNvSpPr/>
          <p:nvPr/>
        </p:nvSpPr>
        <p:spPr>
          <a:xfrm>
            <a:off x="585216" y="3648456"/>
            <a:ext cx="310896" cy="310896"/>
          </a:xfrm>
          <a:prstGeom prst="roundRect">
            <a:avLst>
              <a:gd fmla="val 1470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15" name="Google Shape;2015;p64"/>
          <p:cNvPicPr preferRelativeResize="0"/>
          <p:nvPr/>
        </p:nvPicPr>
        <p:blipFill rotWithShape="1">
          <a:blip r:embed="rId5">
            <a:alphaModFix/>
          </a:blip>
          <a:srcRect b="0" l="0" r="0" t="0"/>
          <a:stretch/>
        </p:blipFill>
        <p:spPr>
          <a:xfrm>
            <a:off x="653613" y="3716853"/>
            <a:ext cx="174101" cy="174101"/>
          </a:xfrm>
          <a:prstGeom prst="rect">
            <a:avLst/>
          </a:prstGeom>
          <a:noFill/>
          <a:ln>
            <a:noFill/>
          </a:ln>
        </p:spPr>
      </p:pic>
      <p:sp>
        <p:nvSpPr>
          <p:cNvPr id="2016" name="Google Shape;2016;p64"/>
          <p:cNvSpPr txBox="1"/>
          <p:nvPr/>
        </p:nvSpPr>
        <p:spPr>
          <a:xfrm>
            <a:off x="987552" y="3648456"/>
            <a:ext cx="46634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Risks and mitigations</a:t>
            </a:r>
            <a:endParaRPr/>
          </a:p>
        </p:txBody>
      </p:sp>
      <p:sp>
        <p:nvSpPr>
          <p:cNvPr id="2017" name="Google Shape;2017;p64"/>
          <p:cNvSpPr/>
          <p:nvPr/>
        </p:nvSpPr>
        <p:spPr>
          <a:xfrm>
            <a:off x="6035040" y="3538728"/>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8" name="Google Shape;2018;p64"/>
          <p:cNvSpPr/>
          <p:nvPr/>
        </p:nvSpPr>
        <p:spPr>
          <a:xfrm>
            <a:off x="6163055" y="3648456"/>
            <a:ext cx="310896" cy="310896"/>
          </a:xfrm>
          <a:prstGeom prst="roundRect">
            <a:avLst>
              <a:gd fmla="val 1470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19" name="Google Shape;2019;p64"/>
          <p:cNvPicPr preferRelativeResize="0"/>
          <p:nvPr/>
        </p:nvPicPr>
        <p:blipFill rotWithShape="1">
          <a:blip r:embed="rId6">
            <a:alphaModFix/>
          </a:blip>
          <a:srcRect b="0" l="0" r="0" t="0"/>
          <a:stretch/>
        </p:blipFill>
        <p:spPr>
          <a:xfrm>
            <a:off x="6231453" y="3716853"/>
            <a:ext cx="174101" cy="174101"/>
          </a:xfrm>
          <a:prstGeom prst="rect">
            <a:avLst/>
          </a:prstGeom>
          <a:noFill/>
          <a:ln>
            <a:noFill/>
          </a:ln>
        </p:spPr>
      </p:pic>
      <p:sp>
        <p:nvSpPr>
          <p:cNvPr id="2020" name="Google Shape;2020;p64"/>
          <p:cNvSpPr txBox="1"/>
          <p:nvPr/>
        </p:nvSpPr>
        <p:spPr>
          <a:xfrm>
            <a:off x="6565392" y="3648456"/>
            <a:ext cx="46634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Open questions for Qcells</a:t>
            </a:r>
            <a:endParaRPr/>
          </a:p>
        </p:txBody>
      </p:sp>
      <p:sp>
        <p:nvSpPr>
          <p:cNvPr id="2021" name="Google Shape;2021;p64"/>
          <p:cNvSpPr txBox="1"/>
          <p:nvPr/>
        </p:nvSpPr>
        <p:spPr>
          <a:xfrm>
            <a:off x="603504" y="1764792"/>
            <a:ext cx="5102352" cy="16093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minSdk is Android 10 (API 29) or later</a:t>
            </a:r>
            <a:endParaRPr/>
          </a:p>
          <a:p>
            <a:pPr indent="0" lvl="0" marL="0" marR="0" rtl="0" algn="l">
              <a:lnSpc>
                <a:spcPct val="100000"/>
              </a:lnSpc>
              <a:spcBef>
                <a:spcPts val="150"/>
              </a:spcBef>
              <a:spcAft>
                <a:spcPts val="0"/>
              </a:spcAft>
              <a:buNone/>
            </a:pPr>
            <a:r>
              <a:rPr b="0" lang="en-US" sz="925">
                <a:solidFill>
                  <a:srgbClr val="1F2A37"/>
                </a:solidFill>
                <a:latin typeface="Barlow"/>
                <a:ea typeface="Barlow"/>
                <a:cs typeface="Barlow"/>
                <a:sym typeface="Barlow"/>
              </a:rPr>
              <a:t>One Wi-Fi join path, </a:t>
            </a:r>
            <a:r>
              <a:rPr b="0" lang="en-US" sz="825">
                <a:solidFill>
                  <a:srgbClr val="1565C0"/>
                </a:solidFill>
                <a:latin typeface="Consolas"/>
                <a:ea typeface="Consolas"/>
                <a:cs typeface="Consolas"/>
                <a:sym typeface="Consolas"/>
              </a:rPr>
              <a:t>WifiNetworkSpecifier</a:t>
            </a:r>
            <a:r>
              <a:rPr b="0" lang="en-US" sz="925">
                <a:solidFill>
                  <a:srgbClr val="1F2A37"/>
                </a:solidFill>
                <a:latin typeface="Barlow"/>
                <a:ea typeface="Barlow"/>
                <a:cs typeface="Barlow"/>
                <a:sym typeface="Barlow"/>
              </a:rPr>
              <a:t>. </a:t>
            </a:r>
            <a:r>
              <a:rPr b="0" i="1" lang="en-US" sz="925">
                <a:solidFill>
                  <a:srgbClr val="C0392B"/>
                </a:solidFill>
                <a:latin typeface="Barlow"/>
                <a:ea typeface="Barlow"/>
                <a:cs typeface="Barlow"/>
                <a:sym typeface="Barlow"/>
              </a:rPr>
              <a:t>[minSdk of the existing app: to confirm]</a:t>
            </a:r>
            <a:endParaRPr/>
          </a:p>
          <a:p>
            <a:pPr indent="0" lvl="0" marL="0" marR="0" rtl="0" algn="l">
              <a:lnSpc>
                <a:spcPct val="100000"/>
              </a:lnSpc>
              <a:spcBef>
                <a:spcPts val="700"/>
              </a:spcBef>
              <a:spcAft>
                <a:spcPts val="0"/>
              </a:spcAft>
              <a:buNone/>
            </a:pPr>
            <a:r>
              <a:rPr b="1" lang="en-US" sz="1000">
                <a:solidFill>
                  <a:srgbClr val="0B2F5B"/>
                </a:solidFill>
                <a:latin typeface="Montserrat"/>
                <a:ea typeface="Montserrat"/>
                <a:cs typeface="Montserrat"/>
                <a:sym typeface="Montserrat"/>
              </a:rPr>
              <a:t>The existing Android app is the base</a:t>
            </a:r>
            <a:endParaRPr/>
          </a:p>
          <a:p>
            <a:pPr indent="0" lvl="0" marL="0" marR="0" rtl="0" algn="l">
              <a:lnSpc>
                <a:spcPct val="100000"/>
              </a:lnSpc>
              <a:spcBef>
                <a:spcPts val="150"/>
              </a:spcBef>
              <a:spcAft>
                <a:spcPts val="0"/>
              </a:spcAft>
              <a:buNone/>
            </a:pPr>
            <a:r>
              <a:rPr b="0" lang="en-US" sz="925">
                <a:solidFill>
                  <a:srgbClr val="1F2A37"/>
                </a:solidFill>
                <a:latin typeface="Barlow"/>
                <a:ea typeface="Barlow"/>
                <a:cs typeface="Barlow"/>
                <a:sym typeface="Barlow"/>
              </a:rPr>
              <a:t>Compose, coroutines and Hilt are our defaults. In delivery we follow the stack the Qcells codebase already uses.</a:t>
            </a:r>
            <a:endParaRPr/>
          </a:p>
          <a:p>
            <a:pPr indent="0" lvl="0" marL="0" marR="0" rtl="0" algn="l">
              <a:lnSpc>
                <a:spcPct val="100000"/>
              </a:lnSpc>
              <a:spcBef>
                <a:spcPts val="700"/>
              </a:spcBef>
              <a:spcAft>
                <a:spcPts val="0"/>
              </a:spcAft>
              <a:buNone/>
            </a:pPr>
            <a:r>
              <a:rPr b="1" lang="en-US" sz="1000">
                <a:solidFill>
                  <a:srgbClr val="0B2F5B"/>
                </a:solidFill>
                <a:latin typeface="Montserrat"/>
                <a:ea typeface="Montserrat"/>
                <a:cs typeface="Montserrat"/>
                <a:sym typeface="Montserrat"/>
              </a:rPr>
              <a:t>No LE pairing or bonding</a:t>
            </a:r>
            <a:endParaRPr/>
          </a:p>
          <a:p>
            <a:pPr indent="0" lvl="0" marL="0" marR="0" rtl="0" algn="l">
              <a:lnSpc>
                <a:spcPct val="100000"/>
              </a:lnSpc>
              <a:spcBef>
                <a:spcPts val="150"/>
              </a:spcBef>
              <a:spcAft>
                <a:spcPts val="0"/>
              </a:spcAft>
              <a:buNone/>
            </a:pPr>
            <a:r>
              <a:rPr b="0" lang="en-US" sz="925">
                <a:solidFill>
                  <a:srgbClr val="1F2A37"/>
                </a:solidFill>
                <a:latin typeface="Barlow"/>
                <a:ea typeface="Barlow"/>
                <a:cs typeface="Barlow"/>
                <a:sym typeface="Barlow"/>
              </a:rPr>
              <a:t>The iOS design does not mention bonding; we assume none. Writes are protected by the one-shot OTP (T8).</a:t>
            </a:r>
            <a:endParaRPr/>
          </a:p>
        </p:txBody>
      </p:sp>
      <p:sp>
        <p:nvSpPr>
          <p:cNvPr id="2022" name="Google Shape;2022;p64"/>
          <p:cNvSpPr txBox="1"/>
          <p:nvPr/>
        </p:nvSpPr>
        <p:spPr>
          <a:xfrm>
            <a:off x="6181344" y="1764792"/>
            <a:ext cx="5102352" cy="16093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Own GATT queue, or a BLE library</a:t>
            </a:r>
            <a:endParaRPr/>
          </a:p>
          <a:p>
            <a:pPr indent="0" lvl="0" marL="0" marR="0" rtl="0" algn="l">
              <a:lnSpc>
                <a:spcPct val="100000"/>
              </a:lnSpc>
              <a:spcBef>
                <a:spcPts val="150"/>
              </a:spcBef>
              <a:spcAft>
                <a:spcPts val="0"/>
              </a:spcAft>
              <a:buNone/>
            </a:pPr>
            <a:r>
              <a:rPr b="0" lang="en-US" sz="925">
                <a:solidFill>
                  <a:srgbClr val="1F2A37"/>
                </a:solidFill>
                <a:latin typeface="Barlow"/>
                <a:ea typeface="Barlow"/>
                <a:cs typeface="Barlow"/>
                <a:sym typeface="Barlow"/>
              </a:rPr>
              <a:t>Full control against a ready-made queue. </a:t>
            </a:r>
            <a:r>
              <a:rPr b="1" lang="en-US" sz="925">
                <a:solidFill>
                  <a:srgbClr val="1E7B4F"/>
                </a:solidFill>
                <a:latin typeface="Barlow"/>
                <a:ea typeface="Barlow"/>
                <a:cs typeface="Barlow"/>
                <a:sym typeface="Barlow"/>
              </a:rPr>
              <a:t>Adopted  </a:t>
            </a:r>
            <a:r>
              <a:rPr b="0" lang="en-US" sz="925">
                <a:solidFill>
                  <a:srgbClr val="1F2A37"/>
                </a:solidFill>
                <a:latin typeface="Barlow"/>
                <a:ea typeface="Barlow"/>
                <a:cs typeface="Barlow"/>
                <a:sym typeface="Barlow"/>
              </a:rPr>
              <a:t>what the Qcells codebase uses; else the platform API behind </a:t>
            </a:r>
            <a:r>
              <a:rPr b="0" lang="en-US" sz="825">
                <a:solidFill>
                  <a:srgbClr val="1565C0"/>
                </a:solidFill>
                <a:latin typeface="Consolas"/>
                <a:ea typeface="Consolas"/>
                <a:cs typeface="Consolas"/>
                <a:sym typeface="Consolas"/>
              </a:rPr>
              <a:t>BLETransport</a:t>
            </a:r>
            <a:r>
              <a:rPr b="0" lang="en-US" sz="925">
                <a:solidFill>
                  <a:srgbClr val="1F2A37"/>
                </a:solidFill>
                <a:latin typeface="Barlow"/>
                <a:ea typeface="Barlow"/>
                <a:cs typeface="Barlow"/>
                <a:sym typeface="Barlow"/>
              </a:rPr>
              <a:t>.</a:t>
            </a:r>
            <a:endParaRPr/>
          </a:p>
          <a:p>
            <a:pPr indent="0" lvl="0" marL="0" marR="0" rtl="0" algn="l">
              <a:lnSpc>
                <a:spcPct val="100000"/>
              </a:lnSpc>
              <a:spcBef>
                <a:spcPts val="700"/>
              </a:spcBef>
              <a:spcAft>
                <a:spcPts val="0"/>
              </a:spcAft>
              <a:buNone/>
            </a:pPr>
            <a:r>
              <a:rPr b="1" lang="en-US" sz="1000">
                <a:solidFill>
                  <a:srgbClr val="0B2F5B"/>
                </a:solidFill>
                <a:latin typeface="Montserrat"/>
                <a:ea typeface="Montserrat"/>
                <a:cs typeface="Montserrat"/>
                <a:sym typeface="Montserrat"/>
              </a:rPr>
              <a:t>BLE scanner, or companion device pairing</a:t>
            </a:r>
            <a:endParaRPr/>
          </a:p>
          <a:p>
            <a:pPr indent="0" lvl="0" marL="0" marR="0" rtl="0" algn="l">
              <a:lnSpc>
                <a:spcPct val="100000"/>
              </a:lnSpc>
              <a:spcBef>
                <a:spcPts val="150"/>
              </a:spcBef>
              <a:spcAft>
                <a:spcPts val="0"/>
              </a:spcAft>
              <a:buNone/>
            </a:pPr>
            <a:r>
              <a:rPr b="0" lang="en-US" sz="925">
                <a:solidFill>
                  <a:srgbClr val="1F2A37"/>
                </a:solidFill>
                <a:latin typeface="Barlow"/>
                <a:ea typeface="Barlow"/>
                <a:cs typeface="Barlow"/>
                <a:sym typeface="Barlow"/>
              </a:rPr>
              <a:t>Companion pairing avoids the location permission on Android 11 and lower, but leaves associations to clean up. </a:t>
            </a:r>
            <a:r>
              <a:rPr b="1" lang="en-US" sz="925">
                <a:solidFill>
                  <a:srgbClr val="1E7B4F"/>
                </a:solidFill>
                <a:latin typeface="Barlow"/>
                <a:ea typeface="Barlow"/>
                <a:cs typeface="Barlow"/>
                <a:sym typeface="Barlow"/>
              </a:rPr>
              <a:t>Adopted  </a:t>
            </a:r>
            <a:r>
              <a:rPr b="0" lang="en-US" sz="925">
                <a:solidFill>
                  <a:srgbClr val="1F2A37"/>
                </a:solidFill>
                <a:latin typeface="Barlow"/>
                <a:ea typeface="Barlow"/>
                <a:cs typeface="Barlow"/>
                <a:sym typeface="Barlow"/>
              </a:rPr>
              <a:t>the scanner: one rule on both platforms.</a:t>
            </a:r>
            <a:endParaRPr/>
          </a:p>
          <a:p>
            <a:pPr indent="0" lvl="0" marL="0" marR="0" rtl="0" algn="l">
              <a:lnSpc>
                <a:spcPct val="100000"/>
              </a:lnSpc>
              <a:spcBef>
                <a:spcPts val="700"/>
              </a:spcBef>
              <a:spcAft>
                <a:spcPts val="0"/>
              </a:spcAft>
              <a:buNone/>
            </a:pPr>
            <a:r>
              <a:rPr b="1" lang="en-US" sz="1000">
                <a:solidFill>
                  <a:srgbClr val="0B2F5B"/>
                </a:solidFill>
                <a:latin typeface="Montserrat"/>
                <a:ea typeface="Montserrat"/>
                <a:cs typeface="Montserrat"/>
                <a:sym typeface="Montserrat"/>
              </a:rPr>
              <a:t>Database encryption in the app, or platform default</a:t>
            </a:r>
            <a:endParaRPr/>
          </a:p>
          <a:p>
            <a:pPr indent="0" lvl="0" marL="0" marR="0" rtl="0" algn="l">
              <a:lnSpc>
                <a:spcPct val="100000"/>
              </a:lnSpc>
              <a:spcBef>
                <a:spcPts val="150"/>
              </a:spcBef>
              <a:spcAft>
                <a:spcPts val="0"/>
              </a:spcAft>
              <a:buNone/>
            </a:pPr>
            <a:r>
              <a:rPr b="0" lang="en-US" sz="925">
                <a:solidFill>
                  <a:srgbClr val="1F2A37"/>
                </a:solidFill>
                <a:latin typeface="Barlow"/>
                <a:ea typeface="Barlow"/>
                <a:cs typeface="Barlow"/>
                <a:sym typeface="Barlow"/>
              </a:rPr>
              <a:t>Matches </a:t>
            </a:r>
            <a:r>
              <a:rPr b="0" lang="en-US" sz="825">
                <a:solidFill>
                  <a:srgbClr val="5F6B7A"/>
                </a:solidFill>
                <a:latin typeface="Consolas"/>
                <a:ea typeface="Consolas"/>
                <a:cs typeface="Consolas"/>
                <a:sym typeface="Consolas"/>
              </a:rPr>
              <a:t>.complete</a:t>
            </a:r>
            <a:r>
              <a:rPr b="0" lang="en-US" sz="925">
                <a:solidFill>
                  <a:srgbClr val="1F2A37"/>
                </a:solidFill>
                <a:latin typeface="Barlow"/>
                <a:ea typeface="Barlow"/>
                <a:cs typeface="Barlow"/>
                <a:sym typeface="Barlow"/>
              </a:rPr>
              <a:t>, but advised on Android 15+ only, and uploads would wait for an unlock. </a:t>
            </a:r>
            <a:r>
              <a:rPr b="1" lang="en-US" sz="925">
                <a:solidFill>
                  <a:srgbClr val="9A5B00"/>
                </a:solidFill>
                <a:latin typeface="Barlow"/>
                <a:ea typeface="Barlow"/>
                <a:cs typeface="Barlow"/>
                <a:sym typeface="Barlow"/>
              </a:rPr>
              <a:t>Open  </a:t>
            </a:r>
            <a:r>
              <a:rPr b="0" lang="en-US" sz="925">
                <a:solidFill>
                  <a:srgbClr val="1F2A37"/>
                </a:solidFill>
                <a:latin typeface="Barlow"/>
                <a:ea typeface="Barlow"/>
                <a:cs typeface="Barlow"/>
                <a:sym typeface="Barlow"/>
              </a:rPr>
              <a:t>decision with Qcells security.</a:t>
            </a:r>
            <a:endParaRPr/>
          </a:p>
        </p:txBody>
      </p:sp>
      <p:sp>
        <p:nvSpPr>
          <p:cNvPr id="2023" name="Google Shape;2023;p64"/>
          <p:cNvSpPr/>
          <p:nvPr/>
        </p:nvSpPr>
        <p:spPr>
          <a:xfrm>
            <a:off x="603504" y="4087368"/>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BLE differs between phone makers</a:t>
            </a:r>
            <a:endParaRPr/>
          </a:p>
        </p:txBody>
      </p:sp>
      <p:sp>
        <p:nvSpPr>
          <p:cNvPr id="2024" name="Google Shape;2024;p64"/>
          <p:cNvSpPr/>
          <p:nvPr/>
        </p:nvSpPr>
        <p:spPr>
          <a:xfrm>
            <a:off x="2926080" y="4087368"/>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One phone per OS band on the bench; retry and read-back rules of T4 and T6.</a:t>
            </a:r>
            <a:endParaRPr/>
          </a:p>
        </p:txBody>
      </p:sp>
      <p:cxnSp>
        <p:nvCxnSpPr>
          <p:cNvPr id="2025" name="Google Shape;2025;p64"/>
          <p:cNvCxnSpPr>
            <a:stCxn id="2023" idx="3"/>
            <a:endCxn id="2024" idx="1"/>
          </p:cNvCxnSpPr>
          <p:nvPr/>
        </p:nvCxnSpPr>
        <p:spPr>
          <a:xfrm>
            <a:off x="2615184" y="4315968"/>
            <a:ext cx="310800" cy="0"/>
          </a:xfrm>
          <a:prstGeom prst="straightConnector1">
            <a:avLst/>
          </a:prstGeom>
          <a:noFill/>
          <a:ln cap="flat" cmpd="sng" w="15875">
            <a:solidFill>
              <a:srgbClr val="0B2F5B"/>
            </a:solidFill>
            <a:prstDash val="solid"/>
            <a:round/>
            <a:headEnd len="sm" w="sm" type="none"/>
            <a:tailEnd len="med" w="med" type="triangle"/>
          </a:ln>
        </p:spPr>
      </p:cxnSp>
      <p:sp>
        <p:nvSpPr>
          <p:cNvPr id="2026" name="Google Shape;2026;p64"/>
          <p:cNvSpPr/>
          <p:nvPr/>
        </p:nvSpPr>
        <p:spPr>
          <a:xfrm>
            <a:off x="603504" y="4626864"/>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Background limits, battery savers</a:t>
            </a:r>
            <a:endParaRPr/>
          </a:p>
        </p:txBody>
      </p:sp>
      <p:sp>
        <p:nvSpPr>
          <p:cNvPr id="2027" name="Google Shape;2027;p64"/>
          <p:cNvSpPr/>
          <p:nvPr/>
        </p:nvSpPr>
        <p:spPr>
          <a:xfrm>
            <a:off x="2926080" y="4626864"/>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Foreground service during firmware; journal recovery; unsynced status stays visible.</a:t>
            </a:r>
            <a:endParaRPr/>
          </a:p>
        </p:txBody>
      </p:sp>
      <p:cxnSp>
        <p:nvCxnSpPr>
          <p:cNvPr id="2028" name="Google Shape;2028;p64"/>
          <p:cNvCxnSpPr>
            <a:stCxn id="2026" idx="3"/>
            <a:endCxn id="2027" idx="1"/>
          </p:cNvCxnSpPr>
          <p:nvPr/>
        </p:nvCxnSpPr>
        <p:spPr>
          <a:xfrm>
            <a:off x="2615184" y="4855464"/>
            <a:ext cx="310800" cy="0"/>
          </a:xfrm>
          <a:prstGeom prst="straightConnector1">
            <a:avLst/>
          </a:prstGeom>
          <a:noFill/>
          <a:ln cap="flat" cmpd="sng" w="15875">
            <a:solidFill>
              <a:srgbClr val="0B2F5B"/>
            </a:solidFill>
            <a:prstDash val="solid"/>
            <a:round/>
            <a:headEnd len="sm" w="sm" type="none"/>
            <a:tailEnd len="med" w="med" type="triangle"/>
          </a:ln>
        </p:spPr>
      </p:cxnSp>
      <p:sp>
        <p:nvSpPr>
          <p:cNvPr id="2029" name="Google Shape;2029;p64"/>
          <p:cNvSpPr/>
          <p:nvPr/>
        </p:nvSpPr>
        <p:spPr>
          <a:xfrm>
            <a:off x="603504" y="5166359"/>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Wi-Fi dialog at every update</a:t>
            </a:r>
            <a:endParaRPr/>
          </a:p>
        </p:txBody>
      </p:sp>
      <p:sp>
        <p:nvSpPr>
          <p:cNvPr id="2030" name="Google Shape;2030;p64"/>
          <p:cNvSpPr/>
          <p:nvPr/>
        </p:nvSpPr>
        <p:spPr>
          <a:xfrm>
            <a:off x="2926080" y="5166359"/>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Explain it before the dialog appears; a decline is handled as a join failure.</a:t>
            </a:r>
            <a:endParaRPr/>
          </a:p>
        </p:txBody>
      </p:sp>
      <p:cxnSp>
        <p:nvCxnSpPr>
          <p:cNvPr id="2031" name="Google Shape;2031;p64"/>
          <p:cNvCxnSpPr>
            <a:stCxn id="2029" idx="3"/>
            <a:endCxn id="2030" idx="1"/>
          </p:cNvCxnSpPr>
          <p:nvPr/>
        </p:nvCxnSpPr>
        <p:spPr>
          <a:xfrm>
            <a:off x="2615184" y="5394959"/>
            <a:ext cx="310800" cy="0"/>
          </a:xfrm>
          <a:prstGeom prst="straightConnector1">
            <a:avLst/>
          </a:prstGeom>
          <a:noFill/>
          <a:ln cap="flat" cmpd="sng" w="15875">
            <a:solidFill>
              <a:srgbClr val="0B2F5B"/>
            </a:solidFill>
            <a:prstDash val="solid"/>
            <a:round/>
            <a:headEnd len="sm" w="sm" type="none"/>
            <a:tailEnd len="med" w="med" type="triangle"/>
          </a:ln>
        </p:spPr>
      </p:cxnSp>
      <p:sp>
        <p:nvSpPr>
          <p:cNvPr id="2032" name="Google Shape;2032;p64"/>
          <p:cNvSpPr/>
          <p:nvPr/>
        </p:nvSpPr>
        <p:spPr>
          <a:xfrm>
            <a:off x="6181344" y="406450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2033" name="Google Shape;2033;p64"/>
          <p:cNvSpPr txBox="1"/>
          <p:nvPr/>
        </p:nvSpPr>
        <p:spPr>
          <a:xfrm>
            <a:off x="6492240" y="4046220"/>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What are the minSdk and targetSdk of the existing Android app?</a:t>
            </a:r>
            <a:endParaRPr/>
          </a:p>
        </p:txBody>
      </p:sp>
      <p:sp>
        <p:nvSpPr>
          <p:cNvPr id="2034" name="Google Shape;2034;p64"/>
          <p:cNvSpPr/>
          <p:nvPr/>
        </p:nvSpPr>
        <p:spPr>
          <a:xfrm>
            <a:off x="6181344" y="433882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2035" name="Google Shape;2035;p64"/>
          <p:cNvSpPr txBox="1"/>
          <p:nvPr/>
        </p:nvSpPr>
        <p:spPr>
          <a:xfrm>
            <a:off x="6492240" y="4320540"/>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Which stack does it use today: Compose or Views, which DI, which BLE library?</a:t>
            </a:r>
            <a:endParaRPr/>
          </a:p>
        </p:txBody>
      </p:sp>
      <p:sp>
        <p:nvSpPr>
          <p:cNvPr id="2036" name="Google Shape;2036;p64"/>
          <p:cNvSpPr/>
          <p:nvPr/>
        </p:nvSpPr>
        <p:spPr>
          <a:xfrm>
            <a:off x="6181344" y="461314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sp>
        <p:nvSpPr>
          <p:cNvPr id="2037" name="Google Shape;2037;p64"/>
          <p:cNvSpPr txBox="1"/>
          <p:nvPr/>
        </p:nvSpPr>
        <p:spPr>
          <a:xfrm>
            <a:off x="6492240" y="4594859"/>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Does the ESS require LE pairing or bonding?</a:t>
            </a:r>
            <a:endParaRPr/>
          </a:p>
        </p:txBody>
      </p:sp>
      <p:sp>
        <p:nvSpPr>
          <p:cNvPr id="2038" name="Google Shape;2038;p64"/>
          <p:cNvSpPr/>
          <p:nvPr/>
        </p:nvSpPr>
        <p:spPr>
          <a:xfrm>
            <a:off x="6181344" y="488746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2039" name="Google Shape;2039;p64"/>
          <p:cNvSpPr txBox="1"/>
          <p:nvPr/>
        </p:nvSpPr>
        <p:spPr>
          <a:xfrm>
            <a:off x="6492240" y="4869179"/>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Does the ESS keep the same BLE address across reboots?</a:t>
            </a:r>
            <a:endParaRPr/>
          </a:p>
        </p:txBody>
      </p:sp>
      <p:sp>
        <p:nvSpPr>
          <p:cNvPr id="2040" name="Google Shape;2040;p64"/>
          <p:cNvSpPr/>
          <p:nvPr/>
        </p:nvSpPr>
        <p:spPr>
          <a:xfrm>
            <a:off x="6181344" y="516178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2041" name="Google Shape;2041;p64"/>
          <p:cNvSpPr txBox="1"/>
          <p:nvPr/>
        </p:nvSpPr>
        <p:spPr>
          <a:xfrm>
            <a:off x="6492240" y="5143499"/>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Which protocol runs over the SoftAP: HTTP, HTTPS or raw TCP?</a:t>
            </a:r>
            <a:endParaRPr/>
          </a:p>
        </p:txBody>
      </p:sp>
      <p:sp>
        <p:nvSpPr>
          <p:cNvPr id="2042" name="Google Shape;2042;p64"/>
          <p:cNvSpPr/>
          <p:nvPr/>
        </p:nvSpPr>
        <p:spPr>
          <a:xfrm>
            <a:off x="6181344" y="543610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6</a:t>
            </a:r>
            <a:endParaRPr/>
          </a:p>
        </p:txBody>
      </p:sp>
      <p:sp>
        <p:nvSpPr>
          <p:cNvPr id="2043" name="Google Shape;2043;p64"/>
          <p:cNvSpPr txBox="1"/>
          <p:nvPr/>
        </p:nvSpPr>
        <p:spPr>
          <a:xfrm>
            <a:off x="6492240" y="5417819"/>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50">
                <a:solidFill>
                  <a:srgbClr val="1F2A37"/>
                </a:solidFill>
                <a:latin typeface="Barlow"/>
                <a:ea typeface="Barlow"/>
                <a:cs typeface="Barlow"/>
                <a:sym typeface="Barlow"/>
              </a:rPr>
              <a:t>Which Android phones and OS versions do installers use?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8" name="Shape 2048"/>
        <p:cNvGrpSpPr/>
        <p:nvPr/>
      </p:nvGrpSpPr>
      <p:grpSpPr>
        <a:xfrm>
          <a:off x="0" y="0"/>
          <a:ext cx="0" cy="0"/>
          <a:chOff x="0" y="0"/>
          <a:chExt cx="0" cy="0"/>
        </a:xfrm>
      </p:grpSpPr>
      <p:pic>
        <p:nvPicPr>
          <p:cNvPr descr="gen-dedup-885f94f0366be6ae8b4587d2d4a35ce7.jpg" id="2049" name="Google Shape;2049;p6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gen-dedup-a82b592502fba2900d7549ebc8317891.png" id="2050" name="Google Shape;2050;p65"/>
          <p:cNvPicPr preferRelativeResize="0"/>
          <p:nvPr/>
        </p:nvPicPr>
        <p:blipFill rotWithShape="1">
          <a:blip r:embed="rId4">
            <a:alphaModFix/>
          </a:blip>
          <a:srcRect b="-1" l="0" r="0" t="-1"/>
          <a:stretch/>
        </p:blipFill>
        <p:spPr>
          <a:xfrm>
            <a:off x="0" y="0"/>
            <a:ext cx="12191695" cy="6858000"/>
          </a:xfrm>
          <a:prstGeom prst="rect">
            <a:avLst/>
          </a:prstGeom>
          <a:noFill/>
          <a:ln>
            <a:noFill/>
          </a:ln>
        </p:spPr>
      </p:pic>
      <p:sp>
        <p:nvSpPr>
          <p:cNvPr id="2051" name="Google Shape;2051;p65"/>
          <p:cNvSpPr txBox="1"/>
          <p:nvPr/>
        </p:nvSpPr>
        <p:spPr>
          <a:xfrm>
            <a:off x="761695" y="1019556"/>
            <a:ext cx="8572500" cy="8769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200"/>
              <a:buFont typeface="Calibri"/>
              <a:buNone/>
            </a:pPr>
            <a:r>
              <a:rPr b="1" lang="en-US" sz="7200">
                <a:solidFill>
                  <a:srgbClr val="FFFFFF"/>
                </a:solidFill>
                <a:latin typeface="Calibri"/>
                <a:ea typeface="Calibri"/>
                <a:cs typeface="Calibri"/>
                <a:sym typeface="Calibri"/>
              </a:rPr>
              <a:t>CONTACT US</a:t>
            </a:r>
            <a:endParaRPr sz="7200">
              <a:solidFill>
                <a:schemeClr val="dk1"/>
              </a:solidFill>
              <a:latin typeface="Calibri"/>
              <a:ea typeface="Calibri"/>
              <a:cs typeface="Calibri"/>
              <a:sym typeface="Calibri"/>
            </a:endParaRPr>
          </a:p>
        </p:txBody>
      </p:sp>
      <p:pic>
        <p:nvPicPr>
          <p:cNvPr descr="gen-dedup-51b0088e0d2ae681df83bde3787e31f4.png" id="2052" name="Google Shape;2052;p65"/>
          <p:cNvPicPr preferRelativeResize="0"/>
          <p:nvPr/>
        </p:nvPicPr>
        <p:blipFill rotWithShape="1">
          <a:blip r:embed="rId5">
            <a:alphaModFix/>
          </a:blip>
          <a:srcRect b="0" l="-2083" r="-2083" t="0"/>
          <a:stretch/>
        </p:blipFill>
        <p:spPr>
          <a:xfrm>
            <a:off x="761695" y="2343607"/>
            <a:ext cx="10668305" cy="9144"/>
          </a:xfrm>
          <a:prstGeom prst="rect">
            <a:avLst/>
          </a:prstGeom>
          <a:noFill/>
          <a:ln>
            <a:noFill/>
          </a:ln>
        </p:spPr>
      </p:pic>
      <p:sp>
        <p:nvSpPr>
          <p:cNvPr id="2053" name="Google Shape;2053;p65"/>
          <p:cNvSpPr txBox="1"/>
          <p:nvPr/>
        </p:nvSpPr>
        <p:spPr>
          <a:xfrm>
            <a:off x="761695" y="2780995"/>
            <a:ext cx="144018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E0F5"/>
              </a:buClr>
              <a:buSzPts val="1000"/>
              <a:buFont typeface="Calibri"/>
              <a:buNone/>
            </a:pPr>
            <a:r>
              <a:rPr b="1" lang="en-US" sz="1000">
                <a:solidFill>
                  <a:srgbClr val="B8E0F5"/>
                </a:solidFill>
                <a:latin typeface="Calibri"/>
                <a:ea typeface="Calibri"/>
                <a:cs typeface="Calibri"/>
                <a:sym typeface="Calibri"/>
              </a:rPr>
              <a:t>Tel:</a:t>
            </a:r>
            <a:r>
              <a:rPr lang="en-US" sz="1000">
                <a:solidFill>
                  <a:srgbClr val="FFFFFF"/>
                </a:solidFill>
                <a:latin typeface="Calibri"/>
                <a:ea typeface="Calibri"/>
                <a:cs typeface="Calibri"/>
                <a:sym typeface="Calibri"/>
              </a:rPr>
              <a:t> (+84) 24 7101 6000</a:t>
            </a:r>
            <a:endParaRPr sz="1000">
              <a:solidFill>
                <a:schemeClr val="dk1"/>
              </a:solidFill>
              <a:latin typeface="Calibri"/>
              <a:ea typeface="Calibri"/>
              <a:cs typeface="Calibri"/>
              <a:sym typeface="Calibri"/>
            </a:endParaRPr>
          </a:p>
        </p:txBody>
      </p:sp>
      <p:sp>
        <p:nvSpPr>
          <p:cNvPr id="2054" name="Google Shape;2054;p65"/>
          <p:cNvSpPr txBox="1"/>
          <p:nvPr/>
        </p:nvSpPr>
        <p:spPr>
          <a:xfrm>
            <a:off x="2629814" y="2780995"/>
            <a:ext cx="20747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E0F5"/>
              </a:buClr>
              <a:buSzPts val="1000"/>
              <a:buFont typeface="Calibri"/>
              <a:buNone/>
            </a:pPr>
            <a:r>
              <a:rPr b="1" lang="en-US" sz="1000">
                <a:solidFill>
                  <a:srgbClr val="B8E0F5"/>
                </a:solidFill>
                <a:latin typeface="Calibri"/>
                <a:ea typeface="Calibri"/>
                <a:cs typeface="Calibri"/>
                <a:sym typeface="Calibri"/>
              </a:rPr>
              <a:t>Email:</a:t>
            </a:r>
            <a:r>
              <a:rPr lang="en-US" sz="1000">
                <a:solidFill>
                  <a:srgbClr val="FFFFFF"/>
                </a:solidFill>
                <a:latin typeface="Calibri"/>
                <a:ea typeface="Calibri"/>
                <a:cs typeface="Calibri"/>
                <a:sym typeface="Calibri"/>
              </a:rPr>
              <a:t> marketing@cmcglobal.vn</a:t>
            </a:r>
            <a:endParaRPr sz="1000">
              <a:solidFill>
                <a:schemeClr val="dk1"/>
              </a:solidFill>
              <a:latin typeface="Calibri"/>
              <a:ea typeface="Calibri"/>
              <a:cs typeface="Calibri"/>
              <a:sym typeface="Calibri"/>
            </a:endParaRPr>
          </a:p>
        </p:txBody>
      </p:sp>
      <p:sp>
        <p:nvSpPr>
          <p:cNvPr id="2055" name="Google Shape;2055;p65"/>
          <p:cNvSpPr txBox="1"/>
          <p:nvPr/>
        </p:nvSpPr>
        <p:spPr>
          <a:xfrm>
            <a:off x="5035601" y="2780995"/>
            <a:ext cx="2142439"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E0F5"/>
              </a:buClr>
              <a:buSzPts val="1000"/>
              <a:buFont typeface="Calibri"/>
              <a:buNone/>
            </a:pPr>
            <a:r>
              <a:rPr b="1" lang="en-US" sz="1000">
                <a:solidFill>
                  <a:srgbClr val="B8E0F5"/>
                </a:solidFill>
                <a:latin typeface="Calibri"/>
                <a:ea typeface="Calibri"/>
                <a:cs typeface="Calibri"/>
                <a:sym typeface="Calibri"/>
              </a:rPr>
              <a:t>Website:</a:t>
            </a:r>
            <a:r>
              <a:rPr lang="en-US" sz="1000">
                <a:solidFill>
                  <a:srgbClr val="FFFFFF"/>
                </a:solidFill>
                <a:latin typeface="Calibri"/>
                <a:ea typeface="Calibri"/>
                <a:cs typeface="Calibri"/>
                <a:sym typeface="Calibri"/>
              </a:rPr>
              <a:t> www.cmcglobal.com.vn</a:t>
            </a:r>
            <a:endParaRPr sz="1000">
              <a:solidFill>
                <a:schemeClr val="dk1"/>
              </a:solidFill>
              <a:latin typeface="Calibri"/>
              <a:ea typeface="Calibri"/>
              <a:cs typeface="Calibri"/>
              <a:sym typeface="Calibri"/>
            </a:endParaRPr>
          </a:p>
        </p:txBody>
      </p:sp>
      <p:sp>
        <p:nvSpPr>
          <p:cNvPr id="2056" name="Google Shape;2056;p65"/>
          <p:cNvSpPr txBox="1"/>
          <p:nvPr/>
        </p:nvSpPr>
        <p:spPr>
          <a:xfrm>
            <a:off x="761695" y="321023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Hanoi (Head Quarter)</a:t>
            </a:r>
            <a:endParaRPr sz="1050">
              <a:solidFill>
                <a:schemeClr val="dk1"/>
              </a:solidFill>
              <a:latin typeface="Calibri"/>
              <a:ea typeface="Calibri"/>
              <a:cs typeface="Calibri"/>
              <a:sym typeface="Calibri"/>
            </a:endParaRPr>
          </a:p>
        </p:txBody>
      </p:sp>
      <p:sp>
        <p:nvSpPr>
          <p:cNvPr id="2057" name="Google Shape;2057;p65"/>
          <p:cNvSpPr txBox="1"/>
          <p:nvPr/>
        </p:nvSpPr>
        <p:spPr>
          <a:xfrm>
            <a:off x="761695" y="3413227"/>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7 – 10F, CMC Tower, 11 Duy Tan Street,</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Dich Vong Hau Ward,</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Cau Giay District</a:t>
            </a:r>
            <a:endParaRPr sz="1000">
              <a:solidFill>
                <a:schemeClr val="dk1"/>
              </a:solidFill>
              <a:latin typeface="Calibri"/>
              <a:ea typeface="Calibri"/>
              <a:cs typeface="Calibri"/>
              <a:sym typeface="Calibri"/>
            </a:endParaRPr>
          </a:p>
        </p:txBody>
      </p:sp>
      <p:sp>
        <p:nvSpPr>
          <p:cNvPr id="2058" name="Google Shape;2058;p65"/>
          <p:cNvSpPr txBox="1"/>
          <p:nvPr/>
        </p:nvSpPr>
        <p:spPr>
          <a:xfrm>
            <a:off x="3524098" y="321023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Ho Chi Minh City</a:t>
            </a:r>
            <a:endParaRPr sz="1050">
              <a:solidFill>
                <a:schemeClr val="dk1"/>
              </a:solidFill>
              <a:latin typeface="Calibri"/>
              <a:ea typeface="Calibri"/>
              <a:cs typeface="Calibri"/>
              <a:sym typeface="Calibri"/>
            </a:endParaRPr>
          </a:p>
        </p:txBody>
      </p:sp>
      <p:sp>
        <p:nvSpPr>
          <p:cNvPr id="2059" name="Google Shape;2059;p65"/>
          <p:cNvSpPr txBox="1"/>
          <p:nvPr/>
        </p:nvSpPr>
        <p:spPr>
          <a:xfrm>
            <a:off x="3524098" y="3413227"/>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CMC Creative Space, Street 19,</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Tan Thuan Export Processing Zone,</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Tan Tuan Dong Ward, District 7</a:t>
            </a:r>
            <a:endParaRPr sz="1000">
              <a:solidFill>
                <a:schemeClr val="dk1"/>
              </a:solidFill>
              <a:latin typeface="Calibri"/>
              <a:ea typeface="Calibri"/>
              <a:cs typeface="Calibri"/>
              <a:sym typeface="Calibri"/>
            </a:endParaRPr>
          </a:p>
        </p:txBody>
      </p:sp>
      <p:sp>
        <p:nvSpPr>
          <p:cNvPr id="2060" name="Google Shape;2060;p65"/>
          <p:cNvSpPr txBox="1"/>
          <p:nvPr/>
        </p:nvSpPr>
        <p:spPr>
          <a:xfrm>
            <a:off x="6286500" y="321023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Danang</a:t>
            </a:r>
            <a:endParaRPr sz="1050">
              <a:solidFill>
                <a:schemeClr val="dk1"/>
              </a:solidFill>
              <a:latin typeface="Calibri"/>
              <a:ea typeface="Calibri"/>
              <a:cs typeface="Calibri"/>
              <a:sym typeface="Calibri"/>
            </a:endParaRPr>
          </a:p>
        </p:txBody>
      </p:sp>
      <p:sp>
        <p:nvSpPr>
          <p:cNvPr id="2061" name="Google Shape;2061;p65"/>
          <p:cNvSpPr txBox="1"/>
          <p:nvPr/>
        </p:nvSpPr>
        <p:spPr>
          <a:xfrm>
            <a:off x="6286500" y="3413227"/>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G8 Golden Building, 65 Hai Phong</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Street, Thach Thang Ward,</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Hai Chau District</a:t>
            </a:r>
            <a:endParaRPr sz="1000">
              <a:solidFill>
                <a:schemeClr val="dk1"/>
              </a:solidFill>
              <a:latin typeface="Calibri"/>
              <a:ea typeface="Calibri"/>
              <a:cs typeface="Calibri"/>
              <a:sym typeface="Calibri"/>
            </a:endParaRPr>
          </a:p>
        </p:txBody>
      </p:sp>
      <p:sp>
        <p:nvSpPr>
          <p:cNvPr id="2062" name="Google Shape;2062;p65"/>
          <p:cNvSpPr txBox="1"/>
          <p:nvPr/>
        </p:nvSpPr>
        <p:spPr>
          <a:xfrm>
            <a:off x="9048902" y="315308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Singapore</a:t>
            </a:r>
            <a:endParaRPr sz="1050">
              <a:solidFill>
                <a:schemeClr val="dk1"/>
              </a:solidFill>
              <a:latin typeface="Calibri"/>
              <a:ea typeface="Calibri"/>
              <a:cs typeface="Calibri"/>
              <a:sym typeface="Calibri"/>
            </a:endParaRPr>
          </a:p>
        </p:txBody>
      </p:sp>
      <p:sp>
        <p:nvSpPr>
          <p:cNvPr id="2063" name="Google Shape;2063;p65"/>
          <p:cNvSpPr txBox="1"/>
          <p:nvPr/>
        </p:nvSpPr>
        <p:spPr>
          <a:xfrm>
            <a:off x="9048902" y="3356077"/>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Hong Leong Building</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#09-01, 16 Raffles Quay,</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Singapore 048581</a:t>
            </a:r>
            <a:endParaRPr sz="1000">
              <a:solidFill>
                <a:schemeClr val="dk1"/>
              </a:solidFill>
              <a:latin typeface="Calibri"/>
              <a:ea typeface="Calibri"/>
              <a:cs typeface="Calibri"/>
              <a:sym typeface="Calibri"/>
            </a:endParaRPr>
          </a:p>
        </p:txBody>
      </p:sp>
      <p:sp>
        <p:nvSpPr>
          <p:cNvPr id="2064" name="Google Shape;2064;p65"/>
          <p:cNvSpPr txBox="1"/>
          <p:nvPr/>
        </p:nvSpPr>
        <p:spPr>
          <a:xfrm>
            <a:off x="761695" y="439072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Tokyo, Japan</a:t>
            </a:r>
            <a:endParaRPr sz="1050">
              <a:solidFill>
                <a:schemeClr val="dk1"/>
              </a:solidFill>
              <a:latin typeface="Calibri"/>
              <a:ea typeface="Calibri"/>
              <a:cs typeface="Calibri"/>
              <a:sym typeface="Calibri"/>
            </a:endParaRPr>
          </a:p>
        </p:txBody>
      </p:sp>
      <p:sp>
        <p:nvSpPr>
          <p:cNvPr id="2065" name="Google Shape;2065;p65"/>
          <p:cNvSpPr txBox="1"/>
          <p:nvPr/>
        </p:nvSpPr>
        <p:spPr>
          <a:xfrm>
            <a:off x="761695" y="4610176"/>
            <a:ext cx="2572207" cy="476402"/>
          </a:xfrm>
          <a:prstGeom prst="rect">
            <a:avLst/>
          </a:prstGeom>
          <a:noFill/>
          <a:ln>
            <a:noFill/>
          </a:ln>
        </p:spPr>
        <p:txBody>
          <a:bodyPr anchorCtr="0" anchor="ctr"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Sumitomo Fudosan Osaki Twin Building East, 7F, 5-chome-1-18, Kita-shinagawa, Shinagawa-ku, Tokyo, Japan, 141-0001</a:t>
            </a:r>
            <a:endParaRPr sz="1000">
              <a:solidFill>
                <a:schemeClr val="dk1"/>
              </a:solidFill>
              <a:latin typeface="Calibri"/>
              <a:ea typeface="Calibri"/>
              <a:cs typeface="Calibri"/>
              <a:sym typeface="Calibri"/>
            </a:endParaRPr>
          </a:p>
        </p:txBody>
      </p:sp>
      <p:sp>
        <p:nvSpPr>
          <p:cNvPr id="2066" name="Google Shape;2066;p65"/>
          <p:cNvSpPr txBox="1"/>
          <p:nvPr/>
        </p:nvSpPr>
        <p:spPr>
          <a:xfrm>
            <a:off x="3524098" y="439072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Osaka, Japan</a:t>
            </a:r>
            <a:endParaRPr sz="1050">
              <a:solidFill>
                <a:schemeClr val="dk1"/>
              </a:solidFill>
              <a:latin typeface="Calibri"/>
              <a:ea typeface="Calibri"/>
              <a:cs typeface="Calibri"/>
              <a:sym typeface="Calibri"/>
            </a:endParaRPr>
          </a:p>
        </p:txBody>
      </p:sp>
      <p:sp>
        <p:nvSpPr>
          <p:cNvPr id="2067" name="Google Shape;2067;p65"/>
          <p:cNvSpPr txBox="1"/>
          <p:nvPr/>
        </p:nvSpPr>
        <p:spPr>
          <a:xfrm>
            <a:off x="3524098" y="4594631"/>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Midousuji Frontier Bldg. 4F,</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1-13-22 Sonezakishinchi,</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Kita-ku, Osaka 530-0002</a:t>
            </a:r>
            <a:endParaRPr sz="1000">
              <a:solidFill>
                <a:schemeClr val="dk1"/>
              </a:solidFill>
              <a:latin typeface="Calibri"/>
              <a:ea typeface="Calibri"/>
              <a:cs typeface="Calibri"/>
              <a:sym typeface="Calibri"/>
            </a:endParaRPr>
          </a:p>
        </p:txBody>
      </p:sp>
      <p:sp>
        <p:nvSpPr>
          <p:cNvPr id="2068" name="Google Shape;2068;p65"/>
          <p:cNvSpPr txBox="1"/>
          <p:nvPr/>
        </p:nvSpPr>
        <p:spPr>
          <a:xfrm>
            <a:off x="6286500" y="439072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Seoul, Korea</a:t>
            </a:r>
            <a:endParaRPr sz="1050">
              <a:solidFill>
                <a:schemeClr val="dk1"/>
              </a:solidFill>
              <a:latin typeface="Calibri"/>
              <a:ea typeface="Calibri"/>
              <a:cs typeface="Calibri"/>
              <a:sym typeface="Calibri"/>
            </a:endParaRPr>
          </a:p>
        </p:txBody>
      </p:sp>
      <p:sp>
        <p:nvSpPr>
          <p:cNvPr id="2069" name="Google Shape;2069;p65"/>
          <p:cNvSpPr txBox="1"/>
          <p:nvPr/>
        </p:nvSpPr>
        <p:spPr>
          <a:xfrm>
            <a:off x="6286500" y="4594631"/>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ENA Building, 14th floor,</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120 Seosomun-ro, Seosomun-dong,</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Jung-gu, Seoul</a:t>
            </a:r>
            <a:endParaRPr sz="1000">
              <a:solidFill>
                <a:schemeClr val="dk1"/>
              </a:solidFill>
              <a:latin typeface="Calibri"/>
              <a:ea typeface="Calibri"/>
              <a:cs typeface="Calibri"/>
              <a:sym typeface="Calibri"/>
            </a:endParaRPr>
          </a:p>
        </p:txBody>
      </p:sp>
      <p:sp>
        <p:nvSpPr>
          <p:cNvPr id="2070" name="Google Shape;2070;p65"/>
          <p:cNvSpPr txBox="1"/>
          <p:nvPr/>
        </p:nvSpPr>
        <p:spPr>
          <a:xfrm>
            <a:off x="9048902" y="433357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Skudai, Malaysia</a:t>
            </a:r>
            <a:endParaRPr sz="1050">
              <a:solidFill>
                <a:schemeClr val="dk1"/>
              </a:solidFill>
              <a:latin typeface="Calibri"/>
              <a:ea typeface="Calibri"/>
              <a:cs typeface="Calibri"/>
              <a:sym typeface="Calibri"/>
            </a:endParaRPr>
          </a:p>
        </p:txBody>
      </p:sp>
      <p:sp>
        <p:nvSpPr>
          <p:cNvPr id="2071" name="Google Shape;2071;p65"/>
          <p:cNvSpPr txBox="1"/>
          <p:nvPr/>
        </p:nvSpPr>
        <p:spPr>
          <a:xfrm>
            <a:off x="9048902" y="4537481"/>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7 Jalan Pendekar 21, Lorong 3,</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Taman Ungku Tun Animah,</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Skudai, 81300 Johor, Malaysia</a:t>
            </a:r>
            <a:endParaRPr sz="1000">
              <a:solidFill>
                <a:schemeClr val="dk1"/>
              </a:solidFill>
              <a:latin typeface="Calibri"/>
              <a:ea typeface="Calibri"/>
              <a:cs typeface="Calibri"/>
              <a:sym typeface="Calibri"/>
            </a:endParaRPr>
          </a:p>
        </p:txBody>
      </p:sp>
      <p:sp>
        <p:nvSpPr>
          <p:cNvPr id="2072" name="Google Shape;2072;p65"/>
          <p:cNvSpPr txBox="1"/>
          <p:nvPr/>
        </p:nvSpPr>
        <p:spPr>
          <a:xfrm>
            <a:off x="761695" y="5629732"/>
            <a:ext cx="381030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Frankfurt, Germany</a:t>
            </a:r>
            <a:endParaRPr sz="1050">
              <a:solidFill>
                <a:schemeClr val="dk1"/>
              </a:solidFill>
              <a:latin typeface="Calibri"/>
              <a:ea typeface="Calibri"/>
              <a:cs typeface="Calibri"/>
              <a:sym typeface="Calibri"/>
            </a:endParaRPr>
          </a:p>
        </p:txBody>
      </p:sp>
      <p:sp>
        <p:nvSpPr>
          <p:cNvPr id="2073" name="Google Shape;2073;p65"/>
          <p:cNvSpPr txBox="1"/>
          <p:nvPr/>
        </p:nvSpPr>
        <p:spPr>
          <a:xfrm>
            <a:off x="761695" y="5848274"/>
            <a:ext cx="381030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Frankfurt am Main, Germany</a:t>
            </a:r>
            <a:endParaRPr sz="1000">
              <a:solidFill>
                <a:schemeClr val="dk1"/>
              </a:solidFill>
              <a:latin typeface="Calibri"/>
              <a:ea typeface="Calibri"/>
              <a:cs typeface="Calibri"/>
              <a:sym typeface="Calibri"/>
            </a:endParaRPr>
          </a:p>
        </p:txBody>
      </p:sp>
      <p:pic>
        <p:nvPicPr>
          <p:cNvPr id="2074" name="Google Shape;2074;p65"/>
          <p:cNvPicPr preferRelativeResize="0"/>
          <p:nvPr/>
        </p:nvPicPr>
        <p:blipFill rotWithShape="1">
          <a:blip r:embed="rId6">
            <a:alphaModFix/>
          </a:blip>
          <a:srcRect b="40176" l="0" r="0" t="40236"/>
          <a:stretch/>
        </p:blipFill>
        <p:spPr>
          <a:xfrm>
            <a:off x="651798" y="2371558"/>
            <a:ext cx="1659973" cy="32515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178946306669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DBDB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179092489706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DBDB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