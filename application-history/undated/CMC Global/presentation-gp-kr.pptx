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4"/>
    <p:sldMasterId id="2147483677" r:id="rId5"/>
    <p:sldMasterId id="214748367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Lst>
  <p:sldSz cy="6858000" cx="12192000"/>
  <p:notesSz cx="6858000" cy="12192000"/>
  <p:embeddedFontLst>
    <p:embeddedFont>
      <p:font typeface="Montserrat SemiBold"/>
      <p:regular r:id="rId42"/>
      <p:bold r:id="rId43"/>
      <p:italic r:id="rId44"/>
      <p:boldItalic r:id="rId45"/>
    </p:embeddedFont>
    <p:embeddedFont>
      <p:font typeface="Montserrat"/>
      <p:regular r:id="rId46"/>
      <p:bold r:id="rId47"/>
      <p:italic r:id="rId48"/>
      <p:boldItalic r:id="rId49"/>
    </p:embeddedFont>
    <p:embeddedFont>
      <p:font typeface="Quattrocento Sans"/>
      <p:regular r:id="rId50"/>
      <p:bold r:id="rId51"/>
      <p:italic r:id="rId52"/>
      <p:boldItalic r:id="rId53"/>
    </p:embeddedFont>
    <p:embeddedFont>
      <p:font typeface="Montserrat ExtraBold"/>
      <p:bold r:id="rId54"/>
      <p:boldItalic r:id="rId55"/>
    </p:embeddedFont>
    <p:embeddedFont>
      <p:font typeface="Arial Black"/>
      <p:regular r:id="rId56"/>
    </p:embeddedFont>
    <p:embeddedFont>
      <p:font typeface="Barlow"/>
      <p:regular r:id="rId57"/>
      <p:bold r:id="rId58"/>
      <p:italic r:id="rId59"/>
      <p:boldItalic r:id="rId6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1E3FC77-955F-43EE-AE7F-ED60C7898631}">
  <a:tblStyle styleId="{81E3FC77-955F-43EE-AE7F-ED60C789863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6590D6C-02A8-461A-8D93-8EB1FDAFD057}" styleName="Table_1">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font" Target="fonts/MontserratSemiBold-regular.fntdata"/><Relationship Id="rId41" Type="http://schemas.openxmlformats.org/officeDocument/2006/relationships/slide" Target="slides/slide34.xml"/><Relationship Id="rId44" Type="http://schemas.openxmlformats.org/officeDocument/2006/relationships/font" Target="fonts/MontserratSemiBold-italic.fntdata"/><Relationship Id="rId43" Type="http://schemas.openxmlformats.org/officeDocument/2006/relationships/font" Target="fonts/MontserratSemiBold-bold.fntdata"/><Relationship Id="rId46" Type="http://schemas.openxmlformats.org/officeDocument/2006/relationships/font" Target="fonts/Montserrat-regular.fntdata"/><Relationship Id="rId45" Type="http://schemas.openxmlformats.org/officeDocument/2006/relationships/font" Target="fonts/MontserratSemiBold-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Montserrat-italic.fntdata"/><Relationship Id="rId47" Type="http://schemas.openxmlformats.org/officeDocument/2006/relationships/font" Target="fonts/Montserrat-bold.fntdata"/><Relationship Id="rId49" Type="http://schemas.openxmlformats.org/officeDocument/2006/relationships/font" Target="fonts/Montserrat-boldItalic.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Barlow-bold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QuattrocentoSans-bold.fntdata"/><Relationship Id="rId50" Type="http://schemas.openxmlformats.org/officeDocument/2006/relationships/font" Target="fonts/QuattrocentoSans-regular.fntdata"/><Relationship Id="rId53" Type="http://schemas.openxmlformats.org/officeDocument/2006/relationships/font" Target="fonts/QuattrocentoSans-boldItalic.fntdata"/><Relationship Id="rId52" Type="http://schemas.openxmlformats.org/officeDocument/2006/relationships/font" Target="fonts/QuattrocentoSans-italic.fntdata"/><Relationship Id="rId11" Type="http://schemas.openxmlformats.org/officeDocument/2006/relationships/slide" Target="slides/slide4.xml"/><Relationship Id="rId55" Type="http://schemas.openxmlformats.org/officeDocument/2006/relationships/font" Target="fonts/MontserratExtraBold-boldItalic.fntdata"/><Relationship Id="rId10" Type="http://schemas.openxmlformats.org/officeDocument/2006/relationships/slide" Target="slides/slide3.xml"/><Relationship Id="rId54" Type="http://schemas.openxmlformats.org/officeDocument/2006/relationships/font" Target="fonts/MontserratExtraBold-bold.fntdata"/><Relationship Id="rId13" Type="http://schemas.openxmlformats.org/officeDocument/2006/relationships/slide" Target="slides/slide6.xml"/><Relationship Id="rId57" Type="http://schemas.openxmlformats.org/officeDocument/2006/relationships/font" Target="fonts/Barlow-regular.fntdata"/><Relationship Id="rId12" Type="http://schemas.openxmlformats.org/officeDocument/2006/relationships/slide" Target="slides/slide5.xml"/><Relationship Id="rId56" Type="http://schemas.openxmlformats.org/officeDocument/2006/relationships/font" Target="fonts/ArialBlack-regular.fntdata"/><Relationship Id="rId15" Type="http://schemas.openxmlformats.org/officeDocument/2006/relationships/slide" Target="slides/slide8.xml"/><Relationship Id="rId59" Type="http://schemas.openxmlformats.org/officeDocument/2006/relationships/font" Target="fonts/Barlow-italic.fntdata"/><Relationship Id="rId14" Type="http://schemas.openxmlformats.org/officeDocument/2006/relationships/slide" Target="slides/slide7.xml"/><Relationship Id="rId58" Type="http://schemas.openxmlformats.org/officeDocument/2006/relationships/font" Target="fonts/Barlow-bold.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veloper.android.com/develop/connectivity/bluetooth/bt-permissions" TargetMode="External"/><Relationship Id="rId3" Type="http://schemas.openxmlformats.org/officeDocument/2006/relationships/hyperlink" Target="http://developer.android.com/develop/connectivity/wifi/wifi-bootstrap" TargetMode="External"/><Relationship Id="rId4" Type="http://schemas.openxmlformats.org/officeDocument/2006/relationships/hyperlink" Target="http://developer.android.com/develop/background-work/services/fgs/service-types" TargetMode="External"/><Relationship Id="rId5" Type="http://schemas.openxmlformats.org/officeDocument/2006/relationships/hyperlink" Target="http://developer.android.com/training/permissions/requesting" TargetMode="External"/><Relationship Id="rId6" Type="http://schemas.openxmlformats.org/officeDocument/2006/relationships/hyperlink" Target="http://developer.android.com/about/versions/11/privacy/permissions" TargetMode="External"/><Relationship Id="rId7" Type="http://schemas.openxmlformats.org/officeDocument/2006/relationships/hyperlink" Target="http://support.google.com/googleplay/android-developer/answer/11926878" TargetMode="External"/><Relationship Id="rId8" Type="http://schemas.openxmlformats.org/officeDocument/2006/relationships/hyperlink" Target="http://developers.google.com/ml-kit/vision/barcode-scanning/code-scanner"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veloper.android.com/develop/connectivity/bluetooth/ble/connect-gatt-server" TargetMode="External"/><Relationship Id="rId3" Type="http://schemas.openxmlformats.org/officeDocument/2006/relationships/hyperlink" Target="http://developer.android.com/develop/connectivity/bluetooth/ble/transfer-ble-data" TargetMode="External"/><Relationship Id="rId4" Type="http://schemas.openxmlformats.org/officeDocument/2006/relationships/hyperlink" Target="http://developer.android.com/about/versions/14/behavior-changes-all" TargetMode="External"/><Relationship Id="rId11" Type="http://schemas.openxmlformats.org/officeDocument/2006/relationships/hyperlink" Target="http://punchthrough.com/android-ble-scan-errors(%EC%9E%91%EC%97%85" TargetMode="External"/><Relationship Id="rId10" Type="http://schemas.openxmlformats.org/officeDocument/2006/relationships/hyperlink" Target="http://punchthrough.com/android-ble-guide" TargetMode="External"/><Relationship Id="rId9" Type="http://schemas.openxmlformats.org/officeDocument/2006/relationships/hyperlink" Target="http://developer.android.com/about/versions/14/behavior-changes-all" TargetMode="External"/><Relationship Id="rId5" Type="http://schemas.openxmlformats.org/officeDocument/2006/relationships/hyperlink" Target="http://punchthrough.com/android-ble-guide" TargetMode="External"/><Relationship Id="rId6" Type="http://schemas.openxmlformats.org/officeDocument/2006/relationships/hyperlink" Target="http://punchthrough.com/android-ble-scan-errors(%EC%9E%91%EC%97%85" TargetMode="External"/><Relationship Id="rId7" Type="http://schemas.openxmlformats.org/officeDocument/2006/relationships/hyperlink" Target="http://developer.android.com/develop/connectivity/bluetooth/ble/connect-gatt-server" TargetMode="External"/><Relationship Id="rId8" Type="http://schemas.openxmlformats.org/officeDocument/2006/relationships/hyperlink" Target="http://developer.android.com/develop/connectivity/bluetooth/ble/transfer-ble-data"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veloper.android.com/develop/connectivity/wifi/wifi-bootstrap" TargetMode="External"/><Relationship Id="rId3" Type="http://schemas.openxmlformats.org/officeDocument/2006/relationships/hyperlink" Target="http://source.android.com/docs/core/connect/wifi-sta-sta-concurrency"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veloper.android.com/topic/libraries/architecture/saving-states" TargetMode="External"/><Relationship Id="rId3" Type="http://schemas.openxmlformats.org/officeDocument/2006/relationships/hyperlink" Target="http://developer.android.com/about/versions/16/behavior-changes-16" TargetMode="External"/><Relationship Id="rId4" Type="http://schemas.openxmlformats.org/officeDocument/2006/relationships/hyperlink" Target="http://developer.android.com/training/permissions/requesting" TargetMode="External"/><Relationship Id="rId5" Type="http://schemas.openxmlformats.org/officeDocument/2006/relationships/hyperlink" Target="http://developer.android.com/develop/background-work/services/fgs/service-types"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veloper.android.com/develop/background-work/background-tasks/persistent" TargetMode="External"/><Relationship Id="rId3" Type="http://schemas.openxmlformats.org/officeDocument/2006/relationships/hyperlink" Target="http://developer.android.com/privacy-and-security/direct-boo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veloper.android.com/privacy-and-security/keystore" TargetMode="External"/><Relationship Id="rId3" Type="http://schemas.openxmlformats.org/officeDocument/2006/relationships/hyperlink" Target="http://developer.android.com/privacy-and-security/direct-boot" TargetMode="External"/><Relationship Id="rId4" Type="http://schemas.openxmlformats.org/officeDocument/2006/relationships/hyperlink" Target="http://developer.android.com/identity/data/autobackup"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veloper.android.com/tools/adb"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developer.android.com/develop/connectivity/bluetooth/companion-device-pairing"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안녕하세요, CMC Global 이영준입니다. 오늘은 큐셀 설치 기사용 앱을 위한 네이티브 모바일 상주 개발 제안을 말씀드리겠습니다. 앞부분은 제가 팀 구성과 iOS 설계를, 뒷부분은 안재현 님이 Android 설계를 발표하겠습니다.</a:t>
            </a:r>
            <a:endParaRPr sz="1200">
              <a:solidFill>
                <a:schemeClr val="dk1"/>
              </a:solidFill>
            </a:endParaRPr>
          </a:p>
        </p:txBody>
      </p:sp>
      <p:sp>
        <p:nvSpPr>
          <p:cNvPr id="282" name="Google Shape;282;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먼저 저희가 이해한 요구사항입니다. 현재 앱을 분석해 보니 핵심은 설치 기사가 현장 네트워크 상태와 상관없이 BLE와 Wi-Fi로 </a:t>
            </a:r>
            <a:r>
              <a:rPr lang="en-US"/>
              <a:t>발전</a:t>
            </a:r>
            <a:r>
              <a:rPr lang="en-US"/>
              <a:t> 설비</a:t>
            </a:r>
            <a:r>
              <a:rPr lang="en-US"/>
              <a:t>에</a:t>
            </a:r>
            <a:r>
              <a:rPr lang="en-US"/>
              <a:t> 연결</a:t>
            </a:r>
            <a:r>
              <a:rPr lang="en-US"/>
              <a:t>해서</a:t>
            </a:r>
            <a:r>
              <a:rPr lang="en-US"/>
              <a:t> 설정과 시운전을 끝내</a:t>
            </a:r>
            <a:r>
              <a:rPr lang="en-US"/>
              <a:t>고 운영 가능하도록 하는</a:t>
            </a:r>
            <a:r>
              <a:rPr lang="en-US"/>
              <a:t> 것입니다. 그리고 온라인이 되면 작업 이력을 클라우드와 안전하게 동기화해야 합니다.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이러한 요구 사항 이행을 위해</a:t>
            </a:r>
            <a:r>
              <a:rPr lang="en-US"/>
              <a:t> 로컬 데이터를 원천으로 삼고, 재시도와 명확한 상태 분류, 기기 인증과 암호화, 테스트와 배포 자동화를 설계 원칙으로 잡았습니다.</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모바일 개발 경험, 현재 앱을 분석 바탕으로 이해한 요구사항: 발전 설비 기사의 업무를 설치 지역의 네트워크 가능 여부에 영향 받지 않고 수행 가능하도록 하는 것.</a:t>
            </a:r>
            <a:endParaRPr/>
          </a:p>
          <a:p>
            <a:pPr indent="0" lvl="0" marL="0" rtl="0" algn="l">
              <a:spcBef>
                <a:spcPts val="0"/>
              </a:spcBef>
              <a:spcAft>
                <a:spcPts val="0"/>
              </a:spcAft>
              <a:buNone/>
            </a:pPr>
            <a:r>
              <a:rPr lang="en-US">
                <a:solidFill>
                  <a:schemeClr val="dk1"/>
                </a:solidFill>
              </a:rPr>
              <a:t>요구사항 달성을 위한 설계 원칙: 로컬 데이터를 기반으로 안전한 동기화, 설비와 안정적인 연결 유지, 보안 정책 적용, 테스트 코드로 변경 사항 검증, CI/CD를 통한 빠른 배포 환경 구축</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97" name="Google Shape;297;p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3" name="Google Shape;31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팀 구성은</a:t>
            </a:r>
            <a:r>
              <a:rPr lang="en-US" sz="1200">
                <a:solidFill>
                  <a:schemeClr val="dk1"/>
                </a:solidFill>
              </a:rPr>
              <a:t> 팀장을 포함한 iOS 2명, Android 2명, 총 4명이 큐셀 서울 사무실에 상주하고, 팀장이 매일 큐셀에 보고드립니다. 10월 12일 3명이 먼저 투입되고 11월 2일 Android 임지영 님이 합류해 12월 말까지 4명 체제로 운영하며, 네 명 모두 BLE와 IoT 장비 경험이 있는 서울 거주 한국인입니다</a:t>
            </a:r>
            <a:r>
              <a:rPr lang="en-US" sz="1200">
                <a:solidFill>
                  <a:schemeClr val="dk1"/>
                </a:solidFill>
              </a:rPr>
              <a:t>. 대체 인력과 아키텍처 검토, QA 및 CI/CD 구축 지원은 CMC 본사가 추가 비용 없이 뒷받침할 예정입니다.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요구사항 이행을 위한 현장 인원 구성: 팀장을 포함한 4명의 개발자로 구성된 팀이 상주, 팀장은 매일 큐셀에 보고. 필요시 현장 대리인 추가 투입</a:t>
            </a:r>
            <a:endParaRPr sz="1200">
              <a:solidFill>
                <a:schemeClr val="dk1"/>
              </a:solidFill>
            </a:endParaRPr>
          </a:p>
          <a:p>
            <a:pPr indent="0" lvl="0" marL="0" marR="0" rtl="0" algn="l">
              <a:spcBef>
                <a:spcPts val="0"/>
              </a:spcBef>
              <a:spcAft>
                <a:spcPts val="0"/>
              </a:spcAft>
              <a:buNone/>
            </a:pPr>
            <a:r>
              <a:rPr lang="en-US" sz="1200">
                <a:solidFill>
                  <a:schemeClr val="dk1"/>
                </a:solidFill>
              </a:rPr>
              <a:t>기타 필요 사항 CMC 본사 지원</a:t>
            </a:r>
            <a:endParaRPr sz="1200">
              <a:solidFill>
                <a:schemeClr val="dk1"/>
              </a:solidFill>
              <a:latin typeface="Arial"/>
              <a:ea typeface="Arial"/>
              <a:cs typeface="Arial"/>
              <a:sym typeface="Arial"/>
            </a:endParaRPr>
          </a:p>
        </p:txBody>
      </p:sp>
      <p:sp>
        <p:nvSpPr>
          <p:cNvPr id="314" name="Google Shape;314;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투입 일정: 다음주 월요일에 3명 투입 시작, 임지영님은 11월에 합류 예정</a:t>
            </a:r>
            <a:endParaRPr/>
          </a:p>
        </p:txBody>
      </p:sp>
      <p:sp>
        <p:nvSpPr>
          <p:cNvPr id="379" name="Google Shape;379;p4: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투입 인원 상세: Android iOS 각 2명. BLE 및 IoT 경험한 시니어 및 미드 시니어로 구성</a:t>
            </a:r>
            <a:endParaRPr/>
          </a:p>
        </p:txBody>
      </p:sp>
      <p:sp>
        <p:nvSpPr>
          <p:cNvPr id="423" name="Google Shape;423;p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투입 인원: 모두 한국인, 서울 거주, 프로젝트 중간 이탈 예정자 없음</a:t>
            </a:r>
            <a:endParaRPr/>
          </a:p>
        </p:txBody>
      </p:sp>
      <p:sp>
        <p:nvSpPr>
          <p:cNvPr id="431" name="Google Shape;431;p6: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9" name="Google Shape;43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개발자 1: 이영준. 총 15년의 개발 경력. iOS 5년.</a:t>
            </a:r>
            <a:endParaRPr sz="1200">
              <a:solidFill>
                <a:schemeClr val="dk1"/>
              </a:solidFill>
              <a:latin typeface="Arial"/>
              <a:ea typeface="Arial"/>
              <a:cs typeface="Arial"/>
              <a:sym typeface="Arial"/>
            </a:endParaRPr>
          </a:p>
        </p:txBody>
      </p:sp>
      <p:sp>
        <p:nvSpPr>
          <p:cNvPr id="440" name="Google Shape;44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3" name="Google Shape;52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개발자 2: 김진희. 금융,항공,IoT 도메인에서 15년 iOS</a:t>
            </a:r>
            <a:endParaRPr sz="1200">
              <a:solidFill>
                <a:schemeClr val="dk1"/>
              </a:solidFill>
              <a:latin typeface="Arial"/>
              <a:ea typeface="Arial"/>
              <a:cs typeface="Arial"/>
              <a:sym typeface="Arial"/>
            </a:endParaRPr>
          </a:p>
        </p:txBody>
      </p:sp>
      <p:sp>
        <p:nvSpPr>
          <p:cNvPr id="524" name="Google Shape;524;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7" name="Google Shape;607;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개발자 3: 안재현. 은행,카드,항공사에서 9년 안드로이드</a:t>
            </a:r>
            <a:endParaRPr sz="1200">
              <a:solidFill>
                <a:schemeClr val="dk1"/>
              </a:solidFill>
              <a:latin typeface="Arial"/>
              <a:ea typeface="Arial"/>
              <a:cs typeface="Arial"/>
              <a:sym typeface="Arial"/>
            </a:endParaRPr>
          </a:p>
        </p:txBody>
      </p:sp>
      <p:sp>
        <p:nvSpPr>
          <p:cNvPr id="608" name="Google Shape;608;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1" name="Google Shape;69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개발자 4: 임지영. 모빌리티 분야에서 Android 6년</a:t>
            </a:r>
            <a:endParaRPr sz="1200">
              <a:solidFill>
                <a:schemeClr val="dk1"/>
              </a:solidFill>
              <a:latin typeface="Arial"/>
              <a:ea typeface="Arial"/>
              <a:cs typeface="Arial"/>
              <a:sym typeface="Arial"/>
            </a:endParaRPr>
          </a:p>
        </p:txBody>
      </p:sp>
      <p:sp>
        <p:nvSpPr>
          <p:cNvPr id="692" name="Google Shape;692;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5" name="Google Shape;77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그럼 지금부터 iOS 설계안을 말씀드리겠습니다. 큐셀 CORE Pro 설치 기사용 앱을 BLE, 로컬 Wi-Fi, 펌웨어, 클라우드 동기화 관점에서 설계했습니다.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iOS 부터 앱 설계 방안 브리핑</a:t>
            </a:r>
            <a:endParaRPr sz="1200">
              <a:solidFill>
                <a:schemeClr val="dk1"/>
              </a:solidFill>
            </a:endParaRPr>
          </a:p>
          <a:p>
            <a:pPr indent="0" lvl="0" marL="0" marR="0" rtl="0" algn="l">
              <a:spcBef>
                <a:spcPts val="0"/>
              </a:spcBef>
              <a:spcAft>
                <a:spcPts val="0"/>
              </a:spcAft>
              <a:buNone/>
            </a:pPr>
            <a:r>
              <a:rPr lang="en-US" sz="1200">
                <a:solidFill>
                  <a:schemeClr val="dk1"/>
                </a:solidFill>
              </a:rPr>
              <a:t>RFP QCELLS-MOBILE-RFP-2026-09-25 6항의 기술 설계 과제입니다. T1~T10 페이지가 설계 본문이고, B1~B4 페이지는 Q&amp;A용 백업입니다.</a:t>
            </a:r>
            <a:endParaRPr sz="1200">
              <a:solidFill>
                <a:schemeClr val="dk1"/>
              </a:solidFill>
            </a:endParaRPr>
          </a:p>
        </p:txBody>
      </p:sp>
      <p:sp>
        <p:nvSpPr>
          <p:cNvPr id="776" name="Google Shape;776;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t>설치 업무는 세 단계로 나눴습니다. 첫째, </a:t>
            </a:r>
            <a:r>
              <a:rPr lang="en-US" sz="1200"/>
              <a:t>기사님이 먼저</a:t>
            </a:r>
            <a:r>
              <a:rPr lang="en-US" sz="1200"/>
              <a:t> 온라인에서 로그인해 오늘의 작업 목록과 NMI NO, 펌웨어까지 미리 내려받습니다. 둘째, 현장에서는 인터넷 없이 Bluetooth</a:t>
            </a:r>
            <a:r>
              <a:rPr lang="en-US" sz="1200"/>
              <a:t>와</a:t>
            </a:r>
            <a:r>
              <a:rPr lang="en-US" sz="1200"/>
              <a:t> </a:t>
            </a:r>
            <a:r>
              <a:rPr lang="en-US" sz="1200"/>
              <a:t>내장 Wi-Fi를 통해</a:t>
            </a:r>
            <a:r>
              <a:rPr lang="en-US" sz="1200"/>
              <a:t> 1:1 연결로 기기를 설정하고 적용해 운행 상태로 전환합니다. 셋째, 네트워크가 돌아오면 변경 이력을 중복 없이 클라우드에 </a:t>
            </a:r>
            <a:r>
              <a:rPr lang="en-US" sz="1200"/>
              <a:t>업로드 합니다</a:t>
            </a:r>
            <a:r>
              <a:rPr lang="en-US" sz="1200"/>
              <a:t>.</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rPr lang="en-US" sz="1200"/>
              <a:t>—</a:t>
            </a:r>
            <a:endParaRPr sz="1200"/>
          </a:p>
          <a:p>
            <a:pPr indent="0" lvl="0" marL="0" marR="0" rtl="0" algn="l">
              <a:spcBef>
                <a:spcPts val="0"/>
              </a:spcBef>
              <a:spcAft>
                <a:spcPts val="0"/>
              </a:spcAft>
              <a:buNone/>
            </a:pPr>
            <a:r>
              <a:rPr lang="en-US" sz="1200"/>
              <a:t>설치 업무</a:t>
            </a:r>
            <a:r>
              <a:rPr lang="en-US" sz="1200"/>
              <a:t>를 </a:t>
            </a:r>
            <a:r>
              <a:rPr lang="en-US" sz="1200"/>
              <a:t>3단계</a:t>
            </a:r>
            <a:r>
              <a:rPr lang="en-US" sz="1200"/>
              <a:t>로 분리</a:t>
            </a:r>
            <a:r>
              <a:rPr lang="en-US" sz="1200"/>
              <a:t>: 설치 기사 앱 로그인 - 담당 설비(위치) 정보 동기화 - 대상 설비 선택, 설비와 통신하고 설정 - 진단/운행, 네트워크 복구 시 서버와 변경 이력/설비 </a:t>
            </a:r>
            <a:r>
              <a:rPr lang="en-US" sz="1200"/>
              <a:t>최신 </a:t>
            </a:r>
            <a:r>
              <a:rPr lang="en-US" sz="1200"/>
              <a:t>정보 동기화</a:t>
            </a:r>
            <a:endParaRPr sz="1200"/>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1.1절 및 그림 1.</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설치 워크플로는 서버 사전 동기화, 현장 오프라인 설정, 설치 후 동기화의 3단계로 나뉘어 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1단계, 사전 동기화. 로그인 후 앱이 설치 기사 ID를 기준으로 오늘의 작업 지시를 받습니다. 대상 ESS의 Serial No, NMI No, 모델 정보, 최신 펌웨어 바이너리를 로컬 저장소로 다운로드합니다. 이후 단계는 현장의 인터넷 연결 여부와 관계없이 진행됩니다.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2단계, 오프라인 우선 시운전. 모든 설정 입출력은 앱과 기기 간 BLE 1:1 직접 연결로 수행합니다. 서버 왕복 없이 기기 자체 데이터로 동작합니다. 펌웨어 업데이트는 ESS 내장 Wi-Fi와의 1:1 통신으로 수행합니다.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3단계, 완료 및 클라우드 동기화. 적용(Apply) 시점에 기기 상태가 미완료에서 운행으로 확정됩니다. 변경 이력은 고유 ID가 붙은 앱 내 트랜잭션으로 저장되고, 인터넷 연결이 복구되면 클라우드로 자동 동기화됩니다.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일반 경로: 설치 기사가 다운로드된 목록에서 ESS 행을 탭합니다. 예외 경로: 설치 마법사(+)에서 Serial No를 수동 입력하거나 바코드를 스캔합니다.설치 업무 수행을 위한 3단계: 설치 기사 앱 로그인 - 담당 설비(위치) 정보 동기화 - 대상 설비 선택, 설비와 통신하고 설정 - 진단/운행, 네트워크 복구 시 서버와 변경 이력/설비 정보 동기화</a:t>
            </a:r>
            <a:endParaRPr sz="1200">
              <a:solidFill>
                <a:schemeClr val="dk1"/>
              </a:solidFil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Source: design document section 1.1 and Figure 1.</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The installation workflow is split into three stages: server pre-sync, on-site offline configuration, post-installation sync.</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Stage 1, Pre-sync. After login the app receives today's work orders based on the installer ID. It downloads Serial No, NMI No, model info and the latest firmware binary of the target ESS units to local storage. Later stages proceed regardless of on-site internet connectivity.</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Stage 2, Offline-first commissioning. All configuration I/O runs over a BLE 1:1 direct link between the app and the device. It operates on the device's own data without server round trips. Firmware update runs over 1:1 communication with the ESS built-in Wi-Fi.</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Stage 3, Completion and cloud sync. The device state is confirmed as Incomplete to Run at the moment of Apply. Change history is stored as in-app transactions with unique IDs and is synced to the cloud automatically when internet connectivity is restored.</a:t>
            </a:r>
            <a:endParaRPr/>
          </a:p>
          <a:p>
            <a:pPr indent="0" lvl="0" marL="0" marR="0" rtl="0" algn="l">
              <a:spcBef>
                <a:spcPts val="0"/>
              </a:spcBef>
              <a:spcAft>
                <a:spcPts val="0"/>
              </a:spcAft>
              <a:buNone/>
            </a:pPr>
            <a:r>
              <a:t/>
            </a:r>
            <a:endParaRPr sz="1200">
              <a:solidFill>
                <a:schemeClr val="dk1"/>
              </a:solidFill>
              <a:latin typeface="Arial"/>
              <a:ea typeface="Arial"/>
              <a:cs typeface="Arial"/>
              <a:sym typeface="Arial"/>
            </a:endParaRPr>
          </a:p>
          <a:p>
            <a:pPr indent="0" lvl="0" marL="0" marR="0" rtl="0" algn="l">
              <a:spcBef>
                <a:spcPts val="0"/>
              </a:spcBef>
              <a:spcAft>
                <a:spcPts val="0"/>
              </a:spcAft>
              <a:buNone/>
            </a:pPr>
            <a:r>
              <a:rPr lang="en-US" sz="1200">
                <a:solidFill>
                  <a:schemeClr val="dk1"/>
                </a:solidFill>
                <a:latin typeface="Arial"/>
                <a:ea typeface="Arial"/>
                <a:cs typeface="Arial"/>
                <a:sym typeface="Arial"/>
              </a:rPr>
              <a:t>Normal path: the installer taps an ESS row from the downloaded list. Exception path: the Install Wizard (+), with manual Serial No entry or a barcode scan.</a:t>
            </a:r>
            <a:endParaRPr/>
          </a:p>
        </p:txBody>
      </p:sp>
      <p:sp>
        <p:nvSpPr>
          <p:cNvPr id="783" name="Google Shape;783;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40" name="Google Shape;840;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설비는 미완료, 운행, 경고, 오류 네 가지 상태를 갖고, 이 상태가 설치 기사가 보고 바꿀 수 있는 범위를 결정합니다. 미완료는 비밀번호 없이 전체 설정이 가능하고, 운행 중에는 조회만 하되 변경 시 1회용 OTP가 필요하며, 경고와 오류는 진단 데이터를 우선 보여줍니다. 여기에 Wi-Fi 연결 여부가 독립적으로 조합되어 클라우드 보고 여부가 정해집니다.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설비는 4가지 상태를 가지고 각 상태에 따라 설치 기사가 할 수 있는 작업이 결정, 네트워크 가능 여부 조합</a:t>
            </a:r>
            <a:endParaRPr sz="1200">
              <a:solidFill>
                <a:schemeClr val="dk1"/>
              </a:solidFill>
            </a:endParaRPr>
          </a:p>
          <a:p>
            <a:pPr indent="0" lvl="0" marL="0" marR="0" rtl="0" algn="l">
              <a:spcBef>
                <a:spcPts val="0"/>
              </a:spcBef>
              <a:spcAft>
                <a:spcPts val="0"/>
              </a:spcAft>
              <a:buNone/>
            </a:pPr>
            <a:r>
              <a:rPr lang="en-US" sz="1200">
                <a:solidFill>
                  <a:schemeClr val="dk1"/>
                </a:solidFill>
              </a:rPr>
              <a:t>4가지 설비 상태: 미설치(미완료), 운행 중, 경고 발생, 오류 발생. 음영 지역이거나 Wi-Fi 장비가 없는 등 네트워크 상태 추가.</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1.2절 및 그림 2.</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앱의 모든 화면 권한과 편집 가능 범위는 4가지 상태로 결정됩니다.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미완료: 공장 초기화 상태이며 설정이 완료되지 않았습니다. 신규 설치 대상입니다. 비밀번호 단계를 생략하고 전체 설정을 편집할 수 있습니다.</a:t>
            </a:r>
            <a:endParaRPr sz="1200">
              <a:solidFill>
                <a:schemeClr val="dk1"/>
              </a:solidFill>
            </a:endParaRPr>
          </a:p>
          <a:p>
            <a:pPr indent="0" lvl="0" marL="0" marR="0" rtl="0" algn="l">
              <a:spcBef>
                <a:spcPts val="0"/>
              </a:spcBef>
              <a:spcAft>
                <a:spcPts val="0"/>
              </a:spcAft>
              <a:buNone/>
            </a:pPr>
            <a:r>
              <a:rPr lang="en-US" sz="1200">
                <a:solidFill>
                  <a:schemeClr val="dk1"/>
                </a:solidFill>
              </a:rPr>
              <a:t>운행: 설정 후 상업 운전 중입니다. 유지보수 또는 재설정 대상입니다. 상태 조회만 가능하며, 설정 변경에는 임시 비밀번호 인증이 필요합니다.</a:t>
            </a:r>
            <a:endParaRPr sz="1200">
              <a:solidFill>
                <a:schemeClr val="dk1"/>
              </a:solidFill>
            </a:endParaRPr>
          </a:p>
          <a:p>
            <a:pPr indent="0" lvl="0" marL="0" marR="0" rtl="0" algn="l">
              <a:spcBef>
                <a:spcPts val="0"/>
              </a:spcBef>
              <a:spcAft>
                <a:spcPts val="0"/>
              </a:spcAft>
              <a:buNone/>
            </a:pPr>
            <a:r>
              <a:rPr lang="en-US" sz="1200">
                <a:solidFill>
                  <a:schemeClr val="dk1"/>
                </a:solidFill>
              </a:rPr>
              <a:t>경고 / 오류: 기기 자가 진단 경고 또는 정지 상태입니다. 현장 문제 해결 대상입니다. 진단 데이터를 우선 보여주고, 설정 변경은 운영 정책을 따릅니다.</a:t>
            </a:r>
            <a:endParaRPr sz="1200">
              <a:solidFill>
                <a:schemeClr val="dk1"/>
              </a:solidFill>
            </a:endParaRPr>
          </a:p>
          <a:p>
            <a:pPr indent="0" lvl="0" marL="0" marR="0" rtl="0" algn="l">
              <a:spcBef>
                <a:spcPts val="0"/>
              </a:spcBef>
              <a:spcAft>
                <a:spcPts val="0"/>
              </a:spcAft>
              <a:buNone/>
            </a:pPr>
            <a:r>
              <a:rPr lang="en-US" sz="1200">
                <a:solidFill>
                  <a:schemeClr val="dk1"/>
                </a:solidFill>
              </a:rPr>
              <a:t>Wifi / non-Wifi: 기기의 외부 인터넷 연결 여부이며, 클라우드 원격 모니터링 가능 여부를 결정합니다. non-Wifi일 때 앱은 로컬 저장소 동기화 대기 중임을 표시합니다.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Wifi / non-Wifi는 위 상태들과 조합되는 독립적인 연결 상태입니다. 예: 운행 + non-Wifi는 정상 동작하지만 클라우드로 보고하지 않는 상태입니다.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FW 업데이트 중은 기기 상태가 아니라 앱 세션 상태입니다. 커밋이 되면 새 버전으로, 롤백이 되면 이전 버전으로 운행 상태에 복귀합니다.</a:t>
            </a:r>
            <a:endParaRPr sz="1200">
              <a:solidFill>
                <a:schemeClr val="dk1"/>
              </a:solidFill>
            </a:endParaRPr>
          </a:p>
        </p:txBody>
      </p:sp>
      <p:sp>
        <p:nvSpPr>
          <p:cNvPr id="841" name="Google Shape;841;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01" name="Google Shape;90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t>앱을 분석하며 확인한 동작 7가지가 있고, 각각이 하나의 설계 결정으로 이어집니다. 예를 들어 대시보드는 BLE 스캔 결과가 아니라 동기화된 작업 목록이라 오프라인에서도 동작하게 했고, 데이터를 읽는 동안은 모달로 입력을 막습니다. 되돌릴 수 없는 적용은 설정 요약과 확인을 먼저 보여주고, Off-Grid </a:t>
            </a:r>
            <a:r>
              <a:rPr lang="en-US" sz="1200"/>
              <a:t>설정은</a:t>
            </a:r>
            <a:r>
              <a:rPr lang="en-US" sz="1200"/>
              <a:t> 2단계 확인을 거치게 했습니다.</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t/>
            </a:r>
            <a:endParaRPr sz="1200"/>
          </a:p>
          <a:p>
            <a:pPr indent="0" lvl="0" marL="0" marR="0" rtl="0" algn="l">
              <a:spcBef>
                <a:spcPts val="0"/>
              </a:spcBef>
              <a:spcAft>
                <a:spcPts val="0"/>
              </a:spcAft>
              <a:buNone/>
            </a:pPr>
            <a:r>
              <a:rPr lang="en-US" sz="1200"/>
              <a:t>—</a:t>
            </a:r>
            <a:endParaRPr sz="1200"/>
          </a:p>
          <a:p>
            <a:pPr indent="0" lvl="0" marL="0" marR="0" rtl="0" algn="l">
              <a:spcBef>
                <a:spcPts val="0"/>
              </a:spcBef>
              <a:spcAft>
                <a:spcPts val="0"/>
              </a:spcAft>
              <a:buNone/>
            </a:pPr>
            <a:r>
              <a:rPr lang="en-US"/>
              <a:t>앱 </a:t>
            </a:r>
            <a:r>
              <a:rPr lang="en-US"/>
              <a:t>분석 중</a:t>
            </a:r>
            <a:r>
              <a:rPr lang="en-US"/>
              <a:t> 확인된 사항에 따라 화면 및 </a:t>
            </a:r>
            <a:r>
              <a:rPr lang="en-US"/>
              <a:t>구성</a:t>
            </a:r>
            <a:r>
              <a:rPr lang="en-US"/>
              <a:t>에 대한 설계 방향 결정. </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대시보드 목록, 설치 마법사, 로딩/새로고침 시 UI 잠금, 미설치 상태, NMI 값, 비상 상황 정책/가격, 운행전 경고 발생시?</a:t>
            </a:r>
            <a:endParaRPr/>
          </a:p>
          <a:p>
            <a:pPr indent="0" lvl="0" marL="0" marR="0" rtl="0" algn="l">
              <a:spcBef>
                <a:spcPts val="0"/>
              </a:spcBef>
              <a:spcAft>
                <a:spcPts val="0"/>
              </a:spcAft>
              <a:buNone/>
            </a:pPr>
            <a:r>
              <a:t/>
            </a:r>
            <a:endParaRPr/>
          </a:p>
          <a:p>
            <a:pPr indent="0" lvl="0" marL="0" marR="0" rtl="0" algn="l">
              <a:spcBef>
                <a:spcPts val="0"/>
              </a:spcBef>
              <a:spcAft>
                <a:spcPts val="0"/>
              </a:spcAft>
              <a:buNone/>
            </a:pPr>
            <a:r>
              <a:rPr lang="en-US"/>
              <a:t>출처: 설계 문서 1.3절. 앱 UX에서 확인된 7가지 현장 동작과 그 설계 해석을 정의합니다.</a:t>
            </a:r>
            <a:endParaRPr/>
          </a:p>
          <a:p>
            <a:pPr indent="0" lvl="0" marL="0" marR="0" rtl="0" algn="l">
              <a:spcBef>
                <a:spcPts val="0"/>
              </a:spcBef>
              <a:spcAft>
                <a:spcPts val="0"/>
              </a:spcAft>
              <a:buNone/>
            </a:pPr>
            <a:r>
              <a:t/>
            </a:r>
            <a:endParaRPr/>
          </a:p>
          <a:p>
            <a:pPr indent="-317500" lvl="0" marL="457200" marR="0" rtl="0" algn="l">
              <a:spcBef>
                <a:spcPts val="0"/>
              </a:spcBef>
              <a:spcAft>
                <a:spcPts val="0"/>
              </a:spcAft>
              <a:buSzPts val="1400"/>
              <a:buAutoNum type="arabicParenBoth"/>
            </a:pPr>
            <a:r>
              <a:rPr lang="en-US"/>
              <a:t>대시보드 목록의 실체. 실시간 BLE 스캔 목록이 아니라 설치 기사 ID를 기준으로 다운로드하고 동기화한 오늘의 작업 목록입니다. 설계: 대시보드 렌더링은 BLE 상태와 완전히 분리하고, 로컬 저장소로 오프라인 동작을 보장합니다.</a:t>
            </a:r>
            <a:endParaRPr/>
          </a:p>
          <a:p>
            <a:pPr indent="-317500" lvl="0" marL="457200" marR="0" rtl="0" algn="l">
              <a:spcBef>
                <a:spcPts val="0"/>
              </a:spcBef>
              <a:spcAft>
                <a:spcPts val="0"/>
              </a:spcAft>
              <a:buSzPts val="1400"/>
              <a:buAutoNum type="arabicParenBoth"/>
            </a:pPr>
            <a:r>
              <a:rPr lang="en-US"/>
              <a:t>설치 마법사(+) 버튼. 다운로드로 커버되지 않는 예외를 위한 수동 진입점입니다. 시스템에 없는 가구 방문, 또는 현장 하드웨어 교체로 인한 불일치가 해당합니다. 설치 기사가 실제 기기의 Serial No를 수동 입력하거나 바코드로 스캔합니다. 설계: 입력된 Serial No는 BLE Local Name 매칭 키로 쓰여 1:1 직접 연결을 맺고, 입력 이력은 서버에 기록합니다.</a:t>
            </a:r>
            <a:endParaRPr/>
          </a:p>
          <a:p>
            <a:pPr indent="-317500" lvl="0" marL="457200" marR="0" rtl="0" algn="l">
              <a:spcBef>
                <a:spcPts val="0"/>
              </a:spcBef>
              <a:spcAft>
                <a:spcPts val="0"/>
              </a:spcAft>
              <a:buSzPts val="1400"/>
              <a:buAutoNum type="arabicParenBoth"/>
            </a:pPr>
            <a:r>
              <a:rPr lang="en-US"/>
              <a:t>진입·새로고침 시 UI 잠금. ESS 행을 탭하면 BLE 1:1 연결과 실시간 일괄 읽기가 함께 시작됩니다. 새로고침 중에는 명령 충돌을 막기 위해 모달로 모든 UI 입력을 강제로 차단합니다. 기기 내부 데이터는 서버 호출이 아니라 로컬 BLE / 소켓 직접 연결로 실시간 강제 갱신합니다. 설계: 세션 단위 단일 명령 큐와 모달 잠금 가드.</a:t>
            </a:r>
            <a:endParaRPr/>
          </a:p>
          <a:p>
            <a:pPr indent="-317500" lvl="0" marL="457200" marR="0" rtl="0" algn="l">
              <a:spcBef>
                <a:spcPts val="0"/>
              </a:spcBef>
              <a:spcAft>
                <a:spcPts val="0"/>
              </a:spcAft>
              <a:buSzPts val="1400"/>
              <a:buAutoNum type="arabicParenBoth"/>
            </a:pPr>
            <a:r>
              <a:rPr lang="en-US"/>
              <a:t>미완료 상태의 권한. 공장 초기화 상태는 보호할 비밀번호가 없으므로 임시 설치 기사 비밀번호 단계를 완전히 생략합니다. 순서: 상단의 Off-Grid 안전 인터락을 먼저 설정하고, 하단의 NMI No를 입력한 뒤 적용(Apply)합니다. 적용 시 최종 운행 상태가 확정되고 기기는 보안 잠금 모드로 전환됩니다. 설계: 적용은 되돌릴 수 없는 트랜잭션으로 취급하며, 확인 대화상자와 설정 요약 화면을 필수로 표시합니다.</a:t>
            </a:r>
            <a:endParaRPr/>
          </a:p>
          <a:p>
            <a:pPr indent="-317500" lvl="0" marL="457200" marR="0" rtl="0" algn="l">
              <a:spcBef>
                <a:spcPts val="0"/>
              </a:spcBef>
              <a:spcAft>
                <a:spcPts val="0"/>
              </a:spcAft>
              <a:buSzPts val="1400"/>
              <a:buAutoNum type="arabicParenBoth"/>
            </a:pPr>
            <a:r>
              <a:rPr lang="en-US"/>
              <a:t>NMI No를 삭제하면 재입력할 수 없는 문제. 미설치 기기의 편집 화면에서 기존 NMI No를 삭제하면 수동 재입력이 막히는 런타임 잠금이 발생합니다. 원인: NMI No는 설치 기사가 만드는 값이 아니라 서버 / 정산 네트워크에서 발급하고 조회하는 고유 자산(읽기 전용 구독 자산)입니다. 설계: NMI No 필드를 자유 텍스트 입력 대신 조회 선택기로 다시 정의하고, 삭제 대신 재조회(Re-fetch) 동작을 둡니다. 오프라인 상황에 대비해 사전 동기화 때 NMI No를 작업 지시에 미리 불러옵니다.</a:t>
            </a:r>
            <a:endParaRPr/>
          </a:p>
          <a:p>
            <a:pPr indent="-317500" lvl="0" marL="457200" marR="0" rtl="0" algn="l">
              <a:spcBef>
                <a:spcPts val="0"/>
              </a:spcBef>
              <a:spcAft>
                <a:spcPts val="0"/>
              </a:spcAft>
              <a:buSzPts val="1400"/>
              <a:buAutoNum type="arabicParenBoth"/>
            </a:pPr>
            <a:r>
              <a:rPr lang="en-US"/>
              <a:t>에너지 정책과 요금 메뉴 연동. 일반 대기(Standby) 모드에서는 요금표가 필요 없으므로 요금 하위 메뉴 진입을 완전히 막습니다. 요금 입력 폼(kWh당 수동 요금)은 상단 설정에서 시간대별(Time-based) 모드로 전환했을 때만 런타임에 해제됩니다. 설계: 요금 설정 가능 여부는 로컬 UI 상태가 아니라 기기 자체 데이터로 결정합니다.</a:t>
            </a:r>
            <a:endParaRPr/>
          </a:p>
          <a:p>
            <a:pPr indent="-317500" lvl="0" marL="457200" marR="0" rtl="0" algn="l">
              <a:spcBef>
                <a:spcPts val="0"/>
              </a:spcBef>
              <a:spcAft>
                <a:spcPts val="0"/>
              </a:spcAft>
              <a:buSzPts val="1400"/>
              <a:buAutoNum type="arabicParenBoth"/>
            </a:pPr>
            <a:r>
              <a:rPr lang="en-US"/>
              <a:t>하드웨어 마스터 스위치 정의. Off-Grid는 외부 계통 정전 시 오류로 정지하는 대신 태양광과 배터리로 독립 운전할지 결정하는 안전 해제 스위치입니다. 잘못 설정하면 사람과 장비의 안전에 직접 영향을 주므로 2단계 확인 UI를 적용합니다. Test Site는 상업 운전 전 통신 테스트용 실험 자산인지 나타내며, Yes이면 백엔드가 해당 계량 데이터를 일반 요금 정산 통계 파이프라인에서 제외합니다. 상업 운전을 위해 No로 바꾸는 것을 잊지 않도록 운행 확정 직전에 경고 배너를 표시합니다.</a:t>
            </a:r>
            <a:endParaRPr/>
          </a:p>
        </p:txBody>
      </p:sp>
      <p:sp>
        <p:nvSpPr>
          <p:cNvPr id="902" name="Google Shape;902;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1" name="Shape 961"/>
        <p:cNvGrpSpPr/>
        <p:nvPr/>
      </p:nvGrpSpPr>
      <p:grpSpPr>
        <a:xfrm>
          <a:off x="0" y="0"/>
          <a:ext cx="0" cy="0"/>
          <a:chOff x="0" y="0"/>
          <a:chExt cx="0" cy="0"/>
        </a:xfrm>
      </p:grpSpPr>
      <p:sp>
        <p:nvSpPr>
          <p:cNvPr id="962" name="Google Shape;96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3" name="Google Shape;96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설비에서 읽은 값이 최종 기준이라는 원칙하에 연결, 읽기, 쓰기, 인증, 적용, Wi-Fi, 플래시, 동기화의 실패 경로 마다 감지 방법을 정했고, 특히 쓰기 시간 초과 시에는 자동 재전송 없이 다시 읽어 비교한 뒤 미적용일 때만 재시도합니다.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설비가 주는 상태가 최신 정보 원칙. 실패 유형 선정, 실패 여부 판단 방법 결정</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앱과 동기화, 실패 유형: 설치 마법사가 스캔 실패, 상태 받는 중 BLE 끊김, 설정 변경 중 Timeout, OTP 인증 실패, 재시도 등으로 설정 변경 충돌, 설비 자체 Wi-Fi 연결 실패, 앱이 죽거나 저전력 상태(+배터리 경고/기능차단?), 클라우드 동기화 실패</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1.4절.</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모든 오류는 기기 read-back을 최종 기준 정보로 삼아, 앱과 기기가 불일치한 채 끝나는 작업이 없도록 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일괄 읽기 중 BLE 끊김. 감지: didDisconnectPeripheral, 대기 중인 continuation에 오류 전달. 복구: UI 잠금을 해제하고 1회 자동 재연결한 뒤 설치 기사에게 재시도를 안내합니다.</a:t>
            </a:r>
            <a:endParaRPr sz="1200">
              <a:solidFill>
                <a:schemeClr val="dk1"/>
              </a:solidFill>
            </a:endParaRPr>
          </a:p>
          <a:p>
            <a:pPr indent="0" lvl="0" marL="0" marR="0" rtl="0" algn="l">
              <a:spcBef>
                <a:spcPts val="0"/>
              </a:spcBef>
              <a:spcAft>
                <a:spcPts val="0"/>
              </a:spcAft>
              <a:buNone/>
            </a:pPr>
            <a:r>
              <a:rPr lang="en-US" sz="1200">
                <a:solidFill>
                  <a:schemeClr val="dk1"/>
                </a:solidFill>
              </a:rPr>
              <a:t>쓰기 응답 시간 초과. 감지: Write With Response 응답(ack) 없음. 복구: 자동 재전송 없음. 재연결 후 read-back을 비교하고, 미적용일 때만 새 OTP로 재전송합니다.</a:t>
            </a:r>
            <a:endParaRPr sz="1200">
              <a:solidFill>
                <a:schemeClr val="dk1"/>
              </a:solidFill>
            </a:endParaRPr>
          </a:p>
          <a:p>
            <a:pPr indent="0" lvl="0" marL="0" marR="0" rtl="0" algn="l">
              <a:spcBef>
                <a:spcPts val="0"/>
              </a:spcBef>
              <a:spcAft>
                <a:spcPts val="0"/>
              </a:spcAft>
              <a:buNone/>
            </a:pPr>
            <a:r>
              <a:rPr lang="en-US" sz="1200">
                <a:solidFill>
                  <a:schemeClr val="dk1"/>
                </a:solidFill>
              </a:rPr>
              <a:t>OTP 검증 실패. 감지: 기기 오류 코드. 복구: 기기 시계를 확인하고 재입력을 안내합니다. 연속 실패 시 남은 잠금 시간을 표시합니다.</a:t>
            </a:r>
            <a:endParaRPr sz="1200">
              <a:solidFill>
                <a:schemeClr val="dk1"/>
              </a:solidFill>
            </a:endParaRPr>
          </a:p>
          <a:p>
            <a:pPr indent="0" lvl="0" marL="0" marR="0" rtl="0" algn="l">
              <a:spcBef>
                <a:spcPts val="0"/>
              </a:spcBef>
              <a:spcAft>
                <a:spcPts val="0"/>
              </a:spcAft>
              <a:buNone/>
            </a:pPr>
            <a:r>
              <a:rPr lang="en-US" sz="1200">
                <a:solidFill>
                  <a:schemeClr val="dk1"/>
                </a:solidFill>
              </a:rPr>
              <a:t>적용 중단. 감지: 적용 전에 저장한 로컬 미완료 표시. 복구: 재진입 시 기기 상태를 읽습니다. 운행이면 완료 처리, 미완료이면 설정 요약 후 다시 적용합니다.</a:t>
            </a:r>
            <a:endParaRPr sz="1200">
              <a:solidFill>
                <a:schemeClr val="dk1"/>
              </a:solidFill>
            </a:endParaRPr>
          </a:p>
          <a:p>
            <a:pPr indent="0" lvl="0" marL="0" marR="0" rtl="0" algn="l">
              <a:spcBef>
                <a:spcPts val="0"/>
              </a:spcBef>
              <a:spcAft>
                <a:spcPts val="0"/>
              </a:spcAft>
              <a:buNone/>
            </a:pPr>
            <a:r>
              <a:rPr lang="en-US" sz="1200">
                <a:solidFill>
                  <a:schemeClr val="dk1"/>
                </a:solidFill>
              </a:rPr>
              <a:t>플래시 중 앱 종료 또는 전원 손실. 감지: 재실행 시 FW 세션 마커 발견. 복구: 기기 버전을 읽습니다. 신규 버전이면 커밋, 이전 버전이면 롤백을 확인하고 재시도합니다.</a:t>
            </a:r>
            <a:endParaRPr sz="1200">
              <a:solidFill>
                <a:schemeClr val="dk1"/>
              </a:solidFill>
            </a:endParaRPr>
          </a:p>
          <a:p>
            <a:pPr indent="0" lvl="0" marL="0" marR="0" rtl="0" algn="l">
              <a:spcBef>
                <a:spcPts val="0"/>
              </a:spcBef>
              <a:spcAft>
                <a:spcPts val="0"/>
              </a:spcAft>
              <a:buNone/>
            </a:pPr>
            <a:r>
              <a:rPr lang="en-US" sz="1200">
                <a:solidFill>
                  <a:schemeClr val="dk1"/>
                </a:solidFill>
              </a:rPr>
              <a:t>SoftAP 연결 실패. 감지: NEHotspotConfiguration 오류. 복구: 1회 재시도 후 BLE 깨우기를 다시 요청하고 SSID를 재발급합니다.</a:t>
            </a:r>
            <a:endParaRPr sz="1200">
              <a:solidFill>
                <a:schemeClr val="dk1"/>
              </a:solidFill>
            </a:endParaRPr>
          </a:p>
          <a:p>
            <a:pPr indent="0" lvl="0" marL="0" marR="0" rtl="0" algn="l">
              <a:spcBef>
                <a:spcPts val="0"/>
              </a:spcBef>
              <a:spcAft>
                <a:spcPts val="0"/>
              </a:spcAft>
              <a:buNone/>
            </a:pPr>
            <a:r>
              <a:rPr lang="en-US" sz="1200">
                <a:solidFill>
                  <a:schemeClr val="dk1"/>
                </a:solidFill>
              </a:rPr>
              <a:t>설치 마법사 스캔 실패. 감지: 제한 시간 내 Local Name 일치 없음. 복구: Serial No를 다시 확인하고, 설치 기사를 기기 가까이 안내(RSSI 표시)한 뒤 바코드를 다시 스캔합니다.</a:t>
            </a:r>
            <a:endParaRPr sz="1200">
              <a:solidFill>
                <a:schemeClr val="dk1"/>
              </a:solidFill>
            </a:endParaRPr>
          </a:p>
          <a:p>
            <a:pPr indent="0" lvl="0" marL="0" marR="0" rtl="0" algn="l">
              <a:spcBef>
                <a:spcPts val="0"/>
              </a:spcBef>
              <a:spcAft>
                <a:spcPts val="0"/>
              </a:spcAft>
              <a:buNone/>
            </a:pPr>
            <a:r>
              <a:rPr lang="en-US" sz="1200">
                <a:solidFill>
                  <a:schemeClr val="dk1"/>
                </a:solidFill>
              </a:rPr>
              <a:t>클라우드 동기화 실패. 감지: HTTP 5xx 또는 네트워크 오류. 복구: 제한 시간을 늘려가며 재시도합니다. 409 중복은 성공으로 처리합니다.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슬라이드에는 여덟 가지 경우를 워크플로 순서대로 배치했습니다. read-back 비교는 쓰기, 적용, 플래시 경우에 명시했고, 연결과 동기화 경우는 재시도로 복구합니다.</a:t>
            </a:r>
            <a:endParaRPr sz="1200">
              <a:solidFill>
                <a:schemeClr val="dk1"/>
              </a:solidFill>
            </a:endParaRPr>
          </a:p>
        </p:txBody>
      </p:sp>
      <p:sp>
        <p:nvSpPr>
          <p:cNvPr id="964" name="Google Shape;964;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8" name="Google Shape;104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아키텍처는 UI, 도메인, 데이터 3계층의 클린 아키텍처입니다. 도메인은 프로토콜만 소유하기 때문에 BLE 전송을 Mock과 실제 기기로 바꿔 끼울 수 있고, 하드웨어 사양이 바뀌어도 데이터 계층만 고치면 됩니다. 토큰은 Keychain에, 작업 데이터는 암호화된 로컬 DB에 두고, 임시 비밀번호는 메모리에만 둡니다.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3단계 레이어로 하드웨어 통신과 UI를 격리: UI Layer는 Domain Layer를 통해 로직 실행 Domain Layer는 Data layer로 설비 raw 데이터 통신. 앱에 정보 기록</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2.1절, 2.2절 및 그림 3(시스템 컨텍스트 다이어그램).</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UI / Domain / Data 3계층 분리로 하드웨어 사양 변경을 UI로부터 격리합니다.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UI 계층: SwiftUI View, @MainActor ViewModel. 화면 렌더링, UI 잠금 표시, 사용자 동작 전달.</a:t>
            </a:r>
            <a:endParaRPr sz="1200">
              <a:solidFill>
                <a:schemeClr val="dk1"/>
              </a:solidFill>
            </a:endParaRPr>
          </a:p>
          <a:p>
            <a:pPr indent="0" lvl="0" marL="0" marR="0" rtl="0" algn="l">
              <a:spcBef>
                <a:spcPts val="0"/>
              </a:spcBef>
              <a:spcAft>
                <a:spcPts val="0"/>
              </a:spcAft>
              <a:buNone/>
            </a:pPr>
            <a:r>
              <a:rPr lang="en-US" sz="1200">
                <a:solidFill>
                  <a:schemeClr val="dk1"/>
                </a:solidFill>
              </a:rPr>
              <a:t>도메인 계층: UseCase, Entity, ESSStateMachine. 상태 전이 규칙, 권한 정책, 요금 설정 가능 여부.</a:t>
            </a:r>
            <a:endParaRPr sz="1200">
              <a:solidFill>
                <a:schemeClr val="dk1"/>
              </a:solidFill>
            </a:endParaRPr>
          </a:p>
          <a:p>
            <a:pPr indent="0" lvl="0" marL="0" marR="0" rtl="0" algn="l">
              <a:spcBef>
                <a:spcPts val="0"/>
              </a:spcBef>
              <a:spcAft>
                <a:spcPts val="0"/>
              </a:spcAft>
              <a:buNone/>
            </a:pPr>
            <a:r>
              <a:rPr lang="en-US" sz="1200">
                <a:solidFill>
                  <a:schemeClr val="dk1"/>
                </a:solidFill>
              </a:rPr>
              <a:t>데이터 계층: Repository, BLETransport, SoftAPTransport, REST 클라이언트, 로컬 저장소. 기기 레지스터 입출력, 서버 통신, 로컬 영속화.</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의존 방향: UI→Domain, Data→Domain. Domain은 프로토콜만 소유합니다. BLETransport는 프로토콜로 정의하여 Mock과 실제 구현을 맞바꿀 수 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채널: 온라인 시 Qcells 백엔드로 HTTPS(사전 동기화, 사후 동기화). 오프라인에서 CORE Pro ESS와 BLE 1:1(명령, 이벤트). 펌웨어 전송은 일시적인 SoftAP Wi-Fi. ESS는 가정 Wi-Fi를 통해 백엔드로 텔레메트리를 보고합니다.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민감 데이터. 설치 기사 인증 토큰: Keychain, kSecAttrAccessibleWhenUnlockedThisDeviceOnly + .biometryCurrentSet. 리프레시 토큰: Keychain, kSecAttrAccessibleAfterFirstUnlockThisDeviceOnly. 임시 설치 기사 비밀번호: 메모리 전용, 저장하지 않고 사용 직후 폐기. 작업 지시 데이터: 로컬 DB, Data Protection .complete.</a:t>
            </a:r>
            <a:endParaRPr sz="1200">
              <a:solidFill>
                <a:schemeClr val="dk1"/>
              </a:solidFill>
            </a:endParaRPr>
          </a:p>
          <a:p>
            <a:pPr indent="0" lvl="0" marL="0" marR="0" rtl="0" algn="l">
              <a:spcBef>
                <a:spcPts val="0"/>
              </a:spcBef>
              <a:spcAft>
                <a:spcPts val="0"/>
              </a:spcAft>
              <a:buNone/>
            </a:pPr>
            <a:r>
              <a:rPr lang="en-US" sz="1200">
                <a:solidFill>
                  <a:schemeClr val="dk1"/>
                </a:solidFill>
              </a:rPr>
              <a:t>ThisDeviceOnly는 iCloud 키체인 동기화와 백업 복원을 차단합니다. 생체 인증을 다시 등록하면 .biometryCurrentSet에 의해 토큰이 무효화됩니다. Serial No, NMI No, 비밀번호는 로그와 크래시 리포트에서 마스킹됩니다.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대시보드 새로고침: pull-to-refresh로 작업 목록을 서버와 다시 동기화합니다. 상세 화면 새로고침은 BLE로 기기 데이터를 받습니다.</a:t>
            </a:r>
            <a:endParaRPr sz="1200">
              <a:solidFill>
                <a:schemeClr val="dk1"/>
              </a:solidFill>
            </a:endParaRPr>
          </a:p>
        </p:txBody>
      </p:sp>
      <p:sp>
        <p:nvSpPr>
          <p:cNvPr id="1049" name="Google Shape;1049;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7" name="Google Shape;1107;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기기 연결은 iOS가 MAC 주소를 숨기기 때문에 Service UUID로 거른 뒤 Serial No로 설비를 찾습니다. 연결 직후 프로토콜 버전을 확인해 기기가 너무 오래됐으면 펌웨어 업데이트를, 너무 최신이면 앱 업데이트를 안내합니다. 그리고 명령마다 타임아웃, 재시도, 실패 시 대응 규칙을 설계했습니다.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앱은 Serial No로 설비 탐색, Firmware 버전에 따라 통신 프로토콜 분기, 통신 유형마다 다른 실패 대응 정책</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3.1절 및 3.4절.</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모델은 먼저 Service UUID로 거르고, 그 다음 Local Name 매칭으로 Serial No마다 1:1로 식별합니다.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모델별 Service UUID 필터링: 모델별 Service UUID를 scanForPeripherals(withServices:)에 전달해 주변의 무관한 BLE 기기 잡음을 제거합니다. 모델별 UUID와 Local Name 형식은 미정(TBD)이며(예: AACCB-{SerialNo}), 모델이 추가될 때 서버 Remote Config로 갱신합니다.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iOS CoreBluetooth 제약: iOS는 앱에 물리 MAC 주소를 노출하지 않습니다. CBPeripheral.identifier는 iPhone마다 무작위로 생성되는 UUID이므로 서로 다른 iPhone에서는 같은 기기를 식별할 수 없습니다.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해결 방법: advertisementData[CBAdvertisementDataLocalNameKey]에서 Serial No를 추출해 작업 목록 또는 수동 입력값과 비교합니다. 광고 길이 제한으로 이름이 잘린 경우에는 연결 후 Serial Number String(0x2A25)을 읽어 확정합니다.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스캔 정책: 포그라운드 전용 스캔이며, 배터리 소모를 최소화하기 위해 대상이 확정되면 즉시 stopScan()을 호출합니다. 같은 Serial No로 여러 기기가 응답하면 RSSI가 가장 높은 기기를 선택하고 설치 기사에게 확인을 요청합니다.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버전 호환성: 연결 직후 기기 프로토콜 버전을 읽어 앱이 지원하는 범위(Min~Max)와 비교합니다. 기기 버전이 너무 낮으면 설정 쓰기를 차단하고 펌웨어 업데이트를 안내합니다. 너무 높으면 앱 업데이트를 요구합니다.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기기 명령과 이벤트: 타임아웃, 재시도, 실패 처리를 명령별로 고정해 현장 동작을 예측 가능하게 합니다. 하드웨어 사양이 확정되면 값을 확정합니다. 백엔드 API와 나머지 버전 규칙은 백업 페이지 B1에 있습니다.</a:t>
            </a:r>
            <a:endParaRPr sz="1200">
              <a:solidFill>
                <a:schemeClr val="dk1"/>
              </a:solidFill>
            </a:endParaRPr>
          </a:p>
        </p:txBody>
      </p:sp>
      <p:sp>
        <p:nvSpPr>
          <p:cNvPr id="1108" name="Google Shape;1108;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6" name="Shape 1136"/>
        <p:cNvGrpSpPr/>
        <p:nvPr/>
      </p:nvGrpSpPr>
      <p:grpSpPr>
        <a:xfrm>
          <a:off x="0" y="0"/>
          <a:ext cx="0" cy="0"/>
          <a:chOff x="0" y="0"/>
          <a:chExt cx="0" cy="0"/>
        </a:xfrm>
      </p:grpSpPr>
      <p:sp>
        <p:nvSpPr>
          <p:cNvPr id="1137" name="Google Shape;1137;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8" name="Google Shape;113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펌웨어 업데이트는 BLE로 설비의 내장 Wi-Fi를 필요할 때만 깨워, 일회용 SSID로 한 번만 접속해 전송합니다. 설비는 듀얼 뱅크 플래시로 비활성 저장소에 기록하고 무결성 검사 후 전환하기 때문에, 중간에 실패해도 이전 버전으로 자동 롤백됩니다.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펌웨어 업데이트: Bluetooth로 설비 내장 Wi-Fi 기동, 펌웨어 전송, 유효성 검증, 펌웨어 저장, 재시작, 버전 확인</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3.2절.</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Wi-Fi는 계속 켜 두지 않습니다. 내장 Wi-Fi는 BLE 명령으로 요청했을 때만 시작합니다.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설계 배경: 상시 켜진 기기 Wi-Fi는 외부 공격 표면을 넓히고, BLE 대역폭만으로는 수 MB 펌웨어 전송이 너무 느립니다. 결론: 제어는 BLE로, 대용량 전송은 임시로 켠 Wi-Fi로 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동적 Wi-Fi 트리거 순서. 앱이 BLE 깨우기 명령을 보냅니다. 기기는 일회용 SSID와 암호를 만들고 내장 Wi-Fi를 켠 뒤 BLE로 연결 정보를 돌려줍니다. 앱은 NEHotspotConfiguration(joinOnce = true)으로 Wi-Fi에 접속합니다. 기기는 전송이 끝나거나 TBD분 타임아웃이 지나면 Wi-Fi를 자동으로 끕니다. 필요한 iOS 권한: Hotspot Configuration entitlement, Local Network 권한.</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5단계 수명주기.</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파일 전송. 기기: 바이너리를 비활성 뱅크로 수신. 앱: 사전 동기화된 바이너리를 청크로 전송하고 진행률 표시. 실패 시: 중단 지점부터 재개.</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무결성 검사. 기기: 체크섬 / MD5 비교, Secure Boot 서명 검증. 앱: BLE로 검증 결과 읽기. 실패 시: 비활성 뱅크 폐기.</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플래싱. 기기: 듀얼 뱅크 플래시 메모리의 비활성 뱅크에 기록. 앱: UI 잠금 유지, 화면 꺼짐 방지(isIdleTimerDisabled). 실패 시: 활성 뱅크는 그대로 유지.</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하드웨어 재시작. 기기: 부트 뱅크를 전환하고 재부팅. 앱: BLE 재연결 대기 후 재스캔. 실패 시: 부팅 실패하면 이전 뱅크로 자동 롤백.</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버전 커밋. 기기: 새 뱅크를 활성으로 확정. 앱: 버전 레지스터 read-back으로 최종 확인. 실패 시: 버전 불일치면 재시도 또는 실패 보고.</a:t>
            </a:r>
            <a:endParaRPr sz="1200">
              <a:solidFill>
                <a:schemeClr val="dk1"/>
              </a:solidFill>
            </a:endParaRPr>
          </a:p>
          <a:p>
            <a:pPr indent="0" lvl="0" marL="0" marR="0" rtl="0" algn="l">
              <a:spcBef>
                <a:spcPts val="0"/>
              </a:spcBef>
              <a:spcAft>
                <a:spcPts val="0"/>
              </a:spcAft>
              <a:buNone/>
            </a:pPr>
            <a:r>
              <a:rPr lang="en-US" sz="1200">
                <a:solidFill>
                  <a:schemeClr val="dk1"/>
                </a:solidFill>
              </a:rPr>
              <a:t>사전 조건 가드: 기기 측 플래시 조건(배터리 SOC, 계통 상태)은 미정(TBD)입니다. iPhone 배터리가 TBD% 미만이면 업데이트를 차단합니다.</a:t>
            </a:r>
            <a:endParaRPr sz="1200">
              <a:solidFill>
                <a:schemeClr val="dk1"/>
              </a:solidFill>
            </a:endParaRPr>
          </a:p>
        </p:txBody>
      </p:sp>
      <p:sp>
        <p:nvSpPr>
          <p:cNvPr id="1139" name="Google Shape;1139;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03" name="Google Shape;120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오프라인 저장은 쓰기 전에 먼저 로컬에 Pending 상태로 기록하는 방식입니다. 설비에 쓰고 다시 읽어 확인되면 UUID를 붙여 Applied로 바꾸고, 네트워크가 복구되면 순서대로 업로드합니다. 서버는 같은 UUID를 다시 적용하지 않으므로 앱이 재시작되거나 재업로드해도 중복이 생기지 않습니다.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설정 전 수행 작업할 작업 기록, 작업 완료 여부를 표시, 재시작/복구 시 중복 동기화 방지</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임시 비밀번호 설정 후 BLE Payload에 인증키 포함해서 보안 강화, 복구시 재시도, 중복 UUID로 요청시 서버에서 무시</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3.3절 및 3.4절의 트랜잭션 동기화 행.</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운행 상태 기기의 설정 변경은 명령마다 일회용 인증으로 보호하고, 클라우드 갱신은 고유 UUID로 중복 없이 반영합니다.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인증된 단건 쓰기. 패킷 구조: [레지스터 ID][파라미터 페이로드][OTP 접미사(시간 기반)]. 운행 상태에서 설정을 바꿀 때는 임시 설치 기사 비밀번호에서 만든 시간 기반 OTP 토큰을 접미사로 붙여 단일 패킷으로 보냅니다. 기기는 OTP 검증에 성공하면 그 명령 한 건만 적용하며, 세션 단위 권한은 유지하지 않습니다. 결과는 쓰기 직후 같은 레지스터를 read-back으로 읽어 확인합니다. 미완료 상태에서는 OTP 접미사를 생략합니다.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OTP 규칙: 시간 단위 TBD초, 허용 오차 ±1 단계, 연속 TBD회 실패 시 기기가 일시 잠금. 원격지 현장의 기기 상태를 고려해 기기 데이터를 읽을 때 기기 시계를 확인합니다.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UUID 기반 클라우드 사후 동기화. 설정이 성공하면 고유 UUID를 발급하고, 변경 사항을 로컬 저장소에 보존합니다(앱 종료와 재부팅 후에도 유지). NWPathMonitor가 인터넷 연결 복구를 감지하면 변경 사항을 순서대로 업로드합니다. 서버는 같은 UUID를 다시 받으면 다시 적용하지 않고 기존 결과를 돌려줍니다. 실패 시에는 제한 시간을 늘려가며 재시도하고, 미동기화 상태는 대시보드 목록에 표시합니다.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재시작 복구. 트랜잭션은 Pending, Applied, Synced(또는 Failed)로 추적하며, 쓰기 전송 직전에 Pending으로 기록합니다. 재실행 시 Pending 항목은 다음 기기 연결 때 read-back 비교로 Applied 또는 Failed로 확정합니다. Applied 항목은 네트워크가 돌아오면 자동 업로드하고, 같은 UUID 덕분에 재업로드해도 이중 적용되지 않습니다.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트랜잭션 동기화 API 오류: 401은 토큰 갱신, 409는 성공으로 처리, 5xx는 백오프.</a:t>
            </a:r>
            <a:endParaRPr sz="1200">
              <a:solidFill>
                <a:schemeClr val="dk1"/>
              </a:solidFill>
            </a:endParaRPr>
          </a:p>
        </p:txBody>
      </p:sp>
      <p:sp>
        <p:nvSpPr>
          <p:cNvPr id="1204" name="Google Shape;1204;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2" name="Shape 1262"/>
        <p:cNvGrpSpPr/>
        <p:nvPr/>
      </p:nvGrpSpPr>
      <p:grpSpPr>
        <a:xfrm>
          <a:off x="0" y="0"/>
          <a:ext cx="0" cy="0"/>
          <a:chOff x="0" y="0"/>
          <a:chExt cx="0" cy="0"/>
        </a:xfrm>
      </p:grpSpPr>
      <p:sp>
        <p:nvSpPr>
          <p:cNvPr id="1263" name="Google Shape;1263;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4" name="Google Shape;1264;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테스트는 두 축입니다. 레지스터 수준 Mock으로 하드웨어 없이 상태 전이와 UI 제약 7개 시나리오를 자동 검증하고, 지연·무응답·연결 끊김도 주입합니다. Mock이 증명할 수 없는 정전 절체, 펌웨어 저장 중 전원 차단, RSSI 경계는 실제 설비와 전력망 시뮬레이터 환경에서 검증합니다.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Mock을 통한 가상 설비 통신 환경 구축: 실장비 없이 시나리오/실패 유형 별 작동 검증. 전력망/발전 설비 시뮬레이터를 통한 실물 기기(폰)에서 작동 검증</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4.1절 및 4.2절.</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에뮤레이션과 가상 운영. 하드웨어 없이 상태 전이와 UI 제약을 자동으로 검증하기 위해 레지스터 수준 Mock을 만듭니다. BLETransport 프로토콜의 Mock 구현체가 가상 기기 데이터 사전을 보유합니다. iOS Simulator는 실제 BLE를 지원하지 않으므로, -UITestMockBLE 실행 인자로 Mock을 주입해 전체 플로우를 실행합니다. Mock은 에너지 정책 Standby에서 Time-based로의 전환 응답과, 미완료에서 운행으로의 전환 후 OTP 필수 응답을 재현합니다. 결함 주입 옵션: 응답 지연, 무응답, 연결 끊김.</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UT-01 에너지 정책이 Standby일 때 요금 메뉴 진입: 메뉴 비활성.</a:t>
            </a:r>
            <a:endParaRPr sz="1200">
              <a:solidFill>
                <a:schemeClr val="dk1"/>
              </a:solidFill>
            </a:endParaRPr>
          </a:p>
          <a:p>
            <a:pPr indent="0" lvl="0" marL="0" marR="0" rtl="0" algn="l">
              <a:spcBef>
                <a:spcPts val="0"/>
              </a:spcBef>
              <a:spcAft>
                <a:spcPts val="0"/>
              </a:spcAft>
              <a:buNone/>
            </a:pPr>
            <a:r>
              <a:rPr lang="en-US" sz="1200">
                <a:solidFill>
                  <a:schemeClr val="dk1"/>
                </a:solidFill>
              </a:rPr>
              <a:t>UT-02 Time-based 모드로 전환 후 요금 메뉴 진입: kWh당 요금 입력 폼 활성화.</a:t>
            </a:r>
            <a:endParaRPr sz="1200">
              <a:solidFill>
                <a:schemeClr val="dk1"/>
              </a:solidFill>
            </a:endParaRPr>
          </a:p>
          <a:p>
            <a:pPr indent="0" lvl="0" marL="0" marR="0" rtl="0" algn="l">
              <a:spcBef>
                <a:spcPts val="0"/>
              </a:spcBef>
              <a:spcAft>
                <a:spcPts val="0"/>
              </a:spcAft>
              <a:buNone/>
            </a:pPr>
            <a:r>
              <a:rPr lang="en-US" sz="1200">
                <a:solidFill>
                  <a:schemeClr val="dk1"/>
                </a:solidFill>
              </a:rPr>
              <a:t>UT-03 상세 진입 시 데이터를 읽는 중 화면 터치: 모든 입력 차단.</a:t>
            </a:r>
            <a:endParaRPr sz="1200">
              <a:solidFill>
                <a:schemeClr val="dk1"/>
              </a:solidFill>
            </a:endParaRPr>
          </a:p>
          <a:p>
            <a:pPr indent="0" lvl="0" marL="0" marR="0" rtl="0" algn="l">
              <a:spcBef>
                <a:spcPts val="0"/>
              </a:spcBef>
              <a:spcAft>
                <a:spcPts val="0"/>
              </a:spcAft>
              <a:buNone/>
            </a:pPr>
            <a:r>
              <a:rPr lang="en-US" sz="1200">
                <a:solidFill>
                  <a:schemeClr val="dk1"/>
                </a:solidFill>
              </a:rPr>
              <a:t>UT-04 미완료 기기 진입: 비밀번호 단계 생략.</a:t>
            </a:r>
            <a:endParaRPr sz="1200">
              <a:solidFill>
                <a:schemeClr val="dk1"/>
              </a:solidFill>
            </a:endParaRPr>
          </a:p>
          <a:p>
            <a:pPr indent="0" lvl="0" marL="0" marR="0" rtl="0" algn="l">
              <a:spcBef>
                <a:spcPts val="0"/>
              </a:spcBef>
              <a:spcAft>
                <a:spcPts val="0"/>
              </a:spcAft>
              <a:buNone/>
            </a:pPr>
            <a:r>
              <a:rPr lang="en-US" sz="1200">
                <a:solidFill>
                  <a:schemeClr val="dk1"/>
                </a:solidFill>
              </a:rPr>
              <a:t>UT-05 적용(Apply) 실행: 상태가 운행으로 변경되고, 재진입 시 OTP 필요.</a:t>
            </a:r>
            <a:endParaRPr sz="1200">
              <a:solidFill>
                <a:schemeClr val="dk1"/>
              </a:solidFill>
            </a:endParaRPr>
          </a:p>
          <a:p>
            <a:pPr indent="0" lvl="0" marL="0" marR="0" rtl="0" algn="l">
              <a:spcBef>
                <a:spcPts val="0"/>
              </a:spcBef>
              <a:spcAft>
                <a:spcPts val="0"/>
              </a:spcAft>
              <a:buNone/>
            </a:pPr>
            <a:r>
              <a:rPr lang="en-US" sz="1200">
                <a:solidFill>
                  <a:schemeClr val="dk1"/>
                </a:solidFill>
              </a:rPr>
              <a:t>UT-06 NMI No 재조회(Re-fetch) 동작: 조회 선택기로 서버 값을 다시 주입.</a:t>
            </a:r>
            <a:endParaRPr sz="1200">
              <a:solidFill>
                <a:schemeClr val="dk1"/>
              </a:solidFill>
            </a:endParaRPr>
          </a:p>
          <a:p>
            <a:pPr indent="0" lvl="0" marL="0" marR="0" rtl="0" algn="l">
              <a:spcBef>
                <a:spcPts val="0"/>
              </a:spcBef>
              <a:spcAft>
                <a:spcPts val="0"/>
              </a:spcAft>
              <a:buNone/>
            </a:pPr>
            <a:r>
              <a:rPr lang="en-US" sz="1200">
                <a:solidFill>
                  <a:schemeClr val="dk1"/>
                </a:solidFill>
              </a:rPr>
              <a:t>UT-07 오프라인 설정 후 네트워크 복구: 영속 저장소에서 1회 업로드, 중복 없음.</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실제 하드웨어 검증. Mock으로 검증할 수 없는 전원 안전 동작과 무선 변수는 테스트 환경에서 검증합니다: 실제 CORE Pro 기기, 계통 시뮬레이터 또는 차단기 기반 계통 차단, PV 시뮬레이터, RF 감쇠기와 차폐 박스, iPhone 디바이스 팜(여러 모델과 버전).</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시나리오 1 Off-Grid ON, 계통 차단: EPS 자동 절체, 태양광과 배터리로 독립 운전.</a:t>
            </a:r>
            <a:endParaRPr sz="1200">
              <a:solidFill>
                <a:schemeClr val="dk1"/>
              </a:solidFill>
            </a:endParaRPr>
          </a:p>
          <a:p>
            <a:pPr indent="0" lvl="0" marL="0" marR="0" rtl="0" algn="l">
              <a:spcBef>
                <a:spcPts val="0"/>
              </a:spcBef>
              <a:spcAft>
                <a:spcPts val="0"/>
              </a:spcAft>
              <a:buNone/>
            </a:pPr>
            <a:r>
              <a:rPr lang="en-US" sz="1200">
                <a:solidFill>
                  <a:schemeClr val="dk1"/>
                </a:solidFill>
              </a:rPr>
              <a:t>시나리오 2 Off-Grid OFF, 계통 차단: 오류 정지, 앱에 오류 상태 표시.</a:t>
            </a:r>
            <a:endParaRPr sz="1200">
              <a:solidFill>
                <a:schemeClr val="dk1"/>
              </a:solidFill>
            </a:endParaRPr>
          </a:p>
          <a:p>
            <a:pPr indent="0" lvl="0" marL="0" marR="0" rtl="0" algn="l">
              <a:spcBef>
                <a:spcPts val="0"/>
              </a:spcBef>
              <a:spcAft>
                <a:spcPts val="0"/>
              </a:spcAft>
              <a:buNone/>
            </a:pPr>
            <a:r>
              <a:rPr lang="en-US" sz="1200">
                <a:solidFill>
                  <a:schemeClr val="dk1"/>
                </a:solidFill>
              </a:rPr>
              <a:t>시나리오 3 EPS 운전 중 계통 복구: 계통 재연결 및 운행 복귀.</a:t>
            </a:r>
            <a:endParaRPr sz="1200">
              <a:solidFill>
                <a:schemeClr val="dk1"/>
              </a:solidFill>
            </a:endParaRPr>
          </a:p>
          <a:p>
            <a:pPr indent="0" lvl="0" marL="0" marR="0" rtl="0" algn="l">
              <a:spcBef>
                <a:spcPts val="0"/>
              </a:spcBef>
              <a:spcAft>
                <a:spcPts val="0"/>
              </a:spcAft>
              <a:buNone/>
            </a:pPr>
            <a:r>
              <a:rPr lang="en-US" sz="1200">
                <a:solidFill>
                  <a:schemeClr val="dk1"/>
                </a:solidFill>
              </a:rPr>
              <a:t>시나리오 4 플래싱 중 기기 전원 차단: 재부팅 후 이전 뱅크로 롤백.</a:t>
            </a:r>
            <a:endParaRPr sz="1200">
              <a:solidFill>
                <a:schemeClr val="dk1"/>
              </a:solidFill>
            </a:endParaRPr>
          </a:p>
          <a:p>
            <a:pPr indent="0" lvl="0" marL="0" marR="0" rtl="0" algn="l">
              <a:spcBef>
                <a:spcPts val="0"/>
              </a:spcBef>
              <a:spcAft>
                <a:spcPts val="0"/>
              </a:spcAft>
              <a:buNone/>
            </a:pPr>
            <a:r>
              <a:rPr lang="en-US" sz="1200">
                <a:solidFill>
                  <a:schemeClr val="dk1"/>
                </a:solidFill>
              </a:rPr>
              <a:t>시나리오 5 RSSI 경계, 감쇠기로 감쇠: 임계값 정책에 따라 연결 허용 또는 차단.</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EPS 절체 시간 기준: 하드웨어 사양이 확정되면 TBD ms로 확정합니다.</a:t>
            </a:r>
            <a:endParaRPr sz="1200">
              <a:solidFill>
                <a:schemeClr val="dk1"/>
              </a:solidFill>
            </a:endParaRPr>
          </a:p>
        </p:txBody>
      </p:sp>
      <p:sp>
        <p:nvSpPr>
          <p:cNvPr id="1265" name="Google Shape;1265;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8" name="Shape 1328"/>
        <p:cNvGrpSpPr/>
        <p:nvPr/>
      </p:nvGrpSpPr>
      <p:grpSpPr>
        <a:xfrm>
          <a:off x="0" y="0"/>
          <a:ext cx="0" cy="0"/>
          <a:chOff x="0" y="0"/>
          <a:chExt cx="0" cy="0"/>
        </a:xfrm>
      </p:grpSpPr>
      <p:sp>
        <p:nvSpPr>
          <p:cNvPr id="1329" name="Google Shape;1329;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0" name="Google Shape;1330;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마지막으로 저희가 세운 가정과 리스크, 그리고 큐셀에 확인드리고 싶은 질문입니다. </a:t>
            </a:r>
            <a:endParaRPr sz="1200">
              <a:solidFill>
                <a:schemeClr val="dk1"/>
              </a:solidFill>
            </a:endParaRPr>
          </a:p>
          <a:p>
            <a:pPr indent="0" lvl="0" marL="0" rtl="0" algn="l">
              <a:spcBef>
                <a:spcPts val="0"/>
              </a:spcBef>
              <a:spcAft>
                <a:spcPts val="0"/>
              </a:spcAft>
              <a:buNone/>
            </a:pPr>
            <a:r>
              <a:rPr lang="en-US" sz="1200">
                <a:solidFill>
                  <a:schemeClr val="dk1"/>
                </a:solidFill>
              </a:rPr>
              <a:t>서버에서 작업 대상 다운로드, 계량기-Home-설비가 각각 1:1 매핑인 것으로 가정했습니다.</a:t>
            </a:r>
            <a:endParaRPr sz="1200">
              <a:solidFill>
                <a:schemeClr val="dk1"/>
              </a:solidFill>
            </a:endParaRPr>
          </a:p>
          <a:p>
            <a:pPr indent="0" lvl="0" marL="0" rtl="0" algn="l">
              <a:spcBef>
                <a:spcPts val="0"/>
              </a:spcBef>
              <a:spcAft>
                <a:spcPts val="0"/>
              </a:spcAft>
              <a:buClr>
                <a:schemeClr val="dk1"/>
              </a:buClr>
              <a:buFont typeface="Arial"/>
              <a:buNone/>
            </a:pPr>
            <a:r>
              <a:rPr lang="en-US" sz="1200">
                <a:solidFill>
                  <a:schemeClr val="dk1"/>
                </a:solidFill>
              </a:rPr>
              <a:t>설비 상태 조회 주기, 허용 신호 감도에 따른 장단점이 있으므로 적절한 수치 결정이 필요합니다.</a:t>
            </a:r>
            <a:endParaRPr sz="1200">
              <a:solidFill>
                <a:schemeClr val="dk1"/>
              </a:solidFill>
            </a:endParaRPr>
          </a:p>
          <a:p>
            <a:pPr indent="0" lvl="0" marL="0" rtl="0" algn="l">
              <a:spcBef>
                <a:spcPts val="0"/>
              </a:spcBef>
              <a:spcAft>
                <a:spcPts val="0"/>
              </a:spcAft>
              <a:buClr>
                <a:schemeClr val="dk1"/>
              </a:buClr>
              <a:buFont typeface="Arial"/>
              <a:buNone/>
            </a:pPr>
            <a:r>
              <a:rPr lang="en-US" sz="1200">
                <a:solidFill>
                  <a:schemeClr val="dk1"/>
                </a:solidFill>
              </a:rPr>
              <a:t>설비 내장 Wi-Fi 장비 장애, 비전력망 주택, 하드웨어 사양 미정 등 예상 리스크와 그에 대한 대응 방안을 수립했습니다.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Local Name의 Serial No 형식, 임시 비밀번호 발급 방식, 펌웨어 크기, 최소 iOS 버전 등 6가지를 확인해 주시면 설계를 끝마칠 수 있습니다. 이상으로 iOS 설계 발표를 마치겠습니다.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서버에서 작업 대상 다운로드, </a:t>
            </a:r>
            <a:r>
              <a:rPr lang="en-US" sz="1200">
                <a:solidFill>
                  <a:schemeClr val="dk1"/>
                </a:solidFill>
              </a:rPr>
              <a:t>계량기-Home-설비가 각각 1:1로 매핑 가정</a:t>
            </a:r>
            <a:endParaRPr sz="1200">
              <a:solidFill>
                <a:schemeClr val="dk1"/>
              </a:solidFill>
            </a:endParaRPr>
          </a:p>
          <a:p>
            <a:pPr indent="0" lvl="0" marL="0" marR="0" rtl="0" algn="l">
              <a:spcBef>
                <a:spcPts val="0"/>
              </a:spcBef>
              <a:spcAft>
                <a:spcPts val="0"/>
              </a:spcAft>
              <a:buNone/>
            </a:pPr>
            <a:r>
              <a:rPr lang="en-US" sz="1200">
                <a:solidFill>
                  <a:schemeClr val="dk1"/>
                </a:solidFill>
              </a:rPr>
              <a:t>설비 상태 조회 주기, 허용 신호 감도 장단점 결정</a:t>
            </a:r>
            <a:endParaRPr sz="1200">
              <a:solidFill>
                <a:schemeClr val="dk1"/>
              </a:solidFill>
            </a:endParaRPr>
          </a:p>
          <a:p>
            <a:pPr indent="0" lvl="0" marL="0" marR="0" rtl="0" algn="l">
              <a:spcBef>
                <a:spcPts val="0"/>
              </a:spcBef>
              <a:spcAft>
                <a:spcPts val="0"/>
              </a:spcAft>
              <a:buNone/>
            </a:pPr>
            <a:r>
              <a:rPr lang="en-US" sz="1200">
                <a:solidFill>
                  <a:schemeClr val="dk1"/>
                </a:solidFill>
              </a:rPr>
              <a:t>설비 내장 Wi-Fi 장애, 비전력망 주택, 하드웨어 사양 미정 등 예상 리스크 및 대응 방안,</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rtl="0" algn="l">
              <a:spcBef>
                <a:spcPts val="0"/>
              </a:spcBef>
              <a:spcAft>
                <a:spcPts val="0"/>
              </a:spcAft>
              <a:buClr>
                <a:schemeClr val="dk1"/>
              </a:buClr>
              <a:buFont typeface="Arial"/>
              <a:buNone/>
            </a:pPr>
            <a:r>
              <a:rPr lang="en-US" sz="1200">
                <a:solidFill>
                  <a:schemeClr val="dk1"/>
                </a:solidFill>
              </a:rPr>
              <a:t>이어서 안드로이드 설계안은 안재현님이 브리핑하겠습니다.</a:t>
            </a:r>
            <a:endParaRPr sz="1200">
              <a:solidFill>
                <a:schemeClr val="dk1"/>
              </a:solidFill>
            </a:endParaRPr>
          </a:p>
          <a:p>
            <a:pPr indent="0" lvl="0" marL="0" marR="0" rtl="0" algn="l">
              <a:spcBef>
                <a:spcPts val="0"/>
              </a:spcBef>
              <a:spcAft>
                <a:spcPts val="0"/>
              </a:spcAft>
              <a:buNone/>
            </a:pPr>
            <a:r>
              <a:rPr lang="en-US" sz="1200">
                <a:solidFill>
                  <a:schemeClr val="dk1"/>
                </a:solidFill>
              </a:rPr>
              <a:t>큐셀에 문의사항</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서버에서 작업 지시, 계량기-Home-설비가 각각 1:1로 매핑 가정, </a:t>
            </a:r>
            <a:endParaRPr sz="1200">
              <a:solidFill>
                <a:schemeClr val="dk1"/>
              </a:solidFill>
            </a:endParaRPr>
          </a:p>
          <a:p>
            <a:pPr indent="0" lvl="0" marL="0" marR="0" rtl="0" algn="l">
              <a:spcBef>
                <a:spcPts val="0"/>
              </a:spcBef>
              <a:spcAft>
                <a:spcPts val="0"/>
              </a:spcAft>
              <a:buNone/>
            </a:pPr>
            <a:r>
              <a:rPr lang="en-US" sz="1200">
                <a:solidFill>
                  <a:schemeClr val="dk1"/>
                </a:solidFill>
              </a:rPr>
              <a:t>결정에 따른 장단점: 상태 조회 주기 - 최신 정보, but 설비에 과부하, Scan시 허용 감도 - , </a:t>
            </a:r>
            <a:endParaRPr sz="1200">
              <a:solidFill>
                <a:schemeClr val="dk1"/>
              </a:solidFill>
            </a:endParaRPr>
          </a:p>
          <a:p>
            <a:pPr indent="0" lvl="0" marL="0" marR="0" rtl="0" algn="l">
              <a:spcBef>
                <a:spcPts val="0"/>
              </a:spcBef>
              <a:spcAft>
                <a:spcPts val="0"/>
              </a:spcAft>
              <a:buNone/>
            </a:pPr>
            <a:r>
              <a:rPr lang="en-US" sz="1200">
                <a:solidFill>
                  <a:schemeClr val="dk1"/>
                </a:solidFill>
              </a:rPr>
              <a:t>상황별 대응 방안, 궁금한 점</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앱은 서버에서 내려주는 작업을 소비 - 가벼운 로컬 데이터 - 수동 추가 예외 시 동기화 필요. 계량기, 설치 위치(Home), 발전 설비가 모두 1:1 대응. </a:t>
            </a:r>
            <a:endParaRPr sz="1200">
              <a:solidFill>
                <a:schemeClr val="dk1"/>
              </a:solidFill>
            </a:endParaRPr>
          </a:p>
          <a:p>
            <a:pPr indent="0" lvl="0" marL="0" marR="0" rtl="0" algn="l">
              <a:spcBef>
                <a:spcPts val="0"/>
              </a:spcBef>
              <a:spcAft>
                <a:spcPts val="0"/>
              </a:spcAft>
              <a:buNone/>
            </a:pPr>
            <a:r>
              <a:rPr lang="en-US" sz="1200">
                <a:solidFill>
                  <a:schemeClr val="dk1"/>
                </a:solidFill>
              </a:rPr>
              <a:t>대가: 실시간 상태 조회 -  자주하면 값이 최신, but 장비에 부하 가능, foreground일 때만 조회. 설비 스캔시 신호 강도 제한 혼선 방지. </a:t>
            </a:r>
            <a:endParaRPr sz="1200">
              <a:solidFill>
                <a:schemeClr val="dk1"/>
              </a:solidFill>
            </a:endParaRPr>
          </a:p>
          <a:p>
            <a:pPr indent="0" lvl="0" marL="0" marR="0" rtl="0" algn="l">
              <a:spcBef>
                <a:spcPts val="0"/>
              </a:spcBef>
              <a:spcAft>
                <a:spcPts val="0"/>
              </a:spcAft>
              <a:buNone/>
            </a:pPr>
            <a:r>
              <a:rPr lang="en-US" sz="1200">
                <a:solidFill>
                  <a:schemeClr val="dk1"/>
                </a:solidFill>
              </a:rPr>
              <a:t>리스크 &amp; 대책: 자체 Wi-Fi 불가 - BLE로 전송, 재방문 요청 기록. 비 전령망 - 임시 ID로 시운전, 하드웨어 프로토콜 미정의 - 통신 Layer 격리질문: Serial No는 BLE 장비 이름에 정확히 매칭 or 축약형? 임시 비밀번호는 누가 만드는거 얼마나 유효기간, 알고리즘? 펌웨어 크기 전송속도 기준? 테스트 대상 여부는 어디서 결정? 비전령망 설정은 운행 상태에 영향을 줄 수 있나?</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설계 문서 5절.</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가정.</a:t>
            </a:r>
            <a:endParaRPr sz="1200">
              <a:solidFill>
                <a:schemeClr val="dk1"/>
              </a:solidFill>
            </a:endParaRPr>
          </a:p>
          <a:p>
            <a:pPr indent="0" lvl="0" marL="0" marR="0" rtl="0" algn="l">
              <a:spcBef>
                <a:spcPts val="0"/>
              </a:spcBef>
              <a:spcAft>
                <a:spcPts val="0"/>
              </a:spcAft>
              <a:buNone/>
            </a:pPr>
            <a:r>
              <a:rPr lang="en-US" sz="1200">
                <a:solidFill>
                  <a:schemeClr val="dk1"/>
                </a:solidFill>
              </a:rPr>
              <a:t>일정 관리를 본사 시스템에 둔다: 작업 배정과 일정은 본사 시스템이 관리하고, 앱은 작업 목록만 가져오며 일정 편집 기능이 없습니다. 영향: 앱 범위가 줄고 오프라인 처리가 단순해지지만, 현장 일정 변경은 서버 재동기화에 의존합니다.</a:t>
            </a:r>
            <a:endParaRPr sz="1200">
              <a:solidFill>
                <a:schemeClr val="dk1"/>
              </a:solidFill>
            </a:endParaRPr>
          </a:p>
          <a:p>
            <a:pPr indent="0" lvl="0" marL="0" marR="0" rtl="0" algn="l">
              <a:spcBef>
                <a:spcPts val="0"/>
              </a:spcBef>
              <a:spcAft>
                <a:spcPts val="0"/>
              </a:spcAft>
              <a:buNone/>
            </a:pPr>
            <a:r>
              <a:rPr lang="en-US" sz="1200">
                <a:solidFill>
                  <a:schemeClr val="dk1"/>
                </a:solidFill>
              </a:rPr>
              <a:t>NMI No를 기본 키로 연결: NMI는 계량 지점마다 고유한 식별자이며, NMI No, Site, ESS를 1:1:1로 묶어 기본 키로 사용합니다. 확인 필요: 같은 NMI 아래 ESS가 여러 대 설치되는지 여부. 그렇다면 복합 키(NMI No + Serial No)로 전환합니다.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트레이드오프.</a:t>
            </a:r>
            <a:endParaRPr sz="1200">
              <a:solidFill>
                <a:schemeClr val="dk1"/>
              </a:solidFill>
            </a:endParaRPr>
          </a:p>
          <a:p>
            <a:pPr indent="0" lvl="0" marL="0" marR="0" rtl="0" algn="l">
              <a:spcBef>
                <a:spcPts val="0"/>
              </a:spcBef>
              <a:spcAft>
                <a:spcPts val="0"/>
              </a:spcAft>
              <a:buNone/>
            </a:pPr>
            <a:r>
              <a:rPr lang="en-US" sz="1200">
                <a:solidFill>
                  <a:schemeClr val="dk1"/>
                </a:solidFill>
              </a:rPr>
              <a:t>실시간 계량 폴링 제한: 높은 빈도(1초)의 폴링은 실시간 느낌을 주지만 설정 변경을 지연시키고 기기 MCU에 부하를 줍니다. 낮은 빈도(TBD초)는 그 반대입니다. 채택: 계량 화면이 포그라운드일 때만 폴링하고, 설정 명령이 대기 중일 때는 폴링을 일시 중지하며, 백그라운드로 들어가면 즉시 중지합니다.</a:t>
            </a:r>
            <a:endParaRPr sz="1200">
              <a:solidFill>
                <a:schemeClr val="dk1"/>
              </a:solidFill>
            </a:endParaRPr>
          </a:p>
          <a:p>
            <a:pPr indent="0" lvl="0" marL="0" marR="0" rtl="0" algn="l">
              <a:spcBef>
                <a:spcPts val="0"/>
              </a:spcBef>
              <a:spcAft>
                <a:spcPts val="0"/>
              </a:spcAft>
              <a:buNone/>
            </a:pPr>
            <a:r>
              <a:rPr lang="en-US" sz="1200">
                <a:solidFill>
                  <a:schemeClr val="dk1"/>
                </a:solidFill>
              </a:rPr>
              <a:t>MFA와 결합한 동적 RSSI 가드 완화: 옥상과 외벽 설치는 설치 기사와 기기 사이의 거리와 차폐 때문에 RSSI가 낮을 수밖에 없습니다. 고정 임계값은 정당한 현장 작업을 막고, 무제한 허용은 이웃 기기에 연결될 위험이 있습니다. 채택: 신원 확인 강도에 따라 최소 신호 강도를 단계적으로 완화합니다. 레벨 1, Local Name 일치: 기본 TBD dBm. 레벨 2, Local Name + 바코드 / QR 스캔: 완화 TBD dBm. 레벨 3, 레벨 2 + 일회용 OTP: 쓰기 허용.</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리스크.</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ESS 내장 Wi-Fi 장애: 장기 non-Wifi 상태. 대응: 설치 기사가 방문할 때 앱이 BLE로 누적된 기기 로그를 수집해 기기를 대신해 업로드하고, 임계치를 넘으면 서버가 재방문 작업 지시를 자동 생성합니다. 미결 사항: 기기 내부 로그 버퍼 용량과 보관 기간.</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완전 오프그리드 원격 가구의 NMI No 필수 문제: NMI No가 없을 수 있어 현재 적용 규칙으로는 설정을 완료할 수 없습니다. 개선: 백엔드가 Off-Grid 전용 임시 식별자를 자동으로 채우고, 해당 기기는 정산 파이프라인에서 격리하며, 공식 NMI가 발급되면 서버에서 키를 교체합니다.</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하드웨어 사양 미정: Service UUID, Local Name 형식, 레지스터 맵, OTP 알고리즘이 아직 정의되지 않았습니다. 대응: BLETransport 프로토콜 경계 뒤로, 사양이 확정되면 Data 계층만 바뀝니다.</a:t>
            </a:r>
            <a:endParaRPr sz="1200">
              <a:solidFill>
                <a:schemeClr val="dk1"/>
              </a:solidFill>
            </a:endParaRPr>
          </a:p>
          <a:p>
            <a:pPr indent="0" lvl="0" marL="0" marR="0" rtl="0" algn="l">
              <a:spcBef>
                <a:spcPts val="0"/>
              </a:spcBef>
              <a:spcAft>
                <a:spcPts val="0"/>
              </a:spcAft>
              <a:buNone/>
            </a:pPr>
            <a:r>
              <a:rPr lang="en-US" sz="1200">
                <a:solidFill>
                  <a:schemeClr val="dk1"/>
                </a:solidFill>
              </a:rPr>
              <a:t>미결 질문.</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Local Name에 Serial No 전체가 들어 있나요, 축약형인가요?</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임시 설치 기사 비밀번호는 누가 발급하고, 유효 기간은 얼마이며, 어떤 OTP 알고리즘을 쓰나요?</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펌웨어 바이너리 크기와 내장 Wi-Fi 전송 속도 기준은 얼마입니까?</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Test Site를 상업 운전으로 전환할 권한은 설치 기사에게 있나요, 본사에 있나요?</a:t>
            </a:r>
            <a:endParaRPr sz="1200">
              <a:solidFill>
                <a:schemeClr val="dk1"/>
              </a:solidFill>
            </a:endParaRPr>
          </a:p>
          <a:p>
            <a:pPr indent="-304800" lvl="0" marL="457200" marR="0" rtl="0" algn="l">
              <a:spcBef>
                <a:spcPts val="0"/>
              </a:spcBef>
              <a:spcAft>
                <a:spcPts val="0"/>
              </a:spcAft>
              <a:buClr>
                <a:schemeClr val="dk1"/>
              </a:buClr>
              <a:buSzPts val="1200"/>
              <a:buAutoNum type="arabicParenBoth"/>
            </a:pPr>
            <a:r>
              <a:rPr lang="en-US" sz="1200">
                <a:solidFill>
                  <a:schemeClr val="dk1"/>
                </a:solidFill>
              </a:rPr>
              <a:t>운행 상태에서 Off-Grid 설정을 변경할 수 있나요?</a:t>
            </a:r>
            <a:endParaRPr sz="1200">
              <a:solidFill>
                <a:schemeClr val="dk1"/>
              </a:solidFill>
            </a:endParaRPr>
          </a:p>
        </p:txBody>
      </p:sp>
      <p:sp>
        <p:nvSpPr>
          <p:cNvPr id="1331" name="Google Shape;1331;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01" name="Google Shape;1401;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서버 API 6 가지, 하위 호환성 지원 시 확인 대상 5가지</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API: 작업 대상 정보 수신, 계량기 번호 수신/검증, 임시 비밀번호 발급, 펌웨어 다운로드, 이력 동기화, 설비 예외 로그 전송</a:t>
            </a:r>
            <a:endParaRPr sz="1200">
              <a:solidFill>
                <a:schemeClr val="dk1"/>
              </a:solidFill>
            </a:endParaRPr>
          </a:p>
          <a:p>
            <a:pPr indent="0" lvl="0" marL="0" marR="0" rtl="0" algn="l">
              <a:spcBef>
                <a:spcPts val="0"/>
              </a:spcBef>
              <a:spcAft>
                <a:spcPts val="0"/>
              </a:spcAft>
              <a:buNone/>
            </a:pPr>
            <a:r>
              <a:rPr lang="en-US" sz="1200">
                <a:solidFill>
                  <a:schemeClr val="dk1"/>
                </a:solidFill>
              </a:rPr>
              <a:t>호환성 지원 대상: 설비 프로토콜 버전, 펌웨어 버전, 서버에서 지원하는 버전, 설비 버전, 서버 API 버전</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T5, T6, T8의 백업 페이지입니다. 출처: 설계 문서 3.4절.</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백엔드 API.</a:t>
            </a:r>
            <a:endParaRPr sz="1200">
              <a:solidFill>
                <a:schemeClr val="dk1"/>
              </a:solidFill>
            </a:endParaRPr>
          </a:p>
          <a:p>
            <a:pPr indent="0" lvl="0" marL="0" marR="0" rtl="0" algn="l">
              <a:spcBef>
                <a:spcPts val="0"/>
              </a:spcBef>
              <a:spcAft>
                <a:spcPts val="0"/>
              </a:spcAft>
              <a:buNone/>
            </a:pPr>
            <a:r>
              <a:rPr lang="en-US" sz="1200">
                <a:solidFill>
                  <a:schemeClr val="dk1"/>
                </a:solidFill>
              </a:rPr>
              <a:t>작업 지시 조회: 로그인 후 사전 동기화. 실패 시 마지막 로컬 캐시를 쓰고 동기화 시각을 표시합니다.</a:t>
            </a:r>
            <a:endParaRPr sz="1200">
              <a:solidFill>
                <a:schemeClr val="dk1"/>
              </a:solidFill>
            </a:endParaRPr>
          </a:p>
          <a:p>
            <a:pPr indent="0" lvl="0" marL="0" marR="0" rtl="0" algn="l">
              <a:spcBef>
                <a:spcPts val="0"/>
              </a:spcBef>
              <a:spcAft>
                <a:spcPts val="0"/>
              </a:spcAft>
              <a:buNone/>
            </a:pPr>
            <a:r>
              <a:rPr lang="en-US" sz="1200">
                <a:solidFill>
                  <a:schemeClr val="dk1"/>
                </a:solidFill>
              </a:rPr>
              <a:t>NMI 조회: 사전 동기화, 온라인일 때 재조회. 오프라인에서는 미리 불러온 값만 허용합니다.</a:t>
            </a:r>
            <a:endParaRPr sz="1200">
              <a:solidFill>
                <a:schemeClr val="dk1"/>
              </a:solidFill>
            </a:endParaRPr>
          </a:p>
          <a:p>
            <a:pPr indent="0" lvl="0" marL="0" marR="0" rtl="0" algn="l">
              <a:spcBef>
                <a:spcPts val="0"/>
              </a:spcBef>
              <a:spcAft>
                <a:spcPts val="0"/>
              </a:spcAft>
              <a:buNone/>
            </a:pPr>
            <a:r>
              <a:rPr lang="en-US" sz="1200">
                <a:solidFill>
                  <a:schemeClr val="dk1"/>
                </a:solidFill>
              </a:rPr>
              <a:t>설치 기사 비밀번호 발급: 사전 동기화, 작업별. 만료 시 온라인 재발급을 안내합니다.</a:t>
            </a:r>
            <a:endParaRPr sz="1200">
              <a:solidFill>
                <a:schemeClr val="dk1"/>
              </a:solidFill>
            </a:endParaRPr>
          </a:p>
          <a:p>
            <a:pPr indent="0" lvl="0" marL="0" marR="0" rtl="0" algn="l">
              <a:spcBef>
                <a:spcPts val="0"/>
              </a:spcBef>
              <a:spcAft>
                <a:spcPts val="0"/>
              </a:spcAft>
              <a:buNone/>
            </a:pPr>
            <a:r>
              <a:rPr lang="en-US" sz="1200">
                <a:solidFill>
                  <a:schemeClr val="dk1"/>
                </a:solidFill>
              </a:rPr>
              <a:t>펌웨어 바이너리 + 메타데이터: 사전 동기화. 체크섬 불일치 시 다시 다운로드합니다.</a:t>
            </a:r>
            <a:endParaRPr sz="1200">
              <a:solidFill>
                <a:schemeClr val="dk1"/>
              </a:solidFill>
            </a:endParaRPr>
          </a:p>
          <a:p>
            <a:pPr indent="0" lvl="0" marL="0" marR="0" rtl="0" algn="l">
              <a:spcBef>
                <a:spcPts val="0"/>
              </a:spcBef>
              <a:spcAft>
                <a:spcPts val="0"/>
              </a:spcAft>
              <a:buNone/>
            </a:pPr>
            <a:r>
              <a:rPr lang="en-US" sz="1200">
                <a:solidFill>
                  <a:schemeClr val="dk1"/>
                </a:solidFill>
              </a:rPr>
              <a:t>트랜잭션 동기화: 네트워크가 돌아올 때. 401은 토큰 갱신, 409는 성공으로 처리, 5xx는 백오프.</a:t>
            </a:r>
            <a:endParaRPr sz="1200">
              <a:solidFill>
                <a:schemeClr val="dk1"/>
              </a:solidFill>
            </a:endParaRPr>
          </a:p>
          <a:p>
            <a:pPr indent="0" lvl="0" marL="0" marR="0" rtl="0" algn="l">
              <a:spcBef>
                <a:spcPts val="0"/>
              </a:spcBef>
              <a:spcAft>
                <a:spcPts val="0"/>
              </a:spcAft>
              <a:buNone/>
            </a:pPr>
            <a:r>
              <a:rPr lang="en-US" sz="1200">
                <a:solidFill>
                  <a:schemeClr val="dk1"/>
                </a:solidFill>
              </a:rPr>
              <a:t>예외 입력 로그: 설치 마법사 사용 후. 트랜잭션처럼 아웃박스로 전송합니다.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버전 호환성.</a:t>
            </a:r>
            <a:endParaRPr sz="1200">
              <a:solidFill>
                <a:schemeClr val="dk1"/>
              </a:solidFill>
            </a:endParaRPr>
          </a:p>
          <a:p>
            <a:pPr indent="0" lvl="0" marL="0" marR="0" rtl="0" algn="l">
              <a:spcBef>
                <a:spcPts val="0"/>
              </a:spcBef>
              <a:spcAft>
                <a:spcPts val="0"/>
              </a:spcAft>
              <a:buNone/>
            </a:pPr>
            <a:r>
              <a:rPr lang="en-US" sz="1200">
                <a:solidFill>
                  <a:schemeClr val="dk1"/>
                </a:solidFill>
              </a:rPr>
              <a:t>연결 직후 기기 프로토콜 버전을 읽어 앱이 지원하는 범위(Min~Max)와 비교합니다.</a:t>
            </a:r>
            <a:endParaRPr sz="1200">
              <a:solidFill>
                <a:schemeClr val="dk1"/>
              </a:solidFill>
            </a:endParaRPr>
          </a:p>
          <a:p>
            <a:pPr indent="0" lvl="0" marL="0" marR="0" rtl="0" algn="l">
              <a:spcBef>
                <a:spcPts val="0"/>
              </a:spcBef>
              <a:spcAft>
                <a:spcPts val="0"/>
              </a:spcAft>
              <a:buNone/>
            </a:pPr>
            <a:r>
              <a:rPr lang="en-US" sz="1200">
                <a:solidFill>
                  <a:schemeClr val="dk1"/>
                </a:solidFill>
              </a:rPr>
              <a:t>기기 버전이 너무 낮으면 설정 쓰기를 차단하고 펌웨어 업데이트를 안내합니다. 너무 높으면 앱 업데이트를 요구합니다.</a:t>
            </a:r>
            <a:endParaRPr sz="1200">
              <a:solidFill>
                <a:schemeClr val="dk1"/>
              </a:solidFill>
            </a:endParaRPr>
          </a:p>
          <a:p>
            <a:pPr indent="0" lvl="0" marL="0" marR="0" rtl="0" algn="l">
              <a:spcBef>
                <a:spcPts val="0"/>
              </a:spcBef>
              <a:spcAft>
                <a:spcPts val="0"/>
              </a:spcAft>
              <a:buNone/>
            </a:pPr>
            <a:r>
              <a:rPr lang="en-US" sz="1200">
                <a:solidFill>
                  <a:schemeClr val="dk1"/>
                </a:solidFill>
              </a:rPr>
              <a:t>버전별 레지스터 맵 차이는 서버 Remote Config의 capability 테이블로 관리하며, 앱 릴리스는 필요 없습니다.</a:t>
            </a:r>
            <a:endParaRPr sz="1200">
              <a:solidFill>
                <a:schemeClr val="dk1"/>
              </a:solidFill>
            </a:endParaRPr>
          </a:p>
          <a:p>
            <a:pPr indent="0" lvl="0" marL="0" marR="0" rtl="0" algn="l">
              <a:spcBef>
                <a:spcPts val="0"/>
              </a:spcBef>
              <a:spcAft>
                <a:spcPts val="0"/>
              </a:spcAft>
              <a:buNone/>
            </a:pPr>
            <a:r>
              <a:rPr lang="en-US" sz="1200">
                <a:solidFill>
                  <a:schemeClr val="dk1"/>
                </a:solidFill>
              </a:rPr>
              <a:t>펌웨어 메타데이터에 지원 HW 리비전과 필수 중간 버전을 담아 건너뛰기 업데이트를 막습니다.</a:t>
            </a:r>
            <a:endParaRPr sz="1200">
              <a:solidFill>
                <a:schemeClr val="dk1"/>
              </a:solidFill>
            </a:endParaRPr>
          </a:p>
          <a:p>
            <a:pPr indent="0" lvl="0" marL="0" marR="0" rtl="0" algn="l">
              <a:spcBef>
                <a:spcPts val="0"/>
              </a:spcBef>
              <a:spcAft>
                <a:spcPts val="0"/>
              </a:spcAft>
              <a:buNone/>
            </a:pPr>
            <a:r>
              <a:rPr lang="en-US" sz="1200">
                <a:solidFill>
                  <a:schemeClr val="dk1"/>
                </a:solidFill>
              </a:rPr>
              <a:t>백엔드 API는 URL 버전(/v1)으로 고정하며, 최소 앱 버전 미만이면 앱 업데이트를 강제합니다.</a:t>
            </a:r>
            <a:endParaRPr sz="1200">
              <a:solidFill>
                <a:schemeClr val="dk1"/>
              </a:solidFill>
            </a:endParaRPr>
          </a:p>
        </p:txBody>
      </p:sp>
      <p:sp>
        <p:nvSpPr>
          <p:cNvPr id="1402" name="Google Shape;1402;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5" name="Shape 1445"/>
        <p:cNvGrpSpPr/>
        <p:nvPr/>
      </p:nvGrpSpPr>
      <p:grpSpPr>
        <a:xfrm>
          <a:off x="0" y="0"/>
          <a:ext cx="0" cy="0"/>
          <a:chOff x="0" y="0"/>
          <a:chExt cx="0" cy="0"/>
        </a:xfrm>
      </p:grpSpPr>
      <p:sp>
        <p:nvSpPr>
          <p:cNvPr id="1446" name="Google Shape;1446;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7" name="Google Shape;144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한번에 하나의 BLE 명령 수행을 위한 4가지 안전망, 민감 데이터 유형별 저장/암호화 방식 선정.</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한번에 하나의 BLE 명령 수행을 위한 4가지 안전망: UI 조작 차단, 매 연결내 중복 명령 방지, 비동기 명령 실행, 스레드 안전 확보</a:t>
            </a:r>
            <a:endParaRPr sz="1200">
              <a:solidFill>
                <a:schemeClr val="dk1"/>
              </a:solidFill>
            </a:endParaRPr>
          </a:p>
          <a:p>
            <a:pPr indent="0" lvl="0" marL="0" marR="0" rtl="0" algn="l">
              <a:spcBef>
                <a:spcPts val="0"/>
              </a:spcBef>
              <a:spcAft>
                <a:spcPts val="0"/>
              </a:spcAft>
              <a:buNone/>
            </a:pPr>
            <a:r>
              <a:rPr lang="en-US" sz="1200">
                <a:solidFill>
                  <a:schemeClr val="dk1"/>
                </a:solidFill>
              </a:rPr>
              <a:t>민감 데이터: 설치 기사 인증 토큰, 갱신 토큰, 임시 비밀번호, 작업 대상(고객, 위치)</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T3과 T5의 백업 페이지입니다. 출처: 설계 문서 2.1절 및 2.2절.</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모달 UI 잠금 가드: 기기 데이터 입출력이 진행 중일 때 fullScreenCover로 화면을 막습니다. 자식 뷰에는 .allowsHitTesting(false)와 .interactiveDismissDisabled()를 적용합니다. 기기가 응답하지 않을 경우를 대비해 TBD초 타임아웃 후 재시도 옵션과 함께 잠금을 해제합니다. 세션 단위 배타적 접근은 actor DeviceSession을 통해 처리하며, 같은 세션 내 중복 명령은 명령 큐에서 거부합니다.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async-await 기반 BLE 통신: CoreBluetooth delegate 콜백을 CheckedThrowingContinuation으로 변환합니다. 대기 중인 continuation은 이중 재개를 막기 위해 characteristic당 하나로 제한합니다. 연결이 끊기면 대기 중인 continuation 모두에 한꺼번에 오류를 전달합니다.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상태 스트림과 스레드 안전성: 연결 상태, RSSI, 실시간 계량은 Combine CurrentValueSubject로 발행하며, 명령 실행 경로와 관찰 경로를 분리합니다. CBCentralManager는 전용 직렬 DispatchQueue에서 실행하고, GATT 쓰기는 actor 내부 큐로 직렬화합니다.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민감 데이터. 설치 기사 인증 토큰: Keychain, kSecAttrAccessibleWhenUnlockedThisDeviceOnly + .biometryCurrentSet. 리프레시 토큰: Keychain, kSecAttrAccessibleAfterFirstUnlockThisDeviceOnly. 임시 설치 기사 비밀번호: 메모리 전용, 저장하지 않고 사용 직후 폐기. 작업 지시 데이터: 로컬 DB, Data Protection .complete.</a:t>
            </a:r>
            <a:endParaRPr sz="1200">
              <a:solidFill>
                <a:schemeClr val="dk1"/>
              </a:solidFill>
            </a:endParaRPr>
          </a:p>
          <a:p>
            <a:pPr indent="0" lvl="0" marL="0" marR="0" rtl="0" algn="l">
              <a:spcBef>
                <a:spcPts val="0"/>
              </a:spcBef>
              <a:spcAft>
                <a:spcPts val="0"/>
              </a:spcAft>
              <a:buNone/>
            </a:pPr>
            <a:r>
              <a:rPr lang="en-US" sz="1200">
                <a:solidFill>
                  <a:schemeClr val="dk1"/>
                </a:solidFill>
              </a:rPr>
              <a:t>보안 원칙: ThisDeviceOnly 속성은 iCloud 키체인 동기화와 백업 복원을 차단합니다. 생체 인증을 다시 등록하면 .biometryCurrentSet에 의해 토큰이 자동으로 무효화됩니다. Serial No, NMI No, 비밀번호는 로그와 크래시 리포트에서 마스킹됩니다.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4가지 가드는 나란히 나열했습니다. 설계 문서는 가드의 호출 순서를 정하지 않습니다.</a:t>
            </a:r>
            <a:endParaRPr sz="1200">
              <a:solidFill>
                <a:schemeClr val="dk1"/>
              </a:solidFill>
            </a:endParaRPr>
          </a:p>
        </p:txBody>
      </p:sp>
      <p:sp>
        <p:nvSpPr>
          <p:cNvPr id="1448" name="Google Shape;1448;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8" name="Shape 1478"/>
        <p:cNvGrpSpPr/>
        <p:nvPr/>
      </p:nvGrpSpPr>
      <p:grpSpPr>
        <a:xfrm>
          <a:off x="0" y="0"/>
          <a:ext cx="0" cy="0"/>
          <a:chOff x="0" y="0"/>
          <a:chExt cx="0" cy="0"/>
        </a:xfrm>
      </p:grpSpPr>
      <p:sp>
        <p:nvSpPr>
          <p:cNvPr id="1479" name="Google Shape;1479;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0" name="Google Shape;1480;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sz="1200">
                <a:solidFill>
                  <a:schemeClr val="dk1"/>
                </a:solidFill>
              </a:rPr>
              <a:t>안녕하세요, 안재현입니다. 이어서 Android 설계안을 말씀드리겠습니다.</a:t>
            </a:r>
            <a:endParaRPr sz="1200">
              <a:solidFill>
                <a:schemeClr val="dk1"/>
              </a:solidFill>
            </a:endParaRPr>
          </a:p>
          <a:p>
            <a:pPr indent="0" lvl="0" marL="0" rtl="0" algn="l">
              <a:spcBef>
                <a:spcPts val="0"/>
              </a:spcBef>
              <a:spcAft>
                <a:spcPts val="0"/>
              </a:spcAft>
              <a:buClr>
                <a:schemeClr val="dk1"/>
              </a:buClr>
              <a:buFont typeface="Arial"/>
              <a:buNone/>
            </a:pPr>
            <a:r>
              <a:t/>
            </a:r>
            <a:endParaRPr sz="1200">
              <a:solidFill>
                <a:schemeClr val="dk1"/>
              </a:solidFill>
            </a:endParaRPr>
          </a:p>
          <a:p>
            <a:pPr indent="0" lvl="0" marL="0" rtl="0" algn="l">
              <a:spcBef>
                <a:spcPts val="0"/>
              </a:spcBef>
              <a:spcAft>
                <a:spcPts val="0"/>
              </a:spcAft>
              <a:buClr>
                <a:schemeClr val="dk1"/>
              </a:buClr>
              <a:buFont typeface="Arial"/>
              <a:buNone/>
            </a:pPr>
            <a:r>
              <a:rPr lang="en-US" sz="1200">
                <a:solidFill>
                  <a:schemeClr val="dk1"/>
                </a:solidFill>
              </a:rPr>
              <a:t>—</a:t>
            </a:r>
            <a:endParaRPr sz="1200">
              <a:solidFill>
                <a:schemeClr val="dk1"/>
              </a:solidFill>
            </a:endParaRPr>
          </a:p>
          <a:p>
            <a:pPr indent="0" lvl="0" marL="0" rtl="0" algn="l">
              <a:spcBef>
                <a:spcPts val="0"/>
              </a:spcBef>
              <a:spcAft>
                <a:spcPts val="0"/>
              </a:spcAft>
              <a:buClr>
                <a:schemeClr val="dk1"/>
              </a:buClr>
              <a:buFont typeface="Arial"/>
              <a:buNone/>
            </a:pPr>
            <a:r>
              <a:rPr lang="en-US" sz="1200">
                <a:solidFill>
                  <a:schemeClr val="dk1"/>
                </a:solidFill>
              </a:rPr>
              <a:t>이어서 안드로이드 설계안은 안재현님이 브리핑하겠습니다.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기술 설계서: 안드로이드 버전</a:t>
            </a:r>
            <a:endParaRPr sz="1200">
              <a:solidFill>
                <a:schemeClr val="dk1"/>
              </a:solidFill>
            </a:endParaRPr>
          </a:p>
          <a:p>
            <a:pPr indent="0" lvl="0" marL="0" marR="0" rtl="0" algn="l">
              <a:spcBef>
                <a:spcPts val="0"/>
              </a:spcBef>
              <a:spcAft>
                <a:spcPts val="0"/>
              </a:spcAft>
              <a:buNone/>
            </a:pPr>
            <a:r>
              <a:rPr lang="en-US" sz="1200">
                <a:solidFill>
                  <a:schemeClr val="dk1"/>
                </a:solidFill>
              </a:rPr>
              <a:t>RFP QCELLS-MOBILE-RFP-2026-09-25 6항의 기술 설계 과제의 Android 버전입니다. 이 덱은 공통 설계를 반복하지 않습니다. 워크플로, 기기 상태, 확인된 동작, 명령 규약, 버전 규칙, 일회용 OTP 쓰기, 트랜잭션 저널은 T1~T10 페이지에 있으며 Android에도 그대로 적용됩니다. A1~A9 페이지는 Android에 고유한 내용만 다룹니다. AB1 페이지는 백업입니다.</a:t>
            </a:r>
            <a:endParaRPr sz="1200">
              <a:solidFill>
                <a:schemeClr val="dk1"/>
              </a:solidFill>
            </a:endParaRPr>
          </a:p>
        </p:txBody>
      </p:sp>
      <p:sp>
        <p:nvSpPr>
          <p:cNvPr id="1481" name="Google Shape;1481;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7" name="Google Shape;148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Android는 iOS 설계의 도메인 규칙을 그대로 가져오고, 무선, 라이프사이클, 저장소처럼 플랫폼이 다른 부분만 다시 설계했습니다.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Layer 분리 정책은 iOS와 동일, 권한 요청, Foreground Service 등 Platform 특성에 따른 구현</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iOS 설계에서 그대로 이어지는 것과 Android가 별도로 설계해야 하는 부분을 보여줍니다.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계층별 설명. T5의 3계층 분리(UI, Domain, Data)는 유지합니다. Domain 계층은 상태 전이 규칙, 권한 정책, 요금 설정 가능 규칙을 담고 있으며, 이는 플랫폼과 무관하므로 같은 UT-01~UT-07 시나리오 기준으로 Kotlin에서 다시 구현합니다. UI 계층과 Data 계층은 같은 인터페이스(BLETransport, SoftAPTransport) 뒤에서 Android 네이티브 대응 기술로 다시 만듭니다.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Android 고유 구성 요소. iOS 설계에서는 설정 또는 호출 하나면 되는 것(isIdleTimerDisabled, NWPathMonitor, ThisDeviceOnly 속성, 권한 2개)이 Android에서는 설계된 구성 요소를 필요로 합니다. Android 버전에 따라 달라지는 권한 게이트(A2), 펌웨어 세션을 유지하는 포그라운드 서비스(A5), 업로드용 WorkManager 아웃박스(A6), 백업 및 화면 캡처 규칙(A7)이 그것입니다.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페이지별 설명. T1과 T2는 변경되지 않습니다. T3: 단일 명령 큐가 필수가 되고(A3) 모달 UI 잠금은 다르게 구현합니다(A5). T4: 복구 규칙은 유지하고, 감지 신호는 Android 콜백이 되며(A3, A4, A5) 클라우드 동기화 재시도는 WorkManager에서 실행합니다(A6). T5: 계층은 유지하고(A1) 저장소 보호 방식이 다릅니다(A7). T6: 권한과 GATT 클라이언트의 동작이 다릅니다(A2, A3). T7: Wi-Fi 접속 API와 유지 방식이 다릅니다(A4, A5). T8: 저널은 유지하고 업로드는 WorkManager에서 실행합니다(A5, A6). T9: 테스트 주입과 추가 시나리오(A8). T10: Android 가정, 위험, 질문(A9).</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현황: 이 덱의 모든 Android 항목은 제안 설계입니다. 원본 설계 문서는 iOS를 다룹니다. RFP 6.1항이 확인된 동작과 가정을 구분해 제시하라고 요구하므로, Android 후보자의 Android 데모 시연은 아직 확정되지 않았습니다.</a:t>
            </a:r>
            <a:endParaRPr sz="1200">
              <a:solidFill>
                <a:schemeClr val="dk1"/>
              </a:solidFill>
            </a:endParaRPr>
          </a:p>
        </p:txBody>
      </p:sp>
      <p:sp>
        <p:nvSpPr>
          <p:cNvPr id="1488" name="Google Shape;1488;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5" name="Shape 1565"/>
        <p:cNvGrpSpPr/>
        <p:nvPr/>
      </p:nvGrpSpPr>
      <p:grpSpPr>
        <a:xfrm>
          <a:off x="0" y="0"/>
          <a:ext cx="0" cy="0"/>
          <a:chOff x="0" y="0"/>
          <a:chExt cx="0" cy="0"/>
        </a:xfrm>
      </p:grpSpPr>
      <p:sp>
        <p:nvSpPr>
          <p:cNvPr id="1566" name="Google Shape;156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7" name="Google Shape;156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먼저 권한입니다. 설치 기사가 첫 스캔 전에 허용할 권한이 OS 버전마다 달라서, 스캔 전 점검으로 항목별 해결 방법을 안내합니다.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안드로이드에서 설치기사가 처음 스캔하기까지 받아야할 권한: OS 버전에 따라 추가 권한 필요</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Android에서 BLE 스캔과 펌웨어 전송 전에 필요한 사전 조건은 OS 버전에 따라 달라집니다. iOS 설계에는 대응하는 페이지가 없습니다.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BLE 스캔 및 연결. Android 11(API 30) 이하: 매니페스트에 BLUETOOTH와 BLUETOOTH_ADMIN, 그리고 ACCESS_FINE_LOCATION 런타임 권한이 필요합니다. Bluetooth 스캔으로 위치를 유추할 수 있기 때문입니다. Android 10과 11에서는 서비스에서 Bluetooth 기기를 찾는 앱이 ACCESS_BACKGROUND_LOCATION도 가져야 한다고 문서에 적혀 있습니다. 이 설계는 그 권한을 피합니다. Android 10과 11에서는 앱이 화면에 보일 때만 스캔합니다. 이는 펌웨어 재부팅 후의 재스캔(T7, 4단계)에 중요합니다. 설치 기사가 앱을 떠난 경우 재스캔은 앱이 다시 보일 때까지 기다리거나, 스캔 없이 기기 주소로 다시 연결합니다(A3). Android 12(API 31) 이상: 런타임 권한 BLUETOOTH_SCAN과 BLUETOOTH_CONNECT(사용자에게는 ‘근처 기기’로 표시). BLUETOOTH_SCAN은 usesPermissionFlags=neverForLocation으로 선언하므로 위치 권한이 필요 없습니다. 문서에 적힌 부작용으로 일부 BLE 비콘이 스캔 결과에서 걸러집니다. 레거시 권한은 maxSdkVersion 30으로 선언합니다.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임시 Wi-Fi 연결. Android 10(API 29) 이상: ConnectivityManager.requestNetwork와 함께 WifiNetworkSpecifier를 사용하며, 시스템이 승인 대화상자를 표시합니다. Android 9 이하는 레거시 WifiManager 방식이 필요하며, 기존 앱의 minSdk가 29 미만일 때만 해당합니다. 이는 확인 예정입니다.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세션 유지. 포그라운드 서비스가 펌웨어 세션을 계속 실행합니다(A5). Android 13(API 33) 이상: POST_NOTIFICATIONS 런타임 권한이 알림 표시 여부를 결정합니다. Android 14(API 34) 이상: 서비스 유형을 선언해야 합니다. connectedDevice 유형은 FOREGROUND_SERVICE_CONNECTED_DEVICE와, 나열된 사전 조건 중 하나 이상(예: 허용된 BLUETOOTH_CONNECT)이 필요합니다. 이 유형은 Play Console에도 선언합니다.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바코드 스캔. CAMERA 런타임 권한, 또는 카메라 권한이 필요 없는 Google 코드 스캐너를 씁니다. 후자는 Google Play 서비스로 제공되며 처음 쓰기 전에 다운로드해야 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Google Play. 2026년 8월 31일부터 신규 앱과 앱 업데이트는 Android 16(API 36)을 타깃으로 해야 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사전 점검 게이트. 하나의 구성 요소가 실행 중인 OS 버전의 사전 조건을 확인해 ‘스캔 준비 완료’라는 하나의 상태를 반환합니다. 점검에 실패한 항목마다 별도 안내를 둡니다. 권한이 영구 거부될 수 있습니다. Android 11부터는 두 번 이상 거부하면 시스템 대화상자가 더 이상 표시되지 않으며, Android 10에서는 사용자가 ‘다시 묻지 않음’을 선택할 수 있습니다. 두 경우 모두 게이트가 앱 설정으로 연결합니다. Android 11 이하에서는 스캔 결과를 위해 위치 서비스도 켜야 할 수 있습니다. 이는 Android 문서가 아니라 현장 가이드(Punch Through)에서 나온 내용이며, 테스트 기기에서 검증할 예정입니다.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a:t>
            </a:r>
            <a:r>
              <a:rPr lang="en-US" sz="1200" u="sng">
                <a:solidFill>
                  <a:schemeClr val="hlink"/>
                </a:solidFill>
                <a:hlinkClick r:id="rId2"/>
              </a:rPr>
              <a:t>developer.android.com/develop/connectivity/bluetooth/bt-permissions</a:t>
            </a:r>
            <a:r>
              <a:rPr lang="en-US" sz="1200">
                <a:solidFill>
                  <a:schemeClr val="dk1"/>
                </a:solidFill>
              </a:rPr>
              <a:t>; </a:t>
            </a:r>
            <a:r>
              <a:rPr lang="en-US" sz="1200" u="sng">
                <a:solidFill>
                  <a:schemeClr val="hlink"/>
                </a:solidFill>
                <a:hlinkClick r:id="rId3"/>
              </a:rPr>
              <a:t>developer.android.com/develop/connectivity/wifi/wifi-bootstrap</a:t>
            </a:r>
            <a:r>
              <a:rPr lang="en-US" sz="1200">
                <a:solidFill>
                  <a:schemeClr val="dk1"/>
                </a:solidFill>
              </a:rPr>
              <a:t>; </a:t>
            </a:r>
            <a:r>
              <a:rPr lang="en-US" sz="1200" u="sng">
                <a:solidFill>
                  <a:schemeClr val="hlink"/>
                </a:solidFill>
                <a:hlinkClick r:id="rId4"/>
              </a:rPr>
              <a:t>developer.android.com/develop/background-work/services/fgs/service-types</a:t>
            </a:r>
            <a:r>
              <a:rPr lang="en-US" sz="1200">
                <a:solidFill>
                  <a:schemeClr val="dk1"/>
                </a:solidFill>
              </a:rPr>
              <a:t>; </a:t>
            </a:r>
            <a:r>
              <a:rPr lang="en-US" sz="1200" u="sng">
                <a:solidFill>
                  <a:schemeClr val="hlink"/>
                </a:solidFill>
                <a:hlinkClick r:id="rId5"/>
              </a:rPr>
              <a:t>developer.android.com/training/permissions/requesting</a:t>
            </a:r>
            <a:r>
              <a:rPr lang="en-US" sz="1200">
                <a:solidFill>
                  <a:schemeClr val="dk1"/>
                </a:solidFill>
              </a:rPr>
              <a:t>; </a:t>
            </a:r>
            <a:r>
              <a:rPr lang="en-US" sz="1200" u="sng">
                <a:solidFill>
                  <a:schemeClr val="hlink"/>
                </a:solidFill>
                <a:hlinkClick r:id="rId6"/>
              </a:rPr>
              <a:t>developer.android.com/about/versions/11/privacy/permissions</a:t>
            </a:r>
            <a:r>
              <a:rPr lang="en-US" sz="1200">
                <a:solidFill>
                  <a:schemeClr val="dk1"/>
                </a:solidFill>
              </a:rPr>
              <a:t>; </a:t>
            </a:r>
            <a:r>
              <a:rPr lang="en-US" sz="1200" u="sng">
                <a:solidFill>
                  <a:schemeClr val="hlink"/>
                </a:solidFill>
                <a:hlinkClick r:id="rId7"/>
              </a:rPr>
              <a:t>support.google.com/googleplay/android-developer/answer/11926878</a:t>
            </a:r>
            <a:r>
              <a:rPr lang="en-US" sz="1200">
                <a:solidFill>
                  <a:schemeClr val="dk1"/>
                </a:solidFill>
              </a:rPr>
              <a:t>; </a:t>
            </a:r>
            <a:r>
              <a:rPr lang="en-US" sz="1200" u="sng">
                <a:solidFill>
                  <a:schemeClr val="hlink"/>
                </a:solidFill>
                <a:hlinkClick r:id="rId8"/>
              </a:rPr>
              <a:t>developers.google.com/ml-kit/vision/barcode-scanning/code-scanner</a:t>
            </a:r>
            <a:r>
              <a:rPr lang="en-US" sz="1200">
                <a:solidFill>
                  <a:schemeClr val="dk1"/>
                </a:solidFill>
              </a:rPr>
              <a:t>; punchthrough.com/android-ble-scan-errors.</a:t>
            </a:r>
            <a:endParaRPr sz="1200">
              <a:solidFill>
                <a:schemeClr val="dk1"/>
              </a:solidFill>
            </a:endParaRPr>
          </a:p>
        </p:txBody>
      </p:sp>
      <p:sp>
        <p:nvSpPr>
          <p:cNvPr id="1568" name="Google Shape;156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2" name="Shape 1632"/>
        <p:cNvGrpSpPr/>
        <p:nvPr/>
      </p:nvGrpSpPr>
      <p:grpSpPr>
        <a:xfrm>
          <a:off x="0" y="0"/>
          <a:ext cx="0" cy="0"/>
          <a:chOff x="0" y="0"/>
          <a:chExt cx="0" cy="0"/>
        </a:xfrm>
      </p:grpSpPr>
      <p:sp>
        <p:nvSpPr>
          <p:cNvPr id="1633" name="Google Shape;1633;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4" name="Google Shape;1634;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BLE 연결에서는 Android GATT에 자체 큐가 없어 명령이 겹치면 오류가 나므로, 단일 명령 큐를 두고 연결 재시도와 스캔 횟수 제한도 함께 관리합니다.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명령 대기열 필수: 결과 받기 전에 다른 명령을 날리면 GATT 오류 발생. 자체 대기열 필요. 연결 재시도 x2배 지연 정책. 30초내 스캔 결과 재활용. OS 분기는 로직 일원화</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T6의 기기 연결은 규칙(Serial No 매칭, 버전 게이트, 명령 규약)을 그대로 유지합니다. 달라지는 것은 Android GATT 클라이언트의 동작 방식입니다.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연결 순서. 1. 모델 Service UUID에 ScanFilter를 건 BluetoothLeScanner로 스캔합니다. T6와 마찬가지로 광고된 이름에서 Serial No를 읽고 일치하면 스캔을 중지합니다. 2. autoConnect = false와 LE 전송으로 connectGatt를 호출하며, 결과는 onConnectionStateChange로 옵니다. 3. MTU를 요청합니다. Android에서는 앱이 명시적으로 요청합니다. Android 14부터는 스택이 최초 requestMtu 호출 시 517을 요청하고 이후 호출은 무시하므로, 청크 크기는 요청한 값이 아니라 협상된 값으로 계산합니다. 4. 서비스를 탐색합니다. 레지스터와 characteristic의 매핑은 레지스터 맵과 함께 확정 예정(TBD)입니다. 5. T6의 이벤트(상태 변경, 플래시 진행)를 활성화합니다. setCharacteristicNotification 호출 후에 앱이 client characteristic configuration descriptor도 써야 하며, 이벤트 characteristic마다 쓰기가 한 번씩 필요합니다. 6. T6와 같이 버전 핸드쉘이크 후 일괄 읽기를 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한 번에 하나의 작업만. Android 프레임워크에는 GATT 작업을 위한 내부 큐가 없습니다. 앱이 작업을 직렬로 실행하고, 한 작업의 콜백이 오기 전까지는 다음 작업을 시작하지 않아야 합니다. 다른 작업이 대기 중일 때 보낸 characteristic 또는 descriptor의 읽기·쓰기는 거부되며, API 33 쓰기 메서드는 ERROR_GATT_WRITE_REQUEST_BUSY를 반환합니다. 다른 작업(MTU 요청, 서비스 탐색)은 프레임워크가 거부하지 않으므로, 작업 순서를 지키는 것은 앱 자체 큐입니다. iOS 설계가 선택한 단일 명령 큐(세션 단위 큐, B2: actor DeviceSession, characteristic당 대기 continuation 하나)는 따라서 Android에서 필수입니다. 제안 형태: 코루틴 하나가 큐(Mutex 또는 Channel)를 소비하고, 각 작업은 콜백이 올 때까지 suspendCancellableCoroutine으로 중단되며 T6 규약의 타임아웃으로 제한됩니다.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가드. 연결 실패: 항상 BluetoothGatt를 close()한 뒤 T6 한도(재스캔 후 2회) 내에서 재시도합니다. 스캔 시작 한도: 30초 안에 스캔을 5회 넘게 시작하면 시스템이 조용히 결과 전달을 멈추므로, 재시도는 실행 중인 스캔 하나를 재사용합니다. 주소: Android는 원격 기기 주소를 노출하지만 iOS는 숨깁니다. Serial No를 계속 유일한 매칭 키로 두어 두 플랫폼이 하나의 규칙을 따릅니다. 한 세션 안에서는 펌웨어 재부팅 후 새 스캔 없이 주소로 재연결할 수 있고, 이는 Android 10과 11의 백그라운드 스캔 제한(A2)도 피합니다. 다만 ESS가 재부팅 후에도 주소를 유지해야 하는데, 이는 미결 질문입니다(A9). API 분리: Android 13(API 33)에서 쓰기와 알림 호출이 값을 함께 전달하는 버전으로 바뀌었습니다. minSdk가 33 미만이면 래퍼 하나로 코드 경로를 하나로 유지합니다.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a:t>
            </a:r>
            <a:r>
              <a:rPr lang="en-US" sz="1200" u="sng">
                <a:solidFill>
                  <a:schemeClr val="hlink"/>
                </a:solidFill>
                <a:hlinkClick r:id="rId2"/>
              </a:rPr>
              <a:t>developer.android.com/develop/connectivity/bluetooth/ble/connect-gatt-server</a:t>
            </a:r>
            <a:r>
              <a:rPr lang="en-US" sz="1200">
                <a:solidFill>
                  <a:schemeClr val="dk1"/>
                </a:solidFill>
              </a:rPr>
              <a:t>; </a:t>
            </a:r>
            <a:r>
              <a:rPr lang="en-US" sz="1200" u="sng">
                <a:solidFill>
                  <a:schemeClr val="hlink"/>
                </a:solidFill>
                <a:hlinkClick r:id="rId3"/>
              </a:rPr>
              <a:t>developer.android.com/develop/connectivity/bluetooth/ble/transfer-ble-data</a:t>
            </a:r>
            <a:r>
              <a:rPr lang="en-US" sz="1200">
                <a:solidFill>
                  <a:schemeClr val="dk1"/>
                </a:solidFill>
              </a:rPr>
              <a:t>; </a:t>
            </a:r>
            <a:r>
              <a:rPr lang="en-US" sz="1200" u="sng">
                <a:solidFill>
                  <a:schemeClr val="hlink"/>
                </a:solidFill>
                <a:hlinkClick r:id="rId4"/>
              </a:rPr>
              <a:t>developer.android.com/about/versions/14/behavior-changes-all</a:t>
            </a:r>
            <a:r>
              <a:rPr lang="en-US" sz="1200">
                <a:solidFill>
                  <a:schemeClr val="dk1"/>
                </a:solidFill>
              </a:rPr>
              <a:t> (MTU 517); AOSP BluetoothGatt 소스와 변경 사항 ‘Deprecate GATT callbacks and methods that were not memory safe’(API 33); </a:t>
            </a:r>
            <a:r>
              <a:rPr lang="en-US" sz="1200" u="sng">
                <a:solidFill>
                  <a:schemeClr val="hlink"/>
                </a:solidFill>
                <a:hlinkClick r:id="rId5"/>
              </a:rPr>
              <a:t>punchthrough.com/android-ble-guide</a:t>
            </a:r>
            <a:r>
              <a:rPr lang="en-US" sz="1200">
                <a:solidFill>
                  <a:schemeClr val="dk1"/>
                </a:solidFill>
              </a:rPr>
              <a:t>, </a:t>
            </a:r>
            <a:r>
              <a:rPr lang="en-US" sz="1200" u="sng">
                <a:solidFill>
                  <a:schemeClr val="hlink"/>
                </a:solidFill>
                <a:hlinkClick r:id="rId6"/>
              </a:rPr>
              <a:t>punchthrough.com/android-ble-scan-errors(작업</a:t>
            </a:r>
            <a:r>
              <a:rPr lang="en-US" sz="1200">
                <a:solidFill>
                  <a:schemeClr val="dk1"/>
                </a:solidFill>
              </a:rPr>
              <a:t> 큐, 스캔 한도).</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a:t>
            </a:r>
            <a:r>
              <a:rPr lang="en-US" sz="1200" u="sng">
                <a:solidFill>
                  <a:schemeClr val="hlink"/>
                </a:solidFill>
                <a:hlinkClick r:id="rId7"/>
              </a:rPr>
              <a:t>developer.android.com/develop/connectivity/bluetooth/ble/connect-gatt-server</a:t>
            </a:r>
            <a:r>
              <a:rPr lang="en-US" sz="1200">
                <a:solidFill>
                  <a:schemeClr val="dk1"/>
                </a:solidFill>
              </a:rPr>
              <a:t>; </a:t>
            </a:r>
            <a:r>
              <a:rPr lang="en-US" sz="1200" u="sng">
                <a:solidFill>
                  <a:schemeClr val="hlink"/>
                </a:solidFill>
                <a:hlinkClick r:id="rId8"/>
              </a:rPr>
              <a:t>developer.android.com/develop/connectivity/bluetooth/ble/transfer-ble-data</a:t>
            </a:r>
            <a:r>
              <a:rPr lang="en-US" sz="1200">
                <a:solidFill>
                  <a:schemeClr val="dk1"/>
                </a:solidFill>
              </a:rPr>
              <a:t>; </a:t>
            </a:r>
            <a:r>
              <a:rPr lang="en-US" sz="1200" u="sng">
                <a:solidFill>
                  <a:schemeClr val="hlink"/>
                </a:solidFill>
                <a:hlinkClick r:id="rId9"/>
              </a:rPr>
              <a:t>developer.android.com/about/versions/14/behavior-changes-all</a:t>
            </a:r>
            <a:r>
              <a:rPr lang="en-US" sz="1200">
                <a:solidFill>
                  <a:schemeClr val="dk1"/>
                </a:solidFill>
              </a:rPr>
              <a:t> (MTU 517); AOSP BluetoothGatt 소스와 변경 사항 ‘Deprecate GATT callbacks and methods that were not memory safe’(API 33); </a:t>
            </a:r>
            <a:r>
              <a:rPr lang="en-US" sz="1200" u="sng">
                <a:solidFill>
                  <a:schemeClr val="hlink"/>
                </a:solidFill>
                <a:hlinkClick r:id="rId10"/>
              </a:rPr>
              <a:t>punchthrough.com/android-ble-guide</a:t>
            </a:r>
            <a:r>
              <a:rPr lang="en-US" sz="1200">
                <a:solidFill>
                  <a:schemeClr val="dk1"/>
                </a:solidFill>
              </a:rPr>
              <a:t>, </a:t>
            </a:r>
            <a:r>
              <a:rPr lang="en-US" sz="1200" u="sng">
                <a:solidFill>
                  <a:schemeClr val="hlink"/>
                </a:solidFill>
                <a:hlinkClick r:id="rId11"/>
              </a:rPr>
              <a:t>punchthrough.com/android-ble-scan-errors(작업</a:t>
            </a:r>
            <a:r>
              <a:rPr lang="en-US" sz="1200">
                <a:solidFill>
                  <a:schemeClr val="dk1"/>
                </a:solidFill>
              </a:rPr>
              <a:t> 큐, 스캔 한도).</a:t>
            </a:r>
            <a:endParaRPr sz="1200">
              <a:solidFill>
                <a:schemeClr val="dk1"/>
              </a:solidFill>
            </a:endParaRPr>
          </a:p>
        </p:txBody>
      </p:sp>
      <p:sp>
        <p:nvSpPr>
          <p:cNvPr id="1635" name="Google Shape;1635;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4" name="Shape 1714"/>
        <p:cNvGrpSpPr/>
        <p:nvPr/>
      </p:nvGrpSpPr>
      <p:grpSpPr>
        <a:xfrm>
          <a:off x="0" y="0"/>
          <a:ext cx="0" cy="0"/>
          <a:chOff x="0" y="0"/>
          <a:chExt cx="0" cy="0"/>
        </a:xfrm>
      </p:grpSpPr>
      <p:sp>
        <p:nvSpPr>
          <p:cNvPr id="1715" name="Google Shape;1715;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6" name="Google Shape;1716;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펌웨어용 Wi-Fi는 앱이 요청하고 설치 기사가 승인하면 그 네트워크에 바인딩된 소켓으로 전송하며, 업데이트마다 승인이 필요한 점은 미리 안내합니다.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앱이 설비 Wi-Fi 기동 요청, 기사가 연결 허용. Wi-Fi 통해서 설비에 Socket 연결. 매연결 시 물어봄. 하위 Android 버전 대응 여부 확인. http 사용 시 예외 설정 필요.</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T7의 펌웨어 수명주기(듀얼 뱅크 플래시의 5단계)는 그대로입니다. 달라지는 것은 휴대폰이 ESS의 임시 Wi-Fi에 접속하는 방식입니다.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순서. 1. 앱이 BLE 깨우기 명령을 보냅니다. 2. ESS가 BLE로 일회용 SSID와 passphrase를 돌려줍니다. 3. 앱이 WifiNetworkSpecifier를 만들어 ConnectivityManager.requestNetwork를 호출합니다(Android 10, API 29 이상). 4와 5. 시스템이 대화상자를 띄우고 설치 기사가 연결을 승인합니다. 6. NetworkCallback.onAvailable이 Network 객체를 전달합니다. 7. 앱이 그 Network에 바인딩된 소켓으로 펌웨어 청크를 보냅니다. 8. 전송이 끝나면 앱이 unregisterNetworkCallback을 호출해 네트워크를 해제하고, T7과 같이 기기도 Wi-Fi를 꺼집니다.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설치 기사가 대화상자를 거부하거나 연결에 실패하면 onUnavailable이 호출됩니다. 이는 T4의 ‘SoftAP 연결 실패’ 규칙에 해당합니다. 1회 재시도한 뒤 BLE 깨우기를 다시 요청하고 SSID를 재발급받습니다.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iOS 설계(NEHotspotConfiguration, joinOnce)와의 차이. Android 문서는 이 API로 만든 연결이 앱이나 기기에 인터넷 연결을 제공하지 않는다고 명시합니다. 그래서 앱은 전달받은 Network에 바인딩된 소켓으로 전송합니다. 시스템은 특정 액세스 포인트에 대한 사용자의 승인을 저장해 두었다가, 같은 앱이 같은 액세스 포인트를 다시 요청하면 대화상자를 건너뜁니다. 이 설계에서는 SSID가 일회용이므로 저장된 승인이 적용되지 않을 것으로 보이며, 업데이트마다 설치 기사가 승인해야 할 것으로 예상합니다. 기기에서 검증 예정입니다. Android 9 이하에서는 이 API가 없습니다. 기존 앱의 minSdk가 29 미만일 때만 레거시 WifiManager 경로가 필요하며, 이는 확인 예정입니다. Android 12부터는 Wi-Fi STA/STA 동시 연결을 지원하는 기기가 로컬 전용 연결이 유지되는 동안에도 인터넷 Wi-Fi 연결을 유지할 수 있습니다(WifiManager.isStaConcurrencyForLocalOnlyConnectionsSupported). ESS가 전송을 평문 HTTP로 제공한다면, Android 9(API 28) 이상을 타깃으로 하는 앱은 cleartext 트래픽이 기본으로 꺼져 있다는 점에 유의해야 합니다. 이 경우 SoftAP 호스트에 대한 Network Security Config 예외가 필요하며, 정확한 형태는 검증 예정입니다. SoftAP에서 실행되는 프로토콜은 미결 질문입니다(A9).</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전체 순서는 A5에서 설명한 포그라운드 서비스 안에서 실행됩니다.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a:t>
            </a:r>
            <a:r>
              <a:rPr lang="en-US" sz="1200" u="sng">
                <a:solidFill>
                  <a:schemeClr val="hlink"/>
                </a:solidFill>
                <a:hlinkClick r:id="rId2"/>
              </a:rPr>
              <a:t>developer.android.com/develop/connectivity/wifi/wifi-bootstrap</a:t>
            </a:r>
            <a:r>
              <a:rPr lang="en-US" sz="1200">
                <a:solidFill>
                  <a:schemeClr val="dk1"/>
                </a:solidFill>
              </a:rPr>
              <a:t>; </a:t>
            </a:r>
            <a:r>
              <a:rPr lang="en-US" sz="1200" u="sng">
                <a:solidFill>
                  <a:schemeClr val="hlink"/>
                </a:solidFill>
                <a:hlinkClick r:id="rId3"/>
              </a:rPr>
              <a:t>source.android.com/docs/core/connect/wifi-sta-sta-concurrency</a:t>
            </a:r>
            <a:r>
              <a:rPr lang="en-US" sz="1200">
                <a:solidFill>
                  <a:schemeClr val="dk1"/>
                </a:solidFill>
              </a:rPr>
              <a:t>; developer.android.com/privacy-and-security/security-config.</a:t>
            </a:r>
            <a:endParaRPr sz="1200">
              <a:solidFill>
                <a:schemeClr val="dk1"/>
              </a:solidFill>
            </a:endParaRPr>
          </a:p>
        </p:txBody>
      </p:sp>
      <p:sp>
        <p:nvSpPr>
          <p:cNvPr id="1717" name="Google Shape;1717;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0" name="Shape 1770"/>
        <p:cNvGrpSpPr/>
        <p:nvPr/>
      </p:nvGrpSpPr>
      <p:grpSpPr>
        <a:xfrm>
          <a:off x="0" y="0"/>
          <a:ext cx="0" cy="0"/>
          <a:chOff x="0" y="0"/>
          <a:chExt cx="0" cy="0"/>
        </a:xfrm>
      </p:grpSpPr>
      <p:sp>
        <p:nvSpPr>
          <p:cNvPr id="1771" name="Google Shape;1771;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72" name="Google Shape;1772;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Android는 회전, 백그라운드, 프로세스 종료가 잦아서, 상태마다 보관 위치를 정해 펌웨어 도중에도 세션이 끊기지 않게 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기기 회전, 백그라운드 진입, 앱 강제 종료, 재시작 시 유지 해야 하는 상태: UI는 잠그더라도 홈으로 가는 건 못 막음. 회전시 화면이 재생성됨. </a:t>
            </a:r>
            <a:r>
              <a:rPr lang="en-US" sz="1200">
                <a:solidFill>
                  <a:schemeClr val="dk1"/>
                </a:solidFill>
              </a:rPr>
              <a:t>권한 </a:t>
            </a:r>
            <a:r>
              <a:rPr lang="en-US" sz="1200">
                <a:solidFill>
                  <a:schemeClr val="dk1"/>
                </a:solidFill>
              </a:rPr>
              <a:t>변경 등에 의해 프로세스가 죽을 수 있음.</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Android에서는 시운전이나 펌웨어 세션이 진행 중일 때도 화면이 다시 만들어지거나 프로세스가 종료될 수 있습니다. 이 설계는 각 상태를 그것이 견뎌야 하는 상황을 견디는 보관 위치에 둡니다.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표 설명. ViewModel: 구성 변경(회전, 크기 조절)은 견딕니다. 시스템이 주도하는 프로세스 종료 때는 소멸합니다. 저장된 상태(SavedStateHandle, rememberSaveable): 구성 변경과 시스템이 주도하는 프로세스 종료를 견딕니다. 시스템이 메모리에 보관하며 작은 값에만 쓸 수 있고, 사용자가 앱을 스와이프로 닫거나 강제 종료하면 삭제됩니다. DeviceSession: 화면에 묶이지 않는 앱 범위 객체로, BLE 연결과 명령 큐, 펌웨어 전송을 소유하므로 회전의 영향을 받지 않습니다. 펌웨어 업데이트 중에는 포그라운드 서비스 안에서 실행되며, 설치 기사가 앱 밖에 있는 동안도 프로세스를 살려 둡니다. 펌웨어 업데이트가 아닐 때는 포그라운드 서비스가 없습니다. 앱이 백그라운드에 있으면 연결이 끊길 수 있고, 이 경우 T4처럼 재연결하고 read-back을 합니다. 프로세스가 종료되면 세션이 사라지고, 앱은 T4 규칙으로 복구합니다. Room 저널과 마커: 디스크에 저장되어 모든 상황을 견딕니다. T8의 Pending / Applied / Synced 상태, T4의 적용 중단 표시와 FW 세션 마커를 담습니다. WorkManager 큐: 앱 재시작과 기기 재부팅 후에도 유지됩니다(A6).</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Android에 이 설계가 필요한 이유. 첫째, T3의 모달 UI 잠금은 Back과 터치를 막을 수 있지만(닫을 수 없는 대화상자) 앱은 Home이나 Recents를 막을 수 없습니다. 설치 기사는 언제든 화면을 벗어날 수 있으므로 세션이 화면 안에 있어서는 안 됩니다. 둘째, 회전과 창 크기 조절은 화면을 다시 만듭니다. Android 16(API 36)을 타깃으로 하는 앱은 최소 너비가 600dp 이상인 디스플레이에서 방향, 크기 조절 가능 여부, 화면비 제한이 더 이상 적용되지 않으므로, 태블릿과 폴더블에서는 방향 고정이 해법이 아닙니다. 셋째, 시스템은 백그라운드 프로세스를 종료할 수 있고, 시스템 설정에서 권한을 회수해도 프로세스가 종료됩니다. 복구는 T4 규칙을 따릅니다. 작업 전에 저장한 마커를 확인하고, 이어서 기기를 read-back합니다.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펌웨어 업데이트 중. 전송과 재부팅 대기는 connectedDevice 유형의 포그라운드 서비스에서 실행됩니다. Android 12 이상을 타깃으로 하는 앱은 백그라운드에서 포그라운드 서비스를 시작할 수 없으므로, 설치 기사가 업데이트를 시작할 때 앱이 화면에 보이는 상태에서 서비스를 시작합니다. UI 잠금 화면의 FLAG_KEEP_SCREEN_ON은 T7의 isIdleTimerDisabled에 해당합니다. 공식 BLE 샘플도 GATT 연결을 액티비티가 아니라 서비스에서 호스팅합니다.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a:t>
            </a:r>
            <a:r>
              <a:rPr lang="en-US" sz="1200" u="sng">
                <a:solidFill>
                  <a:schemeClr val="hlink"/>
                </a:solidFill>
                <a:hlinkClick r:id="rId2"/>
              </a:rPr>
              <a:t>developer.android.com/topic/libraries/architecture/saving-states</a:t>
            </a:r>
            <a:r>
              <a:rPr lang="en-US" sz="1200">
                <a:solidFill>
                  <a:schemeClr val="dk1"/>
                </a:solidFill>
              </a:rPr>
              <a:t>; </a:t>
            </a:r>
            <a:r>
              <a:rPr lang="en-US" sz="1200" u="sng">
                <a:solidFill>
                  <a:schemeClr val="hlink"/>
                </a:solidFill>
                <a:hlinkClick r:id="rId3"/>
              </a:rPr>
              <a:t>developer.android.com/about/versions/16/behavior-changes-16</a:t>
            </a:r>
            <a:r>
              <a:rPr lang="en-US" sz="1200">
                <a:solidFill>
                  <a:schemeClr val="dk1"/>
                </a:solidFill>
              </a:rPr>
              <a:t>; </a:t>
            </a:r>
            <a:r>
              <a:rPr lang="en-US" sz="1200" u="sng">
                <a:solidFill>
                  <a:schemeClr val="hlink"/>
                </a:solidFill>
                <a:hlinkClick r:id="rId4"/>
              </a:rPr>
              <a:t>developer.android.com/training/permissions/requesting</a:t>
            </a:r>
            <a:r>
              <a:rPr lang="en-US" sz="1200">
                <a:solidFill>
                  <a:schemeClr val="dk1"/>
                </a:solidFill>
              </a:rPr>
              <a:t>; </a:t>
            </a:r>
            <a:r>
              <a:rPr lang="en-US" sz="1200" u="sng">
                <a:solidFill>
                  <a:schemeClr val="hlink"/>
                </a:solidFill>
                <a:hlinkClick r:id="rId5"/>
              </a:rPr>
              <a:t>developer.android.com/develop/background-work/services/fgs/service-types</a:t>
            </a:r>
            <a:r>
              <a:rPr lang="en-US" sz="1200">
                <a:solidFill>
                  <a:schemeClr val="dk1"/>
                </a:solidFill>
              </a:rPr>
              <a:t> 및 …/fgs/restrictions-bg-start; developer.android.com/develop/connectivity/bluetooth/ble/connect-gatt-server.</a:t>
            </a:r>
            <a:endParaRPr sz="1200">
              <a:solidFill>
                <a:schemeClr val="dk1"/>
              </a:solidFill>
            </a:endParaRPr>
          </a:p>
        </p:txBody>
      </p:sp>
      <p:sp>
        <p:nvSpPr>
          <p:cNvPr id="1773" name="Google Shape;1773;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1" name="Shape 1831"/>
        <p:cNvGrpSpPr/>
        <p:nvPr/>
      </p:nvGrpSpPr>
      <p:grpSpPr>
        <a:xfrm>
          <a:off x="0" y="0"/>
          <a:ext cx="0" cy="0"/>
          <a:chOff x="0" y="0"/>
          <a:chExt cx="0" cy="0"/>
        </a:xfrm>
      </p:grpSpPr>
      <p:sp>
        <p:nvSpPr>
          <p:cNvPr id="1832" name="Google Shape;1832;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3" name="Google Shape;1833;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동기화는 WorkManager로 앱을 다시 열지 않아도 오프라인 변경이 업로드되고, UUID 규칙 덕분에 재시도해도 중복이 생기지 않습니다.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앱을 열지 않고 업로드(이력 동기화) 가능: 작업 관리자에 의해 수행. 앱에서도 여전히 동기화 상태 확인 가능</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T8의 저널과 UUID 규칙은 그대로입니다. 달라지는 것은 업로드를 누가 트리거하느냐입니다.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iOS 설계(T8): NWPathMonitor가 연결 복구를 감지하면 변경 사항을 순서대로 업로드합니다.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Android: 트랜잭션이 Applied가 되면 앱이 네트워크 제약을 건 고유 작업을 WorkManager에 등록합니다. WorkManager는 예약된 작업을 자체 데이터베이스에 저장해 앱 재시작과 기기 재부팅 후에도 유지합니다. 네트워크가 사용 가능해지면 설치 기사가 앱을 다시 열지 않아도 시스템이 워커를 시작합니다. 워커는 Room 저널에서 Applied 트랜잭션을 순서대로 읽고, 각 변경의 UUID를 담아 트랜잭션 동기화를 호출합니다.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결과 처리는 T8과 B1의 트랜잭션 동기화 행을 따릅니다. 성공이면 트랜잭션을 Synced로 표시합니다. 409(중복)는 성공으로 처리합니다. 401은 토큰을 갱신하고 호출을 반복합니다. 5xx나 네트워크 오류는 재시도를 반환하며, WorkManager가 지수 백오프 정책을 적용하는데 이는 T4의 ‘제한 시간을 늘려가며 재시도’와 일치합니다. 워커 앞에는 사용자가 없으므로 리프레시 토큰으로 인증하며, 이 토큰의 키는 사용자 인증이 필요 없습니다(A7).</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여기서 UUID 규칙이 더 중요한 이유: 워커는 재시도되거나 다시 실행될 수 있어 같은 변경이 여러 번 전송될 수 있습니다. 서버는 이미 본 UUID에 대해 기존 결과를 돌려주므로 반복은 해로울 게 없습니다.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고유 작업은 업로드 체인을 하나로 유지합니다. 대기 중에 다시 등록해도 두 번째 업로드가 시작되지 않아 변경 순서가 유지됩니다.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미동기화 상태는 T8과 같이 대시보드 목록에 계속 표시됩니다.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제한. 휴대폰을 재시작하면 워커는 휴대폰의 잠금이 해제된 뒤에야 실행됩니다. 앱은 Direct Boot 모드에서 실행되지 않고 WorkManager도 거기서는 쓸 수 없기 때문입니다. 사용자가 강제 종료하면 앱을 다시 열 때까지 예약된 작업이 취소됩니다. 저널을 잠금 해제된 기기 키로 암호화한 데이터베이스(A7)에 둔다면 업로드도 휴대폰이 잠금 해제된 동안에만 실행될 수 있으며, 이는 같은 결정의 일부입니다. 설치 기사 휴대폰에서 검증 예정: 절전 모드에서 백그라운드 작업이 얼마나 지연되는지.</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a:t>
            </a:r>
            <a:r>
              <a:rPr lang="en-US" sz="1200" u="sng">
                <a:solidFill>
                  <a:schemeClr val="hlink"/>
                </a:solidFill>
                <a:hlinkClick r:id="rId2"/>
              </a:rPr>
              <a:t>developer.android.com/develop/background-work/background-tasks/persistent</a:t>
            </a:r>
            <a:r>
              <a:rPr lang="en-US" sz="1200">
                <a:solidFill>
                  <a:schemeClr val="dk1"/>
                </a:solidFill>
              </a:rPr>
              <a:t> (WorkManager); </a:t>
            </a:r>
            <a:r>
              <a:rPr lang="en-US" sz="1200" u="sng">
                <a:solidFill>
                  <a:schemeClr val="hlink"/>
                </a:solidFill>
                <a:hlinkClick r:id="rId3"/>
              </a:rPr>
              <a:t>developer.android.com/privacy-and-security/direct-boot</a:t>
            </a:r>
            <a:r>
              <a:rPr lang="en-US" sz="1200">
                <a:solidFill>
                  <a:schemeClr val="dk1"/>
                </a:solidFill>
              </a:rPr>
              <a:t>; AOSP WorkManager 소스(강제 종료 처리).</a:t>
            </a:r>
            <a:endParaRPr sz="1200">
              <a:solidFill>
                <a:schemeClr val="dk1"/>
              </a:solidFill>
            </a:endParaRPr>
          </a:p>
        </p:txBody>
      </p:sp>
      <p:sp>
        <p:nvSpPr>
          <p:cNvPr id="1834" name="Google Shape;1834;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1" name="Shape 1901"/>
        <p:cNvGrpSpPr/>
        <p:nvPr/>
      </p:nvGrpSpPr>
      <p:grpSpPr>
        <a:xfrm>
          <a:off x="0" y="0"/>
          <a:ext cx="0" cy="0"/>
          <a:chOff x="0" y="0"/>
          <a:chExt cx="0" cy="0"/>
        </a:xfrm>
      </p:grpSpPr>
      <p:sp>
        <p:nvSpPr>
          <p:cNvPr id="1902" name="Google Shape;1902;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03" name="Google Shape;1903;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저장소는 토큰 보호를 iOS와 일대일로 맞추고, 화면 캡처 차단, DB 암호화, 백업 제외 세 가지를 추가했습니다.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1:1 토큰 보호 외 추가 사항: 캡쳐 방지, 데이터 암호화를 하려면 기기(폰) 잠금해제 필요. 자동 백업하지 않도록 설정하여 기기 교체 대응</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iOS 설계(T5와 B2)의 각 보호 방식을 Android에 매핑하고, Android에 추가 통제가 필요한 곳을 보여줍니다.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① 설치 기사 인증 토큰. iOS: Keychain, kSecAttrAccessibleWhenUnlockedThisDeviceOnly + .biometryCurrentSet. Android: 토큰을 사용자 인증이 필요한 Android Keystore 키로 암호화합니다. Keystore 키 자료는 내보낼 수 없고 애플리케이션 프로세스에 들어오지 않습니다. 생체 인증 자격만 지원하는 키는 새 생체 정보가 등록될 때마다 기본적으로 무효화되며, 이는 .biometryCurrentSet과 같은 동작입니다. 동등.</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② 리프레시 토큰. iOS: Keychain, kSecAttrAccessibleAfterFirstUnlockThisDeviceOnly. Android: 사용자 인증 요구 사항이 없는 Keystore 키이며, 암호문은 앱의 기본(자격 증명 암호화) 저장소에 있습니다. 이 저장소는 사용자가 기기 잠금을 해제한 뒤 다음 재시작 전까지 사용할 수 있습니다. 동등이며 A6의 백그라운드 업로드에서도 쓸 수 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③ 임시 설치 기사 비밀번호. 두 플랫폼 모두 메모리에만 두고 영구 저장하지 않으며 사용 후 폐기합니다. Android는 이를 보여주는 화면에 FLAG_SECURE를 추가해 창이 스크린샷과 비보안 디스플레이에 나타나지 않게 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④ 작업 지시 데이터. iOS: Data Protection .complete가 적용된 로컬 데이터베이스. Android에는 기본 제공되는 대응 기능이 없습니다. 앱의 기본 저장소는 부팅 후 한 번 잠금을 해제하고 나면 기기가 잠겨 있어도 계속 사용할 수 있습니다. .complete에 맞추려면 기기가 잠금 해제된 동안에만 승인되는 키(setUnlockedDeviceRequired)로 앱 안에서 데이터베이스를 암호화해야 합니다. API 문서는 이 설정이 Android 12~14에서 결함이 있다고 밝히며, Android 15 이상에서만 쓰면 피할 수 있다고 안내합니다. Android 10과 11에서의 동작은 검증 예정입니다. 결과적으로 저널이 그 데이터베이스에 있으면 A6의 백그라운드 업로드는 휴대폰이 잠금 해제된 동안에만 실행될 수 있습니다. Android에서 작업 지시 데이터에 이 수준이 필요한지는 Qcells 보안팀이 결정할 사항입니다(A9).</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⑤ ThisDeviceOnly. iOS에서는 iCloud 키체인 동기화와 백업 복원을 차단합니다. Android에서 Keystore 키는 기기 밖으로 나가지 않지만, 앱 파일(shared preferences, 데이터베이스, 내부 파일)은 Android 6 이상을 타깃으로 하는 앱에서 기본적으로 앱당 최대 25MB까지 자동 백업과 기기 간 이전에 포함됩니다. 그래서 이 설계는 백업 규칙으로 데이터베이스, 저널, 토큰 파일을 제외합니다. Android 12 이상은 dataExtractionRules, Android 11 이하는 fullBackupContent를 씁니다. allowBackup을 false로 설정하는 것만으로는 충분하지 않습니다. Android 12 이상을 타깃으로 하는 앱은 일부 제조사 기기에서 기기 간 이전이 비활성화되지 않을 수 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참고: Jetpack Security(EncryptedSharedPreferences)는 2025년부터 Android Keystore 직접 사용을 권장하며 지원 중단되었으므로, 이 설계는 Keystore를 직접 사용합니다.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a:t>
            </a:r>
            <a:r>
              <a:rPr lang="en-US" sz="1200" u="sng">
                <a:solidFill>
                  <a:schemeClr val="hlink"/>
                </a:solidFill>
                <a:hlinkClick r:id="rId2"/>
              </a:rPr>
              <a:t>developer.android.com/privacy-and-security/keystore</a:t>
            </a:r>
            <a:r>
              <a:rPr lang="en-US" sz="1200">
                <a:solidFill>
                  <a:schemeClr val="dk1"/>
                </a:solidFill>
              </a:rPr>
              <a:t>; KeyGenParameterSpec.Builder.setUnlockedDeviceRequired (Android API 레퍼런스, AOSP 문서); </a:t>
            </a:r>
            <a:r>
              <a:rPr lang="en-US" sz="1200" u="sng">
                <a:solidFill>
                  <a:schemeClr val="hlink"/>
                </a:solidFill>
                <a:hlinkClick r:id="rId3"/>
              </a:rPr>
              <a:t>developer.android.com/privacy-and-security/direct-boot</a:t>
            </a:r>
            <a:r>
              <a:rPr lang="en-US" sz="1200">
                <a:solidFill>
                  <a:schemeClr val="dk1"/>
                </a:solidFill>
              </a:rPr>
              <a:t>; </a:t>
            </a:r>
            <a:r>
              <a:rPr lang="en-US" sz="1200" u="sng">
                <a:solidFill>
                  <a:schemeClr val="hlink"/>
                </a:solidFill>
                <a:hlinkClick r:id="rId4"/>
              </a:rPr>
              <a:t>developer.android.com/identity/data/autobackup</a:t>
            </a:r>
            <a:r>
              <a:rPr lang="en-US" sz="1200">
                <a:solidFill>
                  <a:schemeClr val="dk1"/>
                </a:solidFill>
              </a:rPr>
              <a:t>; developer.android.com/jetpack/androidx/releases/security.</a:t>
            </a:r>
            <a:endParaRPr sz="1200">
              <a:solidFill>
                <a:schemeClr val="dk1"/>
              </a:solidFill>
            </a:endParaRPr>
          </a:p>
        </p:txBody>
      </p:sp>
      <p:sp>
        <p:nvSpPr>
          <p:cNvPr id="1904" name="Google Shape;1904;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49" name="Google Shape;194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테스트는 iOS와 같은 Mock 시나리오에 Android 전용 시나리오 7개와 OS 버전별 벤치 검증을 더했습니다.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테스트 유형 분류: OS 별 다른 동작, 앱 강제 종료 시 동작 확인, 테스트 시 시험용 BLE 모듈로 교체, 권한 거절, BLE 통신 중 회전 등 OS 특성 테스트 추가. OS 별 추가 테스트</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T9의 테스트 접근(로직은 레지스터 수준 Mock, 전원과 무선은 하드웨어 벤치)은 그대로입니다. 이 페이지는 Android가 추가하는 항목을 정리합니다.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동일한 로직 테스트, Android 주입 방식. BLETransport 인터페이스의 Fake 구현체는 T9의 가상 기기 데이터 사전과 결함 주입 옵션(응답 지연, 무응답, 연결 끊김)을 그대로 가지며, iOS 설계가 -UITestMockBLE 실행 인자를 쓰는 자리에서는 의존성 주입 테스트 모듈(Hilt)로 주입합니다. UT-01~UT-07은 그대로 실행합니다. 로직 테스트는 Fake 전송을 쓰는 JVM과 에뮬레이터에서 실행하고, 실제 무선은 벤치에서 검증합니다.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Android 전용 시나리오.</a:t>
            </a:r>
            <a:endParaRPr sz="1200">
              <a:solidFill>
                <a:schemeClr val="dk1"/>
              </a:solidFill>
            </a:endParaRPr>
          </a:p>
          <a:p>
            <a:pPr indent="0" lvl="0" marL="0" marR="0" rtl="0" algn="l">
              <a:spcBef>
                <a:spcPts val="0"/>
              </a:spcBef>
              <a:spcAft>
                <a:spcPts val="0"/>
              </a:spcAft>
              <a:buNone/>
            </a:pPr>
            <a:r>
              <a:rPr lang="en-US" sz="1200">
                <a:solidFill>
                  <a:schemeClr val="dk1"/>
                </a:solidFill>
              </a:rPr>
              <a:t>AT-01 권한 영구 거부: 사전 점검 게이트가 앱 설정으로 연결합니다(A2).</a:t>
            </a:r>
            <a:endParaRPr sz="1200">
              <a:solidFill>
                <a:schemeClr val="dk1"/>
              </a:solidFill>
            </a:endParaRPr>
          </a:p>
          <a:p>
            <a:pPr indent="0" lvl="0" marL="0" marR="0" rtl="0" algn="l">
              <a:spcBef>
                <a:spcPts val="0"/>
              </a:spcBef>
              <a:spcAft>
                <a:spcPts val="0"/>
              </a:spcAft>
              <a:buNone/>
            </a:pPr>
            <a:r>
              <a:rPr lang="en-US" sz="1200">
                <a:solidFill>
                  <a:schemeClr val="dk1"/>
                </a:solidFill>
              </a:rPr>
              <a:t>AT-02 세션 중 Bluetooth 꺼짐: UI 잠금을 해제하고 T4의 재연결 경로를 실행합니다.</a:t>
            </a:r>
            <a:endParaRPr sz="1200">
              <a:solidFill>
                <a:schemeClr val="dk1"/>
              </a:solidFill>
            </a:endParaRPr>
          </a:p>
          <a:p>
            <a:pPr indent="0" lvl="0" marL="0" marR="0" rtl="0" algn="l">
              <a:spcBef>
                <a:spcPts val="0"/>
              </a:spcBef>
              <a:spcAft>
                <a:spcPts val="0"/>
              </a:spcAft>
              <a:buNone/>
            </a:pPr>
            <a:r>
              <a:rPr lang="en-US" sz="1200">
                <a:solidFill>
                  <a:schemeClr val="dk1"/>
                </a:solidFill>
              </a:rPr>
              <a:t>AT-03 일괄 읽기 중 화면 회전: UI 잠금과 세션은 영향을 받지 않습니다(A5).</a:t>
            </a:r>
            <a:endParaRPr sz="1200">
              <a:solidFill>
                <a:schemeClr val="dk1"/>
              </a:solidFill>
            </a:endParaRPr>
          </a:p>
          <a:p>
            <a:pPr indent="0" lvl="0" marL="0" marR="0" rtl="0" algn="l">
              <a:spcBef>
                <a:spcPts val="0"/>
              </a:spcBef>
              <a:spcAft>
                <a:spcPts val="0"/>
              </a:spcAft>
              <a:buNone/>
            </a:pPr>
            <a:r>
              <a:rPr lang="en-US" sz="1200">
                <a:solidFill>
                  <a:schemeClr val="dk1"/>
                </a:solidFill>
              </a:rPr>
              <a:t>AT-04 적용 중 프로세스 종료: 재실행 시 미완료 표시를 찾고 기기 상태를 read-back합니다(T4).</a:t>
            </a:r>
            <a:endParaRPr sz="1200">
              <a:solidFill>
                <a:schemeClr val="dk1"/>
              </a:solidFill>
            </a:endParaRPr>
          </a:p>
          <a:p>
            <a:pPr indent="0" lvl="0" marL="0" marR="0" rtl="0" algn="l">
              <a:spcBef>
                <a:spcPts val="0"/>
              </a:spcBef>
              <a:spcAft>
                <a:spcPts val="0"/>
              </a:spcAft>
              <a:buNone/>
            </a:pPr>
            <a:r>
              <a:rPr lang="en-US" sz="1200">
                <a:solidFill>
                  <a:schemeClr val="dk1"/>
                </a:solidFill>
              </a:rPr>
              <a:t>AT-05 플래시 중 프로세스 종료: FW 세션 마커를 찾고 기기 버전을 read-back합니다(T4).</a:t>
            </a:r>
            <a:endParaRPr sz="1200">
              <a:solidFill>
                <a:schemeClr val="dk1"/>
              </a:solidFill>
            </a:endParaRPr>
          </a:p>
          <a:p>
            <a:pPr indent="0" lvl="0" marL="0" marR="0" rtl="0" algn="l">
              <a:spcBef>
                <a:spcPts val="0"/>
              </a:spcBef>
              <a:spcAft>
                <a:spcPts val="0"/>
              </a:spcAft>
              <a:buNone/>
            </a:pPr>
            <a:r>
              <a:rPr lang="en-US" sz="1200">
                <a:solidFill>
                  <a:schemeClr val="dk1"/>
                </a:solidFill>
              </a:rPr>
              <a:t>AT-06 Wi-Fi 승인 대화상자 거부: 1회 재시도 후 새 BLE 깨우기(A4).</a:t>
            </a:r>
            <a:endParaRPr sz="1200">
              <a:solidFill>
                <a:schemeClr val="dk1"/>
              </a:solidFill>
            </a:endParaRPr>
          </a:p>
          <a:p>
            <a:pPr indent="0" lvl="0" marL="0" marR="0" rtl="0" algn="l">
              <a:spcBef>
                <a:spcPts val="0"/>
              </a:spcBef>
              <a:spcAft>
                <a:spcPts val="0"/>
              </a:spcAft>
              <a:buNone/>
            </a:pPr>
            <a:r>
              <a:rPr lang="en-US" sz="1200">
                <a:solidFill>
                  <a:schemeClr val="dk1"/>
                </a:solidFill>
              </a:rPr>
              <a:t>AT-07 미동기화 변경이 있는 상태에서 휴대폰 재시작: 휴대폰 잠금 해제 후 업로드 1회, 중복 없음(A6).</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프로세스 종료를 주입하는 방법. 디버그 빌드에서는 훅이 선택한 단계(예: Apply 마커를 쓴 직후, 또는 펌웨어 청크 전송 중)에서 앱 프로세스를 종료시킵니다. 다른 방법은 ‘adb shell am force-stop’입니다. 이 경우에는 ‘adb shell am kill’로는 충분하지 않습니다. 이 명령은 종료해도 안전한 프로세스만 죽이므로, 화면에 보이거나 포그라운드 서비스를 실행하는 프로세스는 종료하지 않기 때문입니다. 강제 종료는 저장된 상태도 지우고 예약된 작업도 취소하므로(A5, A6) 더 가혹한 경우이며, 두 방법을 모두 실행합니다.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기기 매트릭스. OS 구간마다 최소 한 대씩의 휴대폰이 필요합니다. 구간마다 서로 다른 경로를 타기 때문입니다. Android 11 이하(위치 권한 경로, Android 10과 11에서는 앱이 화면에 보일 때만 스캔), Android 12(주변 기기 권한), Android 13(알림 권한, API 33 GATT 호출), Android 14(포그라운드 서비스 유형, MTU 요청은 항상 517), Android 15(Qcells 보안팀이 채택할 경우 잠금 해제 기기 키, A7), Android 16(API 36 타깃 앱은 대형 화면에서 방향 제한이 무시됨, A5, 태블릿이나 폴더블로 이 경우를 다룸). 구간별 휴대폰 모델은 설치 기사 보유 기기 데이터를 기준으로 Qcells와 협의합니다. 하드웨어 벤치는 T9의 벤치(실제 CORE Pro 기기, 계통 및 PV 시뮬레이터, RF 감쇠기)이며, 폰 팜에 Android 휴대폰을 추가합니다.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구간은 A2, A3, A5, A7을 따르고, 시나리오는 T4, T8, A2~A6을 따릅니다. adb 동작은 </a:t>
            </a:r>
            <a:r>
              <a:rPr lang="en-US" sz="1200" u="sng">
                <a:solidFill>
                  <a:schemeClr val="hlink"/>
                </a:solidFill>
                <a:hlinkClick r:id="rId2"/>
              </a:rPr>
              <a:t>developer.android.com/tools/adb</a:t>
            </a:r>
            <a:r>
              <a:rPr lang="en-US" sz="1200">
                <a:solidFill>
                  <a:schemeClr val="dk1"/>
                </a:solidFill>
              </a:rPr>
              <a:t> 기준입니다.</a:t>
            </a:r>
            <a:endParaRPr sz="1200">
              <a:solidFill>
                <a:schemeClr val="dk1"/>
              </a:solidFill>
            </a:endParaRPr>
          </a:p>
        </p:txBody>
      </p:sp>
      <p:sp>
        <p:nvSpPr>
          <p:cNvPr id="1950" name="Google Shape;195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1" name="Shape 2001"/>
        <p:cNvGrpSpPr/>
        <p:nvPr/>
      </p:nvGrpSpPr>
      <p:grpSpPr>
        <a:xfrm>
          <a:off x="0" y="0"/>
          <a:ext cx="0" cy="0"/>
          <a:chOff x="0" y="0"/>
          <a:chExt cx="0" cy="0"/>
        </a:xfrm>
      </p:grpSpPr>
      <p:sp>
        <p:nvSpPr>
          <p:cNvPr id="2002" name="Google Shape;2002;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3" name="Google Shape;2003;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rPr>
              <a:t>끝으로 Android 가정과 리스크, 그리고 기존 앱의 minSdk와 사용 스택 등 큐셀에 확인드릴 질문을 말씀드리며 발표를 마치겠습니다. 감사합니다.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a:t>
            </a:r>
            <a:endParaRPr sz="1200">
              <a:solidFill>
                <a:schemeClr val="dk1"/>
              </a:solidFill>
            </a:endParaRPr>
          </a:p>
          <a:p>
            <a:pPr indent="0" lvl="0" marL="0" marR="0" rtl="0" algn="l">
              <a:spcBef>
                <a:spcPts val="0"/>
              </a:spcBef>
              <a:spcAft>
                <a:spcPts val="0"/>
              </a:spcAft>
              <a:buNone/>
            </a:pPr>
            <a:r>
              <a:rPr lang="en-US" sz="1200">
                <a:solidFill>
                  <a:schemeClr val="dk1"/>
                </a:solidFill>
              </a:rPr>
              <a:t>안드로이드에서 가정한 것 대가, 결정 사항: 최저 지원 Android 버전 10으로 가정, Compose와 Coroutine 사용할건데 필요 시 현재 앱 코드 따름, pairing은 하지 않는 다고 가정. 대가: GATT을 위한 대기열을 만들건지 라이브러리 쓸건지, paring하면 위치 권한 요청 회피 가능, DB를 자체 암호화할 건지 OS에서 지원하는 것만 쓸건지. </a:t>
            </a:r>
            <a:endParaRPr sz="1200">
              <a:solidFill>
                <a:schemeClr val="dk1"/>
              </a:solidFill>
            </a:endParaRPr>
          </a:p>
          <a:p>
            <a:pPr indent="0" lvl="0" marL="0" marR="0" rtl="0" algn="l">
              <a:spcBef>
                <a:spcPts val="0"/>
              </a:spcBef>
              <a:spcAft>
                <a:spcPts val="0"/>
              </a:spcAft>
              <a:buNone/>
            </a:pPr>
            <a:r>
              <a:rPr lang="en-US" sz="1200">
                <a:solidFill>
                  <a:schemeClr val="dk1"/>
                </a:solidFill>
              </a:rPr>
              <a:t>위험과 대응책: 기기 제조사 마다 BLE 차이점 - OS마다 실기기로 직접 테스트, 백그라운드 제한(절전 모드) - 펌웨어 하는 동안 Foreground 필수, 복구/동기화 상태 구현, Wi-Fi 연결 매번 승인 요청(귀찮음?) - 상세한 설명</a:t>
            </a:r>
            <a:endParaRPr sz="1200">
              <a:solidFill>
                <a:schemeClr val="dk1"/>
              </a:solidFill>
            </a:endParaRPr>
          </a:p>
          <a:p>
            <a:pPr indent="0" lvl="0" marL="0" marR="0" rtl="0" algn="l">
              <a:spcBef>
                <a:spcPts val="0"/>
              </a:spcBef>
              <a:spcAft>
                <a:spcPts val="0"/>
              </a:spcAft>
              <a:buNone/>
            </a:pPr>
            <a:r>
              <a:rPr lang="en-US" sz="1200">
                <a:solidFill>
                  <a:schemeClr val="dk1"/>
                </a:solidFill>
              </a:rPr>
              <a:t>큐셀에 궁금한거: 현재 최저 SDK와 배포 SDK, 현재 사용 Stack, 현재 paring 사용하는지, 설비가 재시작되어도 BLE 주소는 유지되는지, Wi-Fi 통신에 어떤 프로토콜 쓰는지, 기사들이 현재 쓰는 기종, OS 버전</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목적: T10에 더해지는 Android 고유 내용입니다. T10의 내용은 모두 그대로 적용됩니다.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가정.</a:t>
            </a:r>
            <a:endParaRPr sz="1200">
              <a:solidFill>
                <a:schemeClr val="dk1"/>
              </a:solidFill>
            </a:endParaRPr>
          </a:p>
          <a:p>
            <a:pPr indent="0" lvl="0" marL="0" marR="0" rtl="0" algn="l">
              <a:spcBef>
                <a:spcPts val="0"/>
              </a:spcBef>
              <a:spcAft>
                <a:spcPts val="0"/>
              </a:spcAft>
              <a:buNone/>
            </a:pPr>
            <a:r>
              <a:rPr lang="en-US" sz="1200">
                <a:solidFill>
                  <a:schemeClr val="dk1"/>
                </a:solidFill>
              </a:rPr>
              <a:t>① minSdk는 Android 10(API 29) 이상이므로 WifiNetworkSpecifier가 유일한 Wi-Fi 접속 경로입니다. 기존 Qcells Android 앱의 minSdk는 저희가 알지 못하므로 확인 예정입니다. 더 낮다면 레거시 Wi-Fi 경로를 추가합니다(A4).</a:t>
            </a:r>
            <a:endParaRPr sz="1200">
              <a:solidFill>
                <a:schemeClr val="dk1"/>
              </a:solidFill>
            </a:endParaRPr>
          </a:p>
          <a:p>
            <a:pPr indent="0" lvl="0" marL="0" marR="0" rtl="0" algn="l">
              <a:spcBef>
                <a:spcPts val="0"/>
              </a:spcBef>
              <a:spcAft>
                <a:spcPts val="0"/>
              </a:spcAft>
              <a:buNone/>
            </a:pPr>
            <a:r>
              <a:rPr lang="en-US" sz="1200">
                <a:solidFill>
                  <a:schemeClr val="dk1"/>
                </a:solidFill>
              </a:rPr>
              <a:t>② 이 과업은 기존 Qcells Android 코드베이스에서 진행합니다(RFP 3.1항). Compose, 코루틴, Hilt는 이 설계의 기본값이며, 납품 시에는 코드베이스가 이미 쓰는 스택을 따릅니다.</a:t>
            </a:r>
            <a:endParaRPr sz="1200">
              <a:solidFill>
                <a:schemeClr val="dk1"/>
              </a:solidFill>
            </a:endParaRPr>
          </a:p>
          <a:p>
            <a:pPr indent="0" lvl="0" marL="0" marR="0" rtl="0" algn="l">
              <a:spcBef>
                <a:spcPts val="0"/>
              </a:spcBef>
              <a:spcAft>
                <a:spcPts val="0"/>
              </a:spcAft>
              <a:buNone/>
            </a:pPr>
            <a:r>
              <a:rPr lang="en-US" sz="1200">
                <a:solidFill>
                  <a:schemeClr val="dk1"/>
                </a:solidFill>
              </a:rPr>
              <a:t>③ iOS 설계에는 LE 페어링이나 본딩 언급이 없습니다. ESS가 이를 요구하지 않는다고 가정합니다. 운행 상태의 쓰기는 본딩이 아니라 일회용 OTP(T8)로 보호됩니다. Qcells 펌웨어 팀과 확인 예정입니다.</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트레이드오프.</a:t>
            </a:r>
            <a:endParaRPr sz="1200">
              <a:solidFill>
                <a:schemeClr val="dk1"/>
              </a:solidFill>
            </a:endParaRPr>
          </a:p>
          <a:p>
            <a:pPr indent="0" lvl="0" marL="0" marR="0" rtl="0" algn="l">
              <a:spcBef>
                <a:spcPts val="0"/>
              </a:spcBef>
              <a:spcAft>
                <a:spcPts val="0"/>
              </a:spcAft>
              <a:buNone/>
            </a:pPr>
            <a:r>
              <a:rPr lang="en-US" sz="1200">
                <a:solidFill>
                  <a:schemeClr val="dk1"/>
                </a:solidFill>
              </a:rPr>
              <a:t>① 자체 GATT 큐 vs BLE 라이브러리. 플랫폼 API로 큐를 직접 작성하면 완전한 제어가 가능하고 의존성이 없습니다. 라이브러리는 기성 큐와 재시도를 제공합니다. 채택: Qcells 코드베이스가 이미 쓰는 것, 없으면 BLETransport 뒤의 플랫폼 API.</a:t>
            </a:r>
            <a:endParaRPr sz="1200">
              <a:solidFill>
                <a:schemeClr val="dk1"/>
              </a:solidFill>
            </a:endParaRPr>
          </a:p>
          <a:p>
            <a:pPr indent="0" lvl="0" marL="0" marR="0" rtl="0" algn="l">
              <a:spcBef>
                <a:spcPts val="0"/>
              </a:spcBef>
              <a:spcAft>
                <a:spcPts val="0"/>
              </a:spcAft>
              <a:buNone/>
            </a:pPr>
            <a:r>
              <a:rPr lang="en-US" sz="1200">
                <a:solidFill>
                  <a:schemeClr val="dk1"/>
                </a:solidFill>
              </a:rPr>
              <a:t>② BLE 스캐너 vs 컴패니언 기기 페어링. Android 8 이상에서 컴패니언 기기 페어링은 앱을 대신해 ACCESS_FINE_LOCATION 권한 없이 스캔하며 이름 패턴으로 필터링할 수 있습니다. 하지만 이점은 Android 11 이하로 한정됩니다. Android 12부터는 스캐너도 위치 권한이 필요 없기 때문입니다(A2). 연결 정보(association)는 앱이 disassociate를 호출할 때까지 유지되므로, 많은 기기를 만나는 설치 기사 앱은 이를 정리해야 합니다. 채택: 스캐너, 두 플랫폼이 하나의 매칭 규칙을 따르도록 합니다.</a:t>
            </a:r>
            <a:endParaRPr sz="1200">
              <a:solidFill>
                <a:schemeClr val="dk1"/>
              </a:solidFill>
            </a:endParaRPr>
          </a:p>
          <a:p>
            <a:pPr indent="0" lvl="0" marL="0" marR="0" rtl="0" algn="l">
              <a:spcBef>
                <a:spcPts val="0"/>
              </a:spcBef>
              <a:spcAft>
                <a:spcPts val="0"/>
              </a:spcAft>
              <a:buNone/>
            </a:pPr>
            <a:r>
              <a:rPr lang="en-US" sz="1200">
                <a:solidFill>
                  <a:schemeClr val="dk1"/>
                </a:solidFill>
              </a:rPr>
              <a:t>③ 앱 내 데이터베이스 암호화 vs 플랫폼 기본값. 잠금 해제 기기 키를 쓰는 앱 수준 암호화는 Data Protection .complete와 동일하지만, 문서는 이 키 설정을 Android 15 이상에서만 쓰도록 권고하고 복잡도를 높이며 백그라운드 업로드가 잠금 해제를 기다리게 됩니다(A6, A7). 미결: Qcells 보안팀과 결정.</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위험과 대응.</a:t>
            </a:r>
            <a:endParaRPr sz="1200">
              <a:solidFill>
                <a:schemeClr val="dk1"/>
              </a:solidFill>
            </a:endParaRPr>
          </a:p>
          <a:p>
            <a:pPr indent="0" lvl="0" marL="0" marR="0" rtl="0" algn="l">
              <a:spcBef>
                <a:spcPts val="0"/>
              </a:spcBef>
              <a:spcAft>
                <a:spcPts val="0"/>
              </a:spcAft>
              <a:buNone/>
            </a:pPr>
            <a:r>
              <a:rPr lang="en-US" sz="1200">
                <a:solidFill>
                  <a:schemeClr val="dk1"/>
                </a:solidFill>
              </a:rPr>
              <a:t>① 휴대폰 제조사와 칩셋마다 BLE 동작이 다릅니다. 대응: 벤치에 OS 구간별 휴대폰 한 대(A8), T4와 T6의 재시도 및 read-back 규칙.</a:t>
            </a:r>
            <a:endParaRPr sz="1200">
              <a:solidFill>
                <a:schemeClr val="dk1"/>
              </a:solidFill>
            </a:endParaRPr>
          </a:p>
          <a:p>
            <a:pPr indent="0" lvl="0" marL="0" marR="0" rtl="0" algn="l">
              <a:spcBef>
                <a:spcPts val="0"/>
              </a:spcBef>
              <a:spcAft>
                <a:spcPts val="0"/>
              </a:spcAft>
              <a:buNone/>
            </a:pPr>
            <a:r>
              <a:rPr lang="en-US" sz="1200">
                <a:solidFill>
                  <a:schemeClr val="dk1"/>
                </a:solidFill>
              </a:rPr>
              <a:t>② 백그라운드 제한과 절전 모드가 백그라운드 작업을 지연하거나 중단할 수 있습니다. 대응: 펌웨어 중 포그라운드 서비스(A5), 저널 복구, 미동기화 상태 계속 표시(A6).</a:t>
            </a:r>
            <a:endParaRPr sz="1200">
              <a:solidFill>
                <a:schemeClr val="dk1"/>
              </a:solidFill>
            </a:endParaRPr>
          </a:p>
          <a:p>
            <a:pPr indent="0" lvl="0" marL="0" marR="0" rtl="0" algn="l">
              <a:spcBef>
                <a:spcPts val="0"/>
              </a:spcBef>
              <a:spcAft>
                <a:spcPts val="0"/>
              </a:spcAft>
              <a:buNone/>
            </a:pPr>
            <a:r>
              <a:rPr lang="en-US" sz="1200">
                <a:solidFill>
                  <a:schemeClr val="dk1"/>
                </a:solidFill>
              </a:rPr>
              <a:t>③ SSID가 일회용이라 업데이트마다 Wi-Fi 승인 대화상자가 뜰 것으로 예상됩니다. 대응: 대화상자가 뜨기 전에 안내하고, 거부는 SoftAP 연결 실패로 처리합니다(A4).</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Qcells에 드리는 미결 질문.</a:t>
            </a:r>
            <a:endParaRPr sz="1200">
              <a:solidFill>
                <a:schemeClr val="dk1"/>
              </a:solidFill>
            </a:endParaRPr>
          </a:p>
          <a:p>
            <a:pPr indent="0" lvl="0" marL="0" marR="0" rtl="0" algn="l">
              <a:spcBef>
                <a:spcPts val="0"/>
              </a:spcBef>
              <a:spcAft>
                <a:spcPts val="0"/>
              </a:spcAft>
              <a:buNone/>
            </a:pPr>
            <a:r>
              <a:rPr lang="en-US" sz="1200">
                <a:solidFill>
                  <a:schemeClr val="dk1"/>
                </a:solidFill>
              </a:rPr>
              <a:t>① 기존 Android 앱의 minSdk와 targetSdk는 무엇입니까?</a:t>
            </a:r>
            <a:endParaRPr sz="1200">
              <a:solidFill>
                <a:schemeClr val="dk1"/>
              </a:solidFill>
            </a:endParaRPr>
          </a:p>
          <a:p>
            <a:pPr indent="0" lvl="0" marL="0" marR="0" rtl="0" algn="l">
              <a:spcBef>
                <a:spcPts val="0"/>
              </a:spcBef>
              <a:spcAft>
                <a:spcPts val="0"/>
              </a:spcAft>
              <a:buNone/>
            </a:pPr>
            <a:r>
              <a:rPr lang="en-US" sz="1200">
                <a:solidFill>
                  <a:schemeClr val="dk1"/>
                </a:solidFill>
              </a:rPr>
              <a:t>② 현재 어떤 스택을 사용합니까: Compose 또는 View, 어떤 DI, 어떤 BLE 라이브러리?</a:t>
            </a:r>
            <a:endParaRPr sz="1200">
              <a:solidFill>
                <a:schemeClr val="dk1"/>
              </a:solidFill>
            </a:endParaRPr>
          </a:p>
          <a:p>
            <a:pPr indent="0" lvl="0" marL="0" marR="0" rtl="0" algn="l">
              <a:spcBef>
                <a:spcPts val="0"/>
              </a:spcBef>
              <a:spcAft>
                <a:spcPts val="0"/>
              </a:spcAft>
              <a:buNone/>
            </a:pPr>
            <a:r>
              <a:rPr lang="en-US" sz="1200">
                <a:solidFill>
                  <a:schemeClr val="dk1"/>
                </a:solidFill>
              </a:rPr>
              <a:t>③ ESS가 LE 페어링 또는 본딩을 요구합니까?</a:t>
            </a:r>
            <a:endParaRPr sz="1200">
              <a:solidFill>
                <a:schemeClr val="dk1"/>
              </a:solidFill>
            </a:endParaRPr>
          </a:p>
          <a:p>
            <a:pPr indent="0" lvl="0" marL="0" marR="0" rtl="0" algn="l">
              <a:spcBef>
                <a:spcPts val="0"/>
              </a:spcBef>
              <a:spcAft>
                <a:spcPts val="0"/>
              </a:spcAft>
              <a:buNone/>
            </a:pPr>
            <a:r>
              <a:rPr lang="en-US" sz="1200">
                <a:solidFill>
                  <a:schemeClr val="dk1"/>
                </a:solidFill>
              </a:rPr>
              <a:t>④ ESS는 재부팅 후에도 같은 BLE 주소를 유지합니까? 유지한다면 앱은 새 스캔 없이 펌웨어 재부팅 후 다시 연결할 수 있으며, 이는 앱이 화면에 보일 때만 스캔하는 Android 10과 11에서 중요합니다(A2, A3).</a:t>
            </a:r>
            <a:endParaRPr sz="1200">
              <a:solidFill>
                <a:schemeClr val="dk1"/>
              </a:solidFill>
            </a:endParaRPr>
          </a:p>
          <a:p>
            <a:pPr indent="0" lvl="0" marL="0" marR="0" rtl="0" algn="l">
              <a:spcBef>
                <a:spcPts val="0"/>
              </a:spcBef>
              <a:spcAft>
                <a:spcPts val="0"/>
              </a:spcAft>
              <a:buNone/>
            </a:pPr>
            <a:r>
              <a:rPr lang="en-US" sz="1200">
                <a:solidFill>
                  <a:schemeClr val="dk1"/>
                </a:solidFill>
              </a:rPr>
              <a:t>⑤ SoftAP에서 어떤 프로토콜이 실행됩니까: HTTP, HTTPS 또는 raw TCP? 평문 HTTP는 Android에서 네트워크 보안 구성 예외가 필요합니다(A4).</a:t>
            </a:r>
            <a:endParaRPr sz="1200">
              <a:solidFill>
                <a:schemeClr val="dk1"/>
              </a:solidFill>
            </a:endParaRPr>
          </a:p>
          <a:p>
            <a:pPr indent="0" lvl="0" marL="0" marR="0" rtl="0" algn="l">
              <a:spcBef>
                <a:spcPts val="0"/>
              </a:spcBef>
              <a:spcAft>
                <a:spcPts val="0"/>
              </a:spcAft>
              <a:buNone/>
            </a:pPr>
            <a:r>
              <a:rPr lang="en-US" sz="1200">
                <a:solidFill>
                  <a:schemeClr val="dk1"/>
                </a:solidFill>
              </a:rPr>
              <a:t>⑥ 설치 기사는 어떤 Android 폰과 OS 버전을 사용합니까?</a:t>
            </a:r>
            <a:endParaRPr sz="1200">
              <a:solidFill>
                <a:schemeClr val="dk1"/>
              </a:solidFill>
            </a:endParaRPr>
          </a:p>
          <a:p>
            <a:pPr indent="0" lvl="0" marL="0" marR="0" rtl="0" algn="l">
              <a:spcBef>
                <a:spcPts val="0"/>
              </a:spcBef>
              <a:spcAft>
                <a:spcPts val="0"/>
              </a:spcAft>
              <a:buNone/>
            </a:pPr>
            <a:r>
              <a:t/>
            </a:r>
            <a:endParaRPr sz="1200">
              <a:solidFill>
                <a:schemeClr val="dk1"/>
              </a:solidFill>
            </a:endParaRPr>
          </a:p>
          <a:p>
            <a:pPr indent="0" lvl="0" marL="0" marR="0" rtl="0" algn="l">
              <a:spcBef>
                <a:spcPts val="0"/>
              </a:spcBef>
              <a:spcAft>
                <a:spcPts val="0"/>
              </a:spcAft>
              <a:buNone/>
            </a:pPr>
            <a:r>
              <a:rPr lang="en-US" sz="1200">
                <a:solidFill>
                  <a:schemeClr val="dk1"/>
                </a:solidFill>
              </a:rPr>
              <a:t>출처: </a:t>
            </a:r>
            <a:r>
              <a:rPr lang="en-US" sz="1200" u="sng">
                <a:solidFill>
                  <a:schemeClr val="hlink"/>
                </a:solidFill>
                <a:hlinkClick r:id="rId2"/>
              </a:rPr>
              <a:t>developer.android.com/develop/connectivity/bluetooth/companion-device-pairing</a:t>
            </a:r>
            <a:r>
              <a:rPr lang="en-US" sz="1200">
                <a:solidFill>
                  <a:schemeClr val="dk1"/>
                </a:solidFill>
              </a:rPr>
              <a:t>; A2~A8 페이지.</a:t>
            </a:r>
            <a:endParaRPr sz="1200">
              <a:solidFill>
                <a:schemeClr val="dk1"/>
              </a:solidFill>
            </a:endParaRPr>
          </a:p>
        </p:txBody>
      </p:sp>
      <p:sp>
        <p:nvSpPr>
          <p:cNvPr id="2004" name="Google Shape;2004;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7" name="Shape 2047"/>
        <p:cNvGrpSpPr/>
        <p:nvPr/>
      </p:nvGrpSpPr>
      <p:grpSpPr>
        <a:xfrm>
          <a:off x="0" y="0"/>
          <a:ext cx="0" cy="0"/>
          <a:chOff x="0" y="0"/>
          <a:chExt cx="0" cy="0"/>
        </a:xfrm>
      </p:grpSpPr>
      <p:sp>
        <p:nvSpPr>
          <p:cNvPr id="2048" name="Google Shape;2048;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9" name="Google Shape;2049;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50" name="Google Shape;2050;p3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g"/><Relationship Id="rId3"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Section Header">
  <p:cSld name="CMC Section Header">
    <p:spTree>
      <p:nvGrpSpPr>
        <p:cNvPr id="7" name="Shape 7"/>
        <p:cNvGrpSpPr/>
        <p:nvPr/>
      </p:nvGrpSpPr>
      <p:grpSpPr>
        <a:xfrm>
          <a:off x="0" y="0"/>
          <a:ext cx="0" cy="0"/>
          <a:chOff x="0" y="0"/>
          <a:chExt cx="0" cy="0"/>
        </a:xfrm>
      </p:grpSpPr>
      <p:pic>
        <p:nvPicPr>
          <p:cNvPr id="8" name="Google Shape;8;p3"/>
          <p:cNvPicPr preferRelativeResize="0"/>
          <p:nvPr/>
        </p:nvPicPr>
        <p:blipFill rotWithShape="1">
          <a:blip r:embed="rId2">
            <a:alphaModFix/>
          </a:blip>
          <a:srcRect b="0" l="0" r="0" t="0"/>
          <a:stretch/>
        </p:blipFill>
        <p:spPr>
          <a:xfrm>
            <a:off x="240" y="135"/>
            <a:ext cx="12191521" cy="6857731"/>
          </a:xfrm>
          <a:prstGeom prst="rect">
            <a:avLst/>
          </a:prstGeom>
          <a:noFill/>
          <a:ln>
            <a:noFill/>
          </a:ln>
        </p:spPr>
      </p:pic>
      <p:sp>
        <p:nvSpPr>
          <p:cNvPr id="9" name="Google Shape;9;p3"/>
          <p:cNvSpPr txBox="1"/>
          <p:nvPr/>
        </p:nvSpPr>
        <p:spPr>
          <a:xfrm>
            <a:off x="628864" y="6292403"/>
            <a:ext cx="1856598" cy="2593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85">
                <a:solidFill>
                  <a:schemeClr val="lt1"/>
                </a:solidFill>
                <a:latin typeface="Montserrat"/>
                <a:ea typeface="Montserrat"/>
                <a:cs typeface="Montserrat"/>
                <a:sym typeface="Montserrat"/>
              </a:rPr>
              <a:t>www.cmcglobal.com.vn</a:t>
            </a:r>
            <a:endParaRPr/>
          </a:p>
        </p:txBody>
      </p:sp>
      <p:pic>
        <p:nvPicPr>
          <p:cNvPr id="10" name="Google Shape;10;p3"/>
          <p:cNvPicPr preferRelativeResize="0"/>
          <p:nvPr/>
        </p:nvPicPr>
        <p:blipFill rotWithShape="1">
          <a:blip r:embed="rId3">
            <a:alphaModFix/>
          </a:blip>
          <a:srcRect b="-8863" l="-4956" r="-6463" t="1"/>
          <a:stretch/>
        </p:blipFill>
        <p:spPr>
          <a:xfrm>
            <a:off x="445122" y="565598"/>
            <a:ext cx="3108522" cy="661498"/>
          </a:xfrm>
          <a:prstGeom prst="rect">
            <a:avLst/>
          </a:prstGeom>
          <a:noFill/>
          <a:ln>
            <a:noFill/>
          </a:ln>
        </p:spPr>
      </p:pic>
      <p:sp>
        <p:nvSpPr>
          <p:cNvPr id="11" name="Google Shape;11;p3"/>
          <p:cNvSpPr txBox="1"/>
          <p:nvPr>
            <p:ph idx="1" type="body"/>
          </p:nvPr>
        </p:nvSpPr>
        <p:spPr>
          <a:xfrm>
            <a:off x="628650" y="4074392"/>
            <a:ext cx="10959970" cy="221801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194"/>
              </a:spcBef>
              <a:spcAft>
                <a:spcPts val="0"/>
              </a:spcAft>
              <a:buClr>
                <a:schemeClr val="lt1"/>
              </a:buClr>
              <a:buSzPts val="5970"/>
              <a:buFont typeface="Arial"/>
              <a:buNone/>
              <a:defRPr b="0" i="0" sz="5970" u="none" cap="none" strike="noStrike">
                <a:solidFill>
                  <a:schemeClr val="lt1"/>
                </a:solidFill>
                <a:latin typeface="Montserrat ExtraBold"/>
                <a:ea typeface="Montserrat ExtraBold"/>
                <a:cs typeface="Montserrat ExtraBold"/>
                <a:sym typeface="Montserrat ExtraBold"/>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4246">
          <p15:clr>
            <a:srgbClr val="FBAE40"/>
          </p15:clr>
        </p15:guide>
        <p15:guide id="2" pos="8134">
          <p15:clr>
            <a:srgbClr val="FBAE40"/>
          </p15:clr>
        </p15:guide>
        <p15:guide id="3" pos="358">
          <p15:clr>
            <a:srgbClr val="FBAE40"/>
          </p15:clr>
        </p15:guide>
        <p15:guide id="4" orient="horz" pos="348">
          <p15:clr>
            <a:srgbClr val="FBAE40"/>
          </p15:clr>
        </p15:guide>
        <p15:guide id="5" orient="horz" pos="44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With BG">
  <p:cSld name="3_With BG">
    <p:spTree>
      <p:nvGrpSpPr>
        <p:cNvPr id="13" name="Shape 13"/>
        <p:cNvGrpSpPr/>
        <p:nvPr/>
      </p:nvGrpSpPr>
      <p:grpSpPr>
        <a:xfrm>
          <a:off x="0" y="0"/>
          <a:ext cx="0" cy="0"/>
          <a:chOff x="0" y="0"/>
          <a:chExt cx="0" cy="0"/>
        </a:xfrm>
      </p:grpSpPr>
      <p:sp>
        <p:nvSpPr>
          <p:cNvPr id="14" name="Google Shape;14;p5"/>
          <p:cNvSpPr/>
          <p:nvPr/>
        </p:nvSpPr>
        <p:spPr>
          <a:xfrm flipH="1">
            <a:off x="2" y="-10160"/>
            <a:ext cx="12191999" cy="6858000"/>
          </a:xfrm>
          <a:prstGeom prst="rect">
            <a:avLst/>
          </a:prstGeom>
          <a:gradFill>
            <a:gsLst>
              <a:gs pos="0">
                <a:srgbClr val="1D9AD6">
                  <a:alpha val="0"/>
                </a:srgbClr>
              </a:gs>
              <a:gs pos="100000">
                <a:srgbClr val="1D9AD6">
                  <a:alpha val="13725"/>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solidFill>
                <a:schemeClr val="lt1"/>
              </a:solidFill>
              <a:latin typeface="Calibri"/>
              <a:ea typeface="Calibri"/>
              <a:cs typeface="Calibri"/>
              <a:sym typeface="Calibri"/>
            </a:endParaRPr>
          </a:p>
        </p:txBody>
      </p:sp>
      <p:sp>
        <p:nvSpPr>
          <p:cNvPr id="15" name="Google Shape;15;p5"/>
          <p:cNvSpPr/>
          <p:nvPr/>
        </p:nvSpPr>
        <p:spPr>
          <a:xfrm rot="-5400000">
            <a:off x="5909233" y="580294"/>
            <a:ext cx="365760" cy="12199777"/>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latin typeface="Calibri"/>
              <a:ea typeface="Calibri"/>
              <a:cs typeface="Calibri"/>
              <a:sym typeface="Calibri"/>
            </a:endParaRPr>
          </a:p>
        </p:txBody>
      </p:sp>
      <p:pic>
        <p:nvPicPr>
          <p:cNvPr id="16" name="Google Shape;16;p5"/>
          <p:cNvPicPr preferRelativeResize="0"/>
          <p:nvPr/>
        </p:nvPicPr>
        <p:blipFill rotWithShape="1">
          <a:blip r:embed="rId2">
            <a:alphaModFix/>
          </a:blip>
          <a:srcRect b="0" l="0" r="0" t="0"/>
          <a:stretch/>
        </p:blipFill>
        <p:spPr>
          <a:xfrm>
            <a:off x="10761999" y="6555937"/>
            <a:ext cx="1119493" cy="243840"/>
          </a:xfrm>
          <a:prstGeom prst="rect">
            <a:avLst/>
          </a:prstGeom>
          <a:noFill/>
          <a:ln>
            <a:noFill/>
          </a:ln>
        </p:spPr>
      </p:pic>
      <p:sp>
        <p:nvSpPr>
          <p:cNvPr id="17" name="Google Shape;17;p5"/>
          <p:cNvSpPr txBox="1"/>
          <p:nvPr>
            <p:ph type="title"/>
          </p:nvPr>
        </p:nvSpPr>
        <p:spPr>
          <a:xfrm>
            <a:off x="544387" y="243835"/>
            <a:ext cx="10917186" cy="5608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1867DC"/>
              </a:buClr>
              <a:buSzPts val="2800"/>
              <a:buFont typeface="Calibri"/>
              <a:buNone/>
              <a:defRPr b="0" i="0" sz="2800" u="none" cap="none" strike="noStrike">
                <a:solidFill>
                  <a:srgbClr val="1867D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8" name="Shape 18"/>
        <p:cNvGrpSpPr/>
        <p:nvPr/>
      </p:nvGrpSpPr>
      <p:grpSpPr>
        <a:xfrm>
          <a:off x="0" y="0"/>
          <a:ext cx="0" cy="0"/>
          <a:chOff x="0" y="0"/>
          <a:chExt cx="0" cy="0"/>
        </a:xfrm>
      </p:grpSpPr>
      <p:pic>
        <p:nvPicPr>
          <p:cNvPr id="19" name="Google Shape;19;p6"/>
          <p:cNvPicPr preferRelativeResize="0"/>
          <p:nvPr/>
        </p:nvPicPr>
        <p:blipFill rotWithShape="1">
          <a:blip r:embed="rId2">
            <a:alphaModFix amt="39000"/>
          </a:blip>
          <a:srcRect b="4791" l="0" r="0" t="4791"/>
          <a:stretch/>
        </p:blipFill>
        <p:spPr>
          <a:xfrm>
            <a:off x="952062" y="959685"/>
            <a:ext cx="3967164" cy="1717757"/>
          </a:xfrm>
          <a:prstGeom prst="roundRect">
            <a:avLst>
              <a:gd fmla="val 8908" name="adj"/>
            </a:avLst>
          </a:prstGeom>
          <a:solidFill>
            <a:schemeClr val="lt1"/>
          </a:solidFill>
          <a:ln>
            <a:noFill/>
          </a:ln>
        </p:spPr>
      </p:pic>
      <p:sp>
        <p:nvSpPr>
          <p:cNvPr id="20" name="Google Shape;20;p6"/>
          <p:cNvSpPr/>
          <p:nvPr/>
        </p:nvSpPr>
        <p:spPr>
          <a:xfrm>
            <a:off x="952062" y="956028"/>
            <a:ext cx="3967164" cy="1711784"/>
          </a:xfrm>
          <a:prstGeom prst="roundRect">
            <a:avLst>
              <a:gd fmla="val 8615" name="adj"/>
            </a:avLst>
          </a:prstGeom>
          <a:gradFill>
            <a:gsLst>
              <a:gs pos="0">
                <a:srgbClr val="2E6FF2">
                  <a:alpha val="0"/>
                </a:srgbClr>
              </a:gs>
              <a:gs pos="6000">
                <a:srgbClr val="2E6FF2">
                  <a:alpha val="0"/>
                </a:srgbClr>
              </a:gs>
              <a:gs pos="79000">
                <a:srgbClr val="0079F3"/>
              </a:gs>
              <a:gs pos="100000">
                <a:srgbClr val="0F9EE3">
                  <a:alpha val="94902"/>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FFFFFF"/>
              </a:solidFill>
              <a:latin typeface="Calibri"/>
              <a:ea typeface="Calibri"/>
              <a:cs typeface="Calibri"/>
              <a:sym typeface="Calibri"/>
            </a:endParaRPr>
          </a:p>
        </p:txBody>
      </p:sp>
      <p:sp>
        <p:nvSpPr>
          <p:cNvPr id="21" name="Google Shape;21;p6"/>
          <p:cNvSpPr/>
          <p:nvPr/>
        </p:nvSpPr>
        <p:spPr>
          <a:xfrm>
            <a:off x="5451522" y="4387959"/>
            <a:ext cx="5561970" cy="2166354"/>
          </a:xfrm>
          <a:prstGeom prst="roundRect">
            <a:avLst>
              <a:gd fmla="val 1908" name="adj"/>
            </a:avLst>
          </a:prstGeom>
          <a:noFill/>
          <a:ln cap="flat" cmpd="sng" w="25400">
            <a:solidFill>
              <a:srgbClr val="F4F8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22" name="Google Shape;22;p6"/>
          <p:cNvGrpSpPr/>
          <p:nvPr/>
        </p:nvGrpSpPr>
        <p:grpSpPr>
          <a:xfrm>
            <a:off x="5645854" y="4103165"/>
            <a:ext cx="3070074" cy="576636"/>
            <a:chOff x="6606120" y="3381088"/>
            <a:chExt cx="3752849" cy="704850"/>
          </a:xfrm>
        </p:grpSpPr>
        <p:grpSp>
          <p:nvGrpSpPr>
            <p:cNvPr id="23" name="Google Shape;23;p6"/>
            <p:cNvGrpSpPr/>
            <p:nvPr/>
          </p:nvGrpSpPr>
          <p:grpSpPr>
            <a:xfrm>
              <a:off x="6606120" y="3381088"/>
              <a:ext cx="3752849" cy="704850"/>
              <a:chOff x="8686303" y="1547150"/>
              <a:chExt cx="3752849" cy="704850"/>
            </a:xfrm>
          </p:grpSpPr>
          <p:sp>
            <p:nvSpPr>
              <p:cNvPr id="24" name="Google Shape;24;p6"/>
              <p:cNvSpPr/>
              <p:nvPr/>
            </p:nvSpPr>
            <p:spPr>
              <a:xfrm>
                <a:off x="9202467" y="1665575"/>
                <a:ext cx="3236685" cy="468000"/>
              </a:xfrm>
              <a:prstGeom prst="roundRect">
                <a:avLst>
                  <a:gd fmla="val 16667" name="adj"/>
                </a:avLst>
              </a:prstGeom>
              <a:solidFill>
                <a:srgbClr val="00A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09">
                    <a:solidFill>
                      <a:schemeClr val="lt1"/>
                    </a:solidFill>
                    <a:latin typeface="Montserrat"/>
                    <a:ea typeface="Montserrat"/>
                    <a:cs typeface="Montserrat"/>
                    <a:sym typeface="Montserrat"/>
                  </a:rPr>
                  <a:t>Achievements</a:t>
                </a:r>
                <a:endParaRPr sz="1309">
                  <a:solidFill>
                    <a:schemeClr val="lt1"/>
                  </a:solidFill>
                  <a:latin typeface="Montserrat"/>
                  <a:ea typeface="Montserrat"/>
                  <a:cs typeface="Montserrat"/>
                  <a:sym typeface="Montserrat"/>
                </a:endParaRPr>
              </a:p>
            </p:txBody>
          </p:sp>
          <p:sp>
            <p:nvSpPr>
              <p:cNvPr id="25" name="Google Shape;25;p6"/>
              <p:cNvSpPr/>
              <p:nvPr/>
            </p:nvSpPr>
            <p:spPr>
              <a:xfrm>
                <a:off x="8686303" y="1547150"/>
                <a:ext cx="704850" cy="704850"/>
              </a:xfrm>
              <a:prstGeom prst="ellipse">
                <a:avLst/>
              </a:prstGeom>
              <a:solidFill>
                <a:srgbClr val="00A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9">
                  <a:solidFill>
                    <a:schemeClr val="lt1"/>
                  </a:solidFill>
                  <a:latin typeface="Montserrat"/>
                  <a:ea typeface="Montserrat"/>
                  <a:cs typeface="Montserrat"/>
                  <a:sym typeface="Montserrat"/>
                </a:endParaRPr>
              </a:p>
            </p:txBody>
          </p:sp>
        </p:grpSp>
        <p:sp>
          <p:nvSpPr>
            <p:cNvPr id="26" name="Google Shape;26;p6"/>
            <p:cNvSpPr/>
            <p:nvPr/>
          </p:nvSpPr>
          <p:spPr>
            <a:xfrm>
              <a:off x="6713131" y="3524229"/>
              <a:ext cx="490827" cy="432000"/>
            </a:xfrm>
            <a:custGeom>
              <a:rect b="b" l="l" r="r" t="t"/>
              <a:pathLst>
                <a:path extrusionOk="0" h="10741" w="8943">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grpSp>
      <p:sp>
        <p:nvSpPr>
          <p:cNvPr id="27" name="Google Shape;27;p6"/>
          <p:cNvSpPr/>
          <p:nvPr/>
        </p:nvSpPr>
        <p:spPr>
          <a:xfrm>
            <a:off x="5434239" y="1180931"/>
            <a:ext cx="5581500" cy="2825351"/>
          </a:xfrm>
          <a:prstGeom prst="roundRect">
            <a:avLst>
              <a:gd fmla="val 1908" name="adj"/>
            </a:avLst>
          </a:prstGeom>
          <a:noFill/>
          <a:ln cap="flat" cmpd="sng" w="25400">
            <a:solidFill>
              <a:srgbClr val="F4F8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28" name="Google Shape;28;p6"/>
          <p:cNvGrpSpPr/>
          <p:nvPr/>
        </p:nvGrpSpPr>
        <p:grpSpPr>
          <a:xfrm>
            <a:off x="5646267" y="933515"/>
            <a:ext cx="3261363" cy="576636"/>
            <a:chOff x="828947" y="1547150"/>
            <a:chExt cx="3986682" cy="704850"/>
          </a:xfrm>
        </p:grpSpPr>
        <p:sp>
          <p:nvSpPr>
            <p:cNvPr id="29" name="Google Shape;29;p6"/>
            <p:cNvSpPr/>
            <p:nvPr/>
          </p:nvSpPr>
          <p:spPr>
            <a:xfrm>
              <a:off x="1345111" y="1667352"/>
              <a:ext cx="3470518" cy="466223"/>
            </a:xfrm>
            <a:prstGeom prst="roundRect">
              <a:avLst>
                <a:gd fmla="val 16667" name="adj"/>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09">
                  <a:solidFill>
                    <a:srgbClr val="FFFFFF"/>
                  </a:solidFill>
                  <a:latin typeface="Montserrat"/>
                  <a:ea typeface="Montserrat"/>
                  <a:cs typeface="Montserrat"/>
                  <a:sym typeface="Montserrat"/>
                </a:rPr>
                <a:t>Pain Points</a:t>
              </a:r>
              <a:endParaRPr sz="1309">
                <a:solidFill>
                  <a:srgbClr val="FFFFFF"/>
                </a:solidFill>
                <a:latin typeface="Montserrat"/>
                <a:ea typeface="Montserrat"/>
                <a:cs typeface="Montserrat"/>
                <a:sym typeface="Montserrat"/>
              </a:endParaRPr>
            </a:p>
          </p:txBody>
        </p:sp>
        <p:sp>
          <p:nvSpPr>
            <p:cNvPr id="30" name="Google Shape;30;p6"/>
            <p:cNvSpPr/>
            <p:nvPr/>
          </p:nvSpPr>
          <p:spPr>
            <a:xfrm>
              <a:off x="828947" y="1547150"/>
              <a:ext cx="704850" cy="704850"/>
            </a:xfrm>
            <a:prstGeom prst="ellipse">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9">
                <a:solidFill>
                  <a:srgbClr val="FFFFFF"/>
                </a:solidFill>
                <a:latin typeface="Montserrat"/>
                <a:ea typeface="Montserrat"/>
                <a:cs typeface="Montserrat"/>
                <a:sym typeface="Montserrat"/>
              </a:endParaRPr>
            </a:p>
          </p:txBody>
        </p:sp>
        <p:grpSp>
          <p:nvGrpSpPr>
            <p:cNvPr id="31" name="Google Shape;31;p6"/>
            <p:cNvGrpSpPr/>
            <p:nvPr/>
          </p:nvGrpSpPr>
          <p:grpSpPr>
            <a:xfrm>
              <a:off x="962257" y="1678662"/>
              <a:ext cx="438229" cy="437800"/>
              <a:chOff x="3040984" y="3681059"/>
              <a:chExt cx="356164" cy="355815"/>
            </a:xfrm>
          </p:grpSpPr>
          <p:sp>
            <p:nvSpPr>
              <p:cNvPr id="32" name="Google Shape;32;p6"/>
              <p:cNvSpPr/>
              <p:nvPr/>
            </p:nvSpPr>
            <p:spPr>
              <a:xfrm>
                <a:off x="3040984" y="3681059"/>
                <a:ext cx="356164" cy="355815"/>
              </a:xfrm>
              <a:custGeom>
                <a:rect b="b" l="l" r="r" t="t"/>
                <a:pathLst>
                  <a:path extrusionOk="0" h="11205" w="11216">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sp>
            <p:nvSpPr>
              <p:cNvPr id="33" name="Google Shape;33;p6"/>
              <p:cNvSpPr/>
              <p:nvPr/>
            </p:nvSpPr>
            <p:spPr>
              <a:xfrm>
                <a:off x="3183120" y="3921508"/>
                <a:ext cx="59414" cy="59382"/>
              </a:xfrm>
              <a:custGeom>
                <a:rect b="b" l="l" r="r" t="t"/>
                <a:pathLst>
                  <a:path extrusionOk="0" h="1870" w="1871">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sp>
            <p:nvSpPr>
              <p:cNvPr id="34" name="Google Shape;34;p6"/>
              <p:cNvSpPr/>
              <p:nvPr/>
            </p:nvSpPr>
            <p:spPr>
              <a:xfrm>
                <a:off x="3149110" y="3735868"/>
                <a:ext cx="141056" cy="174716"/>
              </a:xfrm>
              <a:custGeom>
                <a:rect b="b" l="l" r="r" t="t"/>
                <a:pathLst>
                  <a:path extrusionOk="0" h="5502" w="4442">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grpSp>
      </p:grpSp>
      <p:sp>
        <p:nvSpPr>
          <p:cNvPr id="35" name="Google Shape;35;p6"/>
          <p:cNvSpPr/>
          <p:nvPr/>
        </p:nvSpPr>
        <p:spPr>
          <a:xfrm>
            <a:off x="971354" y="2727570"/>
            <a:ext cx="1649219" cy="58903"/>
          </a:xfrm>
          <a:prstGeom prst="roundRect">
            <a:avLst>
              <a:gd fmla="val 50000" name="adj"/>
            </a:avLst>
          </a:prstGeom>
          <a:solidFill>
            <a:srgbClr val="0576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36" name="Google Shape;36;p6"/>
          <p:cNvGrpSpPr/>
          <p:nvPr/>
        </p:nvGrpSpPr>
        <p:grpSpPr>
          <a:xfrm>
            <a:off x="1006404" y="2901025"/>
            <a:ext cx="142855" cy="142860"/>
            <a:chOff x="596900" y="4902200"/>
            <a:chExt cx="685800" cy="685800"/>
          </a:xfrm>
        </p:grpSpPr>
        <p:pic>
          <p:nvPicPr>
            <p:cNvPr descr="Question mark" id="37" name="Google Shape;37;p6"/>
            <p:cNvPicPr preferRelativeResize="0"/>
            <p:nvPr/>
          </p:nvPicPr>
          <p:blipFill rotWithShape="1">
            <a:blip r:embed="rId3">
              <a:alphaModFix/>
            </a:blip>
            <a:srcRect b="0" l="0" r="0" t="0"/>
            <a:stretch/>
          </p:blipFill>
          <p:spPr>
            <a:xfrm>
              <a:off x="641350" y="4946650"/>
              <a:ext cx="596900" cy="596900"/>
            </a:xfrm>
            <a:prstGeom prst="rect">
              <a:avLst/>
            </a:prstGeom>
            <a:noFill/>
            <a:ln>
              <a:noFill/>
            </a:ln>
          </p:spPr>
        </p:pic>
        <p:sp>
          <p:nvSpPr>
            <p:cNvPr id="38" name="Google Shape;38;p6"/>
            <p:cNvSpPr/>
            <p:nvPr/>
          </p:nvSpPr>
          <p:spPr>
            <a:xfrm>
              <a:off x="596900" y="4902200"/>
              <a:ext cx="685800" cy="685800"/>
            </a:xfrm>
            <a:prstGeom prst="ellipse">
              <a:avLst/>
            </a:prstGeom>
            <a:noFill/>
            <a:ln cap="flat" cmpd="sng" w="9525">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sp>
        <p:nvSpPr>
          <p:cNvPr id="39" name="Google Shape;39;p6"/>
          <p:cNvSpPr txBox="1"/>
          <p:nvPr/>
        </p:nvSpPr>
        <p:spPr>
          <a:xfrm>
            <a:off x="1158516" y="2837413"/>
            <a:ext cx="3594421" cy="293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9">
                <a:solidFill>
                  <a:srgbClr val="00B1EF"/>
                </a:solidFill>
                <a:latin typeface="Montserrat"/>
                <a:ea typeface="Montserrat"/>
                <a:cs typeface="Montserrat"/>
                <a:sym typeface="Montserrat"/>
              </a:rPr>
              <a:t>Challenge Story</a:t>
            </a:r>
            <a:endParaRPr/>
          </a:p>
        </p:txBody>
      </p:sp>
      <p:sp>
        <p:nvSpPr>
          <p:cNvPr id="40" name="Google Shape;40;p6"/>
          <p:cNvSpPr txBox="1"/>
          <p:nvPr/>
        </p:nvSpPr>
        <p:spPr>
          <a:xfrm>
            <a:off x="1158516" y="5468010"/>
            <a:ext cx="2200095" cy="293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9">
                <a:solidFill>
                  <a:srgbClr val="00B1EF"/>
                </a:solidFill>
                <a:latin typeface="Montserrat"/>
                <a:ea typeface="Montserrat"/>
                <a:cs typeface="Montserrat"/>
                <a:sym typeface="Montserrat"/>
              </a:rPr>
              <a:t>Return of Investment</a:t>
            </a:r>
            <a:endParaRPr b="1" sz="1309">
              <a:solidFill>
                <a:srgbClr val="00B1EF"/>
              </a:solidFill>
              <a:latin typeface="Montserrat"/>
              <a:ea typeface="Montserrat"/>
              <a:cs typeface="Montserrat"/>
              <a:sym typeface="Montserrat"/>
            </a:endParaRPr>
          </a:p>
        </p:txBody>
      </p:sp>
      <p:grpSp>
        <p:nvGrpSpPr>
          <p:cNvPr id="41" name="Google Shape;41;p6"/>
          <p:cNvGrpSpPr/>
          <p:nvPr/>
        </p:nvGrpSpPr>
        <p:grpSpPr>
          <a:xfrm>
            <a:off x="1015570" y="5535071"/>
            <a:ext cx="142855" cy="142860"/>
            <a:chOff x="596900" y="4902200"/>
            <a:chExt cx="685800" cy="685800"/>
          </a:xfrm>
        </p:grpSpPr>
        <p:pic>
          <p:nvPicPr>
            <p:cNvPr descr="Question mark" id="42" name="Google Shape;42;p6"/>
            <p:cNvPicPr preferRelativeResize="0"/>
            <p:nvPr/>
          </p:nvPicPr>
          <p:blipFill rotWithShape="1">
            <a:blip r:embed="rId3">
              <a:alphaModFix/>
            </a:blip>
            <a:srcRect b="0" l="0" r="0" t="0"/>
            <a:stretch/>
          </p:blipFill>
          <p:spPr>
            <a:xfrm>
              <a:off x="641350" y="4946650"/>
              <a:ext cx="596900" cy="596900"/>
            </a:xfrm>
            <a:prstGeom prst="rect">
              <a:avLst/>
            </a:prstGeom>
            <a:noFill/>
            <a:ln>
              <a:noFill/>
            </a:ln>
          </p:spPr>
        </p:pic>
        <p:sp>
          <p:nvSpPr>
            <p:cNvPr id="43" name="Google Shape;43;p6"/>
            <p:cNvSpPr/>
            <p:nvPr/>
          </p:nvSpPr>
          <p:spPr>
            <a:xfrm>
              <a:off x="596900" y="4902200"/>
              <a:ext cx="685800" cy="685800"/>
            </a:xfrm>
            <a:prstGeom prst="ellipse">
              <a:avLst/>
            </a:prstGeom>
            <a:noFill/>
            <a:ln cap="flat" cmpd="sng" w="9525">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sp>
        <p:nvSpPr>
          <p:cNvPr id="44" name="Google Shape;44;p6"/>
          <p:cNvSpPr/>
          <p:nvPr/>
        </p:nvSpPr>
        <p:spPr>
          <a:xfrm>
            <a:off x="1077990" y="5761753"/>
            <a:ext cx="1187362" cy="366474"/>
          </a:xfrm>
          <a:prstGeom prst="roundRect">
            <a:avLst>
              <a:gd fmla="val 16667" name="adj"/>
            </a:avLst>
          </a:prstGeom>
          <a:noFill/>
          <a:ln cap="flat" cmpd="sng" w="25400">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45" name="Google Shape;45;p6"/>
          <p:cNvSpPr/>
          <p:nvPr/>
        </p:nvSpPr>
        <p:spPr>
          <a:xfrm>
            <a:off x="3883430" y="5753646"/>
            <a:ext cx="1187362" cy="366474"/>
          </a:xfrm>
          <a:prstGeom prst="roundRect">
            <a:avLst>
              <a:gd fmla="val 16667" name="adj"/>
            </a:avLst>
          </a:prstGeom>
          <a:noFill/>
          <a:ln cap="flat" cmpd="sng" w="25400">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46" name="Google Shape;46;p6"/>
          <p:cNvSpPr txBox="1"/>
          <p:nvPr/>
        </p:nvSpPr>
        <p:spPr>
          <a:xfrm>
            <a:off x="2380028" y="5793913"/>
            <a:ext cx="1170213" cy="318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73">
                <a:solidFill>
                  <a:schemeClr val="lt1"/>
                </a:solidFill>
                <a:latin typeface="Arial Black"/>
                <a:ea typeface="Arial Black"/>
                <a:cs typeface="Arial Black"/>
                <a:sym typeface="Arial Black"/>
              </a:rPr>
              <a:t>40%</a:t>
            </a:r>
            <a:endParaRPr/>
          </a:p>
        </p:txBody>
      </p:sp>
      <p:sp>
        <p:nvSpPr>
          <p:cNvPr id="47" name="Google Shape;47;p6"/>
          <p:cNvSpPr txBox="1"/>
          <p:nvPr>
            <p:ph idx="1" type="body"/>
          </p:nvPr>
        </p:nvSpPr>
        <p:spPr>
          <a:xfrm>
            <a:off x="970650" y="6148290"/>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48" name="Google Shape;48;p6"/>
          <p:cNvSpPr txBox="1"/>
          <p:nvPr>
            <p:ph idx="2" type="body"/>
          </p:nvPr>
        </p:nvSpPr>
        <p:spPr>
          <a:xfrm>
            <a:off x="2380028" y="6144297"/>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49" name="Google Shape;49;p6"/>
          <p:cNvSpPr txBox="1"/>
          <p:nvPr>
            <p:ph idx="3" type="body"/>
          </p:nvPr>
        </p:nvSpPr>
        <p:spPr>
          <a:xfrm>
            <a:off x="3783877" y="6144297"/>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50" name="Google Shape;50;p6"/>
          <p:cNvSpPr/>
          <p:nvPr/>
        </p:nvSpPr>
        <p:spPr>
          <a:xfrm>
            <a:off x="2480711" y="5761752"/>
            <a:ext cx="1187361" cy="366474"/>
          </a:xfrm>
          <a:prstGeom prst="roundRect">
            <a:avLst>
              <a:gd fmla="val 16667" name="adj"/>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51" name="Google Shape;51;p6"/>
          <p:cNvSpPr/>
          <p:nvPr/>
        </p:nvSpPr>
        <p:spPr>
          <a:xfrm>
            <a:off x="1153288" y="1733779"/>
            <a:ext cx="165115" cy="21434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1"/>
          </a:solidFill>
          <a:ln>
            <a:noFill/>
          </a:ln>
        </p:spPr>
        <p:txBody>
          <a:bodyPr anchorCtr="0" anchor="ctr" bIns="82675" lIns="82675" spcFirstLastPara="1" rIns="82675" wrap="square" tIns="82675">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nvGrpSpPr>
          <p:cNvPr id="52" name="Google Shape;52;p6"/>
          <p:cNvGrpSpPr/>
          <p:nvPr/>
        </p:nvGrpSpPr>
        <p:grpSpPr>
          <a:xfrm flipH="1">
            <a:off x="1142480" y="2039536"/>
            <a:ext cx="187644" cy="191665"/>
            <a:chOff x="3979435" y="1976585"/>
            <a:chExt cx="345265" cy="349848"/>
          </a:xfrm>
        </p:grpSpPr>
        <p:sp>
          <p:nvSpPr>
            <p:cNvPr id="53" name="Google Shape;53;p6"/>
            <p:cNvSpPr/>
            <p:nvPr/>
          </p:nvSpPr>
          <p:spPr>
            <a:xfrm>
              <a:off x="3979435" y="1976585"/>
              <a:ext cx="345265" cy="349848"/>
            </a:xfrm>
            <a:custGeom>
              <a:rect b="b" l="l" r="r" t="t"/>
              <a:pathLst>
                <a:path extrusionOk="0" h="10992" w="10848">
                  <a:moveTo>
                    <a:pt x="6632" y="322"/>
                  </a:moveTo>
                  <a:cubicBezTo>
                    <a:pt x="6859" y="322"/>
                    <a:pt x="7013" y="501"/>
                    <a:pt x="7013" y="715"/>
                  </a:cubicBezTo>
                  <a:cubicBezTo>
                    <a:pt x="7013" y="929"/>
                    <a:pt x="6835" y="1096"/>
                    <a:pt x="6632" y="1096"/>
                  </a:cubicBezTo>
                  <a:lnTo>
                    <a:pt x="4906" y="1096"/>
                  </a:lnTo>
                  <a:cubicBezTo>
                    <a:pt x="4680" y="1096"/>
                    <a:pt x="4513" y="918"/>
                    <a:pt x="4513" y="715"/>
                  </a:cubicBezTo>
                  <a:cubicBezTo>
                    <a:pt x="4513" y="489"/>
                    <a:pt x="4692" y="322"/>
                    <a:pt x="4906" y="322"/>
                  </a:cubicBezTo>
                  <a:close/>
                  <a:moveTo>
                    <a:pt x="5966" y="1429"/>
                  </a:moveTo>
                  <a:lnTo>
                    <a:pt x="5966" y="1965"/>
                  </a:lnTo>
                  <a:lnTo>
                    <a:pt x="5561" y="1965"/>
                  </a:lnTo>
                  <a:lnTo>
                    <a:pt x="5561" y="1429"/>
                  </a:lnTo>
                  <a:close/>
                  <a:moveTo>
                    <a:pt x="5775" y="2289"/>
                  </a:moveTo>
                  <a:cubicBezTo>
                    <a:pt x="6988" y="2289"/>
                    <a:pt x="8193" y="2825"/>
                    <a:pt x="9026" y="3835"/>
                  </a:cubicBezTo>
                  <a:cubicBezTo>
                    <a:pt x="10466" y="5620"/>
                    <a:pt x="10204" y="8276"/>
                    <a:pt x="8407" y="9728"/>
                  </a:cubicBezTo>
                  <a:cubicBezTo>
                    <a:pt x="7623" y="10362"/>
                    <a:pt x="6686" y="10670"/>
                    <a:pt x="5757" y="10670"/>
                  </a:cubicBezTo>
                  <a:cubicBezTo>
                    <a:pt x="4540" y="10670"/>
                    <a:pt x="3337" y="10141"/>
                    <a:pt x="2513" y="9121"/>
                  </a:cubicBezTo>
                  <a:cubicBezTo>
                    <a:pt x="429" y="6561"/>
                    <a:pt x="2001" y="2715"/>
                    <a:pt x="5251" y="2322"/>
                  </a:cubicBezTo>
                  <a:cubicBezTo>
                    <a:pt x="5425" y="2300"/>
                    <a:pt x="5601" y="2289"/>
                    <a:pt x="5775" y="2289"/>
                  </a:cubicBezTo>
                  <a:close/>
                  <a:moveTo>
                    <a:pt x="4906" y="1"/>
                  </a:moveTo>
                  <a:cubicBezTo>
                    <a:pt x="4501" y="1"/>
                    <a:pt x="4192" y="322"/>
                    <a:pt x="4192" y="715"/>
                  </a:cubicBezTo>
                  <a:cubicBezTo>
                    <a:pt x="4192" y="1108"/>
                    <a:pt x="4513" y="1429"/>
                    <a:pt x="4906" y="1429"/>
                  </a:cubicBezTo>
                  <a:lnTo>
                    <a:pt x="5239" y="1429"/>
                  </a:lnTo>
                  <a:lnTo>
                    <a:pt x="5239" y="1989"/>
                  </a:lnTo>
                  <a:cubicBezTo>
                    <a:pt x="1727" y="2394"/>
                    <a:pt x="1" y="6561"/>
                    <a:pt x="2263" y="9323"/>
                  </a:cubicBezTo>
                  <a:cubicBezTo>
                    <a:pt x="3160" y="10423"/>
                    <a:pt x="4463" y="10991"/>
                    <a:pt x="5774" y="10991"/>
                  </a:cubicBezTo>
                  <a:cubicBezTo>
                    <a:pt x="6777" y="10991"/>
                    <a:pt x="7785" y="10659"/>
                    <a:pt x="8621" y="9978"/>
                  </a:cubicBezTo>
                  <a:cubicBezTo>
                    <a:pt x="10550" y="8407"/>
                    <a:pt x="10847" y="5549"/>
                    <a:pt x="9264" y="3632"/>
                  </a:cubicBezTo>
                  <a:cubicBezTo>
                    <a:pt x="8490" y="2680"/>
                    <a:pt x="7406" y="2120"/>
                    <a:pt x="6287" y="1989"/>
                  </a:cubicBezTo>
                  <a:lnTo>
                    <a:pt x="6287" y="1429"/>
                  </a:lnTo>
                  <a:lnTo>
                    <a:pt x="6632" y="1429"/>
                  </a:lnTo>
                  <a:cubicBezTo>
                    <a:pt x="7037" y="1429"/>
                    <a:pt x="7347" y="1096"/>
                    <a:pt x="7347" y="715"/>
                  </a:cubicBezTo>
                  <a:cubicBezTo>
                    <a:pt x="7347" y="310"/>
                    <a:pt x="7013" y="1"/>
                    <a:pt x="6632"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4" name="Google Shape;54;p6"/>
            <p:cNvSpPr/>
            <p:nvPr/>
          </p:nvSpPr>
          <p:spPr>
            <a:xfrm>
              <a:off x="4044236" y="2176685"/>
              <a:ext cx="144783" cy="123077"/>
            </a:xfrm>
            <a:custGeom>
              <a:rect b="b" l="l" r="r" t="t"/>
              <a:pathLst>
                <a:path extrusionOk="0" h="3867" w="4549">
                  <a:moveTo>
                    <a:pt x="203" y="0"/>
                  </a:moveTo>
                  <a:cubicBezTo>
                    <a:pt x="108" y="0"/>
                    <a:pt x="36" y="84"/>
                    <a:pt x="36" y="167"/>
                  </a:cubicBezTo>
                  <a:cubicBezTo>
                    <a:pt x="36" y="215"/>
                    <a:pt x="1" y="977"/>
                    <a:pt x="405" y="1822"/>
                  </a:cubicBezTo>
                  <a:cubicBezTo>
                    <a:pt x="667" y="2346"/>
                    <a:pt x="1048" y="2798"/>
                    <a:pt x="1525" y="3143"/>
                  </a:cubicBezTo>
                  <a:cubicBezTo>
                    <a:pt x="2186" y="3633"/>
                    <a:pt x="2944" y="3867"/>
                    <a:pt x="3694" y="3867"/>
                  </a:cubicBezTo>
                  <a:cubicBezTo>
                    <a:pt x="3929" y="3867"/>
                    <a:pt x="4164" y="3844"/>
                    <a:pt x="4394" y="3798"/>
                  </a:cubicBezTo>
                  <a:cubicBezTo>
                    <a:pt x="4489" y="3786"/>
                    <a:pt x="4549" y="3691"/>
                    <a:pt x="4537" y="3608"/>
                  </a:cubicBezTo>
                  <a:cubicBezTo>
                    <a:pt x="4526" y="3543"/>
                    <a:pt x="4446" y="3487"/>
                    <a:pt x="4368" y="3487"/>
                  </a:cubicBezTo>
                  <a:cubicBezTo>
                    <a:pt x="4361" y="3487"/>
                    <a:pt x="4354" y="3488"/>
                    <a:pt x="4346" y="3489"/>
                  </a:cubicBezTo>
                  <a:cubicBezTo>
                    <a:pt x="4139" y="3526"/>
                    <a:pt x="3932" y="3545"/>
                    <a:pt x="3725" y="3545"/>
                  </a:cubicBezTo>
                  <a:cubicBezTo>
                    <a:pt x="3018" y="3545"/>
                    <a:pt x="2326" y="3324"/>
                    <a:pt x="1727" y="2882"/>
                  </a:cubicBezTo>
                  <a:cubicBezTo>
                    <a:pt x="275" y="1810"/>
                    <a:pt x="370" y="167"/>
                    <a:pt x="370" y="167"/>
                  </a:cubicBezTo>
                  <a:cubicBezTo>
                    <a:pt x="370" y="84"/>
                    <a:pt x="298" y="0"/>
                    <a:pt x="20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5" name="Google Shape;55;p6"/>
            <p:cNvSpPr/>
            <p:nvPr/>
          </p:nvSpPr>
          <p:spPr>
            <a:xfrm>
              <a:off x="4046910" y="2065957"/>
              <a:ext cx="204269" cy="100893"/>
            </a:xfrm>
            <a:custGeom>
              <a:rect b="b" l="l" r="r" t="t"/>
              <a:pathLst>
                <a:path extrusionOk="0" h="3170" w="6418">
                  <a:moveTo>
                    <a:pt x="3655" y="1"/>
                  </a:moveTo>
                  <a:cubicBezTo>
                    <a:pt x="1971" y="1"/>
                    <a:pt x="367" y="1170"/>
                    <a:pt x="12" y="3003"/>
                  </a:cubicBezTo>
                  <a:cubicBezTo>
                    <a:pt x="0" y="3086"/>
                    <a:pt x="71" y="3170"/>
                    <a:pt x="179" y="3170"/>
                  </a:cubicBezTo>
                  <a:cubicBezTo>
                    <a:pt x="250" y="3170"/>
                    <a:pt x="333" y="3110"/>
                    <a:pt x="345" y="3039"/>
                  </a:cubicBezTo>
                  <a:cubicBezTo>
                    <a:pt x="667" y="1358"/>
                    <a:pt x="2122" y="299"/>
                    <a:pt x="3652" y="299"/>
                  </a:cubicBezTo>
                  <a:cubicBezTo>
                    <a:pt x="4332" y="299"/>
                    <a:pt x="5027" y="509"/>
                    <a:pt x="5644" y="967"/>
                  </a:cubicBezTo>
                  <a:cubicBezTo>
                    <a:pt x="5822" y="1098"/>
                    <a:pt x="5965" y="1241"/>
                    <a:pt x="6120" y="1396"/>
                  </a:cubicBezTo>
                  <a:cubicBezTo>
                    <a:pt x="6155" y="1431"/>
                    <a:pt x="6208" y="1454"/>
                    <a:pt x="6257" y="1454"/>
                  </a:cubicBezTo>
                  <a:cubicBezTo>
                    <a:pt x="6290" y="1454"/>
                    <a:pt x="6322" y="1443"/>
                    <a:pt x="6346" y="1419"/>
                  </a:cubicBezTo>
                  <a:cubicBezTo>
                    <a:pt x="6406" y="1360"/>
                    <a:pt x="6417" y="1253"/>
                    <a:pt x="6358" y="1193"/>
                  </a:cubicBezTo>
                  <a:cubicBezTo>
                    <a:pt x="6191" y="1027"/>
                    <a:pt x="6025" y="860"/>
                    <a:pt x="5834" y="729"/>
                  </a:cubicBezTo>
                  <a:cubicBezTo>
                    <a:pt x="5159" y="229"/>
                    <a:pt x="4399" y="1"/>
                    <a:pt x="3655"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6" name="Google Shape;56;p6"/>
            <p:cNvSpPr/>
            <p:nvPr/>
          </p:nvSpPr>
          <p:spPr>
            <a:xfrm>
              <a:off x="4195735" y="2118027"/>
              <a:ext cx="84247" cy="174224"/>
            </a:xfrm>
            <a:custGeom>
              <a:rect b="b" l="l" r="r" t="t"/>
              <a:pathLst>
                <a:path extrusionOk="0" h="5474" w="2647">
                  <a:moveTo>
                    <a:pt x="1952" y="0"/>
                  </a:moveTo>
                  <a:cubicBezTo>
                    <a:pt x="1920" y="0"/>
                    <a:pt x="1888" y="11"/>
                    <a:pt x="1861" y="33"/>
                  </a:cubicBezTo>
                  <a:cubicBezTo>
                    <a:pt x="1789" y="81"/>
                    <a:pt x="1753" y="176"/>
                    <a:pt x="1813" y="260"/>
                  </a:cubicBezTo>
                  <a:cubicBezTo>
                    <a:pt x="2158" y="795"/>
                    <a:pt x="2325" y="1403"/>
                    <a:pt x="2325" y="2046"/>
                  </a:cubicBezTo>
                  <a:cubicBezTo>
                    <a:pt x="2325" y="3451"/>
                    <a:pt x="1432" y="4689"/>
                    <a:pt x="182" y="5165"/>
                  </a:cubicBezTo>
                  <a:cubicBezTo>
                    <a:pt x="1" y="5229"/>
                    <a:pt x="67" y="5474"/>
                    <a:pt x="237" y="5474"/>
                  </a:cubicBezTo>
                  <a:cubicBezTo>
                    <a:pt x="257" y="5474"/>
                    <a:pt x="278" y="5470"/>
                    <a:pt x="301" y="5463"/>
                  </a:cubicBezTo>
                  <a:cubicBezTo>
                    <a:pt x="1682" y="4927"/>
                    <a:pt x="2646" y="3593"/>
                    <a:pt x="2646" y="2022"/>
                  </a:cubicBezTo>
                  <a:cubicBezTo>
                    <a:pt x="2646" y="1343"/>
                    <a:pt x="2456" y="653"/>
                    <a:pt x="2087" y="81"/>
                  </a:cubicBezTo>
                  <a:cubicBezTo>
                    <a:pt x="2057" y="29"/>
                    <a:pt x="2004" y="0"/>
                    <a:pt x="1952"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7" name="Google Shape;57;p6"/>
            <p:cNvSpPr/>
            <p:nvPr/>
          </p:nvSpPr>
          <p:spPr>
            <a:xfrm>
              <a:off x="4109037" y="2161153"/>
              <a:ext cx="81510" cy="55348"/>
            </a:xfrm>
            <a:custGeom>
              <a:rect b="b" l="l" r="r" t="t"/>
              <a:pathLst>
                <a:path extrusionOk="0" h="1739" w="2561">
                  <a:moveTo>
                    <a:pt x="1691" y="333"/>
                  </a:moveTo>
                  <a:cubicBezTo>
                    <a:pt x="1965" y="333"/>
                    <a:pt x="2144" y="655"/>
                    <a:pt x="1965" y="881"/>
                  </a:cubicBezTo>
                  <a:cubicBezTo>
                    <a:pt x="1900" y="968"/>
                    <a:pt x="1790" y="1020"/>
                    <a:pt x="1682" y="1020"/>
                  </a:cubicBezTo>
                  <a:cubicBezTo>
                    <a:pt x="1613" y="1020"/>
                    <a:pt x="1545" y="999"/>
                    <a:pt x="1489" y="953"/>
                  </a:cubicBezTo>
                  <a:cubicBezTo>
                    <a:pt x="1215" y="762"/>
                    <a:pt x="1370" y="333"/>
                    <a:pt x="1691" y="333"/>
                  </a:cubicBezTo>
                  <a:close/>
                  <a:moveTo>
                    <a:pt x="1691" y="0"/>
                  </a:moveTo>
                  <a:cubicBezTo>
                    <a:pt x="1584" y="0"/>
                    <a:pt x="1334" y="36"/>
                    <a:pt x="1156" y="274"/>
                  </a:cubicBezTo>
                  <a:cubicBezTo>
                    <a:pt x="1025" y="453"/>
                    <a:pt x="989" y="655"/>
                    <a:pt x="1048" y="845"/>
                  </a:cubicBezTo>
                  <a:lnTo>
                    <a:pt x="132" y="1441"/>
                  </a:lnTo>
                  <a:cubicBezTo>
                    <a:pt x="1" y="1536"/>
                    <a:pt x="60" y="1738"/>
                    <a:pt x="215" y="1738"/>
                  </a:cubicBezTo>
                  <a:cubicBezTo>
                    <a:pt x="310" y="1738"/>
                    <a:pt x="263" y="1726"/>
                    <a:pt x="1215" y="1131"/>
                  </a:cubicBezTo>
                  <a:cubicBezTo>
                    <a:pt x="1347" y="1275"/>
                    <a:pt x="1521" y="1344"/>
                    <a:pt x="1693" y="1344"/>
                  </a:cubicBezTo>
                  <a:cubicBezTo>
                    <a:pt x="1893" y="1344"/>
                    <a:pt x="2093" y="1251"/>
                    <a:pt x="2227" y="1072"/>
                  </a:cubicBezTo>
                  <a:cubicBezTo>
                    <a:pt x="2560" y="631"/>
                    <a:pt x="2251" y="0"/>
                    <a:pt x="169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8" name="Google Shape;58;p6"/>
            <p:cNvSpPr/>
            <p:nvPr/>
          </p:nvSpPr>
          <p:spPr>
            <a:xfrm>
              <a:off x="4157160" y="2083080"/>
              <a:ext cx="10662" cy="29218"/>
            </a:xfrm>
            <a:custGeom>
              <a:rect b="b" l="l" r="r" t="t"/>
              <a:pathLst>
                <a:path extrusionOk="0" h="918" w="335">
                  <a:moveTo>
                    <a:pt x="167" y="0"/>
                  </a:moveTo>
                  <a:cubicBezTo>
                    <a:pt x="72" y="0"/>
                    <a:pt x="1" y="72"/>
                    <a:pt x="1" y="167"/>
                  </a:cubicBezTo>
                  <a:lnTo>
                    <a:pt x="1" y="762"/>
                  </a:lnTo>
                  <a:cubicBezTo>
                    <a:pt x="1" y="846"/>
                    <a:pt x="72" y="917"/>
                    <a:pt x="167" y="917"/>
                  </a:cubicBezTo>
                  <a:cubicBezTo>
                    <a:pt x="275" y="917"/>
                    <a:pt x="334" y="846"/>
                    <a:pt x="334" y="762"/>
                  </a:cubicBezTo>
                  <a:lnTo>
                    <a:pt x="334" y="167"/>
                  </a:lnTo>
                  <a:cubicBezTo>
                    <a:pt x="334" y="72"/>
                    <a:pt x="263" y="0"/>
                    <a:pt x="167"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59" name="Google Shape;59;p6"/>
            <p:cNvSpPr/>
            <p:nvPr/>
          </p:nvSpPr>
          <p:spPr>
            <a:xfrm>
              <a:off x="4109419" y="2096034"/>
              <a:ext cx="21261" cy="26862"/>
            </a:xfrm>
            <a:custGeom>
              <a:rect b="b" l="l" r="r" t="t"/>
              <a:pathLst>
                <a:path extrusionOk="0" h="844" w="668">
                  <a:moveTo>
                    <a:pt x="183" y="0"/>
                  </a:moveTo>
                  <a:cubicBezTo>
                    <a:pt x="156" y="0"/>
                    <a:pt x="130" y="7"/>
                    <a:pt x="108" y="22"/>
                  </a:cubicBezTo>
                  <a:cubicBezTo>
                    <a:pt x="36" y="70"/>
                    <a:pt x="1" y="177"/>
                    <a:pt x="48" y="248"/>
                  </a:cubicBezTo>
                  <a:lnTo>
                    <a:pt x="346" y="772"/>
                  </a:lnTo>
                  <a:cubicBezTo>
                    <a:pt x="393" y="808"/>
                    <a:pt x="429" y="844"/>
                    <a:pt x="489" y="844"/>
                  </a:cubicBezTo>
                  <a:cubicBezTo>
                    <a:pt x="524" y="844"/>
                    <a:pt x="548" y="844"/>
                    <a:pt x="572" y="832"/>
                  </a:cubicBezTo>
                  <a:cubicBezTo>
                    <a:pt x="643" y="784"/>
                    <a:pt x="667" y="677"/>
                    <a:pt x="632" y="605"/>
                  </a:cubicBezTo>
                  <a:lnTo>
                    <a:pt x="334" y="82"/>
                  </a:lnTo>
                  <a:cubicBezTo>
                    <a:pt x="301" y="33"/>
                    <a:pt x="241" y="0"/>
                    <a:pt x="18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0" name="Google Shape;60;p6"/>
            <p:cNvSpPr/>
            <p:nvPr/>
          </p:nvSpPr>
          <p:spPr>
            <a:xfrm>
              <a:off x="4074950" y="2130121"/>
              <a:ext cx="28454" cy="19669"/>
            </a:xfrm>
            <a:custGeom>
              <a:rect b="b" l="l" r="r" t="t"/>
              <a:pathLst>
                <a:path extrusionOk="0" h="618" w="894">
                  <a:moveTo>
                    <a:pt x="188" y="1"/>
                  </a:moveTo>
                  <a:cubicBezTo>
                    <a:pt x="130" y="1"/>
                    <a:pt x="72" y="33"/>
                    <a:pt x="48" y="82"/>
                  </a:cubicBezTo>
                  <a:cubicBezTo>
                    <a:pt x="0" y="154"/>
                    <a:pt x="24" y="261"/>
                    <a:pt x="107" y="308"/>
                  </a:cubicBezTo>
                  <a:lnTo>
                    <a:pt x="619" y="606"/>
                  </a:lnTo>
                  <a:cubicBezTo>
                    <a:pt x="655" y="618"/>
                    <a:pt x="679" y="618"/>
                    <a:pt x="703" y="618"/>
                  </a:cubicBezTo>
                  <a:cubicBezTo>
                    <a:pt x="762" y="618"/>
                    <a:pt x="798" y="594"/>
                    <a:pt x="834" y="546"/>
                  </a:cubicBezTo>
                  <a:cubicBezTo>
                    <a:pt x="893" y="475"/>
                    <a:pt x="881" y="368"/>
                    <a:pt x="786" y="320"/>
                  </a:cubicBezTo>
                  <a:lnTo>
                    <a:pt x="262" y="23"/>
                  </a:lnTo>
                  <a:cubicBezTo>
                    <a:pt x="240" y="8"/>
                    <a:pt x="214" y="1"/>
                    <a:pt x="188"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1" name="Google Shape;61;p6"/>
            <p:cNvSpPr/>
            <p:nvPr/>
          </p:nvSpPr>
          <p:spPr>
            <a:xfrm>
              <a:off x="4063555" y="2177067"/>
              <a:ext cx="29218" cy="10630"/>
            </a:xfrm>
            <a:custGeom>
              <a:rect b="b" l="l" r="r" t="t"/>
              <a:pathLst>
                <a:path extrusionOk="0" h="334" w="918">
                  <a:moveTo>
                    <a:pt x="168" y="0"/>
                  </a:moveTo>
                  <a:cubicBezTo>
                    <a:pt x="72" y="0"/>
                    <a:pt x="1" y="83"/>
                    <a:pt x="1" y="167"/>
                  </a:cubicBezTo>
                  <a:cubicBezTo>
                    <a:pt x="1" y="262"/>
                    <a:pt x="72" y="334"/>
                    <a:pt x="168" y="334"/>
                  </a:cubicBezTo>
                  <a:lnTo>
                    <a:pt x="763" y="334"/>
                  </a:lnTo>
                  <a:cubicBezTo>
                    <a:pt x="846" y="334"/>
                    <a:pt x="918" y="262"/>
                    <a:pt x="918" y="167"/>
                  </a:cubicBezTo>
                  <a:cubicBezTo>
                    <a:pt x="918" y="83"/>
                    <a:pt x="846" y="0"/>
                    <a:pt x="76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2" name="Google Shape;62;p6"/>
            <p:cNvSpPr/>
            <p:nvPr/>
          </p:nvSpPr>
          <p:spPr>
            <a:xfrm>
              <a:off x="4073804" y="2215005"/>
              <a:ext cx="29600" cy="20051"/>
            </a:xfrm>
            <a:custGeom>
              <a:rect b="b" l="l" r="r" t="t"/>
              <a:pathLst>
                <a:path extrusionOk="0" h="630" w="930">
                  <a:moveTo>
                    <a:pt x="735" y="1"/>
                  </a:moveTo>
                  <a:cubicBezTo>
                    <a:pt x="709" y="1"/>
                    <a:pt x="681" y="8"/>
                    <a:pt x="655" y="23"/>
                  </a:cubicBezTo>
                  <a:lnTo>
                    <a:pt x="143" y="320"/>
                  </a:lnTo>
                  <a:cubicBezTo>
                    <a:pt x="0" y="404"/>
                    <a:pt x="60" y="630"/>
                    <a:pt x="227" y="630"/>
                  </a:cubicBezTo>
                  <a:cubicBezTo>
                    <a:pt x="298" y="630"/>
                    <a:pt x="298" y="606"/>
                    <a:pt x="822" y="308"/>
                  </a:cubicBezTo>
                  <a:cubicBezTo>
                    <a:pt x="893" y="261"/>
                    <a:pt x="929" y="154"/>
                    <a:pt x="881" y="82"/>
                  </a:cubicBezTo>
                  <a:cubicBezTo>
                    <a:pt x="849" y="33"/>
                    <a:pt x="794" y="1"/>
                    <a:pt x="735"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3" name="Google Shape;63;p6"/>
            <p:cNvSpPr/>
            <p:nvPr/>
          </p:nvSpPr>
          <p:spPr>
            <a:xfrm>
              <a:off x="4109419" y="2242472"/>
              <a:ext cx="21261" cy="26703"/>
            </a:xfrm>
            <a:custGeom>
              <a:rect b="b" l="l" r="r" t="t"/>
              <a:pathLst>
                <a:path extrusionOk="0" h="839" w="668">
                  <a:moveTo>
                    <a:pt x="496" y="0"/>
                  </a:moveTo>
                  <a:cubicBezTo>
                    <a:pt x="441" y="0"/>
                    <a:pt x="391" y="27"/>
                    <a:pt x="358" y="76"/>
                  </a:cubicBezTo>
                  <a:lnTo>
                    <a:pt x="60" y="600"/>
                  </a:lnTo>
                  <a:cubicBezTo>
                    <a:pt x="1" y="707"/>
                    <a:pt x="72" y="838"/>
                    <a:pt x="191" y="838"/>
                  </a:cubicBezTo>
                  <a:cubicBezTo>
                    <a:pt x="251" y="838"/>
                    <a:pt x="298" y="815"/>
                    <a:pt x="334" y="767"/>
                  </a:cubicBezTo>
                  <a:lnTo>
                    <a:pt x="632" y="243"/>
                  </a:lnTo>
                  <a:cubicBezTo>
                    <a:pt x="667" y="172"/>
                    <a:pt x="643" y="64"/>
                    <a:pt x="572" y="17"/>
                  </a:cubicBezTo>
                  <a:cubicBezTo>
                    <a:pt x="546" y="6"/>
                    <a:pt x="520" y="0"/>
                    <a:pt x="496"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4" name="Google Shape;64;p6"/>
            <p:cNvSpPr/>
            <p:nvPr/>
          </p:nvSpPr>
          <p:spPr>
            <a:xfrm>
              <a:off x="4157924" y="2252466"/>
              <a:ext cx="10248" cy="29600"/>
            </a:xfrm>
            <a:custGeom>
              <a:rect b="b" l="l" r="r" t="t"/>
              <a:pathLst>
                <a:path extrusionOk="0" h="930" w="322">
                  <a:moveTo>
                    <a:pt x="155" y="0"/>
                  </a:moveTo>
                  <a:cubicBezTo>
                    <a:pt x="72" y="0"/>
                    <a:pt x="1" y="84"/>
                    <a:pt x="1" y="167"/>
                  </a:cubicBezTo>
                  <a:lnTo>
                    <a:pt x="1" y="762"/>
                  </a:lnTo>
                  <a:cubicBezTo>
                    <a:pt x="1" y="858"/>
                    <a:pt x="72" y="929"/>
                    <a:pt x="155" y="929"/>
                  </a:cubicBezTo>
                  <a:cubicBezTo>
                    <a:pt x="251" y="929"/>
                    <a:pt x="322" y="858"/>
                    <a:pt x="322" y="762"/>
                  </a:cubicBezTo>
                  <a:lnTo>
                    <a:pt x="322" y="167"/>
                  </a:lnTo>
                  <a:cubicBezTo>
                    <a:pt x="322" y="84"/>
                    <a:pt x="251" y="0"/>
                    <a:pt x="155"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5" name="Google Shape;65;p6"/>
            <p:cNvSpPr/>
            <p:nvPr/>
          </p:nvSpPr>
          <p:spPr>
            <a:xfrm>
              <a:off x="4194685" y="2242472"/>
              <a:ext cx="21261" cy="27022"/>
            </a:xfrm>
            <a:custGeom>
              <a:rect b="b" l="l" r="r" t="t"/>
              <a:pathLst>
                <a:path extrusionOk="0" h="849" w="668">
                  <a:moveTo>
                    <a:pt x="181" y="0"/>
                  </a:moveTo>
                  <a:cubicBezTo>
                    <a:pt x="155" y="0"/>
                    <a:pt x="130" y="6"/>
                    <a:pt x="108" y="17"/>
                  </a:cubicBezTo>
                  <a:cubicBezTo>
                    <a:pt x="36" y="64"/>
                    <a:pt x="0" y="172"/>
                    <a:pt x="48" y="243"/>
                  </a:cubicBezTo>
                  <a:lnTo>
                    <a:pt x="346" y="767"/>
                  </a:lnTo>
                  <a:cubicBezTo>
                    <a:pt x="378" y="816"/>
                    <a:pt x="428" y="848"/>
                    <a:pt x="487" y="848"/>
                  </a:cubicBezTo>
                  <a:cubicBezTo>
                    <a:pt x="513" y="848"/>
                    <a:pt x="542" y="841"/>
                    <a:pt x="572" y="826"/>
                  </a:cubicBezTo>
                  <a:cubicBezTo>
                    <a:pt x="643" y="779"/>
                    <a:pt x="667" y="672"/>
                    <a:pt x="631" y="600"/>
                  </a:cubicBezTo>
                  <a:lnTo>
                    <a:pt x="334" y="76"/>
                  </a:lnTo>
                  <a:cubicBezTo>
                    <a:pt x="301" y="27"/>
                    <a:pt x="240" y="0"/>
                    <a:pt x="18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6" name="Google Shape;66;p6"/>
            <p:cNvSpPr/>
            <p:nvPr/>
          </p:nvSpPr>
          <p:spPr>
            <a:xfrm>
              <a:off x="4222343" y="2215387"/>
              <a:ext cx="27690" cy="19669"/>
            </a:xfrm>
            <a:custGeom>
              <a:rect b="b" l="l" r="r" t="t"/>
              <a:pathLst>
                <a:path extrusionOk="0" h="618" w="870">
                  <a:moveTo>
                    <a:pt x="176" y="1"/>
                  </a:moveTo>
                  <a:cubicBezTo>
                    <a:pt x="118" y="1"/>
                    <a:pt x="57" y="33"/>
                    <a:pt x="24" y="82"/>
                  </a:cubicBezTo>
                  <a:cubicBezTo>
                    <a:pt x="1" y="142"/>
                    <a:pt x="13" y="249"/>
                    <a:pt x="96" y="296"/>
                  </a:cubicBezTo>
                  <a:cubicBezTo>
                    <a:pt x="632" y="594"/>
                    <a:pt x="620" y="618"/>
                    <a:pt x="691" y="618"/>
                  </a:cubicBezTo>
                  <a:cubicBezTo>
                    <a:pt x="751" y="618"/>
                    <a:pt x="798" y="594"/>
                    <a:pt x="834" y="546"/>
                  </a:cubicBezTo>
                  <a:cubicBezTo>
                    <a:pt x="870" y="475"/>
                    <a:pt x="846" y="368"/>
                    <a:pt x="775" y="320"/>
                  </a:cubicBezTo>
                  <a:lnTo>
                    <a:pt x="251" y="22"/>
                  </a:lnTo>
                  <a:cubicBezTo>
                    <a:pt x="228" y="8"/>
                    <a:pt x="202" y="1"/>
                    <a:pt x="176"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7" name="Google Shape;67;p6"/>
            <p:cNvSpPr/>
            <p:nvPr/>
          </p:nvSpPr>
          <p:spPr>
            <a:xfrm>
              <a:off x="4232941" y="2177067"/>
              <a:ext cx="29600" cy="10630"/>
            </a:xfrm>
            <a:custGeom>
              <a:rect b="b" l="l" r="r" t="t"/>
              <a:pathLst>
                <a:path extrusionOk="0" h="334" w="930">
                  <a:moveTo>
                    <a:pt x="168" y="0"/>
                  </a:moveTo>
                  <a:cubicBezTo>
                    <a:pt x="72" y="0"/>
                    <a:pt x="1" y="83"/>
                    <a:pt x="1" y="167"/>
                  </a:cubicBezTo>
                  <a:cubicBezTo>
                    <a:pt x="1" y="262"/>
                    <a:pt x="72" y="334"/>
                    <a:pt x="168" y="334"/>
                  </a:cubicBezTo>
                  <a:lnTo>
                    <a:pt x="763" y="334"/>
                  </a:lnTo>
                  <a:cubicBezTo>
                    <a:pt x="858" y="334"/>
                    <a:pt x="930" y="262"/>
                    <a:pt x="930" y="167"/>
                  </a:cubicBezTo>
                  <a:cubicBezTo>
                    <a:pt x="930" y="83"/>
                    <a:pt x="858" y="0"/>
                    <a:pt x="76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8" name="Google Shape;68;p6"/>
            <p:cNvSpPr/>
            <p:nvPr/>
          </p:nvSpPr>
          <p:spPr>
            <a:xfrm>
              <a:off x="4221579" y="2130694"/>
              <a:ext cx="28454" cy="19478"/>
            </a:xfrm>
            <a:custGeom>
              <a:rect b="b" l="l" r="r" t="t"/>
              <a:pathLst>
                <a:path extrusionOk="0" h="612" w="894">
                  <a:moveTo>
                    <a:pt x="706" y="0"/>
                  </a:moveTo>
                  <a:cubicBezTo>
                    <a:pt x="679" y="0"/>
                    <a:pt x="654" y="5"/>
                    <a:pt x="632" y="16"/>
                  </a:cubicBezTo>
                  <a:lnTo>
                    <a:pt x="108" y="314"/>
                  </a:lnTo>
                  <a:cubicBezTo>
                    <a:pt x="37" y="362"/>
                    <a:pt x="1" y="469"/>
                    <a:pt x="48" y="540"/>
                  </a:cubicBezTo>
                  <a:cubicBezTo>
                    <a:pt x="96" y="588"/>
                    <a:pt x="144" y="612"/>
                    <a:pt x="203" y="612"/>
                  </a:cubicBezTo>
                  <a:cubicBezTo>
                    <a:pt x="227" y="612"/>
                    <a:pt x="263" y="612"/>
                    <a:pt x="275" y="600"/>
                  </a:cubicBezTo>
                  <a:lnTo>
                    <a:pt x="799" y="302"/>
                  </a:lnTo>
                  <a:cubicBezTo>
                    <a:pt x="870" y="255"/>
                    <a:pt x="894" y="159"/>
                    <a:pt x="858" y="76"/>
                  </a:cubicBezTo>
                  <a:cubicBezTo>
                    <a:pt x="825" y="27"/>
                    <a:pt x="764" y="0"/>
                    <a:pt x="706"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69" name="Google Shape;69;p6"/>
            <p:cNvSpPr/>
            <p:nvPr/>
          </p:nvSpPr>
          <p:spPr>
            <a:xfrm>
              <a:off x="4194685" y="2095652"/>
              <a:ext cx="20879" cy="26862"/>
            </a:xfrm>
            <a:custGeom>
              <a:rect b="b" l="l" r="r" t="t"/>
              <a:pathLst>
                <a:path extrusionOk="0" h="844" w="656">
                  <a:moveTo>
                    <a:pt x="479" y="0"/>
                  </a:moveTo>
                  <a:cubicBezTo>
                    <a:pt x="428" y="0"/>
                    <a:pt x="378" y="33"/>
                    <a:pt x="346" y="82"/>
                  </a:cubicBezTo>
                  <a:lnTo>
                    <a:pt x="48" y="606"/>
                  </a:lnTo>
                  <a:cubicBezTo>
                    <a:pt x="0" y="677"/>
                    <a:pt x="36" y="784"/>
                    <a:pt x="108" y="820"/>
                  </a:cubicBezTo>
                  <a:cubicBezTo>
                    <a:pt x="131" y="844"/>
                    <a:pt x="167" y="844"/>
                    <a:pt x="179" y="844"/>
                  </a:cubicBezTo>
                  <a:cubicBezTo>
                    <a:pt x="239" y="844"/>
                    <a:pt x="286" y="808"/>
                    <a:pt x="310" y="760"/>
                  </a:cubicBezTo>
                  <a:lnTo>
                    <a:pt x="608" y="248"/>
                  </a:lnTo>
                  <a:cubicBezTo>
                    <a:pt x="655" y="165"/>
                    <a:pt x="631" y="70"/>
                    <a:pt x="548" y="22"/>
                  </a:cubicBezTo>
                  <a:cubicBezTo>
                    <a:pt x="526" y="7"/>
                    <a:pt x="502" y="0"/>
                    <a:pt x="479"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sp>
        <p:nvSpPr>
          <p:cNvPr id="70" name="Google Shape;70;p6"/>
          <p:cNvSpPr txBox="1"/>
          <p:nvPr/>
        </p:nvSpPr>
        <p:spPr>
          <a:xfrm>
            <a:off x="1294202" y="1970338"/>
            <a:ext cx="786352" cy="2961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995">
                <a:solidFill>
                  <a:srgbClr val="FFFFFF"/>
                </a:solidFill>
                <a:latin typeface="Montserrat"/>
                <a:ea typeface="Montserrat"/>
                <a:cs typeface="Montserrat"/>
                <a:sym typeface="Montserrat"/>
              </a:rPr>
              <a:t>Duration:</a:t>
            </a:r>
            <a:endParaRPr/>
          </a:p>
        </p:txBody>
      </p:sp>
      <p:grpSp>
        <p:nvGrpSpPr>
          <p:cNvPr id="71" name="Google Shape;71;p6"/>
          <p:cNvGrpSpPr/>
          <p:nvPr/>
        </p:nvGrpSpPr>
        <p:grpSpPr>
          <a:xfrm>
            <a:off x="1141688" y="2339783"/>
            <a:ext cx="168509" cy="154837"/>
            <a:chOff x="1952836" y="2774422"/>
            <a:chExt cx="372835" cy="342573"/>
          </a:xfrm>
        </p:grpSpPr>
        <p:sp>
          <p:nvSpPr>
            <p:cNvPr id="72" name="Google Shape;72;p6"/>
            <p:cNvSpPr/>
            <p:nvPr/>
          </p:nvSpPr>
          <p:spPr>
            <a:xfrm>
              <a:off x="2076490" y="3057581"/>
              <a:ext cx="40869" cy="40869"/>
            </a:xfrm>
            <a:custGeom>
              <a:rect b="b" l="l" r="r" t="t"/>
              <a:pathLst>
                <a:path extrusionOk="0" h="1287" w="1287">
                  <a:moveTo>
                    <a:pt x="643" y="346"/>
                  </a:moveTo>
                  <a:cubicBezTo>
                    <a:pt x="810" y="346"/>
                    <a:pt x="941" y="477"/>
                    <a:pt x="941" y="644"/>
                  </a:cubicBezTo>
                  <a:cubicBezTo>
                    <a:pt x="941" y="811"/>
                    <a:pt x="810" y="941"/>
                    <a:pt x="643" y="941"/>
                  </a:cubicBezTo>
                  <a:cubicBezTo>
                    <a:pt x="476" y="941"/>
                    <a:pt x="345" y="811"/>
                    <a:pt x="345" y="644"/>
                  </a:cubicBezTo>
                  <a:cubicBezTo>
                    <a:pt x="345" y="477"/>
                    <a:pt x="476" y="346"/>
                    <a:pt x="643" y="346"/>
                  </a:cubicBezTo>
                  <a:close/>
                  <a:moveTo>
                    <a:pt x="643" y="1"/>
                  </a:moveTo>
                  <a:cubicBezTo>
                    <a:pt x="286" y="1"/>
                    <a:pt x="0" y="287"/>
                    <a:pt x="0" y="644"/>
                  </a:cubicBezTo>
                  <a:cubicBezTo>
                    <a:pt x="0" y="1001"/>
                    <a:pt x="286" y="1287"/>
                    <a:pt x="643" y="1287"/>
                  </a:cubicBezTo>
                  <a:cubicBezTo>
                    <a:pt x="1000" y="1287"/>
                    <a:pt x="1286" y="1001"/>
                    <a:pt x="1286" y="644"/>
                  </a:cubicBezTo>
                  <a:cubicBezTo>
                    <a:pt x="1286" y="287"/>
                    <a:pt x="1000" y="1"/>
                    <a:pt x="643" y="1"/>
                  </a:cubicBezTo>
                  <a:close/>
                </a:path>
              </a:pathLst>
            </a:custGeom>
            <a:solidFill>
              <a:srgbClr val="18375E"/>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73" name="Google Shape;73;p6"/>
            <p:cNvSpPr/>
            <p:nvPr/>
          </p:nvSpPr>
          <p:spPr>
            <a:xfrm>
              <a:off x="2208432" y="3057581"/>
              <a:ext cx="40869" cy="40869"/>
            </a:xfrm>
            <a:custGeom>
              <a:rect b="b" l="l" r="r" t="t"/>
              <a:pathLst>
                <a:path extrusionOk="0" h="1287" w="1287">
                  <a:moveTo>
                    <a:pt x="643" y="346"/>
                  </a:moveTo>
                  <a:cubicBezTo>
                    <a:pt x="810" y="346"/>
                    <a:pt x="941" y="477"/>
                    <a:pt x="941" y="644"/>
                  </a:cubicBezTo>
                  <a:cubicBezTo>
                    <a:pt x="941" y="811"/>
                    <a:pt x="810" y="941"/>
                    <a:pt x="643" y="941"/>
                  </a:cubicBezTo>
                  <a:cubicBezTo>
                    <a:pt x="477" y="941"/>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86" y="1001"/>
                    <a:pt x="1286" y="644"/>
                  </a:cubicBezTo>
                  <a:cubicBezTo>
                    <a:pt x="1286" y="287"/>
                    <a:pt x="1001" y="1"/>
                    <a:pt x="643" y="1"/>
                  </a:cubicBezTo>
                  <a:close/>
                </a:path>
              </a:pathLst>
            </a:custGeom>
            <a:solidFill>
              <a:srgbClr val="18375E"/>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74" name="Google Shape;74;p6"/>
            <p:cNvSpPr/>
            <p:nvPr/>
          </p:nvSpPr>
          <p:spPr>
            <a:xfrm>
              <a:off x="1952836" y="2774422"/>
              <a:ext cx="372835" cy="342573"/>
            </a:xfrm>
            <a:custGeom>
              <a:rect b="b" l="l" r="r" t="t"/>
              <a:pathLst>
                <a:path extrusionOk="0" h="10788" w="11741">
                  <a:moveTo>
                    <a:pt x="5382" y="1988"/>
                  </a:moveTo>
                  <a:lnTo>
                    <a:pt x="5382" y="3001"/>
                  </a:lnTo>
                  <a:lnTo>
                    <a:pt x="4359" y="3001"/>
                  </a:lnTo>
                  <a:lnTo>
                    <a:pt x="4359" y="1988"/>
                  </a:lnTo>
                  <a:close/>
                  <a:moveTo>
                    <a:pt x="6752" y="1988"/>
                  </a:moveTo>
                  <a:lnTo>
                    <a:pt x="6752" y="3001"/>
                  </a:lnTo>
                  <a:lnTo>
                    <a:pt x="5728" y="3001"/>
                  </a:lnTo>
                  <a:lnTo>
                    <a:pt x="5728" y="1988"/>
                  </a:lnTo>
                  <a:close/>
                  <a:moveTo>
                    <a:pt x="8121" y="1988"/>
                  </a:moveTo>
                  <a:lnTo>
                    <a:pt x="8121" y="3001"/>
                  </a:lnTo>
                  <a:lnTo>
                    <a:pt x="7097" y="3001"/>
                  </a:lnTo>
                  <a:lnTo>
                    <a:pt x="7097" y="1988"/>
                  </a:lnTo>
                  <a:close/>
                  <a:moveTo>
                    <a:pt x="9490" y="1988"/>
                  </a:moveTo>
                  <a:lnTo>
                    <a:pt x="9490" y="3001"/>
                  </a:lnTo>
                  <a:lnTo>
                    <a:pt x="8466" y="3001"/>
                  </a:lnTo>
                  <a:lnTo>
                    <a:pt x="8466" y="1988"/>
                  </a:lnTo>
                  <a:close/>
                  <a:moveTo>
                    <a:pt x="10324" y="1988"/>
                  </a:moveTo>
                  <a:lnTo>
                    <a:pt x="10085" y="3001"/>
                  </a:lnTo>
                  <a:lnTo>
                    <a:pt x="9847" y="3001"/>
                  </a:lnTo>
                  <a:lnTo>
                    <a:pt x="9847" y="1988"/>
                  </a:lnTo>
                  <a:close/>
                  <a:moveTo>
                    <a:pt x="4001" y="2000"/>
                  </a:moveTo>
                  <a:lnTo>
                    <a:pt x="4001" y="3012"/>
                  </a:lnTo>
                  <a:lnTo>
                    <a:pt x="3311" y="3012"/>
                  </a:lnTo>
                  <a:lnTo>
                    <a:pt x="2965" y="2000"/>
                  </a:lnTo>
                  <a:close/>
                  <a:moveTo>
                    <a:pt x="10014" y="3334"/>
                  </a:moveTo>
                  <a:lnTo>
                    <a:pt x="9847" y="4048"/>
                  </a:lnTo>
                  <a:lnTo>
                    <a:pt x="9847" y="3334"/>
                  </a:lnTo>
                  <a:close/>
                  <a:moveTo>
                    <a:pt x="4013" y="3334"/>
                  </a:moveTo>
                  <a:lnTo>
                    <a:pt x="4013" y="4370"/>
                  </a:lnTo>
                  <a:lnTo>
                    <a:pt x="3823" y="4370"/>
                  </a:lnTo>
                  <a:lnTo>
                    <a:pt x="3454" y="3334"/>
                  </a:lnTo>
                  <a:close/>
                  <a:moveTo>
                    <a:pt x="5371" y="3334"/>
                  </a:moveTo>
                  <a:lnTo>
                    <a:pt x="5371" y="4370"/>
                  </a:lnTo>
                  <a:lnTo>
                    <a:pt x="4347" y="4370"/>
                  </a:lnTo>
                  <a:lnTo>
                    <a:pt x="4347" y="3334"/>
                  </a:lnTo>
                  <a:close/>
                  <a:moveTo>
                    <a:pt x="6752" y="3334"/>
                  </a:moveTo>
                  <a:lnTo>
                    <a:pt x="6752" y="4370"/>
                  </a:lnTo>
                  <a:lnTo>
                    <a:pt x="5728" y="4370"/>
                  </a:lnTo>
                  <a:lnTo>
                    <a:pt x="5728" y="3334"/>
                  </a:lnTo>
                  <a:close/>
                  <a:moveTo>
                    <a:pt x="8121" y="3358"/>
                  </a:moveTo>
                  <a:lnTo>
                    <a:pt x="8121" y="4382"/>
                  </a:lnTo>
                  <a:lnTo>
                    <a:pt x="7097" y="4382"/>
                  </a:lnTo>
                  <a:lnTo>
                    <a:pt x="7097" y="3358"/>
                  </a:lnTo>
                  <a:close/>
                  <a:moveTo>
                    <a:pt x="9514" y="3358"/>
                  </a:moveTo>
                  <a:lnTo>
                    <a:pt x="9514" y="4382"/>
                  </a:lnTo>
                  <a:lnTo>
                    <a:pt x="8478" y="4382"/>
                  </a:lnTo>
                  <a:lnTo>
                    <a:pt x="8478" y="3358"/>
                  </a:lnTo>
                  <a:close/>
                  <a:moveTo>
                    <a:pt x="4001" y="4727"/>
                  </a:moveTo>
                  <a:lnTo>
                    <a:pt x="4001" y="4941"/>
                  </a:lnTo>
                  <a:lnTo>
                    <a:pt x="3930" y="4727"/>
                  </a:lnTo>
                  <a:close/>
                  <a:moveTo>
                    <a:pt x="5371" y="4715"/>
                  </a:moveTo>
                  <a:lnTo>
                    <a:pt x="5371" y="5525"/>
                  </a:lnTo>
                  <a:cubicBezTo>
                    <a:pt x="5297" y="5521"/>
                    <a:pt x="5230" y="5520"/>
                    <a:pt x="5167" y="5520"/>
                  </a:cubicBezTo>
                  <a:cubicBezTo>
                    <a:pt x="5049" y="5520"/>
                    <a:pt x="4947" y="5524"/>
                    <a:pt x="4854" y="5524"/>
                  </a:cubicBezTo>
                  <a:cubicBezTo>
                    <a:pt x="4666" y="5524"/>
                    <a:pt x="4516" y="5507"/>
                    <a:pt x="4347" y="5406"/>
                  </a:cubicBezTo>
                  <a:lnTo>
                    <a:pt x="4347" y="4715"/>
                  </a:lnTo>
                  <a:close/>
                  <a:moveTo>
                    <a:pt x="6752" y="4727"/>
                  </a:moveTo>
                  <a:lnTo>
                    <a:pt x="6752" y="5525"/>
                  </a:lnTo>
                  <a:lnTo>
                    <a:pt x="5728" y="5525"/>
                  </a:lnTo>
                  <a:lnTo>
                    <a:pt x="5728" y="4727"/>
                  </a:lnTo>
                  <a:close/>
                  <a:moveTo>
                    <a:pt x="8121" y="4727"/>
                  </a:moveTo>
                  <a:lnTo>
                    <a:pt x="8121" y="5525"/>
                  </a:lnTo>
                  <a:lnTo>
                    <a:pt x="7097" y="5525"/>
                  </a:lnTo>
                  <a:lnTo>
                    <a:pt x="7097" y="4727"/>
                  </a:lnTo>
                  <a:close/>
                  <a:moveTo>
                    <a:pt x="9490" y="4727"/>
                  </a:moveTo>
                  <a:lnTo>
                    <a:pt x="9490" y="5525"/>
                  </a:lnTo>
                  <a:lnTo>
                    <a:pt x="8466" y="5525"/>
                  </a:lnTo>
                  <a:lnTo>
                    <a:pt x="8466" y="4727"/>
                  </a:lnTo>
                  <a:close/>
                  <a:moveTo>
                    <a:pt x="4537" y="8680"/>
                  </a:moveTo>
                  <a:cubicBezTo>
                    <a:pt x="5025" y="8680"/>
                    <a:pt x="5418" y="9085"/>
                    <a:pt x="5418" y="9561"/>
                  </a:cubicBezTo>
                  <a:cubicBezTo>
                    <a:pt x="5418" y="10037"/>
                    <a:pt x="5025" y="10442"/>
                    <a:pt x="4537" y="10442"/>
                  </a:cubicBezTo>
                  <a:cubicBezTo>
                    <a:pt x="4049" y="10442"/>
                    <a:pt x="3656" y="10049"/>
                    <a:pt x="3656" y="9561"/>
                  </a:cubicBezTo>
                  <a:cubicBezTo>
                    <a:pt x="3656" y="9085"/>
                    <a:pt x="4049" y="8680"/>
                    <a:pt x="4537" y="8680"/>
                  </a:cubicBezTo>
                  <a:close/>
                  <a:moveTo>
                    <a:pt x="8692" y="8680"/>
                  </a:moveTo>
                  <a:cubicBezTo>
                    <a:pt x="9181" y="8680"/>
                    <a:pt x="9573" y="9085"/>
                    <a:pt x="9573" y="9561"/>
                  </a:cubicBezTo>
                  <a:cubicBezTo>
                    <a:pt x="9573" y="10037"/>
                    <a:pt x="9181" y="10442"/>
                    <a:pt x="8692" y="10442"/>
                  </a:cubicBezTo>
                  <a:cubicBezTo>
                    <a:pt x="8204" y="10442"/>
                    <a:pt x="7811" y="10049"/>
                    <a:pt x="7811" y="9561"/>
                  </a:cubicBezTo>
                  <a:cubicBezTo>
                    <a:pt x="7811" y="9085"/>
                    <a:pt x="8204" y="8680"/>
                    <a:pt x="8692" y="8680"/>
                  </a:cubicBezTo>
                  <a:close/>
                  <a:moveTo>
                    <a:pt x="620" y="0"/>
                  </a:moveTo>
                  <a:cubicBezTo>
                    <a:pt x="287" y="0"/>
                    <a:pt x="1" y="286"/>
                    <a:pt x="1" y="631"/>
                  </a:cubicBezTo>
                  <a:cubicBezTo>
                    <a:pt x="1" y="976"/>
                    <a:pt x="287" y="1250"/>
                    <a:pt x="620" y="1250"/>
                  </a:cubicBezTo>
                  <a:lnTo>
                    <a:pt x="1394" y="1250"/>
                  </a:lnTo>
                  <a:lnTo>
                    <a:pt x="2346" y="3965"/>
                  </a:lnTo>
                  <a:cubicBezTo>
                    <a:pt x="2374" y="4029"/>
                    <a:pt x="2444" y="4072"/>
                    <a:pt x="2513" y="4072"/>
                  </a:cubicBezTo>
                  <a:cubicBezTo>
                    <a:pt x="2533" y="4072"/>
                    <a:pt x="2553" y="4068"/>
                    <a:pt x="2573" y="4060"/>
                  </a:cubicBezTo>
                  <a:cubicBezTo>
                    <a:pt x="2668" y="4036"/>
                    <a:pt x="2704" y="3929"/>
                    <a:pt x="2680" y="3846"/>
                  </a:cubicBezTo>
                  <a:cubicBezTo>
                    <a:pt x="1739" y="1191"/>
                    <a:pt x="1692" y="1072"/>
                    <a:pt x="1692" y="1072"/>
                  </a:cubicBezTo>
                  <a:cubicBezTo>
                    <a:pt x="1656" y="965"/>
                    <a:pt x="1561" y="905"/>
                    <a:pt x="1441" y="905"/>
                  </a:cubicBezTo>
                  <a:lnTo>
                    <a:pt x="620" y="905"/>
                  </a:lnTo>
                  <a:cubicBezTo>
                    <a:pt x="465" y="905"/>
                    <a:pt x="346" y="774"/>
                    <a:pt x="346" y="631"/>
                  </a:cubicBezTo>
                  <a:cubicBezTo>
                    <a:pt x="346" y="464"/>
                    <a:pt x="477" y="345"/>
                    <a:pt x="620" y="345"/>
                  </a:cubicBezTo>
                  <a:lnTo>
                    <a:pt x="1441" y="345"/>
                  </a:lnTo>
                  <a:cubicBezTo>
                    <a:pt x="1787" y="345"/>
                    <a:pt x="2084" y="536"/>
                    <a:pt x="2215" y="845"/>
                  </a:cubicBezTo>
                  <a:cubicBezTo>
                    <a:pt x="2418" y="1429"/>
                    <a:pt x="3585" y="4703"/>
                    <a:pt x="3751" y="5191"/>
                  </a:cubicBezTo>
                  <a:cubicBezTo>
                    <a:pt x="3870" y="5548"/>
                    <a:pt x="4287" y="5882"/>
                    <a:pt x="4775" y="5882"/>
                  </a:cubicBezTo>
                  <a:lnTo>
                    <a:pt x="10978" y="5882"/>
                  </a:lnTo>
                  <a:cubicBezTo>
                    <a:pt x="11145" y="5882"/>
                    <a:pt x="11264" y="6013"/>
                    <a:pt x="11264" y="6168"/>
                  </a:cubicBezTo>
                  <a:cubicBezTo>
                    <a:pt x="11264" y="6322"/>
                    <a:pt x="11133" y="6441"/>
                    <a:pt x="10978" y="6441"/>
                  </a:cubicBezTo>
                  <a:lnTo>
                    <a:pt x="4775" y="6441"/>
                  </a:lnTo>
                  <a:cubicBezTo>
                    <a:pt x="4108" y="6441"/>
                    <a:pt x="3489" y="6049"/>
                    <a:pt x="3227" y="5417"/>
                  </a:cubicBezTo>
                  <a:lnTo>
                    <a:pt x="2882" y="4453"/>
                  </a:lnTo>
                  <a:cubicBezTo>
                    <a:pt x="2863" y="4377"/>
                    <a:pt x="2791" y="4339"/>
                    <a:pt x="2720" y="4339"/>
                  </a:cubicBezTo>
                  <a:cubicBezTo>
                    <a:pt x="2702" y="4339"/>
                    <a:pt x="2684" y="4341"/>
                    <a:pt x="2668" y="4346"/>
                  </a:cubicBezTo>
                  <a:cubicBezTo>
                    <a:pt x="2573" y="4382"/>
                    <a:pt x="2525" y="4477"/>
                    <a:pt x="2561" y="4572"/>
                  </a:cubicBezTo>
                  <a:cubicBezTo>
                    <a:pt x="2846" y="5275"/>
                    <a:pt x="2846" y="5596"/>
                    <a:pt x="3180" y="6013"/>
                  </a:cubicBezTo>
                  <a:lnTo>
                    <a:pt x="2799" y="6560"/>
                  </a:lnTo>
                  <a:cubicBezTo>
                    <a:pt x="2215" y="7394"/>
                    <a:pt x="2715" y="8549"/>
                    <a:pt x="3716" y="8680"/>
                  </a:cubicBezTo>
                  <a:cubicBezTo>
                    <a:pt x="2918" y="9418"/>
                    <a:pt x="3442" y="10787"/>
                    <a:pt x="4549" y="10787"/>
                  </a:cubicBezTo>
                  <a:cubicBezTo>
                    <a:pt x="5656" y="10787"/>
                    <a:pt x="6168" y="9454"/>
                    <a:pt x="5394" y="8692"/>
                  </a:cubicBezTo>
                  <a:lnTo>
                    <a:pt x="7871" y="8692"/>
                  </a:lnTo>
                  <a:cubicBezTo>
                    <a:pt x="7085" y="9454"/>
                    <a:pt x="7621" y="10787"/>
                    <a:pt x="8716" y="10787"/>
                  </a:cubicBezTo>
                  <a:cubicBezTo>
                    <a:pt x="9823" y="10787"/>
                    <a:pt x="10335" y="9454"/>
                    <a:pt x="9562" y="8692"/>
                  </a:cubicBezTo>
                  <a:lnTo>
                    <a:pt x="9788" y="8692"/>
                  </a:lnTo>
                  <a:cubicBezTo>
                    <a:pt x="10133" y="8692"/>
                    <a:pt x="10419" y="8406"/>
                    <a:pt x="10419" y="8073"/>
                  </a:cubicBezTo>
                  <a:cubicBezTo>
                    <a:pt x="10419" y="7727"/>
                    <a:pt x="10133" y="7442"/>
                    <a:pt x="9788" y="7442"/>
                  </a:cubicBezTo>
                  <a:lnTo>
                    <a:pt x="8228" y="7442"/>
                  </a:lnTo>
                  <a:cubicBezTo>
                    <a:pt x="8133" y="7442"/>
                    <a:pt x="8061" y="7513"/>
                    <a:pt x="8061" y="7608"/>
                  </a:cubicBezTo>
                  <a:cubicBezTo>
                    <a:pt x="8061" y="7692"/>
                    <a:pt x="8133" y="7775"/>
                    <a:pt x="8228" y="7775"/>
                  </a:cubicBezTo>
                  <a:lnTo>
                    <a:pt x="9788" y="7775"/>
                  </a:lnTo>
                  <a:cubicBezTo>
                    <a:pt x="9954" y="7775"/>
                    <a:pt x="10074" y="7906"/>
                    <a:pt x="10074" y="8049"/>
                  </a:cubicBezTo>
                  <a:cubicBezTo>
                    <a:pt x="10074" y="8215"/>
                    <a:pt x="9943" y="8335"/>
                    <a:pt x="9788" y="8335"/>
                  </a:cubicBezTo>
                  <a:lnTo>
                    <a:pt x="3930" y="8335"/>
                  </a:lnTo>
                  <a:cubicBezTo>
                    <a:pt x="3108" y="8335"/>
                    <a:pt x="2620" y="7418"/>
                    <a:pt x="3096" y="6739"/>
                  </a:cubicBezTo>
                  <a:lnTo>
                    <a:pt x="3442" y="6251"/>
                  </a:lnTo>
                  <a:cubicBezTo>
                    <a:pt x="3573" y="6382"/>
                    <a:pt x="3739" y="6489"/>
                    <a:pt x="3906" y="6560"/>
                  </a:cubicBezTo>
                  <a:lnTo>
                    <a:pt x="3573" y="7072"/>
                  </a:lnTo>
                  <a:cubicBezTo>
                    <a:pt x="3358" y="7370"/>
                    <a:pt x="3573" y="7775"/>
                    <a:pt x="3942" y="7775"/>
                  </a:cubicBezTo>
                  <a:lnTo>
                    <a:pt x="7609" y="7775"/>
                  </a:lnTo>
                  <a:cubicBezTo>
                    <a:pt x="7692" y="7775"/>
                    <a:pt x="7764" y="7692"/>
                    <a:pt x="7764" y="7608"/>
                  </a:cubicBezTo>
                  <a:cubicBezTo>
                    <a:pt x="7764" y="7513"/>
                    <a:pt x="7692" y="7442"/>
                    <a:pt x="7609" y="7442"/>
                  </a:cubicBezTo>
                  <a:lnTo>
                    <a:pt x="3942" y="7442"/>
                  </a:lnTo>
                  <a:cubicBezTo>
                    <a:pt x="3847" y="7442"/>
                    <a:pt x="3811" y="7334"/>
                    <a:pt x="3847" y="7263"/>
                  </a:cubicBezTo>
                  <a:lnTo>
                    <a:pt x="4251" y="6703"/>
                  </a:lnTo>
                  <a:cubicBezTo>
                    <a:pt x="4465" y="6762"/>
                    <a:pt x="4535" y="6775"/>
                    <a:pt x="5134" y="6775"/>
                  </a:cubicBezTo>
                  <a:cubicBezTo>
                    <a:pt x="5630" y="6775"/>
                    <a:pt x="6490" y="6766"/>
                    <a:pt x="8097" y="6766"/>
                  </a:cubicBezTo>
                  <a:cubicBezTo>
                    <a:pt x="8881" y="6766"/>
                    <a:pt x="9842" y="6768"/>
                    <a:pt x="11026" y="6775"/>
                  </a:cubicBezTo>
                  <a:cubicBezTo>
                    <a:pt x="11371" y="6775"/>
                    <a:pt x="11645" y="6489"/>
                    <a:pt x="11645" y="6144"/>
                  </a:cubicBezTo>
                  <a:cubicBezTo>
                    <a:pt x="11598" y="5810"/>
                    <a:pt x="11312" y="5525"/>
                    <a:pt x="10966" y="5525"/>
                  </a:cubicBezTo>
                  <a:lnTo>
                    <a:pt x="10788" y="5525"/>
                  </a:lnTo>
                  <a:lnTo>
                    <a:pt x="11598" y="2048"/>
                  </a:lnTo>
                  <a:cubicBezTo>
                    <a:pt x="11740" y="1393"/>
                    <a:pt x="11252" y="762"/>
                    <a:pt x="10562" y="762"/>
                  </a:cubicBezTo>
                  <a:lnTo>
                    <a:pt x="7252" y="762"/>
                  </a:lnTo>
                  <a:cubicBezTo>
                    <a:pt x="7156" y="762"/>
                    <a:pt x="7085" y="834"/>
                    <a:pt x="7085" y="929"/>
                  </a:cubicBezTo>
                  <a:cubicBezTo>
                    <a:pt x="7085" y="1012"/>
                    <a:pt x="7156" y="1096"/>
                    <a:pt x="7252" y="1096"/>
                  </a:cubicBezTo>
                  <a:lnTo>
                    <a:pt x="10562" y="1096"/>
                  </a:lnTo>
                  <a:cubicBezTo>
                    <a:pt x="11026" y="1096"/>
                    <a:pt x="11359" y="1524"/>
                    <a:pt x="11252" y="1953"/>
                  </a:cubicBezTo>
                  <a:lnTo>
                    <a:pt x="10431" y="5525"/>
                  </a:lnTo>
                  <a:lnTo>
                    <a:pt x="9847" y="5525"/>
                  </a:lnTo>
                  <a:cubicBezTo>
                    <a:pt x="9943" y="5144"/>
                    <a:pt x="10585" y="2369"/>
                    <a:pt x="10705" y="1869"/>
                  </a:cubicBezTo>
                  <a:cubicBezTo>
                    <a:pt x="10728" y="1762"/>
                    <a:pt x="10645" y="1655"/>
                    <a:pt x="10538" y="1655"/>
                  </a:cubicBezTo>
                  <a:lnTo>
                    <a:pt x="2858" y="1655"/>
                  </a:lnTo>
                  <a:lnTo>
                    <a:pt x="2668" y="1096"/>
                  </a:lnTo>
                  <a:lnTo>
                    <a:pt x="6621" y="1096"/>
                  </a:lnTo>
                  <a:cubicBezTo>
                    <a:pt x="6716" y="1096"/>
                    <a:pt x="6787" y="1012"/>
                    <a:pt x="6787" y="929"/>
                  </a:cubicBezTo>
                  <a:cubicBezTo>
                    <a:pt x="6787" y="834"/>
                    <a:pt x="6716" y="762"/>
                    <a:pt x="6621" y="762"/>
                  </a:cubicBezTo>
                  <a:lnTo>
                    <a:pt x="2549" y="762"/>
                  </a:lnTo>
                  <a:cubicBezTo>
                    <a:pt x="2394" y="334"/>
                    <a:pt x="1965" y="0"/>
                    <a:pt x="144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sp>
        <p:nvSpPr>
          <p:cNvPr id="75" name="Google Shape;75;p6"/>
          <p:cNvSpPr txBox="1"/>
          <p:nvPr>
            <p:ph idx="4" type="body"/>
          </p:nvPr>
        </p:nvSpPr>
        <p:spPr>
          <a:xfrm>
            <a:off x="1307843" y="1734878"/>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76" name="Google Shape;76;p6"/>
          <p:cNvSpPr txBox="1"/>
          <p:nvPr>
            <p:ph idx="5" type="body"/>
          </p:nvPr>
        </p:nvSpPr>
        <p:spPr>
          <a:xfrm>
            <a:off x="1914421" y="2038725"/>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77" name="Google Shape;77;p6"/>
          <p:cNvSpPr txBox="1"/>
          <p:nvPr/>
        </p:nvSpPr>
        <p:spPr>
          <a:xfrm>
            <a:off x="1288741" y="2240832"/>
            <a:ext cx="1154354" cy="2961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995">
                <a:solidFill>
                  <a:srgbClr val="FFFFFF"/>
                </a:solidFill>
                <a:latin typeface="Montserrat"/>
                <a:ea typeface="Montserrat"/>
                <a:cs typeface="Montserrat"/>
                <a:sym typeface="Montserrat"/>
              </a:rPr>
              <a:t>Team size:</a:t>
            </a:r>
            <a:endParaRPr/>
          </a:p>
        </p:txBody>
      </p:sp>
      <p:sp>
        <p:nvSpPr>
          <p:cNvPr id="78" name="Google Shape;78;p6"/>
          <p:cNvSpPr txBox="1"/>
          <p:nvPr>
            <p:ph idx="6" type="body"/>
          </p:nvPr>
        </p:nvSpPr>
        <p:spPr>
          <a:xfrm>
            <a:off x="1984171" y="2310085"/>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79" name="Google Shape;79;p6"/>
          <p:cNvSpPr txBox="1"/>
          <p:nvPr>
            <p:ph idx="7" type="body"/>
          </p:nvPr>
        </p:nvSpPr>
        <p:spPr>
          <a:xfrm>
            <a:off x="1073922" y="1112009"/>
            <a:ext cx="3593565" cy="616173"/>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26"/>
              </a:spcBef>
              <a:spcAft>
                <a:spcPts val="0"/>
              </a:spcAft>
              <a:buClr>
                <a:srgbClr val="FFFFFF"/>
              </a:buClr>
              <a:buSzPts val="1628"/>
              <a:buFont typeface="Arial"/>
              <a:buNone/>
              <a:defRPr b="1" i="0" sz="1628"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0" name="Google Shape;80;p6"/>
          <p:cNvSpPr txBox="1"/>
          <p:nvPr>
            <p:ph idx="8" type="body"/>
          </p:nvPr>
        </p:nvSpPr>
        <p:spPr>
          <a:xfrm>
            <a:off x="970650" y="3065510"/>
            <a:ext cx="4205673" cy="243637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262"/>
              </a:spcBef>
              <a:spcAft>
                <a:spcPts val="0"/>
              </a:spcAft>
              <a:buClr>
                <a:schemeClr val="dk1"/>
              </a:buClr>
              <a:buSzPts val="1309"/>
              <a:buFont typeface="Arial"/>
              <a:buNone/>
              <a:defRPr b="0" i="0" sz="1309" u="none" cap="none" strike="noStrike">
                <a:solidFill>
                  <a:schemeClr val="dk1"/>
                </a:solidFill>
                <a:latin typeface="Calibri"/>
                <a:ea typeface="Calibri"/>
                <a:cs typeface="Calibri"/>
                <a:sym typeface="Calibri"/>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1" name="Google Shape;81;p6"/>
          <p:cNvSpPr txBox="1"/>
          <p:nvPr>
            <p:ph idx="9" type="body"/>
          </p:nvPr>
        </p:nvSpPr>
        <p:spPr>
          <a:xfrm>
            <a:off x="5645854" y="1530935"/>
            <a:ext cx="5417550" cy="2413770"/>
          </a:xfrm>
          <a:prstGeom prst="rect">
            <a:avLst/>
          </a:prstGeom>
          <a:noFill/>
          <a:ln>
            <a:noFill/>
          </a:ln>
        </p:spPr>
        <p:txBody>
          <a:bodyPr anchorCtr="0" anchor="t" bIns="45700" lIns="91425" spcFirstLastPara="1" rIns="91425" wrap="square" tIns="45700">
            <a:normAutofit/>
          </a:bodyPr>
          <a:lstStyle>
            <a:lvl1pPr indent="-301308" lvl="0" marL="457200" marR="0" rtl="0" algn="l">
              <a:spcBef>
                <a:spcPts val="229"/>
              </a:spcBef>
              <a:spcAft>
                <a:spcPts val="0"/>
              </a:spcAft>
              <a:buClr>
                <a:schemeClr val="dk1"/>
              </a:buClr>
              <a:buSzPts val="1145"/>
              <a:buFont typeface="Arial"/>
              <a:buChar char="•"/>
              <a:defRPr b="0" i="0" sz="1145" u="none" cap="none" strike="noStrike">
                <a:solidFill>
                  <a:schemeClr val="dk1"/>
                </a:solidFill>
                <a:latin typeface="Calibri"/>
                <a:ea typeface="Calibri"/>
                <a:cs typeface="Calibri"/>
                <a:sym typeface="Calibri"/>
              </a:defRPr>
            </a:lvl1pPr>
            <a:lvl2pPr indent="-301307" lvl="1" marL="9144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2pPr>
            <a:lvl3pPr indent="-301307" lvl="2" marL="13716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3pPr>
            <a:lvl4pPr indent="-301307" lvl="3" marL="18288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4pPr>
            <a:lvl5pPr indent="-301308" lvl="4" marL="22860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2" name="Google Shape;82;p6"/>
          <p:cNvSpPr txBox="1"/>
          <p:nvPr>
            <p:ph idx="13" type="body"/>
          </p:nvPr>
        </p:nvSpPr>
        <p:spPr>
          <a:xfrm>
            <a:off x="5645854" y="4741376"/>
            <a:ext cx="5417550" cy="1767926"/>
          </a:xfrm>
          <a:prstGeom prst="rect">
            <a:avLst/>
          </a:prstGeom>
          <a:noFill/>
          <a:ln>
            <a:noFill/>
          </a:ln>
        </p:spPr>
        <p:txBody>
          <a:bodyPr anchorCtr="0" anchor="t" bIns="45700" lIns="91425" spcFirstLastPara="1" rIns="91425" wrap="square" tIns="45700">
            <a:normAutofit/>
          </a:bodyPr>
          <a:lstStyle>
            <a:lvl1pPr indent="-301308" lvl="0" marL="457200" marR="0" rtl="0" algn="l">
              <a:spcBef>
                <a:spcPts val="229"/>
              </a:spcBef>
              <a:spcAft>
                <a:spcPts val="0"/>
              </a:spcAft>
              <a:buClr>
                <a:schemeClr val="dk1"/>
              </a:buClr>
              <a:buSzPts val="1145"/>
              <a:buFont typeface="Arial"/>
              <a:buChar char="•"/>
              <a:defRPr b="0" i="0" sz="1145" u="none" cap="none" strike="noStrike">
                <a:solidFill>
                  <a:schemeClr val="dk1"/>
                </a:solidFill>
                <a:latin typeface="Calibri"/>
                <a:ea typeface="Calibri"/>
                <a:cs typeface="Calibri"/>
                <a:sym typeface="Calibri"/>
              </a:defRPr>
            </a:lvl1pPr>
            <a:lvl2pPr indent="-301307" lvl="1" marL="9144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2pPr>
            <a:lvl3pPr indent="-301307" lvl="2" marL="13716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3pPr>
            <a:lvl4pPr indent="-301307" lvl="3" marL="18288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4pPr>
            <a:lvl5pPr indent="-301308" lvl="4" marL="22860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3" name="Google Shape;83;p6"/>
          <p:cNvSpPr txBox="1"/>
          <p:nvPr>
            <p:ph idx="14" type="body"/>
          </p:nvPr>
        </p:nvSpPr>
        <p:spPr>
          <a:xfrm>
            <a:off x="952063" y="479299"/>
            <a:ext cx="10111341" cy="33930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1D9AD6"/>
              </a:buClr>
              <a:buSzPts val="2000"/>
              <a:buFont typeface="Arial"/>
              <a:buNone/>
              <a:defRPr b="1" i="0" sz="2000" u="none" cap="none" strike="noStrike">
                <a:solidFill>
                  <a:srgbClr val="1D9AD6"/>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4" name="Google Shape;84;p6"/>
          <p:cNvSpPr txBox="1"/>
          <p:nvPr>
            <p:ph idx="15" type="body"/>
          </p:nvPr>
        </p:nvSpPr>
        <p:spPr>
          <a:xfrm>
            <a:off x="1097231" y="5810983"/>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rgbClr val="0874EA"/>
              </a:buClr>
              <a:buSzPts val="1473"/>
              <a:buFont typeface="Arial"/>
              <a:buNone/>
              <a:defRPr b="1" i="0" sz="1473" u="none" cap="none" strike="noStrike">
                <a:solidFill>
                  <a:srgbClr val="0874EA"/>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5" name="Google Shape;85;p6"/>
          <p:cNvSpPr txBox="1"/>
          <p:nvPr>
            <p:ph idx="16" type="body"/>
          </p:nvPr>
        </p:nvSpPr>
        <p:spPr>
          <a:xfrm>
            <a:off x="3898961" y="5794780"/>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rgbClr val="0874EA"/>
              </a:buClr>
              <a:buSzPts val="1473"/>
              <a:buFont typeface="Arial"/>
              <a:buNone/>
              <a:defRPr b="1" i="0" sz="1473" u="none" cap="none" strike="noStrike">
                <a:solidFill>
                  <a:srgbClr val="0874EA"/>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6" name="Google Shape;86;p6"/>
          <p:cNvSpPr txBox="1"/>
          <p:nvPr>
            <p:ph idx="17" type="body"/>
          </p:nvPr>
        </p:nvSpPr>
        <p:spPr>
          <a:xfrm>
            <a:off x="2493364" y="5810983"/>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chemeClr val="lt1"/>
              </a:buClr>
              <a:buSzPts val="1473"/>
              <a:buFont typeface="Arial"/>
              <a:buNone/>
              <a:defRPr b="1" i="0" sz="1473" u="none" cap="none" strike="noStrike">
                <a:solidFill>
                  <a:schemeClr val="lt1"/>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87" name="Google Shape;87;p6"/>
          <p:cNvSpPr/>
          <p:nvPr/>
        </p:nvSpPr>
        <p:spPr>
          <a:xfrm>
            <a:off x="1" y="522514"/>
            <a:ext cx="790575" cy="296092"/>
          </a:xfrm>
          <a:prstGeom prst="rect">
            <a:avLst/>
          </a:prstGeom>
          <a:solidFill>
            <a:srgbClr val="2E6F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88" name="Google Shape;88;p6"/>
          <p:cNvPicPr preferRelativeResize="0"/>
          <p:nvPr/>
        </p:nvPicPr>
        <p:blipFill rotWithShape="1">
          <a:blip r:embed="rId4">
            <a:alphaModFix/>
          </a:blip>
          <a:srcRect b="0" l="0" r="0" t="0"/>
          <a:stretch/>
        </p:blipFill>
        <p:spPr>
          <a:xfrm>
            <a:off x="10083298" y="552271"/>
            <a:ext cx="1135566" cy="306747"/>
          </a:xfrm>
          <a:prstGeom prst="rect">
            <a:avLst/>
          </a:prstGeom>
          <a:noFill/>
          <a:ln>
            <a:noFill/>
          </a:ln>
        </p:spPr>
      </p:pic>
      <p:sp>
        <p:nvSpPr>
          <p:cNvPr id="89" name="Google Shape;89;p6"/>
          <p:cNvSpPr/>
          <p:nvPr/>
        </p:nvSpPr>
        <p:spPr>
          <a:xfrm rot="-5400000">
            <a:off x="5909233" y="580294"/>
            <a:ext cx="365760" cy="12199777"/>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latin typeface="Calibri"/>
              <a:ea typeface="Calibri"/>
              <a:cs typeface="Calibri"/>
              <a:sym typeface="Calibri"/>
            </a:endParaRPr>
          </a:p>
        </p:txBody>
      </p:sp>
      <p:pic>
        <p:nvPicPr>
          <p:cNvPr id="90" name="Google Shape;90;p6"/>
          <p:cNvPicPr preferRelativeResize="0"/>
          <p:nvPr/>
        </p:nvPicPr>
        <p:blipFill rotWithShape="1">
          <a:blip r:embed="rId5">
            <a:alphaModFix/>
          </a:blip>
          <a:srcRect b="0" l="0" r="0" t="0"/>
          <a:stretch/>
        </p:blipFill>
        <p:spPr>
          <a:xfrm>
            <a:off x="10761999" y="6555937"/>
            <a:ext cx="1119493" cy="24384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91" name="Shape 91"/>
        <p:cNvGrpSpPr/>
        <p:nvPr/>
      </p:nvGrpSpPr>
      <p:grpSpPr>
        <a:xfrm>
          <a:off x="0" y="0"/>
          <a:ext cx="0" cy="0"/>
          <a:chOff x="0" y="0"/>
          <a:chExt cx="0" cy="0"/>
        </a:xfrm>
      </p:grpSpPr>
      <p:sp>
        <p:nvSpPr>
          <p:cNvPr id="92" name="Google Shape;92;p7"/>
          <p:cNvSpPr txBox="1"/>
          <p:nvPr>
            <p:ph idx="1" type="body"/>
          </p:nvPr>
        </p:nvSpPr>
        <p:spPr>
          <a:xfrm>
            <a:off x="323530" y="339510"/>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1080"/>
              </a:spcBef>
              <a:spcAft>
                <a:spcPts val="0"/>
              </a:spcAft>
              <a:buClr>
                <a:srgbClr val="262626"/>
              </a:buClr>
              <a:buSzPts val="5400"/>
              <a:buFont typeface="Arial"/>
              <a:buNone/>
              <a:defRPr b="0" i="0" sz="5400" u="none" cap="none" strike="noStrike">
                <a:solidFill>
                  <a:srgbClr val="262626"/>
                </a:solidFill>
                <a:latin typeface="Calibri"/>
                <a:ea typeface="Calibri"/>
                <a:cs typeface="Calibri"/>
                <a:sym typeface="Calibri"/>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93" name="Google Shape;93;p7"/>
          <p:cNvSpPr/>
          <p:nvPr>
            <p:ph idx="2" type="pic"/>
          </p:nvPr>
        </p:nvSpPr>
        <p:spPr>
          <a:xfrm>
            <a:off x="3650190" y="1769412"/>
            <a:ext cx="2124000" cy="2095028"/>
          </a:xfrm>
          <a:prstGeom prst="rect">
            <a:avLst/>
          </a:prstGeom>
          <a:solidFill>
            <a:srgbClr val="F2F2F2"/>
          </a:solidFill>
          <a:ln>
            <a:noFill/>
          </a:ln>
        </p:spPr>
      </p:sp>
      <p:sp>
        <p:nvSpPr>
          <p:cNvPr id="94" name="Google Shape;94;p7"/>
          <p:cNvSpPr/>
          <p:nvPr>
            <p:ph idx="3" type="pic"/>
          </p:nvPr>
        </p:nvSpPr>
        <p:spPr>
          <a:xfrm>
            <a:off x="6403397" y="1769412"/>
            <a:ext cx="2124000" cy="2095028"/>
          </a:xfrm>
          <a:prstGeom prst="rect">
            <a:avLst/>
          </a:prstGeom>
          <a:solidFill>
            <a:srgbClr val="F2F2F2"/>
          </a:solidFill>
          <a:ln>
            <a:noFill/>
          </a:ln>
        </p:spPr>
      </p:sp>
      <p:sp>
        <p:nvSpPr>
          <p:cNvPr id="95" name="Google Shape;95;p7"/>
          <p:cNvSpPr/>
          <p:nvPr>
            <p:ph idx="4" type="pic"/>
          </p:nvPr>
        </p:nvSpPr>
        <p:spPr>
          <a:xfrm>
            <a:off x="9156603" y="1769412"/>
            <a:ext cx="2124000" cy="2095028"/>
          </a:xfrm>
          <a:prstGeom prst="rect">
            <a:avLst/>
          </a:prstGeom>
          <a:solidFill>
            <a:srgbClr val="F2F2F2"/>
          </a:solidFill>
          <a:ln>
            <a:noFill/>
          </a:ln>
        </p:spPr>
      </p:sp>
      <p:sp>
        <p:nvSpPr>
          <p:cNvPr id="96" name="Google Shape;96;p7"/>
          <p:cNvSpPr/>
          <p:nvPr>
            <p:ph idx="5" type="pic"/>
          </p:nvPr>
        </p:nvSpPr>
        <p:spPr>
          <a:xfrm>
            <a:off x="896983" y="1769412"/>
            <a:ext cx="2124000" cy="2095028"/>
          </a:xfrm>
          <a:prstGeom prst="rect">
            <a:avLst/>
          </a:prstGeom>
          <a:solidFill>
            <a:srgbClr val="F2F2F2"/>
          </a:solid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ontents slide layout">
  <p:cSld name="18_Contents slide layout">
    <p:bg>
      <p:bgPr>
        <a:solidFill>
          <a:schemeClr val="lt1"/>
        </a:solidFill>
      </p:bgPr>
    </p:bg>
    <p:spTree>
      <p:nvGrpSpPr>
        <p:cNvPr id="97" name="Shape 97"/>
        <p:cNvGrpSpPr/>
        <p:nvPr/>
      </p:nvGrpSpPr>
      <p:grpSpPr>
        <a:xfrm>
          <a:off x="0" y="0"/>
          <a:ext cx="0" cy="0"/>
          <a:chOff x="0" y="0"/>
          <a:chExt cx="0" cy="0"/>
        </a:xfrm>
      </p:grpSpPr>
      <p:sp>
        <p:nvSpPr>
          <p:cNvPr id="98" name="Google Shape;98;p8"/>
          <p:cNvSpPr/>
          <p:nvPr>
            <p:ph idx="2" type="pic"/>
          </p:nvPr>
        </p:nvSpPr>
        <p:spPr>
          <a:xfrm>
            <a:off x="5622522" y="0"/>
            <a:ext cx="6569479" cy="6858000"/>
          </a:xfrm>
          <a:prstGeom prst="rect">
            <a:avLst/>
          </a:prstGeom>
          <a:solidFill>
            <a:srgbClr val="F2F2F2"/>
          </a:solid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99" name="Shape 99"/>
        <p:cNvGrpSpPr/>
        <p:nvPr/>
      </p:nvGrpSpPr>
      <p:grpSpPr>
        <a:xfrm>
          <a:off x="0" y="0"/>
          <a:ext cx="0" cy="0"/>
          <a:chOff x="0" y="0"/>
          <a:chExt cx="0" cy="0"/>
        </a:xfrm>
      </p:grpSpPr>
      <p:sp>
        <p:nvSpPr>
          <p:cNvPr id="100" name="Google Shape;100;p9"/>
          <p:cNvSpPr txBox="1"/>
          <p:nvPr>
            <p:ph type="title"/>
          </p:nvPr>
        </p:nvSpPr>
        <p:spPr>
          <a:xfrm>
            <a:off x="6586267" y="1717682"/>
            <a:ext cx="2540400" cy="1294000"/>
          </a:xfrm>
          <a:prstGeom prst="rect">
            <a:avLst/>
          </a:prstGeom>
          <a:noFill/>
          <a:ln>
            <a:noFill/>
          </a:ln>
        </p:spPr>
        <p:txBody>
          <a:bodyPr anchorCtr="0" anchor="b" bIns="91425" lIns="91425" spcFirstLastPara="1" rIns="91425" wrap="square" tIns="91425">
            <a:noAutofit/>
          </a:bodyPr>
          <a:lstStyle>
            <a:lvl1pPr lvl="0" marR="0" rtl="0" algn="ctr">
              <a:spcBef>
                <a:spcPts val="0"/>
              </a:spcBef>
              <a:spcAft>
                <a:spcPts val="0"/>
              </a:spcAft>
              <a:buClr>
                <a:schemeClr val="dk1"/>
              </a:buClr>
              <a:buSzPts val="2400"/>
              <a:buFont typeface="Calibri"/>
              <a:buNone/>
              <a:defRPr b="0" i="0" sz="3980" u="none" cap="none" strike="noStrike">
                <a:solidFill>
                  <a:schemeClr val="dk1"/>
                </a:solidFill>
                <a:latin typeface="Calibri"/>
                <a:ea typeface="Calibri"/>
                <a:cs typeface="Calibri"/>
                <a:sym typeface="Calibri"/>
              </a:defRPr>
            </a:lvl1pPr>
            <a:lvl2pPr lvl="1">
              <a:spcBef>
                <a:spcPts val="0"/>
              </a:spcBef>
              <a:spcAft>
                <a:spcPts val="0"/>
              </a:spcAft>
              <a:buSzPts val="2400"/>
              <a:buFont typeface="Arial"/>
              <a:buNone/>
              <a:defRPr sz="3200"/>
            </a:lvl2pPr>
            <a:lvl3pPr lvl="2">
              <a:spcBef>
                <a:spcPts val="0"/>
              </a:spcBef>
              <a:spcAft>
                <a:spcPts val="0"/>
              </a:spcAft>
              <a:buSzPts val="2400"/>
              <a:buFont typeface="Arial"/>
              <a:buNone/>
              <a:defRPr sz="3200"/>
            </a:lvl3pPr>
            <a:lvl4pPr lvl="3">
              <a:spcBef>
                <a:spcPts val="0"/>
              </a:spcBef>
              <a:spcAft>
                <a:spcPts val="0"/>
              </a:spcAft>
              <a:buSzPts val="2400"/>
              <a:buFont typeface="Arial"/>
              <a:buNone/>
              <a:defRPr sz="3200"/>
            </a:lvl4pPr>
            <a:lvl5pPr lvl="4">
              <a:spcBef>
                <a:spcPts val="0"/>
              </a:spcBef>
              <a:spcAft>
                <a:spcPts val="0"/>
              </a:spcAft>
              <a:buSzPts val="2400"/>
              <a:buFont typeface="Arial"/>
              <a:buNone/>
              <a:defRPr sz="3200"/>
            </a:lvl5pPr>
            <a:lvl6pPr lvl="5">
              <a:spcBef>
                <a:spcPts val="0"/>
              </a:spcBef>
              <a:spcAft>
                <a:spcPts val="0"/>
              </a:spcAft>
              <a:buSzPts val="2400"/>
              <a:buFont typeface="Arial"/>
              <a:buNone/>
              <a:defRPr sz="3200"/>
            </a:lvl6pPr>
            <a:lvl7pPr lvl="6">
              <a:spcBef>
                <a:spcPts val="0"/>
              </a:spcBef>
              <a:spcAft>
                <a:spcPts val="0"/>
              </a:spcAft>
              <a:buSzPts val="2400"/>
              <a:buFont typeface="Arial"/>
              <a:buNone/>
              <a:defRPr sz="3200"/>
            </a:lvl7pPr>
            <a:lvl8pPr lvl="7">
              <a:spcBef>
                <a:spcPts val="0"/>
              </a:spcBef>
              <a:spcAft>
                <a:spcPts val="0"/>
              </a:spcAft>
              <a:buSzPts val="2400"/>
              <a:buFont typeface="Arial"/>
              <a:buNone/>
              <a:defRPr sz="3200"/>
            </a:lvl8pPr>
            <a:lvl9pPr lvl="8">
              <a:spcBef>
                <a:spcPts val="0"/>
              </a:spcBef>
              <a:spcAft>
                <a:spcPts val="0"/>
              </a:spcAft>
              <a:buSzPts val="2400"/>
              <a:buFont typeface="Arial"/>
              <a:buNone/>
              <a:defRPr sz="3200"/>
            </a:lvl9pPr>
          </a:lstStyle>
          <a:p/>
        </p:txBody>
      </p:sp>
      <p:sp>
        <p:nvSpPr>
          <p:cNvPr id="101" name="Google Shape;101;p9"/>
          <p:cNvSpPr txBox="1"/>
          <p:nvPr>
            <p:ph idx="1" type="body"/>
          </p:nvPr>
        </p:nvSpPr>
        <p:spPr>
          <a:xfrm>
            <a:off x="6586267" y="2910051"/>
            <a:ext cx="2540400" cy="2404800"/>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0"/>
              </a:spcBef>
              <a:spcAft>
                <a:spcPts val="0"/>
              </a:spcAft>
              <a:buClr>
                <a:schemeClr val="dk1"/>
              </a:buClr>
              <a:buSzPts val="1400"/>
              <a:buFont typeface="Arial"/>
              <a:buChar char="●"/>
              <a:defRPr b="0" i="0" sz="2894" u="none" cap="none" strike="noStrike">
                <a:solidFill>
                  <a:schemeClr val="dk1"/>
                </a:solidFill>
                <a:latin typeface="Calibri"/>
                <a:ea typeface="Calibri"/>
                <a:cs typeface="Calibri"/>
                <a:sym typeface="Calibri"/>
              </a:defRPr>
            </a:lvl1pPr>
            <a:lvl2pPr indent="-317500" lvl="1" marL="914400" marR="0" rtl="0" algn="l">
              <a:spcBef>
                <a:spcPts val="0"/>
              </a:spcBef>
              <a:spcAft>
                <a:spcPts val="0"/>
              </a:spcAft>
              <a:buClr>
                <a:schemeClr val="dk1"/>
              </a:buClr>
              <a:buSzPts val="1400"/>
              <a:buFont typeface="Arial"/>
              <a:buChar char="○"/>
              <a:defRPr b="0" i="0" sz="2533" u="none" cap="none" strike="noStrike">
                <a:solidFill>
                  <a:schemeClr val="dk1"/>
                </a:solidFill>
                <a:latin typeface="Calibri"/>
                <a:ea typeface="Calibri"/>
                <a:cs typeface="Calibri"/>
                <a:sym typeface="Calibri"/>
              </a:defRPr>
            </a:lvl2pPr>
            <a:lvl3pPr indent="-317500" lvl="2" marL="1371600" marR="0" rtl="0" algn="l">
              <a:spcBef>
                <a:spcPts val="2133"/>
              </a:spcBef>
              <a:spcAft>
                <a:spcPts val="0"/>
              </a:spcAft>
              <a:buClr>
                <a:schemeClr val="dk1"/>
              </a:buClr>
              <a:buSzPts val="1400"/>
              <a:buFont typeface="Arial"/>
              <a:buChar char="■"/>
              <a:defRPr b="0" i="0" sz="2171" u="none" cap="none" strike="noStrike">
                <a:solidFill>
                  <a:schemeClr val="dk1"/>
                </a:solidFill>
                <a:latin typeface="Calibri"/>
                <a:ea typeface="Calibri"/>
                <a:cs typeface="Calibri"/>
                <a:sym typeface="Calibri"/>
              </a:defRPr>
            </a:lvl3pPr>
            <a:lvl4pPr indent="-317500" lvl="3" marL="18288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4pPr>
            <a:lvl5pPr indent="-317500" lvl="4" marL="22860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5pPr>
            <a:lvl6pPr indent="-317500" lvl="5" marL="27432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6pPr>
            <a:lvl7pPr indent="-317500" lvl="6" marL="32004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7pPr>
            <a:lvl8pPr indent="-317500" lvl="7" marL="36576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8pPr>
            <a:lvl9pPr indent="-317500" lvl="8" marL="4114800" marR="0" rtl="0" algn="l">
              <a:spcBef>
                <a:spcPts val="2133"/>
              </a:spcBef>
              <a:spcAft>
                <a:spcPts val="2133"/>
              </a:spcAft>
              <a:buClr>
                <a:schemeClr val="dk1"/>
              </a:buClr>
              <a:buSzPts val="1400"/>
              <a:buFont typeface="Arial"/>
              <a:buChar char="■"/>
              <a:defRPr b="0" i="0" sz="1809" u="none" cap="none" strike="noStrike">
                <a:solidFill>
                  <a:schemeClr val="dk1"/>
                </a:solidFill>
                <a:latin typeface="Calibri"/>
                <a:ea typeface="Calibri"/>
                <a:cs typeface="Calibri"/>
                <a:sym typeface="Calibri"/>
              </a:defRPr>
            </a:lvl9pPr>
          </a:lstStyle>
          <a:p/>
        </p:txBody>
      </p:sp>
      <p:sp>
        <p:nvSpPr>
          <p:cNvPr id="102" name="Google Shape;102;p9"/>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103" name="Shape 103"/>
        <p:cNvGrpSpPr/>
        <p:nvPr/>
      </p:nvGrpSpPr>
      <p:grpSpPr>
        <a:xfrm>
          <a:off x="0" y="0"/>
          <a:ext cx="0" cy="0"/>
          <a:chOff x="0" y="0"/>
          <a:chExt cx="0" cy="0"/>
        </a:xfrm>
      </p:grpSpPr>
      <p:sp>
        <p:nvSpPr>
          <p:cNvPr id="104" name="Google Shape;104;p10"/>
          <p:cNvSpPr txBox="1"/>
          <p:nvPr>
            <p:ph type="title"/>
          </p:nvPr>
        </p:nvSpPr>
        <p:spPr>
          <a:xfrm>
            <a:off x="560070" y="373644"/>
            <a:ext cx="11403330" cy="64008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Clr>
                <a:srgbClr val="155DF5"/>
              </a:buClr>
              <a:buSzPts val="3000"/>
              <a:buFont typeface="Calibri"/>
              <a:buNone/>
              <a:defRPr b="1" i="0" sz="3200" u="none" cap="none" strike="noStrike">
                <a:solidFill>
                  <a:srgbClr val="155DF5"/>
                </a:solidFill>
                <a:latin typeface="Calibri"/>
                <a:ea typeface="Calibri"/>
                <a:cs typeface="Calibri"/>
                <a:sym typeface="Calibri"/>
              </a:defRPr>
            </a:lvl1pPr>
            <a:lvl2pPr lvl="1" rtl="0">
              <a:spcBef>
                <a:spcPts val="0"/>
              </a:spcBef>
              <a:spcAft>
                <a:spcPts val="0"/>
              </a:spcAft>
              <a:buSzPts val="3500"/>
              <a:buFont typeface="Arial"/>
              <a:buNone/>
              <a:defRPr sz="1800"/>
            </a:lvl2pPr>
            <a:lvl3pPr lvl="2" rtl="0">
              <a:spcBef>
                <a:spcPts val="0"/>
              </a:spcBef>
              <a:spcAft>
                <a:spcPts val="0"/>
              </a:spcAft>
              <a:buSzPts val="3500"/>
              <a:buFont typeface="Arial"/>
              <a:buNone/>
              <a:defRPr sz="1800"/>
            </a:lvl3pPr>
            <a:lvl4pPr lvl="3" rtl="0">
              <a:spcBef>
                <a:spcPts val="0"/>
              </a:spcBef>
              <a:spcAft>
                <a:spcPts val="0"/>
              </a:spcAft>
              <a:buSzPts val="3500"/>
              <a:buFont typeface="Arial"/>
              <a:buNone/>
              <a:defRPr sz="1800"/>
            </a:lvl4pPr>
            <a:lvl5pPr lvl="4" rtl="0">
              <a:spcBef>
                <a:spcPts val="0"/>
              </a:spcBef>
              <a:spcAft>
                <a:spcPts val="0"/>
              </a:spcAft>
              <a:buSzPts val="3500"/>
              <a:buFont typeface="Arial"/>
              <a:buNone/>
              <a:defRPr sz="1800"/>
            </a:lvl5pPr>
            <a:lvl6pPr lvl="5" rtl="0">
              <a:spcBef>
                <a:spcPts val="0"/>
              </a:spcBef>
              <a:spcAft>
                <a:spcPts val="0"/>
              </a:spcAft>
              <a:buSzPts val="3500"/>
              <a:buFont typeface="Arial"/>
              <a:buNone/>
              <a:defRPr sz="1800"/>
            </a:lvl6pPr>
            <a:lvl7pPr lvl="6" rtl="0">
              <a:spcBef>
                <a:spcPts val="0"/>
              </a:spcBef>
              <a:spcAft>
                <a:spcPts val="0"/>
              </a:spcAft>
              <a:buSzPts val="3500"/>
              <a:buFont typeface="Arial"/>
              <a:buNone/>
              <a:defRPr sz="1800"/>
            </a:lvl7pPr>
            <a:lvl8pPr lvl="7" rtl="0">
              <a:spcBef>
                <a:spcPts val="0"/>
              </a:spcBef>
              <a:spcAft>
                <a:spcPts val="0"/>
              </a:spcAft>
              <a:buSzPts val="3500"/>
              <a:buFont typeface="Arial"/>
              <a:buNone/>
              <a:defRPr sz="1800"/>
            </a:lvl8pPr>
            <a:lvl9pPr lvl="8" rtl="0">
              <a:spcBef>
                <a:spcPts val="0"/>
              </a:spcBef>
              <a:spcAft>
                <a:spcPts val="0"/>
              </a:spcAft>
              <a:buSzPts val="3500"/>
              <a:buFont typeface="Arial"/>
              <a:buNone/>
              <a:defRPr sz="1800"/>
            </a:lvl9pPr>
          </a:lstStyle>
          <a:p/>
        </p:txBody>
      </p:sp>
      <p:pic>
        <p:nvPicPr>
          <p:cNvPr id="105" name="Google Shape;105;p10"/>
          <p:cNvPicPr preferRelativeResize="0"/>
          <p:nvPr/>
        </p:nvPicPr>
        <p:blipFill rotWithShape="1">
          <a:blip r:embed="rId2">
            <a:alphaModFix/>
          </a:blip>
          <a:srcRect b="34827" l="0" r="-24" t="34881"/>
          <a:stretch/>
        </p:blipFill>
        <p:spPr>
          <a:xfrm>
            <a:off x="10905270" y="486350"/>
            <a:ext cx="1225892" cy="371347"/>
          </a:xfrm>
          <a:prstGeom prst="rect">
            <a:avLst/>
          </a:prstGeom>
          <a:noFill/>
          <a:ln>
            <a:noFill/>
          </a:ln>
        </p:spPr>
      </p:pic>
      <p:sp>
        <p:nvSpPr>
          <p:cNvPr id="106" name="Google Shape;106;p10"/>
          <p:cNvSpPr/>
          <p:nvPr/>
        </p:nvSpPr>
        <p:spPr>
          <a:xfrm>
            <a:off x="1" y="6585628"/>
            <a:ext cx="1060314" cy="272372"/>
          </a:xfrm>
          <a:custGeom>
            <a:rect b="b" l="l" r="r" t="t"/>
            <a:pathLst>
              <a:path extrusionOk="0" h="272372" w="1060314">
                <a:moveTo>
                  <a:pt x="0" y="0"/>
                </a:moveTo>
                <a:lnTo>
                  <a:pt x="924128" y="0"/>
                </a:lnTo>
                <a:cubicBezTo>
                  <a:pt x="1002860" y="152"/>
                  <a:pt x="1060163" y="66978"/>
                  <a:pt x="1060314" y="136186"/>
                </a:cubicBezTo>
                <a:lnTo>
                  <a:pt x="1060314" y="272372"/>
                </a:lnTo>
                <a:lnTo>
                  <a:pt x="0" y="272372"/>
                </a:lnTo>
                <a:lnTo>
                  <a:pt x="0" y="0"/>
                </a:lnTo>
                <a:close/>
              </a:path>
            </a:pathLst>
          </a:custGeom>
          <a:solidFill>
            <a:srgbClr val="176CF3"/>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cmc-apac.sg</a:t>
            </a:r>
            <a:endParaRPr/>
          </a:p>
        </p:txBody>
      </p:sp>
      <p:sp>
        <p:nvSpPr>
          <p:cNvPr id="107" name="Google Shape;107;p10"/>
          <p:cNvSpPr/>
          <p:nvPr/>
        </p:nvSpPr>
        <p:spPr>
          <a:xfrm flipH="1">
            <a:off x="11747383" y="6585628"/>
            <a:ext cx="444616" cy="272372"/>
          </a:xfrm>
          <a:custGeom>
            <a:rect b="b" l="l" r="r" t="t"/>
            <a:pathLst>
              <a:path extrusionOk="0" h="272372" w="444616">
                <a:moveTo>
                  <a:pt x="0" y="0"/>
                </a:moveTo>
                <a:lnTo>
                  <a:pt x="308430" y="0"/>
                </a:lnTo>
                <a:cubicBezTo>
                  <a:pt x="396688" y="152"/>
                  <a:pt x="444464" y="40787"/>
                  <a:pt x="444616" y="136186"/>
                </a:cubicBezTo>
                <a:lnTo>
                  <a:pt x="444616" y="272372"/>
                </a:lnTo>
                <a:lnTo>
                  <a:pt x="0" y="272372"/>
                </a:lnTo>
                <a:lnTo>
                  <a:pt x="0" y="0"/>
                </a:lnTo>
                <a:close/>
              </a:path>
            </a:pathLst>
          </a:custGeom>
          <a:solidFill>
            <a:srgbClr val="176CF3"/>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t/>
            </a:r>
            <a:endParaRPr sz="1200">
              <a:solidFill>
                <a:schemeClr val="lt1"/>
              </a:solidFill>
              <a:latin typeface="Calibri"/>
              <a:ea typeface="Calibri"/>
              <a:cs typeface="Calibri"/>
              <a:sym typeface="Calibri"/>
            </a:endParaRPr>
          </a:p>
        </p:txBody>
      </p:sp>
      <p:sp>
        <p:nvSpPr>
          <p:cNvPr id="108" name="Google Shape;108;p10"/>
          <p:cNvSpPr txBox="1"/>
          <p:nvPr>
            <p:ph idx="12" type="sldNum"/>
          </p:nvPr>
        </p:nvSpPr>
        <p:spPr>
          <a:xfrm>
            <a:off x="11747383" y="6585628"/>
            <a:ext cx="444617" cy="272372"/>
          </a:xfrm>
          <a:prstGeom prst="rect">
            <a:avLst/>
          </a:prstGeom>
          <a:noFill/>
          <a:ln>
            <a:noFill/>
          </a:ln>
        </p:spPr>
        <p:txBody>
          <a:bodyPr anchorCtr="0" anchor="t" bIns="0" lIns="91425" spcFirstLastPara="1" rIns="91425" wrap="square" tIns="0">
            <a:noAutofit/>
          </a:bodyPr>
          <a:lstStyle>
            <a:lvl1pPr indent="0" lvl="0" marL="0" marR="0" rtl="0" algn="l">
              <a:spcBef>
                <a:spcPts val="0"/>
              </a:spcBef>
              <a:buNone/>
              <a:defRPr sz="1000">
                <a:solidFill>
                  <a:schemeClr val="lt1"/>
                </a:solidFill>
                <a:latin typeface="Calibri"/>
                <a:ea typeface="Calibri"/>
                <a:cs typeface="Calibri"/>
                <a:sym typeface="Calibri"/>
              </a:defRPr>
            </a:lvl1pPr>
            <a:lvl2pPr indent="0" lvl="1" marL="0" marR="0" rtl="0" algn="l">
              <a:spcBef>
                <a:spcPts val="0"/>
              </a:spcBef>
              <a:buNone/>
              <a:defRPr sz="1000">
                <a:solidFill>
                  <a:schemeClr val="lt1"/>
                </a:solidFill>
                <a:latin typeface="Calibri"/>
                <a:ea typeface="Calibri"/>
                <a:cs typeface="Calibri"/>
                <a:sym typeface="Calibri"/>
              </a:defRPr>
            </a:lvl2pPr>
            <a:lvl3pPr indent="0" lvl="2" marL="0" marR="0" rtl="0" algn="l">
              <a:spcBef>
                <a:spcPts val="0"/>
              </a:spcBef>
              <a:buNone/>
              <a:defRPr sz="1000">
                <a:solidFill>
                  <a:schemeClr val="lt1"/>
                </a:solidFill>
                <a:latin typeface="Calibri"/>
                <a:ea typeface="Calibri"/>
                <a:cs typeface="Calibri"/>
                <a:sym typeface="Calibri"/>
              </a:defRPr>
            </a:lvl3pPr>
            <a:lvl4pPr indent="0" lvl="3" marL="0" marR="0" rtl="0" algn="l">
              <a:spcBef>
                <a:spcPts val="0"/>
              </a:spcBef>
              <a:buNone/>
              <a:defRPr sz="1000">
                <a:solidFill>
                  <a:schemeClr val="lt1"/>
                </a:solidFill>
                <a:latin typeface="Calibri"/>
                <a:ea typeface="Calibri"/>
                <a:cs typeface="Calibri"/>
                <a:sym typeface="Calibri"/>
              </a:defRPr>
            </a:lvl4pPr>
            <a:lvl5pPr indent="0" lvl="4" marL="0" marR="0" rtl="0" algn="l">
              <a:spcBef>
                <a:spcPts val="0"/>
              </a:spcBef>
              <a:buNone/>
              <a:defRPr sz="1000">
                <a:solidFill>
                  <a:schemeClr val="lt1"/>
                </a:solidFill>
                <a:latin typeface="Calibri"/>
                <a:ea typeface="Calibri"/>
                <a:cs typeface="Calibri"/>
                <a:sym typeface="Calibri"/>
              </a:defRPr>
            </a:lvl5pPr>
            <a:lvl6pPr indent="0" lvl="5" marL="0" marR="0" rtl="0" algn="l">
              <a:spcBef>
                <a:spcPts val="0"/>
              </a:spcBef>
              <a:buNone/>
              <a:defRPr sz="1000">
                <a:solidFill>
                  <a:schemeClr val="lt1"/>
                </a:solidFill>
                <a:latin typeface="Calibri"/>
                <a:ea typeface="Calibri"/>
                <a:cs typeface="Calibri"/>
                <a:sym typeface="Calibri"/>
              </a:defRPr>
            </a:lvl6pPr>
            <a:lvl7pPr indent="0" lvl="6" marL="0" marR="0" rtl="0" algn="l">
              <a:spcBef>
                <a:spcPts val="0"/>
              </a:spcBef>
              <a:buNone/>
              <a:defRPr sz="1000">
                <a:solidFill>
                  <a:schemeClr val="lt1"/>
                </a:solidFill>
                <a:latin typeface="Calibri"/>
                <a:ea typeface="Calibri"/>
                <a:cs typeface="Calibri"/>
                <a:sym typeface="Calibri"/>
              </a:defRPr>
            </a:lvl7pPr>
            <a:lvl8pPr indent="0" lvl="7" marL="0" marR="0" rtl="0" algn="l">
              <a:spcBef>
                <a:spcPts val="0"/>
              </a:spcBef>
              <a:buNone/>
              <a:defRPr sz="1000">
                <a:solidFill>
                  <a:schemeClr val="lt1"/>
                </a:solidFill>
                <a:latin typeface="Calibri"/>
                <a:ea typeface="Calibri"/>
                <a:cs typeface="Calibri"/>
                <a:sym typeface="Calibri"/>
              </a:defRPr>
            </a:lvl8pPr>
            <a:lvl9pPr indent="0" lvl="8" marL="0" marR="0" rtl="0" algn="l">
              <a:spcBef>
                <a:spcPts val="0"/>
              </a:spcBef>
              <a:buNone/>
              <a:defRPr sz="10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09" name="Google Shape;109;p10"/>
          <p:cNvSpPr/>
          <p:nvPr/>
        </p:nvSpPr>
        <p:spPr>
          <a:xfrm>
            <a:off x="0" y="228504"/>
            <a:ext cx="330090" cy="914400"/>
          </a:xfrm>
          <a:custGeom>
            <a:rect b="b" l="l" r="r" t="t"/>
            <a:pathLst>
              <a:path extrusionOk="0" h="914400" w="330090">
                <a:moveTo>
                  <a:pt x="55770" y="0"/>
                </a:moveTo>
                <a:cubicBezTo>
                  <a:pt x="207273" y="0"/>
                  <a:pt x="330090" y="122817"/>
                  <a:pt x="330090" y="274320"/>
                </a:cubicBezTo>
                <a:lnTo>
                  <a:pt x="330090" y="640080"/>
                </a:lnTo>
                <a:cubicBezTo>
                  <a:pt x="330090" y="791583"/>
                  <a:pt x="207273" y="914400"/>
                  <a:pt x="55770" y="914400"/>
                </a:cubicBezTo>
                <a:cubicBezTo>
                  <a:pt x="36832" y="914400"/>
                  <a:pt x="18342" y="912481"/>
                  <a:pt x="485" y="908827"/>
                </a:cubicBezTo>
                <a:lnTo>
                  <a:pt x="0" y="908677"/>
                </a:lnTo>
                <a:lnTo>
                  <a:pt x="0" y="5724"/>
                </a:lnTo>
                <a:lnTo>
                  <a:pt x="485" y="5573"/>
                </a:lnTo>
                <a:cubicBezTo>
                  <a:pt x="18342" y="1919"/>
                  <a:pt x="36832" y="0"/>
                  <a:pt x="55770" y="0"/>
                </a:cubicBezTo>
                <a:close/>
              </a:path>
            </a:pathLst>
          </a:custGeom>
          <a:gradFill>
            <a:gsLst>
              <a:gs pos="0">
                <a:srgbClr val="113CF7"/>
              </a:gs>
              <a:gs pos="100000">
                <a:srgbClr val="1D9AD6"/>
              </a:gs>
            </a:gsLst>
            <a:lin ang="135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28"/>
              <a:buFont typeface="Calibri"/>
              <a:buNone/>
            </a:pPr>
            <a:r>
              <a:t/>
            </a:r>
            <a:endParaRPr b="0" i="0" sz="1628" u="none" cap="none" strike="noStrike">
              <a:solidFill>
                <a:srgbClr val="FFFFFF"/>
              </a:solidFill>
              <a:latin typeface="Calibri"/>
              <a:ea typeface="Calibri"/>
              <a:cs typeface="Calibri"/>
              <a:sym typeface="Calibri"/>
            </a:endParaRPr>
          </a:p>
        </p:txBody>
      </p:sp>
    </p:spTree>
  </p:cSld>
  <p:clrMapOvr>
    <a:masterClrMapping/>
  </p:clrMapOvr>
  <p:extLst>
    <p:ext uri="{DCECCB84-F9BA-43D5-87BE-67443E8EF086}">
      <p15:sldGuideLst>
        <p15:guide id="1" pos="3840">
          <p15:clr>
            <a:srgbClr val="FBAE40"/>
          </p15:clr>
        </p15:guide>
        <p15:guide id="2" orient="horz" pos="2160">
          <p15:clr>
            <a:srgbClr val="FBAE40"/>
          </p15:clr>
        </p15:guide>
        <p15:guide id="3" pos="384">
          <p15:clr>
            <a:srgbClr val="FBAE40"/>
          </p15:clr>
        </p15:guide>
        <p15:guide id="4" pos="7296">
          <p15:clr>
            <a:srgbClr val="FBAE40"/>
          </p15:clr>
        </p15:guide>
        <p15:guide id="5" orient="horz" pos="288">
          <p15:clr>
            <a:srgbClr val="FBAE40"/>
          </p15:clr>
        </p15:guide>
        <p15:guide id="6" orient="horz" pos="4032">
          <p15:clr>
            <a:srgbClr val="FBAE40"/>
          </p15:clr>
        </p15:guide>
        <p15:guide id="7" orient="horz" pos="72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With Separation">
  <p:cSld name="3_With Separation">
    <p:spTree>
      <p:nvGrpSpPr>
        <p:cNvPr id="110" name="Shape 110"/>
        <p:cNvGrpSpPr/>
        <p:nvPr/>
      </p:nvGrpSpPr>
      <p:grpSpPr>
        <a:xfrm>
          <a:off x="0" y="0"/>
          <a:ext cx="0" cy="0"/>
          <a:chOff x="0" y="0"/>
          <a:chExt cx="0" cy="0"/>
        </a:xfrm>
      </p:grpSpPr>
      <p:sp>
        <p:nvSpPr>
          <p:cNvPr id="111" name="Google Shape;111;p11"/>
          <p:cNvSpPr/>
          <p:nvPr/>
        </p:nvSpPr>
        <p:spPr>
          <a:xfrm>
            <a:off x="11836452" y="0"/>
            <a:ext cx="360250" cy="6858000"/>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112" name="Google Shape;112;p11"/>
          <p:cNvSpPr txBox="1"/>
          <p:nvPr/>
        </p:nvSpPr>
        <p:spPr>
          <a:xfrm>
            <a:off x="11835747" y="6458579"/>
            <a:ext cx="343364" cy="23160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905">
                <a:solidFill>
                  <a:schemeClr val="lt1"/>
                </a:solidFill>
                <a:latin typeface="Montserrat SemiBold"/>
                <a:ea typeface="Montserrat SemiBold"/>
                <a:cs typeface="Montserrat SemiBold"/>
                <a:sym typeface="Montserrat SemiBold"/>
              </a:rPr>
              <a:t>‹#›</a:t>
            </a:fld>
            <a:endParaRPr sz="905">
              <a:solidFill>
                <a:schemeClr val="lt1"/>
              </a:solidFill>
              <a:latin typeface="Montserrat SemiBold"/>
              <a:ea typeface="Montserrat SemiBold"/>
              <a:cs typeface="Montserrat SemiBold"/>
              <a:sym typeface="Montserrat SemiBold"/>
            </a:endParaRPr>
          </a:p>
        </p:txBody>
      </p:sp>
      <p:pic>
        <p:nvPicPr>
          <p:cNvPr id="113" name="Google Shape;113;p11"/>
          <p:cNvPicPr preferRelativeResize="0"/>
          <p:nvPr/>
        </p:nvPicPr>
        <p:blipFill rotWithShape="1">
          <a:blip r:embed="rId2">
            <a:alphaModFix/>
          </a:blip>
          <a:srcRect b="0" l="0" r="0" t="0"/>
          <a:stretch/>
        </p:blipFill>
        <p:spPr>
          <a:xfrm>
            <a:off x="448392" y="6355531"/>
            <a:ext cx="1422432" cy="309823"/>
          </a:xfrm>
          <a:prstGeom prst="rect">
            <a:avLst/>
          </a:prstGeom>
          <a:noFill/>
          <a:ln>
            <a:noFill/>
          </a:ln>
        </p:spPr>
      </p:pic>
      <p:sp>
        <p:nvSpPr>
          <p:cNvPr id="114" name="Google Shape;114;p11"/>
          <p:cNvSpPr/>
          <p:nvPr/>
        </p:nvSpPr>
        <p:spPr>
          <a:xfrm>
            <a:off x="448390" y="764020"/>
            <a:ext cx="927240" cy="24813"/>
          </a:xfrm>
          <a:prstGeom prst="rect">
            <a:avLst/>
          </a:prstGeom>
          <a:gradFill>
            <a:gsLst>
              <a:gs pos="0">
                <a:srgbClr val="1D9AD6">
                  <a:alpha val="0"/>
                </a:srgbClr>
              </a:gs>
              <a:gs pos="35000">
                <a:srgbClr val="1D9AD6"/>
              </a:gs>
              <a:gs pos="67000">
                <a:srgbClr val="4A9FEA"/>
              </a:gs>
              <a:gs pos="100000">
                <a:srgbClr val="3276F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115" name="Google Shape;115;p11"/>
          <p:cNvSpPr txBox="1"/>
          <p:nvPr>
            <p:ph idx="1" type="body"/>
          </p:nvPr>
        </p:nvSpPr>
        <p:spPr>
          <a:xfrm>
            <a:off x="327371" y="240298"/>
            <a:ext cx="4955203" cy="424732"/>
          </a:xfrm>
          <a:prstGeom prst="rect">
            <a:avLst/>
          </a:prstGeom>
          <a:noFill/>
          <a:ln>
            <a:noFill/>
          </a:ln>
        </p:spPr>
        <p:txBody>
          <a:bodyPr anchorCtr="0" anchor="t" bIns="45700" lIns="91425" spcFirstLastPara="1" rIns="91425" wrap="square" tIns="45700">
            <a:spAutoFit/>
          </a:bodyPr>
          <a:lstStyle>
            <a:lvl1pPr indent="-228600" lvl="0" marL="457200" marR="0" rtl="0" algn="l">
              <a:spcBef>
                <a:spcPts val="480"/>
              </a:spcBef>
              <a:spcAft>
                <a:spcPts val="0"/>
              </a:spcAft>
              <a:buClr>
                <a:srgbClr val="1867DC"/>
              </a:buClr>
              <a:buSzPts val="2400"/>
              <a:buFont typeface="Arial"/>
              <a:buNone/>
              <a:defRPr b="0" i="0" sz="2400" u="none" cap="none" strike="noStrike">
                <a:solidFill>
                  <a:srgbClr val="1867DC"/>
                </a:solidFill>
                <a:latin typeface="Montserrat SemiBold"/>
                <a:ea typeface="Montserrat SemiBold"/>
                <a:cs typeface="Montserrat SemiBold"/>
                <a:sym typeface="Montserrat SemiBold"/>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w/o Tittle">
  <p:cSld name="CMC w/o Tittle">
    <p:spTree>
      <p:nvGrpSpPr>
        <p:cNvPr id="116" name="Shape 116"/>
        <p:cNvGrpSpPr/>
        <p:nvPr/>
      </p:nvGrpSpPr>
      <p:grpSpPr>
        <a:xfrm>
          <a:off x="0" y="0"/>
          <a:ext cx="0" cy="0"/>
          <a:chOff x="0" y="0"/>
          <a:chExt cx="0" cy="0"/>
        </a:xfrm>
      </p:grpSpPr>
      <p:sp>
        <p:nvSpPr>
          <p:cNvPr id="117" name="Google Shape;117;p12"/>
          <p:cNvSpPr/>
          <p:nvPr/>
        </p:nvSpPr>
        <p:spPr>
          <a:xfrm>
            <a:off x="11836452" y="0"/>
            <a:ext cx="360250" cy="6858000"/>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118" name="Google Shape;118;p12"/>
          <p:cNvSpPr txBox="1"/>
          <p:nvPr/>
        </p:nvSpPr>
        <p:spPr>
          <a:xfrm>
            <a:off x="11835747" y="6458579"/>
            <a:ext cx="343364" cy="23160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905">
                <a:solidFill>
                  <a:schemeClr val="lt1"/>
                </a:solidFill>
                <a:latin typeface="Montserrat SemiBold"/>
                <a:ea typeface="Montserrat SemiBold"/>
                <a:cs typeface="Montserrat SemiBold"/>
                <a:sym typeface="Montserrat SemiBold"/>
              </a:rPr>
              <a:t>‹#›</a:t>
            </a:fld>
            <a:endParaRPr sz="905">
              <a:solidFill>
                <a:schemeClr val="lt1"/>
              </a:solidFill>
              <a:latin typeface="Montserrat SemiBold"/>
              <a:ea typeface="Montserrat SemiBold"/>
              <a:cs typeface="Montserrat SemiBold"/>
              <a:sym typeface="Montserrat SemiBold"/>
            </a:endParaRPr>
          </a:p>
        </p:txBody>
      </p:sp>
      <p:pic>
        <p:nvPicPr>
          <p:cNvPr id="119" name="Google Shape;119;p12"/>
          <p:cNvPicPr preferRelativeResize="0"/>
          <p:nvPr/>
        </p:nvPicPr>
        <p:blipFill rotWithShape="1">
          <a:blip r:embed="rId2">
            <a:alphaModFix/>
          </a:blip>
          <a:srcRect b="0" l="0" r="0" t="0"/>
          <a:stretch/>
        </p:blipFill>
        <p:spPr>
          <a:xfrm>
            <a:off x="448391" y="6355530"/>
            <a:ext cx="1422432" cy="30982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Cover" type="title">
  <p:cSld name="TITLE">
    <p:bg>
      <p:bgPr>
        <a:solidFill>
          <a:srgbClr val="0E2BB8"/>
        </a:solidFill>
      </p:bgPr>
    </p:bg>
    <p:spTree>
      <p:nvGrpSpPr>
        <p:cNvPr id="120" name="Shape 120"/>
        <p:cNvGrpSpPr/>
        <p:nvPr/>
      </p:nvGrpSpPr>
      <p:grpSpPr>
        <a:xfrm>
          <a:off x="0" y="0"/>
          <a:ext cx="0" cy="0"/>
          <a:chOff x="0" y="0"/>
          <a:chExt cx="0" cy="0"/>
        </a:xfrm>
      </p:grpSpPr>
      <p:pic>
        <p:nvPicPr>
          <p:cNvPr id="121" name="Google Shape;121;p13"/>
          <p:cNvPicPr preferRelativeResize="0"/>
          <p:nvPr/>
        </p:nvPicPr>
        <p:blipFill rotWithShape="1">
          <a:blip r:embed="rId2">
            <a:alphaModFix/>
          </a:blip>
          <a:srcRect b="0" l="0" r="0" t="0"/>
          <a:stretch/>
        </p:blipFill>
        <p:spPr>
          <a:xfrm>
            <a:off x="0" y="0"/>
            <a:ext cx="12191695" cy="6858000"/>
          </a:xfrm>
          <a:prstGeom prst="rect">
            <a:avLst/>
          </a:prstGeom>
          <a:noFill/>
          <a:ln>
            <a:noFill/>
          </a:ln>
        </p:spPr>
      </p:pic>
      <p:sp>
        <p:nvSpPr>
          <p:cNvPr id="122" name="Google Shape;122;p13"/>
          <p:cNvSpPr/>
          <p:nvPr/>
        </p:nvSpPr>
        <p:spPr>
          <a:xfrm>
            <a:off x="-2095805" y="-2095805"/>
            <a:ext cx="7239305" cy="7239305"/>
          </a:xfrm>
          <a:prstGeom prst="ellipse">
            <a:avLst/>
          </a:prstGeom>
          <a:noFill/>
          <a:ln cap="flat" cmpd="sng" w="12700">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3"/>
          <p:cNvSpPr/>
          <p:nvPr/>
        </p:nvSpPr>
        <p:spPr>
          <a:xfrm>
            <a:off x="-1047902" y="-1047902"/>
            <a:ext cx="5143500" cy="5143500"/>
          </a:xfrm>
          <a:prstGeom prst="ellipse">
            <a:avLst/>
          </a:prstGeom>
          <a:noFill/>
          <a:ln cap="flat" cmpd="sng" w="12700">
            <a:solidFill>
              <a:srgbClr val="FFFFFF">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3"/>
          <p:cNvSpPr/>
          <p:nvPr/>
        </p:nvSpPr>
        <p:spPr>
          <a:xfrm>
            <a:off x="10287000" y="761695"/>
            <a:ext cx="1143000" cy="1143000"/>
          </a:xfrm>
          <a:prstGeom prst="ellipse">
            <a:avLst/>
          </a:prstGeom>
          <a:noFill/>
          <a:ln cap="flat" cmpd="sng" w="25400">
            <a:solidFill>
              <a:srgbClr val="8FBDF8">
                <a:alpha val="3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MC Global" id="125" name="Google Shape;125;p13"/>
          <p:cNvPicPr preferRelativeResize="0"/>
          <p:nvPr/>
        </p:nvPicPr>
        <p:blipFill rotWithShape="1">
          <a:blip r:embed="rId3">
            <a:alphaModFix/>
          </a:blip>
          <a:srcRect b="0" l="0" r="0" t="0"/>
          <a:stretch/>
        </p:blipFill>
        <p:spPr>
          <a:xfrm>
            <a:off x="448056" y="562356"/>
            <a:ext cx="3105302" cy="657454"/>
          </a:xfrm>
          <a:prstGeom prst="rect">
            <a:avLst/>
          </a:prstGeom>
          <a:noFill/>
          <a:ln>
            <a:noFill/>
          </a:ln>
        </p:spPr>
      </p:pic>
      <p:sp>
        <p:nvSpPr>
          <p:cNvPr id="126" name="Google Shape;126;p13"/>
          <p:cNvSpPr txBox="1"/>
          <p:nvPr/>
        </p:nvSpPr>
        <p:spPr>
          <a:xfrm>
            <a:off x="629107" y="6286500"/>
            <a:ext cx="285750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Montserrat"/>
              <a:buNone/>
            </a:pPr>
            <a:r>
              <a:rPr lang="en-US" sz="1050">
                <a:solidFill>
                  <a:srgbClr val="FFFFFF"/>
                </a:solidFill>
                <a:latin typeface="Montserrat"/>
                <a:ea typeface="Montserrat"/>
                <a:cs typeface="Montserrat"/>
                <a:sym typeface="Montserrat"/>
              </a:rPr>
              <a:t>www.cmcglobal.co.kr</a:t>
            </a:r>
            <a:endParaRPr/>
          </a:p>
        </p:txBody>
      </p:sp>
      <p:sp>
        <p:nvSpPr>
          <p:cNvPr id="127" name="Google Shape;127;p13"/>
          <p:cNvSpPr txBox="1"/>
          <p:nvPr>
            <p:ph idx="1" type="body"/>
          </p:nvPr>
        </p:nvSpPr>
        <p:spPr>
          <a:xfrm>
            <a:off x="629107" y="3072384"/>
            <a:ext cx="10881360" cy="18288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A9C7EA"/>
              </a:buClr>
              <a:buSzPts val="900"/>
              <a:buFont typeface="Arial"/>
              <a:buNone/>
              <a:defRPr b="1" i="0" sz="900" u="none" cap="none" strike="noStrike">
                <a:solidFill>
                  <a:srgbClr val="A9C7EA"/>
                </a:solidFill>
                <a:latin typeface="Montserrat"/>
                <a:ea typeface="Montserrat"/>
                <a:cs typeface="Montserrat"/>
                <a:sym typeface="Montserrat"/>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28" name="Google Shape;128;p13"/>
          <p:cNvSpPr txBox="1"/>
          <p:nvPr>
            <p:ph type="ctrTitle"/>
          </p:nvPr>
        </p:nvSpPr>
        <p:spPr>
          <a:xfrm>
            <a:off x="629107" y="3364992"/>
            <a:ext cx="10881360" cy="1298448"/>
          </a:xfrm>
          <a:prstGeom prst="rect">
            <a:avLst/>
          </a:prstGeom>
          <a:noFill/>
          <a:ln>
            <a:noFill/>
          </a:ln>
        </p:spPr>
        <p:txBody>
          <a:bodyPr anchorCtr="0" anchor="t" bIns="0" lIns="0" spcFirstLastPara="1" rIns="0" wrap="square" tIns="0">
            <a:noAutofit/>
          </a:bodyPr>
          <a:lstStyle>
            <a:lvl1pPr lvl="0" marR="0" rtl="0" algn="l">
              <a:lnSpc>
                <a:spcPct val="103000"/>
              </a:lnSpc>
              <a:spcBef>
                <a:spcPts val="0"/>
              </a:spcBef>
              <a:spcAft>
                <a:spcPts val="0"/>
              </a:spcAft>
              <a:buClr>
                <a:srgbClr val="FFFFFF"/>
              </a:buClr>
              <a:buSzPts val="4050"/>
              <a:buFont typeface="Montserrat"/>
              <a:buNone/>
              <a:defRPr b="1" i="0" sz="4050" u="none" cap="none" strike="noStrike">
                <a:solidFill>
                  <a:srgbClr val="FFFFFF"/>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9" name="Google Shape;129;p13"/>
          <p:cNvSpPr txBox="1"/>
          <p:nvPr>
            <p:ph idx="2" type="subTitle"/>
          </p:nvPr>
        </p:nvSpPr>
        <p:spPr>
          <a:xfrm>
            <a:off x="629107" y="4743907"/>
            <a:ext cx="9601200" cy="246888"/>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DCE8F7"/>
              </a:buClr>
              <a:buSzPts val="1350"/>
              <a:buFont typeface="Arial"/>
              <a:buNone/>
              <a:defRPr b="0" i="0" sz="1350" u="none" cap="none" strike="noStrike">
                <a:solidFill>
                  <a:srgbClr val="DCE8F7"/>
                </a:solidFill>
                <a:latin typeface="Barlow"/>
                <a:ea typeface="Barlow"/>
                <a:cs typeface="Barlow"/>
                <a:sym typeface="Barlow"/>
              </a:defRPr>
            </a:lvl1pPr>
            <a:lvl2pPr lvl="1"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lvl="2"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lvl="3"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lvl="4"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lvl="5"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lvl="6"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lvl="7"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lvl="8"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30" name="Google Shape;130;p13"/>
          <p:cNvSpPr txBox="1"/>
          <p:nvPr>
            <p:ph idx="3" type="body"/>
          </p:nvPr>
        </p:nvSpPr>
        <p:spPr>
          <a:xfrm>
            <a:off x="629107" y="5120640"/>
            <a:ext cx="9601200" cy="219456"/>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A9C7EA"/>
              </a:buClr>
              <a:buSzPts val="1050"/>
              <a:buFont typeface="Arial"/>
              <a:buNone/>
              <a:defRPr b="0" i="0" sz="1050" u="none" cap="none" strike="noStrike">
                <a:solidFill>
                  <a:srgbClr val="A9C7EA"/>
                </a:solidFill>
                <a:latin typeface="Barlow"/>
                <a:ea typeface="Barlow"/>
                <a:cs typeface="Barlow"/>
                <a:sym typeface="Barlow"/>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Content">
  <p:cSld name="CMC Content">
    <p:bg>
      <p:bgPr>
        <a:solidFill>
          <a:srgbClr val="FFFFFF"/>
        </a:solidFill>
      </p:bgPr>
    </p:bg>
    <p:spTree>
      <p:nvGrpSpPr>
        <p:cNvPr id="131" name="Shape 131"/>
        <p:cNvGrpSpPr/>
        <p:nvPr/>
      </p:nvGrpSpPr>
      <p:grpSpPr>
        <a:xfrm>
          <a:off x="0" y="0"/>
          <a:ext cx="0" cy="0"/>
          <a:chOff x="0" y="0"/>
          <a:chExt cx="0" cy="0"/>
        </a:xfrm>
      </p:grpSpPr>
      <p:sp>
        <p:nvSpPr>
          <p:cNvPr id="132" name="Google Shape;132;p14"/>
          <p:cNvSpPr/>
          <p:nvPr/>
        </p:nvSpPr>
        <p:spPr>
          <a:xfrm>
            <a:off x="11839651" y="0"/>
            <a:ext cx="362102" cy="6858000"/>
          </a:xfrm>
          <a:prstGeom prst="rect">
            <a:avLst/>
          </a:prstGeom>
          <a:solidFill>
            <a:srgbClr val="1B4D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MC Global" id="133" name="Google Shape;133;p14"/>
          <p:cNvPicPr preferRelativeResize="0"/>
          <p:nvPr/>
        </p:nvPicPr>
        <p:blipFill rotWithShape="1">
          <a:blip r:embed="rId2">
            <a:alphaModFix/>
          </a:blip>
          <a:srcRect b="0" l="0" r="0" t="0"/>
          <a:stretch/>
        </p:blipFill>
        <p:spPr>
          <a:xfrm>
            <a:off x="9525305" y="6476695"/>
            <a:ext cx="1143000" cy="256946"/>
          </a:xfrm>
          <a:prstGeom prst="rect">
            <a:avLst/>
          </a:prstGeom>
          <a:noFill/>
          <a:ln>
            <a:noFill/>
          </a:ln>
        </p:spPr>
      </p:pic>
      <p:sp>
        <p:nvSpPr>
          <p:cNvPr id="134" name="Google Shape;134;p14"/>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1867DC"/>
              </a:buClr>
              <a:buSzPts val="825"/>
              <a:buFont typeface="Arial"/>
              <a:buNone/>
              <a:defRPr b="1" i="0" sz="825" u="none" cap="none" strike="noStrike">
                <a:solidFill>
                  <a:srgbClr val="1867DC"/>
                </a:solidFill>
                <a:latin typeface="Montserrat"/>
                <a:ea typeface="Montserrat"/>
                <a:cs typeface="Montserrat"/>
                <a:sym typeface="Montserrat"/>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35" name="Google Shape;135;p14"/>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B2F5B"/>
              </a:buClr>
              <a:buSzPts val="2000"/>
              <a:buFont typeface="Montserrat"/>
              <a:buNone/>
              <a:defRPr b="1" i="0" sz="2000" u="none" cap="none" strike="noStrike">
                <a:solidFill>
                  <a:srgbClr val="0B2F5B"/>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w/o Tittle">
  <p:cSld name="CMC w/o Tittle">
    <p:spTree>
      <p:nvGrpSpPr>
        <p:cNvPr id="137" name="Shape 137"/>
        <p:cNvGrpSpPr/>
        <p:nvPr/>
      </p:nvGrpSpPr>
      <p:grpSpPr>
        <a:xfrm>
          <a:off x="0" y="0"/>
          <a:ext cx="0" cy="0"/>
          <a:chOff x="0" y="0"/>
          <a:chExt cx="0" cy="0"/>
        </a:xfrm>
      </p:grpSpPr>
      <p:sp>
        <p:nvSpPr>
          <p:cNvPr id="138" name="Google Shape;138;p16"/>
          <p:cNvSpPr/>
          <p:nvPr/>
        </p:nvSpPr>
        <p:spPr>
          <a:xfrm>
            <a:off x="11836452" y="0"/>
            <a:ext cx="360250" cy="6858000"/>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139" name="Google Shape;139;p16"/>
          <p:cNvSpPr txBox="1"/>
          <p:nvPr/>
        </p:nvSpPr>
        <p:spPr>
          <a:xfrm>
            <a:off x="11835747" y="6458579"/>
            <a:ext cx="343364" cy="23160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905">
                <a:solidFill>
                  <a:schemeClr val="lt1"/>
                </a:solidFill>
                <a:latin typeface="Montserrat SemiBold"/>
                <a:ea typeface="Montserrat SemiBold"/>
                <a:cs typeface="Montserrat SemiBold"/>
                <a:sym typeface="Montserrat SemiBold"/>
              </a:rPr>
              <a:t>‹#›</a:t>
            </a:fld>
            <a:endParaRPr sz="905">
              <a:solidFill>
                <a:schemeClr val="lt1"/>
              </a:solidFill>
              <a:latin typeface="Montserrat SemiBold"/>
              <a:ea typeface="Montserrat SemiBold"/>
              <a:cs typeface="Montserrat SemiBold"/>
              <a:sym typeface="Montserrat SemiBold"/>
            </a:endParaRPr>
          </a:p>
        </p:txBody>
      </p:sp>
      <p:pic>
        <p:nvPicPr>
          <p:cNvPr id="140" name="Google Shape;140;p16"/>
          <p:cNvPicPr preferRelativeResize="0"/>
          <p:nvPr/>
        </p:nvPicPr>
        <p:blipFill rotWithShape="1">
          <a:blip r:embed="rId2">
            <a:alphaModFix/>
          </a:blip>
          <a:srcRect b="0" l="0" r="0" t="0"/>
          <a:stretch/>
        </p:blipFill>
        <p:spPr>
          <a:xfrm>
            <a:off x="448391" y="6355530"/>
            <a:ext cx="1422432" cy="30982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With BG">
  <p:cSld name="3_With BG">
    <p:spTree>
      <p:nvGrpSpPr>
        <p:cNvPr id="141" name="Shape 141"/>
        <p:cNvGrpSpPr/>
        <p:nvPr/>
      </p:nvGrpSpPr>
      <p:grpSpPr>
        <a:xfrm>
          <a:off x="0" y="0"/>
          <a:ext cx="0" cy="0"/>
          <a:chOff x="0" y="0"/>
          <a:chExt cx="0" cy="0"/>
        </a:xfrm>
      </p:grpSpPr>
      <p:sp>
        <p:nvSpPr>
          <p:cNvPr id="142" name="Google Shape;142;p17"/>
          <p:cNvSpPr/>
          <p:nvPr/>
        </p:nvSpPr>
        <p:spPr>
          <a:xfrm flipH="1">
            <a:off x="2" y="-10160"/>
            <a:ext cx="12191999" cy="6858000"/>
          </a:xfrm>
          <a:prstGeom prst="rect">
            <a:avLst/>
          </a:prstGeom>
          <a:gradFill>
            <a:gsLst>
              <a:gs pos="0">
                <a:srgbClr val="1D9AD6">
                  <a:alpha val="0"/>
                </a:srgbClr>
              </a:gs>
              <a:gs pos="100000">
                <a:srgbClr val="1D9AD6">
                  <a:alpha val="13725"/>
                </a:srgbClr>
              </a:gs>
            </a:gsLst>
            <a:lin ang="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solidFill>
                <a:schemeClr val="lt1"/>
              </a:solidFill>
              <a:latin typeface="Calibri"/>
              <a:ea typeface="Calibri"/>
              <a:cs typeface="Calibri"/>
              <a:sym typeface="Calibri"/>
            </a:endParaRPr>
          </a:p>
        </p:txBody>
      </p:sp>
      <p:sp>
        <p:nvSpPr>
          <p:cNvPr id="143" name="Google Shape;143;p17"/>
          <p:cNvSpPr/>
          <p:nvPr/>
        </p:nvSpPr>
        <p:spPr>
          <a:xfrm rot="-5400000">
            <a:off x="5909233" y="580294"/>
            <a:ext cx="365760" cy="12199777"/>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latin typeface="Calibri"/>
              <a:ea typeface="Calibri"/>
              <a:cs typeface="Calibri"/>
              <a:sym typeface="Calibri"/>
            </a:endParaRPr>
          </a:p>
        </p:txBody>
      </p:sp>
      <p:pic>
        <p:nvPicPr>
          <p:cNvPr id="144" name="Google Shape;144;p17"/>
          <p:cNvPicPr preferRelativeResize="0"/>
          <p:nvPr/>
        </p:nvPicPr>
        <p:blipFill rotWithShape="1">
          <a:blip r:embed="rId2">
            <a:alphaModFix/>
          </a:blip>
          <a:srcRect b="0" l="0" r="0" t="0"/>
          <a:stretch/>
        </p:blipFill>
        <p:spPr>
          <a:xfrm>
            <a:off x="10761999" y="6555937"/>
            <a:ext cx="1119493" cy="243840"/>
          </a:xfrm>
          <a:prstGeom prst="rect">
            <a:avLst/>
          </a:prstGeom>
          <a:noFill/>
          <a:ln>
            <a:noFill/>
          </a:ln>
        </p:spPr>
      </p:pic>
      <p:sp>
        <p:nvSpPr>
          <p:cNvPr id="145" name="Google Shape;145;p17"/>
          <p:cNvSpPr txBox="1"/>
          <p:nvPr>
            <p:ph type="title"/>
          </p:nvPr>
        </p:nvSpPr>
        <p:spPr>
          <a:xfrm>
            <a:off x="544387" y="243835"/>
            <a:ext cx="10917186" cy="5608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Clr>
                <a:srgbClr val="1867DC"/>
              </a:buClr>
              <a:buSzPts val="2800"/>
              <a:buFont typeface="Calibri"/>
              <a:buNone/>
              <a:defRPr b="0" i="0" sz="2800" u="none" cap="none" strike="noStrike">
                <a:solidFill>
                  <a:srgbClr val="1867DC"/>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Cover" type="title">
  <p:cSld name="TITLE">
    <p:bg>
      <p:bgPr>
        <a:solidFill>
          <a:srgbClr val="0E2BB8"/>
        </a:solidFill>
      </p:bgPr>
    </p:bg>
    <p:spTree>
      <p:nvGrpSpPr>
        <p:cNvPr id="146" name="Shape 146"/>
        <p:cNvGrpSpPr/>
        <p:nvPr/>
      </p:nvGrpSpPr>
      <p:grpSpPr>
        <a:xfrm>
          <a:off x="0" y="0"/>
          <a:ext cx="0" cy="0"/>
          <a:chOff x="0" y="0"/>
          <a:chExt cx="0" cy="0"/>
        </a:xfrm>
      </p:grpSpPr>
      <p:pic>
        <p:nvPicPr>
          <p:cNvPr id="147" name="Google Shape;147;p18"/>
          <p:cNvPicPr preferRelativeResize="0"/>
          <p:nvPr/>
        </p:nvPicPr>
        <p:blipFill rotWithShape="1">
          <a:blip r:embed="rId2">
            <a:alphaModFix/>
          </a:blip>
          <a:srcRect b="0" l="0" r="0" t="0"/>
          <a:stretch/>
        </p:blipFill>
        <p:spPr>
          <a:xfrm>
            <a:off x="0" y="0"/>
            <a:ext cx="12191695" cy="6858000"/>
          </a:xfrm>
          <a:prstGeom prst="rect">
            <a:avLst/>
          </a:prstGeom>
          <a:noFill/>
          <a:ln>
            <a:noFill/>
          </a:ln>
        </p:spPr>
      </p:pic>
      <p:sp>
        <p:nvSpPr>
          <p:cNvPr id="148" name="Google Shape;148;p18"/>
          <p:cNvSpPr/>
          <p:nvPr/>
        </p:nvSpPr>
        <p:spPr>
          <a:xfrm>
            <a:off x="-2095805" y="-2095805"/>
            <a:ext cx="7239305" cy="7239305"/>
          </a:xfrm>
          <a:prstGeom prst="ellipse">
            <a:avLst/>
          </a:prstGeom>
          <a:noFill/>
          <a:ln cap="flat" cmpd="sng" w="12700">
            <a:solidFill>
              <a:srgbClr val="FFFFFF">
                <a:alpha val="1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8"/>
          <p:cNvSpPr/>
          <p:nvPr/>
        </p:nvSpPr>
        <p:spPr>
          <a:xfrm>
            <a:off x="-1047902" y="-1047902"/>
            <a:ext cx="5143500" cy="5143500"/>
          </a:xfrm>
          <a:prstGeom prst="ellipse">
            <a:avLst/>
          </a:prstGeom>
          <a:noFill/>
          <a:ln cap="flat" cmpd="sng" w="12700">
            <a:solidFill>
              <a:srgbClr val="FFFFFF">
                <a:alpha val="16078"/>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8"/>
          <p:cNvSpPr/>
          <p:nvPr/>
        </p:nvSpPr>
        <p:spPr>
          <a:xfrm>
            <a:off x="10287000" y="761695"/>
            <a:ext cx="1143000" cy="1143000"/>
          </a:xfrm>
          <a:prstGeom prst="ellipse">
            <a:avLst/>
          </a:prstGeom>
          <a:noFill/>
          <a:ln cap="flat" cmpd="sng" w="25400">
            <a:solidFill>
              <a:srgbClr val="8FBDF8">
                <a:alpha val="34902"/>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MC Global" id="151" name="Google Shape;151;p18"/>
          <p:cNvPicPr preferRelativeResize="0"/>
          <p:nvPr/>
        </p:nvPicPr>
        <p:blipFill rotWithShape="1">
          <a:blip r:embed="rId3">
            <a:alphaModFix/>
          </a:blip>
          <a:srcRect b="0" l="0" r="0" t="0"/>
          <a:stretch/>
        </p:blipFill>
        <p:spPr>
          <a:xfrm>
            <a:off x="448056" y="562356"/>
            <a:ext cx="3105302" cy="657454"/>
          </a:xfrm>
          <a:prstGeom prst="rect">
            <a:avLst/>
          </a:prstGeom>
          <a:noFill/>
          <a:ln>
            <a:noFill/>
          </a:ln>
        </p:spPr>
      </p:pic>
      <p:sp>
        <p:nvSpPr>
          <p:cNvPr id="152" name="Google Shape;152;p18"/>
          <p:cNvSpPr txBox="1"/>
          <p:nvPr/>
        </p:nvSpPr>
        <p:spPr>
          <a:xfrm>
            <a:off x="629107" y="6286500"/>
            <a:ext cx="2857500"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Montserrat"/>
              <a:buNone/>
            </a:pPr>
            <a:r>
              <a:rPr lang="en-US" sz="1050">
                <a:solidFill>
                  <a:srgbClr val="FFFFFF"/>
                </a:solidFill>
                <a:latin typeface="Montserrat"/>
                <a:ea typeface="Montserrat"/>
                <a:cs typeface="Montserrat"/>
                <a:sym typeface="Montserrat"/>
              </a:rPr>
              <a:t>www.cmcglobal.co.kr</a:t>
            </a:r>
            <a:endParaRPr/>
          </a:p>
        </p:txBody>
      </p:sp>
      <p:sp>
        <p:nvSpPr>
          <p:cNvPr id="153" name="Google Shape;153;p18"/>
          <p:cNvSpPr txBox="1"/>
          <p:nvPr/>
        </p:nvSpPr>
        <p:spPr>
          <a:xfrm rot="-5400000">
            <a:off x="10371125" y="5416906"/>
            <a:ext cx="2691079" cy="11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B4E3"/>
              </a:buClr>
              <a:buSzPts val="800"/>
              <a:buFont typeface="Montserrat"/>
              <a:buNone/>
            </a:pPr>
            <a:r>
              <a:rPr lang="en-US" sz="800">
                <a:solidFill>
                  <a:srgbClr val="8EB4E3"/>
                </a:solidFill>
                <a:latin typeface="Montserrat"/>
                <a:ea typeface="Montserrat"/>
                <a:cs typeface="Montserrat"/>
                <a:sym typeface="Montserrat"/>
              </a:rPr>
              <a:t>Copyright ©2026 CMC Global. All Rights Reserved</a:t>
            </a:r>
            <a:endParaRPr/>
          </a:p>
        </p:txBody>
      </p:sp>
      <p:sp>
        <p:nvSpPr>
          <p:cNvPr id="154" name="Google Shape;154;p18"/>
          <p:cNvSpPr txBox="1"/>
          <p:nvPr/>
        </p:nvSpPr>
        <p:spPr>
          <a:xfrm>
            <a:off x="9620402" y="6286500"/>
            <a:ext cx="1943100" cy="11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B4E3"/>
              </a:buClr>
              <a:buSzPts val="800"/>
              <a:buFont typeface="Montserrat"/>
              <a:buNone/>
            </a:pPr>
            <a:r>
              <a:rPr lang="en-US" sz="800">
                <a:solidFill>
                  <a:srgbClr val="8EB4E3"/>
                </a:solidFill>
                <a:latin typeface="Montserrat"/>
                <a:ea typeface="Montserrat"/>
                <a:cs typeface="Montserrat"/>
                <a:sym typeface="Montserrat"/>
              </a:rPr>
              <a:t>CONFIDENTIAL</a:t>
            </a:r>
            <a:endParaRPr/>
          </a:p>
        </p:txBody>
      </p:sp>
      <p:sp>
        <p:nvSpPr>
          <p:cNvPr id="155" name="Google Shape;155;p18"/>
          <p:cNvSpPr txBox="1"/>
          <p:nvPr>
            <p:ph idx="1" type="body"/>
          </p:nvPr>
        </p:nvSpPr>
        <p:spPr>
          <a:xfrm>
            <a:off x="629107" y="3072384"/>
            <a:ext cx="10881360" cy="182880"/>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A9C7EA"/>
              </a:buClr>
              <a:buSzPts val="900"/>
              <a:buFont typeface="Arial"/>
              <a:buNone/>
              <a:defRPr b="1" i="0" sz="900" u="none" cap="none" strike="noStrike">
                <a:solidFill>
                  <a:srgbClr val="A9C7EA"/>
                </a:solidFill>
                <a:latin typeface="Montserrat"/>
                <a:ea typeface="Montserrat"/>
                <a:cs typeface="Montserrat"/>
                <a:sym typeface="Montserrat"/>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56" name="Google Shape;156;p18"/>
          <p:cNvSpPr txBox="1"/>
          <p:nvPr>
            <p:ph type="ctrTitle"/>
          </p:nvPr>
        </p:nvSpPr>
        <p:spPr>
          <a:xfrm>
            <a:off x="629107" y="3364992"/>
            <a:ext cx="10881360" cy="1298448"/>
          </a:xfrm>
          <a:prstGeom prst="rect">
            <a:avLst/>
          </a:prstGeom>
          <a:noFill/>
          <a:ln>
            <a:noFill/>
          </a:ln>
        </p:spPr>
        <p:txBody>
          <a:bodyPr anchorCtr="0" anchor="t" bIns="0" lIns="0" spcFirstLastPara="1" rIns="0" wrap="square" tIns="0">
            <a:noAutofit/>
          </a:bodyPr>
          <a:lstStyle>
            <a:lvl1pPr lvl="0" marR="0" rtl="0" algn="l">
              <a:lnSpc>
                <a:spcPct val="103000"/>
              </a:lnSpc>
              <a:spcBef>
                <a:spcPts val="0"/>
              </a:spcBef>
              <a:spcAft>
                <a:spcPts val="0"/>
              </a:spcAft>
              <a:buClr>
                <a:srgbClr val="FFFFFF"/>
              </a:buClr>
              <a:buSzPts val="4050"/>
              <a:buFont typeface="Montserrat"/>
              <a:buNone/>
              <a:defRPr b="1" i="0" sz="4050" u="none" cap="none" strike="noStrike">
                <a:solidFill>
                  <a:srgbClr val="FFFFFF"/>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p18"/>
          <p:cNvSpPr txBox="1"/>
          <p:nvPr>
            <p:ph idx="2" type="subTitle"/>
          </p:nvPr>
        </p:nvSpPr>
        <p:spPr>
          <a:xfrm>
            <a:off x="629107" y="4743907"/>
            <a:ext cx="9601200" cy="246888"/>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DCE8F7"/>
              </a:buClr>
              <a:buSzPts val="1350"/>
              <a:buFont typeface="Arial"/>
              <a:buNone/>
              <a:defRPr b="0" i="0" sz="1350" u="none" cap="none" strike="noStrike">
                <a:solidFill>
                  <a:srgbClr val="DCE8F7"/>
                </a:solidFill>
                <a:latin typeface="Barlow"/>
                <a:ea typeface="Barlow"/>
                <a:cs typeface="Barlow"/>
                <a:sym typeface="Barlow"/>
              </a:defRPr>
            </a:lvl1pPr>
            <a:lvl2pPr lvl="1"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lvl="2"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lvl="3"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lvl="4"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lvl="5"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lvl="6"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lvl="7"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lvl="8"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58" name="Google Shape;158;p18"/>
          <p:cNvSpPr txBox="1"/>
          <p:nvPr>
            <p:ph idx="3" type="body"/>
          </p:nvPr>
        </p:nvSpPr>
        <p:spPr>
          <a:xfrm>
            <a:off x="629107" y="5120640"/>
            <a:ext cx="9601200" cy="219456"/>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A9C7EA"/>
              </a:buClr>
              <a:buSzPts val="1050"/>
              <a:buFont typeface="Arial"/>
              <a:buNone/>
              <a:defRPr b="0" i="0" sz="1050" u="none" cap="none" strike="noStrike">
                <a:solidFill>
                  <a:srgbClr val="A9C7EA"/>
                </a:solidFill>
                <a:latin typeface="Barlow"/>
                <a:ea typeface="Barlow"/>
                <a:cs typeface="Barlow"/>
                <a:sym typeface="Barlow"/>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Content">
  <p:cSld name="CMC Content">
    <p:bg>
      <p:bgPr>
        <a:solidFill>
          <a:srgbClr val="FFFFFF"/>
        </a:solidFill>
      </p:bgPr>
    </p:bg>
    <p:spTree>
      <p:nvGrpSpPr>
        <p:cNvPr id="159" name="Shape 159"/>
        <p:cNvGrpSpPr/>
        <p:nvPr/>
      </p:nvGrpSpPr>
      <p:grpSpPr>
        <a:xfrm>
          <a:off x="0" y="0"/>
          <a:ext cx="0" cy="0"/>
          <a:chOff x="0" y="0"/>
          <a:chExt cx="0" cy="0"/>
        </a:xfrm>
      </p:grpSpPr>
      <p:sp>
        <p:nvSpPr>
          <p:cNvPr id="160" name="Google Shape;160;p19"/>
          <p:cNvSpPr/>
          <p:nvPr/>
        </p:nvSpPr>
        <p:spPr>
          <a:xfrm>
            <a:off x="11839651" y="0"/>
            <a:ext cx="362102" cy="6858000"/>
          </a:xfrm>
          <a:prstGeom prst="rect">
            <a:avLst/>
          </a:prstGeom>
          <a:solidFill>
            <a:srgbClr val="1B4D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CMC Global" id="161" name="Google Shape;161;p19"/>
          <p:cNvPicPr preferRelativeResize="0"/>
          <p:nvPr/>
        </p:nvPicPr>
        <p:blipFill rotWithShape="1">
          <a:blip r:embed="rId2">
            <a:alphaModFix/>
          </a:blip>
          <a:srcRect b="0" l="0" r="0" t="0"/>
          <a:stretch/>
        </p:blipFill>
        <p:spPr>
          <a:xfrm>
            <a:off x="9525305" y="6476695"/>
            <a:ext cx="1143000" cy="256946"/>
          </a:xfrm>
          <a:prstGeom prst="rect">
            <a:avLst/>
          </a:prstGeom>
          <a:noFill/>
          <a:ln>
            <a:noFill/>
          </a:ln>
        </p:spPr>
      </p:pic>
      <p:sp>
        <p:nvSpPr>
          <p:cNvPr id="162" name="Google Shape;162;p19"/>
          <p:cNvSpPr txBox="1"/>
          <p:nvPr/>
        </p:nvSpPr>
        <p:spPr>
          <a:xfrm rot="-5400000">
            <a:off x="10557662" y="4223614"/>
            <a:ext cx="2194560"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497D"/>
              </a:buClr>
              <a:buSzPts val="825"/>
              <a:buFont typeface="Montserrat"/>
              <a:buNone/>
            </a:pPr>
            <a:r>
              <a:rPr lang="en-US" sz="825">
                <a:solidFill>
                  <a:srgbClr val="1F497D"/>
                </a:solidFill>
                <a:latin typeface="Montserrat"/>
                <a:ea typeface="Montserrat"/>
                <a:cs typeface="Montserrat"/>
                <a:sym typeface="Montserrat"/>
              </a:rPr>
              <a:t>Qcells CORE Pro · Technical Design</a:t>
            </a:r>
            <a:endParaRPr/>
          </a:p>
        </p:txBody>
      </p:sp>
      <p:sp>
        <p:nvSpPr>
          <p:cNvPr id="163" name="Google Shape;163;p19"/>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lvl1pPr indent="-228600" lvl="0" marL="457200" marR="0" rtl="0" algn="l">
              <a:lnSpc>
                <a:spcPct val="100000"/>
              </a:lnSpc>
              <a:spcBef>
                <a:spcPts val="0"/>
              </a:spcBef>
              <a:spcAft>
                <a:spcPts val="0"/>
              </a:spcAft>
              <a:buClr>
                <a:srgbClr val="1867DC"/>
              </a:buClr>
              <a:buSzPts val="825"/>
              <a:buFont typeface="Arial"/>
              <a:buNone/>
              <a:defRPr b="1" i="0" sz="825" u="none" cap="none" strike="noStrike">
                <a:solidFill>
                  <a:srgbClr val="1867DC"/>
                </a:solidFill>
                <a:latin typeface="Montserrat"/>
                <a:ea typeface="Montserrat"/>
                <a:cs typeface="Montserrat"/>
                <a:sym typeface="Montserrat"/>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164" name="Google Shape;164;p19"/>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B2F5B"/>
              </a:buClr>
              <a:buSzPts val="2000"/>
              <a:buFont typeface="Montserrat"/>
              <a:buNone/>
              <a:defRPr b="1" i="0" sz="2000" u="none" cap="none" strike="noStrike">
                <a:solidFill>
                  <a:srgbClr val="0B2F5B"/>
                </a:solidFill>
                <a:latin typeface="Montserrat"/>
                <a:ea typeface="Montserrat"/>
                <a:cs typeface="Montserrat"/>
                <a:sym typeface="Montserra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65" name="Shape 165"/>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MC Section Header">
  <p:cSld name="CMC Section Header">
    <p:spTree>
      <p:nvGrpSpPr>
        <p:cNvPr id="166" name="Shape 166"/>
        <p:cNvGrpSpPr/>
        <p:nvPr/>
      </p:nvGrpSpPr>
      <p:grpSpPr>
        <a:xfrm>
          <a:off x="0" y="0"/>
          <a:ext cx="0" cy="0"/>
          <a:chOff x="0" y="0"/>
          <a:chExt cx="0" cy="0"/>
        </a:xfrm>
      </p:grpSpPr>
      <p:pic>
        <p:nvPicPr>
          <p:cNvPr id="167" name="Google Shape;167;p21"/>
          <p:cNvPicPr preferRelativeResize="0"/>
          <p:nvPr/>
        </p:nvPicPr>
        <p:blipFill rotWithShape="1">
          <a:blip r:embed="rId2">
            <a:alphaModFix/>
          </a:blip>
          <a:srcRect b="0" l="0" r="0" t="0"/>
          <a:stretch/>
        </p:blipFill>
        <p:spPr>
          <a:xfrm>
            <a:off x="240" y="135"/>
            <a:ext cx="12191521" cy="6857731"/>
          </a:xfrm>
          <a:prstGeom prst="rect">
            <a:avLst/>
          </a:prstGeom>
          <a:noFill/>
          <a:ln>
            <a:noFill/>
          </a:ln>
        </p:spPr>
      </p:pic>
      <p:sp>
        <p:nvSpPr>
          <p:cNvPr id="168" name="Google Shape;168;p21"/>
          <p:cNvSpPr txBox="1"/>
          <p:nvPr/>
        </p:nvSpPr>
        <p:spPr>
          <a:xfrm>
            <a:off x="628864" y="6292403"/>
            <a:ext cx="1856598" cy="25930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85">
                <a:solidFill>
                  <a:schemeClr val="lt1"/>
                </a:solidFill>
                <a:latin typeface="Montserrat"/>
                <a:ea typeface="Montserrat"/>
                <a:cs typeface="Montserrat"/>
                <a:sym typeface="Montserrat"/>
              </a:rPr>
              <a:t>www.cmcglobal.com.vn</a:t>
            </a:r>
            <a:endParaRPr/>
          </a:p>
        </p:txBody>
      </p:sp>
      <p:pic>
        <p:nvPicPr>
          <p:cNvPr id="169" name="Google Shape;169;p21"/>
          <p:cNvPicPr preferRelativeResize="0"/>
          <p:nvPr/>
        </p:nvPicPr>
        <p:blipFill rotWithShape="1">
          <a:blip r:embed="rId3">
            <a:alphaModFix/>
          </a:blip>
          <a:srcRect b="-8863" l="-4956" r="-6463" t="1"/>
          <a:stretch/>
        </p:blipFill>
        <p:spPr>
          <a:xfrm>
            <a:off x="445122" y="565598"/>
            <a:ext cx="3108522" cy="661498"/>
          </a:xfrm>
          <a:prstGeom prst="rect">
            <a:avLst/>
          </a:prstGeom>
          <a:noFill/>
          <a:ln>
            <a:noFill/>
          </a:ln>
        </p:spPr>
      </p:pic>
      <p:sp>
        <p:nvSpPr>
          <p:cNvPr id="170" name="Google Shape;170;p21"/>
          <p:cNvSpPr txBox="1"/>
          <p:nvPr/>
        </p:nvSpPr>
        <p:spPr>
          <a:xfrm rot="5400000">
            <a:off x="10595325" y="5212187"/>
            <a:ext cx="2470543" cy="194954"/>
          </a:xfrm>
          <a:prstGeom prst="rect">
            <a:avLst/>
          </a:prstGeom>
          <a:noFill/>
          <a:ln>
            <a:noFill/>
          </a:ln>
        </p:spPr>
        <p:txBody>
          <a:bodyPr anchorCtr="0" anchor="t" bIns="41350" lIns="82700" spcFirstLastPara="1" rIns="82700" wrap="square" tIns="41350">
            <a:spAutoFit/>
          </a:bodyPr>
          <a:lstStyle/>
          <a:p>
            <a:pPr indent="0" lvl="0" marL="0" marR="0" rtl="0" algn="r">
              <a:spcBef>
                <a:spcPts val="0"/>
              </a:spcBef>
              <a:spcAft>
                <a:spcPts val="0"/>
              </a:spcAft>
              <a:buNone/>
            </a:pPr>
            <a:r>
              <a:rPr lang="en-US" sz="724">
                <a:solidFill>
                  <a:srgbClr val="8CB3E3"/>
                </a:solidFill>
                <a:latin typeface="Montserrat"/>
                <a:ea typeface="Montserrat"/>
                <a:cs typeface="Montserrat"/>
                <a:sym typeface="Montserrat"/>
              </a:rPr>
              <a:t>Copyright ©2024 CMC Global. All Rights Reserved</a:t>
            </a:r>
            <a:endParaRPr/>
          </a:p>
        </p:txBody>
      </p:sp>
      <p:sp>
        <p:nvSpPr>
          <p:cNvPr id="171" name="Google Shape;171;p21"/>
          <p:cNvSpPr txBox="1"/>
          <p:nvPr>
            <p:ph idx="1" type="body"/>
          </p:nvPr>
        </p:nvSpPr>
        <p:spPr>
          <a:xfrm>
            <a:off x="628650" y="4074392"/>
            <a:ext cx="10959970" cy="221801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1194"/>
              </a:spcBef>
              <a:spcAft>
                <a:spcPts val="0"/>
              </a:spcAft>
              <a:buClr>
                <a:schemeClr val="lt1"/>
              </a:buClr>
              <a:buSzPts val="5970"/>
              <a:buFont typeface="Arial"/>
              <a:buNone/>
              <a:defRPr b="0" i="0" sz="5970" u="none" cap="none" strike="noStrike">
                <a:solidFill>
                  <a:schemeClr val="lt1"/>
                </a:solidFill>
                <a:latin typeface="Montserrat ExtraBold"/>
                <a:ea typeface="Montserrat ExtraBold"/>
                <a:cs typeface="Montserrat ExtraBold"/>
                <a:sym typeface="Montserrat ExtraBold"/>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extLst>
    <p:ext uri="{DCECCB84-F9BA-43D5-87BE-67443E8EF086}">
      <p15:sldGuideLst>
        <p15:guide id="1" pos="4246">
          <p15:clr>
            <a:srgbClr val="FBAE40"/>
          </p15:clr>
        </p15:guide>
        <p15:guide id="2" pos="8134">
          <p15:clr>
            <a:srgbClr val="FBAE40"/>
          </p15:clr>
        </p15:guide>
        <p15:guide id="3" pos="358">
          <p15:clr>
            <a:srgbClr val="FBAE40"/>
          </p15:clr>
        </p15:guide>
        <p15:guide id="4" orient="horz" pos="348">
          <p15:clr>
            <a:srgbClr val="FBAE40"/>
          </p15:clr>
        </p15:guide>
        <p15:guide id="5" orient="horz" pos="440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2" name="Shape 172"/>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Blank">
  <p:cSld name="1_Blank">
    <p:spTree>
      <p:nvGrpSpPr>
        <p:cNvPr id="173" name="Shape 173"/>
        <p:cNvGrpSpPr/>
        <p:nvPr/>
      </p:nvGrpSpPr>
      <p:grpSpPr>
        <a:xfrm>
          <a:off x="0" y="0"/>
          <a:ext cx="0" cy="0"/>
          <a:chOff x="0" y="0"/>
          <a:chExt cx="0" cy="0"/>
        </a:xfrm>
      </p:grpSpPr>
      <p:pic>
        <p:nvPicPr>
          <p:cNvPr id="174" name="Google Shape;174;p23"/>
          <p:cNvPicPr preferRelativeResize="0"/>
          <p:nvPr/>
        </p:nvPicPr>
        <p:blipFill rotWithShape="1">
          <a:blip r:embed="rId2">
            <a:alphaModFix amt="39000"/>
          </a:blip>
          <a:srcRect b="4791" l="0" r="0" t="4791"/>
          <a:stretch/>
        </p:blipFill>
        <p:spPr>
          <a:xfrm>
            <a:off x="952062" y="959685"/>
            <a:ext cx="3967164" cy="1717757"/>
          </a:xfrm>
          <a:prstGeom prst="roundRect">
            <a:avLst>
              <a:gd fmla="val 8908" name="adj"/>
            </a:avLst>
          </a:prstGeom>
          <a:solidFill>
            <a:schemeClr val="lt1"/>
          </a:solidFill>
          <a:ln>
            <a:noFill/>
          </a:ln>
        </p:spPr>
      </p:pic>
      <p:sp>
        <p:nvSpPr>
          <p:cNvPr id="175" name="Google Shape;175;p23"/>
          <p:cNvSpPr/>
          <p:nvPr/>
        </p:nvSpPr>
        <p:spPr>
          <a:xfrm>
            <a:off x="952062" y="956028"/>
            <a:ext cx="3967164" cy="1711784"/>
          </a:xfrm>
          <a:prstGeom prst="roundRect">
            <a:avLst>
              <a:gd fmla="val 8615" name="adj"/>
            </a:avLst>
          </a:prstGeom>
          <a:gradFill>
            <a:gsLst>
              <a:gs pos="0">
                <a:srgbClr val="2E6FF2">
                  <a:alpha val="0"/>
                </a:srgbClr>
              </a:gs>
              <a:gs pos="6000">
                <a:srgbClr val="2E6FF2">
                  <a:alpha val="0"/>
                </a:srgbClr>
              </a:gs>
              <a:gs pos="79000">
                <a:srgbClr val="0079F3"/>
              </a:gs>
              <a:gs pos="100000">
                <a:srgbClr val="0F9EE3">
                  <a:alpha val="94902"/>
                </a:srgbClr>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799">
              <a:solidFill>
                <a:srgbClr val="FFFFFF"/>
              </a:solidFill>
              <a:latin typeface="Calibri"/>
              <a:ea typeface="Calibri"/>
              <a:cs typeface="Calibri"/>
              <a:sym typeface="Calibri"/>
            </a:endParaRPr>
          </a:p>
        </p:txBody>
      </p:sp>
      <p:sp>
        <p:nvSpPr>
          <p:cNvPr id="176" name="Google Shape;176;p23"/>
          <p:cNvSpPr/>
          <p:nvPr/>
        </p:nvSpPr>
        <p:spPr>
          <a:xfrm>
            <a:off x="5451522" y="4387959"/>
            <a:ext cx="5561970" cy="2166354"/>
          </a:xfrm>
          <a:prstGeom prst="roundRect">
            <a:avLst>
              <a:gd fmla="val 1908" name="adj"/>
            </a:avLst>
          </a:prstGeom>
          <a:noFill/>
          <a:ln cap="flat" cmpd="sng" w="25400">
            <a:solidFill>
              <a:srgbClr val="F4F8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177" name="Google Shape;177;p23"/>
          <p:cNvGrpSpPr/>
          <p:nvPr/>
        </p:nvGrpSpPr>
        <p:grpSpPr>
          <a:xfrm>
            <a:off x="5645854" y="4103165"/>
            <a:ext cx="3070074" cy="576636"/>
            <a:chOff x="6606120" y="3381088"/>
            <a:chExt cx="3752849" cy="704850"/>
          </a:xfrm>
        </p:grpSpPr>
        <p:grpSp>
          <p:nvGrpSpPr>
            <p:cNvPr id="178" name="Google Shape;178;p23"/>
            <p:cNvGrpSpPr/>
            <p:nvPr/>
          </p:nvGrpSpPr>
          <p:grpSpPr>
            <a:xfrm>
              <a:off x="6606120" y="3381088"/>
              <a:ext cx="3752849" cy="704850"/>
              <a:chOff x="8686303" y="1547150"/>
              <a:chExt cx="3752849" cy="704850"/>
            </a:xfrm>
          </p:grpSpPr>
          <p:sp>
            <p:nvSpPr>
              <p:cNvPr id="179" name="Google Shape;179;p23"/>
              <p:cNvSpPr/>
              <p:nvPr/>
            </p:nvSpPr>
            <p:spPr>
              <a:xfrm>
                <a:off x="9202467" y="1665575"/>
                <a:ext cx="3236685" cy="468000"/>
              </a:xfrm>
              <a:prstGeom prst="roundRect">
                <a:avLst>
                  <a:gd fmla="val 16667" name="adj"/>
                </a:avLst>
              </a:prstGeom>
              <a:solidFill>
                <a:srgbClr val="00A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09">
                    <a:solidFill>
                      <a:schemeClr val="lt1"/>
                    </a:solidFill>
                    <a:latin typeface="Montserrat"/>
                    <a:ea typeface="Montserrat"/>
                    <a:cs typeface="Montserrat"/>
                    <a:sym typeface="Montserrat"/>
                  </a:rPr>
                  <a:t>Achievements</a:t>
                </a:r>
                <a:endParaRPr sz="1309">
                  <a:solidFill>
                    <a:schemeClr val="lt1"/>
                  </a:solidFill>
                  <a:latin typeface="Montserrat"/>
                  <a:ea typeface="Montserrat"/>
                  <a:cs typeface="Montserrat"/>
                  <a:sym typeface="Montserrat"/>
                </a:endParaRPr>
              </a:p>
            </p:txBody>
          </p:sp>
          <p:sp>
            <p:nvSpPr>
              <p:cNvPr id="180" name="Google Shape;180;p23"/>
              <p:cNvSpPr/>
              <p:nvPr/>
            </p:nvSpPr>
            <p:spPr>
              <a:xfrm>
                <a:off x="8686303" y="1547150"/>
                <a:ext cx="704850" cy="704850"/>
              </a:xfrm>
              <a:prstGeom prst="ellipse">
                <a:avLst/>
              </a:prstGeom>
              <a:solidFill>
                <a:srgbClr val="00ADF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9">
                  <a:solidFill>
                    <a:schemeClr val="lt1"/>
                  </a:solidFill>
                  <a:latin typeface="Montserrat"/>
                  <a:ea typeface="Montserrat"/>
                  <a:cs typeface="Montserrat"/>
                  <a:sym typeface="Montserrat"/>
                </a:endParaRPr>
              </a:p>
            </p:txBody>
          </p:sp>
        </p:grpSp>
        <p:sp>
          <p:nvSpPr>
            <p:cNvPr id="181" name="Google Shape;181;p23"/>
            <p:cNvSpPr/>
            <p:nvPr/>
          </p:nvSpPr>
          <p:spPr>
            <a:xfrm>
              <a:off x="6713131" y="3524229"/>
              <a:ext cx="490827" cy="432000"/>
            </a:xfrm>
            <a:custGeom>
              <a:rect b="b" l="l" r="r" t="t"/>
              <a:pathLst>
                <a:path extrusionOk="0" h="10741" w="8943">
                  <a:moveTo>
                    <a:pt x="8430" y="1013"/>
                  </a:moveTo>
                  <a:cubicBezTo>
                    <a:pt x="8466" y="1013"/>
                    <a:pt x="8514" y="1025"/>
                    <a:pt x="8549" y="1061"/>
                  </a:cubicBezTo>
                  <a:cubicBezTo>
                    <a:pt x="8573" y="1084"/>
                    <a:pt x="8585" y="1132"/>
                    <a:pt x="8585" y="1180"/>
                  </a:cubicBezTo>
                  <a:lnTo>
                    <a:pt x="8585" y="1846"/>
                  </a:lnTo>
                  <a:cubicBezTo>
                    <a:pt x="8585" y="2454"/>
                    <a:pt x="8454" y="2906"/>
                    <a:pt x="8192" y="3204"/>
                  </a:cubicBezTo>
                  <a:cubicBezTo>
                    <a:pt x="7954" y="3466"/>
                    <a:pt x="7633" y="3585"/>
                    <a:pt x="7323" y="3716"/>
                  </a:cubicBezTo>
                  <a:cubicBezTo>
                    <a:pt x="7180" y="3775"/>
                    <a:pt x="7025" y="3835"/>
                    <a:pt x="6894" y="3918"/>
                  </a:cubicBezTo>
                  <a:cubicBezTo>
                    <a:pt x="7037" y="3466"/>
                    <a:pt x="7121" y="2989"/>
                    <a:pt x="7121" y="2501"/>
                  </a:cubicBezTo>
                  <a:lnTo>
                    <a:pt x="7121" y="1811"/>
                  </a:lnTo>
                  <a:cubicBezTo>
                    <a:pt x="7335" y="1811"/>
                    <a:pt x="7549" y="1715"/>
                    <a:pt x="7680" y="1513"/>
                  </a:cubicBezTo>
                  <a:lnTo>
                    <a:pt x="7799" y="1334"/>
                  </a:lnTo>
                  <a:cubicBezTo>
                    <a:pt x="7954" y="1132"/>
                    <a:pt x="8168" y="1013"/>
                    <a:pt x="8430" y="1013"/>
                  </a:cubicBezTo>
                  <a:close/>
                  <a:moveTo>
                    <a:pt x="453" y="1025"/>
                  </a:moveTo>
                  <a:cubicBezTo>
                    <a:pt x="703" y="1025"/>
                    <a:pt x="929" y="1144"/>
                    <a:pt x="1072" y="1358"/>
                  </a:cubicBezTo>
                  <a:lnTo>
                    <a:pt x="1191" y="1537"/>
                  </a:lnTo>
                  <a:cubicBezTo>
                    <a:pt x="1322" y="1703"/>
                    <a:pt x="1537" y="1834"/>
                    <a:pt x="1763" y="1834"/>
                  </a:cubicBezTo>
                  <a:lnTo>
                    <a:pt x="1763" y="2513"/>
                  </a:lnTo>
                  <a:cubicBezTo>
                    <a:pt x="1763" y="2989"/>
                    <a:pt x="1834" y="3466"/>
                    <a:pt x="1977" y="3930"/>
                  </a:cubicBezTo>
                  <a:cubicBezTo>
                    <a:pt x="1846" y="3835"/>
                    <a:pt x="1703" y="3775"/>
                    <a:pt x="1548" y="3716"/>
                  </a:cubicBezTo>
                  <a:cubicBezTo>
                    <a:pt x="1239" y="3597"/>
                    <a:pt x="929" y="3466"/>
                    <a:pt x="691" y="3204"/>
                  </a:cubicBezTo>
                  <a:cubicBezTo>
                    <a:pt x="417" y="2906"/>
                    <a:pt x="286" y="2454"/>
                    <a:pt x="286" y="1846"/>
                  </a:cubicBezTo>
                  <a:lnTo>
                    <a:pt x="286" y="1191"/>
                  </a:lnTo>
                  <a:cubicBezTo>
                    <a:pt x="286" y="1144"/>
                    <a:pt x="298" y="1096"/>
                    <a:pt x="334" y="1072"/>
                  </a:cubicBezTo>
                  <a:cubicBezTo>
                    <a:pt x="358" y="1037"/>
                    <a:pt x="405" y="1025"/>
                    <a:pt x="453" y="1025"/>
                  </a:cubicBezTo>
                  <a:close/>
                  <a:moveTo>
                    <a:pt x="7097" y="299"/>
                  </a:moveTo>
                  <a:lnTo>
                    <a:pt x="7097" y="668"/>
                  </a:lnTo>
                  <a:lnTo>
                    <a:pt x="5739" y="668"/>
                  </a:lnTo>
                  <a:cubicBezTo>
                    <a:pt x="5656" y="668"/>
                    <a:pt x="5585" y="739"/>
                    <a:pt x="5585" y="834"/>
                  </a:cubicBezTo>
                  <a:cubicBezTo>
                    <a:pt x="5585" y="918"/>
                    <a:pt x="5656" y="1001"/>
                    <a:pt x="5739" y="1001"/>
                  </a:cubicBezTo>
                  <a:lnTo>
                    <a:pt x="6775" y="1001"/>
                  </a:lnTo>
                  <a:lnTo>
                    <a:pt x="6775" y="2513"/>
                  </a:lnTo>
                  <a:cubicBezTo>
                    <a:pt x="6787" y="3882"/>
                    <a:pt x="6132" y="5192"/>
                    <a:pt x="5013" y="6014"/>
                  </a:cubicBezTo>
                  <a:lnTo>
                    <a:pt x="4894" y="6097"/>
                  </a:lnTo>
                  <a:cubicBezTo>
                    <a:pt x="4870" y="6097"/>
                    <a:pt x="4835" y="6085"/>
                    <a:pt x="4811" y="6085"/>
                  </a:cubicBezTo>
                  <a:lnTo>
                    <a:pt x="4037" y="6085"/>
                  </a:lnTo>
                  <a:cubicBezTo>
                    <a:pt x="4001" y="6085"/>
                    <a:pt x="3977" y="6085"/>
                    <a:pt x="3942" y="6097"/>
                  </a:cubicBezTo>
                  <a:lnTo>
                    <a:pt x="3823" y="6014"/>
                  </a:lnTo>
                  <a:cubicBezTo>
                    <a:pt x="2727" y="5192"/>
                    <a:pt x="2060" y="3882"/>
                    <a:pt x="2060" y="2513"/>
                  </a:cubicBezTo>
                  <a:lnTo>
                    <a:pt x="2060" y="1001"/>
                  </a:lnTo>
                  <a:lnTo>
                    <a:pt x="5013" y="1001"/>
                  </a:lnTo>
                  <a:cubicBezTo>
                    <a:pt x="5108" y="1001"/>
                    <a:pt x="5180" y="918"/>
                    <a:pt x="5180" y="834"/>
                  </a:cubicBezTo>
                  <a:cubicBezTo>
                    <a:pt x="5180" y="739"/>
                    <a:pt x="5108" y="668"/>
                    <a:pt x="5013" y="668"/>
                  </a:cubicBezTo>
                  <a:lnTo>
                    <a:pt x="1727" y="668"/>
                  </a:lnTo>
                  <a:lnTo>
                    <a:pt x="1727" y="299"/>
                  </a:lnTo>
                  <a:close/>
                  <a:moveTo>
                    <a:pt x="4823" y="6395"/>
                  </a:moveTo>
                  <a:cubicBezTo>
                    <a:pt x="4882" y="6395"/>
                    <a:pt x="4930" y="6442"/>
                    <a:pt x="4930" y="6502"/>
                  </a:cubicBezTo>
                  <a:lnTo>
                    <a:pt x="4930" y="6621"/>
                  </a:lnTo>
                  <a:cubicBezTo>
                    <a:pt x="4930" y="6680"/>
                    <a:pt x="4882" y="6728"/>
                    <a:pt x="4823" y="6728"/>
                  </a:cubicBezTo>
                  <a:lnTo>
                    <a:pt x="4049" y="6728"/>
                  </a:lnTo>
                  <a:cubicBezTo>
                    <a:pt x="3989" y="6728"/>
                    <a:pt x="3942" y="6680"/>
                    <a:pt x="3942" y="6621"/>
                  </a:cubicBezTo>
                  <a:lnTo>
                    <a:pt x="3942" y="6502"/>
                  </a:lnTo>
                  <a:cubicBezTo>
                    <a:pt x="3942" y="6442"/>
                    <a:pt x="3989" y="6395"/>
                    <a:pt x="4049" y="6395"/>
                  </a:cubicBezTo>
                  <a:close/>
                  <a:moveTo>
                    <a:pt x="4620" y="7037"/>
                  </a:moveTo>
                  <a:lnTo>
                    <a:pt x="4620" y="8573"/>
                  </a:lnTo>
                  <a:lnTo>
                    <a:pt x="4239" y="8573"/>
                  </a:lnTo>
                  <a:lnTo>
                    <a:pt x="4239" y="7037"/>
                  </a:lnTo>
                  <a:close/>
                  <a:moveTo>
                    <a:pt x="5418" y="8883"/>
                  </a:moveTo>
                  <a:cubicBezTo>
                    <a:pt x="5525" y="8883"/>
                    <a:pt x="5608" y="8978"/>
                    <a:pt x="5608" y="9073"/>
                  </a:cubicBezTo>
                  <a:lnTo>
                    <a:pt x="5608" y="9252"/>
                  </a:lnTo>
                  <a:lnTo>
                    <a:pt x="4215" y="9252"/>
                  </a:lnTo>
                  <a:cubicBezTo>
                    <a:pt x="4120" y="9252"/>
                    <a:pt x="4049" y="9335"/>
                    <a:pt x="4049" y="9419"/>
                  </a:cubicBezTo>
                  <a:cubicBezTo>
                    <a:pt x="4049" y="9514"/>
                    <a:pt x="4120" y="9585"/>
                    <a:pt x="4215" y="9585"/>
                  </a:cubicBezTo>
                  <a:lnTo>
                    <a:pt x="6370" y="9585"/>
                  </a:lnTo>
                  <a:cubicBezTo>
                    <a:pt x="6382" y="9585"/>
                    <a:pt x="6406" y="9597"/>
                    <a:pt x="6418" y="9609"/>
                  </a:cubicBezTo>
                  <a:lnTo>
                    <a:pt x="6561" y="10371"/>
                  </a:lnTo>
                  <a:cubicBezTo>
                    <a:pt x="6561" y="10383"/>
                    <a:pt x="6561" y="10407"/>
                    <a:pt x="6549" y="10407"/>
                  </a:cubicBezTo>
                  <a:cubicBezTo>
                    <a:pt x="6549" y="10407"/>
                    <a:pt x="6537" y="10419"/>
                    <a:pt x="6525" y="10419"/>
                  </a:cubicBezTo>
                  <a:lnTo>
                    <a:pt x="2370" y="10419"/>
                  </a:lnTo>
                  <a:cubicBezTo>
                    <a:pt x="2358" y="10419"/>
                    <a:pt x="2334" y="10407"/>
                    <a:pt x="2334" y="10407"/>
                  </a:cubicBezTo>
                  <a:cubicBezTo>
                    <a:pt x="2334" y="10407"/>
                    <a:pt x="2322" y="10383"/>
                    <a:pt x="2322" y="10371"/>
                  </a:cubicBezTo>
                  <a:lnTo>
                    <a:pt x="2477" y="9609"/>
                  </a:lnTo>
                  <a:cubicBezTo>
                    <a:pt x="2477" y="9597"/>
                    <a:pt x="2489" y="9585"/>
                    <a:pt x="2513" y="9585"/>
                  </a:cubicBezTo>
                  <a:lnTo>
                    <a:pt x="3489" y="9585"/>
                  </a:lnTo>
                  <a:cubicBezTo>
                    <a:pt x="3573" y="9585"/>
                    <a:pt x="3644" y="9514"/>
                    <a:pt x="3644" y="9419"/>
                  </a:cubicBezTo>
                  <a:cubicBezTo>
                    <a:pt x="3644" y="9335"/>
                    <a:pt x="3573" y="9252"/>
                    <a:pt x="3489" y="9252"/>
                  </a:cubicBezTo>
                  <a:lnTo>
                    <a:pt x="3263" y="9252"/>
                  </a:lnTo>
                  <a:lnTo>
                    <a:pt x="3263" y="9073"/>
                  </a:lnTo>
                  <a:cubicBezTo>
                    <a:pt x="3263" y="8978"/>
                    <a:pt x="3346" y="8883"/>
                    <a:pt x="3453" y="8883"/>
                  </a:cubicBezTo>
                  <a:close/>
                  <a:moveTo>
                    <a:pt x="1739" y="1"/>
                  </a:moveTo>
                  <a:cubicBezTo>
                    <a:pt x="1572" y="1"/>
                    <a:pt x="1441" y="132"/>
                    <a:pt x="1441" y="299"/>
                  </a:cubicBezTo>
                  <a:lnTo>
                    <a:pt x="1441" y="703"/>
                  </a:lnTo>
                  <a:cubicBezTo>
                    <a:pt x="1441" y="858"/>
                    <a:pt x="1572" y="1001"/>
                    <a:pt x="1739" y="1001"/>
                  </a:cubicBezTo>
                  <a:lnTo>
                    <a:pt x="1775" y="1001"/>
                  </a:lnTo>
                  <a:lnTo>
                    <a:pt x="1775" y="1513"/>
                  </a:lnTo>
                  <a:cubicBezTo>
                    <a:pt x="1656" y="1513"/>
                    <a:pt x="1537" y="1453"/>
                    <a:pt x="1477" y="1358"/>
                  </a:cubicBezTo>
                  <a:lnTo>
                    <a:pt x="1358" y="1180"/>
                  </a:lnTo>
                  <a:cubicBezTo>
                    <a:pt x="1156" y="882"/>
                    <a:pt x="822" y="715"/>
                    <a:pt x="477" y="715"/>
                  </a:cubicBezTo>
                  <a:cubicBezTo>
                    <a:pt x="346" y="715"/>
                    <a:pt x="227" y="763"/>
                    <a:pt x="132" y="846"/>
                  </a:cubicBezTo>
                  <a:cubicBezTo>
                    <a:pt x="48" y="941"/>
                    <a:pt x="1" y="1049"/>
                    <a:pt x="1" y="1191"/>
                  </a:cubicBezTo>
                  <a:lnTo>
                    <a:pt x="1" y="1846"/>
                  </a:lnTo>
                  <a:cubicBezTo>
                    <a:pt x="1" y="3418"/>
                    <a:pt x="798" y="3751"/>
                    <a:pt x="1465" y="4013"/>
                  </a:cubicBezTo>
                  <a:cubicBezTo>
                    <a:pt x="1810" y="4168"/>
                    <a:pt x="2144" y="4299"/>
                    <a:pt x="2299" y="4609"/>
                  </a:cubicBezTo>
                  <a:cubicBezTo>
                    <a:pt x="2334" y="4704"/>
                    <a:pt x="2322" y="4775"/>
                    <a:pt x="2263" y="4847"/>
                  </a:cubicBezTo>
                  <a:cubicBezTo>
                    <a:pt x="2212" y="4914"/>
                    <a:pt x="2120" y="4946"/>
                    <a:pt x="2041" y="4946"/>
                  </a:cubicBezTo>
                  <a:cubicBezTo>
                    <a:pt x="2008" y="4946"/>
                    <a:pt x="1978" y="4940"/>
                    <a:pt x="1953" y="4930"/>
                  </a:cubicBezTo>
                  <a:cubicBezTo>
                    <a:pt x="1834" y="4882"/>
                    <a:pt x="1822" y="4728"/>
                    <a:pt x="1834" y="4632"/>
                  </a:cubicBezTo>
                  <a:cubicBezTo>
                    <a:pt x="1834" y="4537"/>
                    <a:pt x="1775" y="4466"/>
                    <a:pt x="1679" y="4466"/>
                  </a:cubicBezTo>
                  <a:cubicBezTo>
                    <a:pt x="1596" y="4466"/>
                    <a:pt x="1513" y="4525"/>
                    <a:pt x="1513" y="4609"/>
                  </a:cubicBezTo>
                  <a:cubicBezTo>
                    <a:pt x="1513" y="4740"/>
                    <a:pt x="1537" y="5085"/>
                    <a:pt x="1834" y="5228"/>
                  </a:cubicBezTo>
                  <a:cubicBezTo>
                    <a:pt x="1906" y="5252"/>
                    <a:pt x="1965" y="5263"/>
                    <a:pt x="2037" y="5263"/>
                  </a:cubicBezTo>
                  <a:cubicBezTo>
                    <a:pt x="2203" y="5263"/>
                    <a:pt x="2382" y="5192"/>
                    <a:pt x="2489" y="5073"/>
                  </a:cubicBezTo>
                  <a:cubicBezTo>
                    <a:pt x="2501" y="5061"/>
                    <a:pt x="2513" y="5049"/>
                    <a:pt x="2513" y="5025"/>
                  </a:cubicBezTo>
                  <a:cubicBezTo>
                    <a:pt x="2811" y="5502"/>
                    <a:pt x="3215" y="5942"/>
                    <a:pt x="3680" y="6275"/>
                  </a:cubicBezTo>
                  <a:lnTo>
                    <a:pt x="3703" y="6299"/>
                  </a:lnTo>
                  <a:cubicBezTo>
                    <a:pt x="3656" y="6347"/>
                    <a:pt x="3644" y="6430"/>
                    <a:pt x="3644" y="6514"/>
                  </a:cubicBezTo>
                  <a:lnTo>
                    <a:pt x="3644" y="6633"/>
                  </a:lnTo>
                  <a:cubicBezTo>
                    <a:pt x="3644" y="6835"/>
                    <a:pt x="3775" y="6990"/>
                    <a:pt x="3965" y="7037"/>
                  </a:cubicBezTo>
                  <a:lnTo>
                    <a:pt x="3965" y="8585"/>
                  </a:lnTo>
                  <a:lnTo>
                    <a:pt x="3489" y="8585"/>
                  </a:lnTo>
                  <a:cubicBezTo>
                    <a:pt x="3203" y="8585"/>
                    <a:pt x="2977" y="8811"/>
                    <a:pt x="2977" y="9085"/>
                  </a:cubicBezTo>
                  <a:lnTo>
                    <a:pt x="2977" y="9264"/>
                  </a:lnTo>
                  <a:lnTo>
                    <a:pt x="2549" y="9264"/>
                  </a:lnTo>
                  <a:cubicBezTo>
                    <a:pt x="2382" y="9264"/>
                    <a:pt x="2239" y="9383"/>
                    <a:pt x="2203" y="9550"/>
                  </a:cubicBezTo>
                  <a:lnTo>
                    <a:pt x="2060" y="10312"/>
                  </a:lnTo>
                  <a:cubicBezTo>
                    <a:pt x="2037" y="10419"/>
                    <a:pt x="2060" y="10514"/>
                    <a:pt x="2132" y="10609"/>
                  </a:cubicBezTo>
                  <a:cubicBezTo>
                    <a:pt x="2203" y="10693"/>
                    <a:pt x="2299" y="10740"/>
                    <a:pt x="2394" y="10740"/>
                  </a:cubicBezTo>
                  <a:lnTo>
                    <a:pt x="6549" y="10740"/>
                  </a:lnTo>
                  <a:cubicBezTo>
                    <a:pt x="6656" y="10740"/>
                    <a:pt x="6763" y="10693"/>
                    <a:pt x="6823" y="10609"/>
                  </a:cubicBezTo>
                  <a:cubicBezTo>
                    <a:pt x="6894" y="10514"/>
                    <a:pt x="6906" y="10419"/>
                    <a:pt x="6894" y="10312"/>
                  </a:cubicBezTo>
                  <a:lnTo>
                    <a:pt x="6740" y="9550"/>
                  </a:lnTo>
                  <a:cubicBezTo>
                    <a:pt x="6716" y="9383"/>
                    <a:pt x="6561" y="9264"/>
                    <a:pt x="6406" y="9264"/>
                  </a:cubicBezTo>
                  <a:lnTo>
                    <a:pt x="5966" y="9264"/>
                  </a:lnTo>
                  <a:lnTo>
                    <a:pt x="5966" y="9085"/>
                  </a:lnTo>
                  <a:cubicBezTo>
                    <a:pt x="5966" y="8811"/>
                    <a:pt x="5751" y="8585"/>
                    <a:pt x="5466" y="8585"/>
                  </a:cubicBezTo>
                  <a:lnTo>
                    <a:pt x="4989" y="8585"/>
                  </a:lnTo>
                  <a:lnTo>
                    <a:pt x="4989" y="7037"/>
                  </a:lnTo>
                  <a:cubicBezTo>
                    <a:pt x="5168" y="6990"/>
                    <a:pt x="5299" y="6835"/>
                    <a:pt x="5299" y="6633"/>
                  </a:cubicBezTo>
                  <a:lnTo>
                    <a:pt x="5299" y="6502"/>
                  </a:lnTo>
                  <a:cubicBezTo>
                    <a:pt x="5299" y="6430"/>
                    <a:pt x="5275" y="6359"/>
                    <a:pt x="5239" y="6275"/>
                  </a:cubicBezTo>
                  <a:lnTo>
                    <a:pt x="5275" y="6264"/>
                  </a:lnTo>
                  <a:cubicBezTo>
                    <a:pt x="5728" y="5918"/>
                    <a:pt x="6132" y="5490"/>
                    <a:pt x="6430" y="5013"/>
                  </a:cubicBezTo>
                  <a:cubicBezTo>
                    <a:pt x="6442" y="5025"/>
                    <a:pt x="6466" y="5049"/>
                    <a:pt x="6466" y="5061"/>
                  </a:cubicBezTo>
                  <a:cubicBezTo>
                    <a:pt x="6585" y="5180"/>
                    <a:pt x="6740" y="5252"/>
                    <a:pt x="6906" y="5252"/>
                  </a:cubicBezTo>
                  <a:cubicBezTo>
                    <a:pt x="6978" y="5252"/>
                    <a:pt x="7061" y="5240"/>
                    <a:pt x="7121" y="5204"/>
                  </a:cubicBezTo>
                  <a:cubicBezTo>
                    <a:pt x="7418" y="5073"/>
                    <a:pt x="7442" y="4751"/>
                    <a:pt x="7430" y="4597"/>
                  </a:cubicBezTo>
                  <a:cubicBezTo>
                    <a:pt x="7430" y="4513"/>
                    <a:pt x="7359" y="4454"/>
                    <a:pt x="7263" y="4454"/>
                  </a:cubicBezTo>
                  <a:cubicBezTo>
                    <a:pt x="7180" y="4454"/>
                    <a:pt x="7121" y="4525"/>
                    <a:pt x="7121" y="4609"/>
                  </a:cubicBezTo>
                  <a:cubicBezTo>
                    <a:pt x="7121" y="4716"/>
                    <a:pt x="7097" y="4871"/>
                    <a:pt x="7002" y="4906"/>
                  </a:cubicBezTo>
                  <a:cubicBezTo>
                    <a:pt x="6975" y="4920"/>
                    <a:pt x="6945" y="4925"/>
                    <a:pt x="6913" y="4925"/>
                  </a:cubicBezTo>
                  <a:cubicBezTo>
                    <a:pt x="6831" y="4925"/>
                    <a:pt x="6740" y="4886"/>
                    <a:pt x="6680" y="4835"/>
                  </a:cubicBezTo>
                  <a:cubicBezTo>
                    <a:pt x="6621" y="4775"/>
                    <a:pt x="6609" y="4692"/>
                    <a:pt x="6656" y="4597"/>
                  </a:cubicBezTo>
                  <a:cubicBezTo>
                    <a:pt x="6799" y="4287"/>
                    <a:pt x="7121" y="4156"/>
                    <a:pt x="7490" y="4001"/>
                  </a:cubicBezTo>
                  <a:cubicBezTo>
                    <a:pt x="8145" y="3739"/>
                    <a:pt x="8942" y="3406"/>
                    <a:pt x="8942" y="1834"/>
                  </a:cubicBezTo>
                  <a:lnTo>
                    <a:pt x="8942" y="1180"/>
                  </a:lnTo>
                  <a:cubicBezTo>
                    <a:pt x="8907" y="1061"/>
                    <a:pt x="8847" y="941"/>
                    <a:pt x="8752" y="846"/>
                  </a:cubicBezTo>
                  <a:cubicBezTo>
                    <a:pt x="8668" y="763"/>
                    <a:pt x="8549" y="715"/>
                    <a:pt x="8406" y="715"/>
                  </a:cubicBezTo>
                  <a:cubicBezTo>
                    <a:pt x="8049" y="715"/>
                    <a:pt x="7728" y="894"/>
                    <a:pt x="7537" y="1180"/>
                  </a:cubicBezTo>
                  <a:lnTo>
                    <a:pt x="7418" y="1358"/>
                  </a:lnTo>
                  <a:cubicBezTo>
                    <a:pt x="7335" y="1453"/>
                    <a:pt x="7240" y="1513"/>
                    <a:pt x="7121" y="1513"/>
                  </a:cubicBezTo>
                  <a:lnTo>
                    <a:pt x="7121" y="1001"/>
                  </a:lnTo>
                  <a:lnTo>
                    <a:pt x="7144" y="1001"/>
                  </a:lnTo>
                  <a:cubicBezTo>
                    <a:pt x="7311" y="1001"/>
                    <a:pt x="7442" y="858"/>
                    <a:pt x="7442" y="703"/>
                  </a:cubicBezTo>
                  <a:lnTo>
                    <a:pt x="7442" y="299"/>
                  </a:lnTo>
                  <a:cubicBezTo>
                    <a:pt x="7442" y="132"/>
                    <a:pt x="7311" y="1"/>
                    <a:pt x="7144"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grpSp>
      <p:sp>
        <p:nvSpPr>
          <p:cNvPr id="182" name="Google Shape;182;p23"/>
          <p:cNvSpPr/>
          <p:nvPr/>
        </p:nvSpPr>
        <p:spPr>
          <a:xfrm>
            <a:off x="5434239" y="1180931"/>
            <a:ext cx="5581500" cy="2825351"/>
          </a:xfrm>
          <a:prstGeom prst="roundRect">
            <a:avLst>
              <a:gd fmla="val 1908" name="adj"/>
            </a:avLst>
          </a:prstGeom>
          <a:noFill/>
          <a:ln cap="flat" cmpd="sng" w="25400">
            <a:solidFill>
              <a:srgbClr val="F4F8F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183" name="Google Shape;183;p23"/>
          <p:cNvGrpSpPr/>
          <p:nvPr/>
        </p:nvGrpSpPr>
        <p:grpSpPr>
          <a:xfrm>
            <a:off x="5646267" y="933515"/>
            <a:ext cx="3261363" cy="576636"/>
            <a:chOff x="828947" y="1547150"/>
            <a:chExt cx="3986682" cy="704850"/>
          </a:xfrm>
        </p:grpSpPr>
        <p:sp>
          <p:nvSpPr>
            <p:cNvPr id="184" name="Google Shape;184;p23"/>
            <p:cNvSpPr/>
            <p:nvPr/>
          </p:nvSpPr>
          <p:spPr>
            <a:xfrm>
              <a:off x="1345111" y="1667352"/>
              <a:ext cx="3470518" cy="466223"/>
            </a:xfrm>
            <a:prstGeom prst="roundRect">
              <a:avLst>
                <a:gd fmla="val 16667" name="adj"/>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309">
                  <a:solidFill>
                    <a:srgbClr val="FFFFFF"/>
                  </a:solidFill>
                  <a:latin typeface="Montserrat"/>
                  <a:ea typeface="Montserrat"/>
                  <a:cs typeface="Montserrat"/>
                  <a:sym typeface="Montserrat"/>
                </a:rPr>
                <a:t>Pain Points</a:t>
              </a:r>
              <a:endParaRPr sz="1309">
                <a:solidFill>
                  <a:srgbClr val="FFFFFF"/>
                </a:solidFill>
                <a:latin typeface="Montserrat"/>
                <a:ea typeface="Montserrat"/>
                <a:cs typeface="Montserrat"/>
                <a:sym typeface="Montserrat"/>
              </a:endParaRPr>
            </a:p>
          </p:txBody>
        </p:sp>
        <p:sp>
          <p:nvSpPr>
            <p:cNvPr id="185" name="Google Shape;185;p23"/>
            <p:cNvSpPr/>
            <p:nvPr/>
          </p:nvSpPr>
          <p:spPr>
            <a:xfrm>
              <a:off x="828947" y="1547150"/>
              <a:ext cx="704850" cy="704850"/>
            </a:xfrm>
            <a:prstGeom prst="ellipse">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309">
                <a:solidFill>
                  <a:srgbClr val="FFFFFF"/>
                </a:solidFill>
                <a:latin typeface="Montserrat"/>
                <a:ea typeface="Montserrat"/>
                <a:cs typeface="Montserrat"/>
                <a:sym typeface="Montserrat"/>
              </a:endParaRPr>
            </a:p>
          </p:txBody>
        </p:sp>
        <p:grpSp>
          <p:nvGrpSpPr>
            <p:cNvPr id="186" name="Google Shape;186;p23"/>
            <p:cNvGrpSpPr/>
            <p:nvPr/>
          </p:nvGrpSpPr>
          <p:grpSpPr>
            <a:xfrm>
              <a:off x="962257" y="1678662"/>
              <a:ext cx="438229" cy="437800"/>
              <a:chOff x="3040984" y="3681059"/>
              <a:chExt cx="356164" cy="355815"/>
            </a:xfrm>
          </p:grpSpPr>
          <p:sp>
            <p:nvSpPr>
              <p:cNvPr id="187" name="Google Shape;187;p23"/>
              <p:cNvSpPr/>
              <p:nvPr/>
            </p:nvSpPr>
            <p:spPr>
              <a:xfrm>
                <a:off x="3040984" y="3681059"/>
                <a:ext cx="356164" cy="355815"/>
              </a:xfrm>
              <a:custGeom>
                <a:rect b="b" l="l" r="r" t="t"/>
                <a:pathLst>
                  <a:path extrusionOk="0" h="11205" w="11216">
                    <a:moveTo>
                      <a:pt x="5620" y="0"/>
                    </a:moveTo>
                    <a:cubicBezTo>
                      <a:pt x="4274" y="0"/>
                      <a:pt x="2965" y="488"/>
                      <a:pt x="1953" y="1369"/>
                    </a:cubicBezTo>
                    <a:cubicBezTo>
                      <a:pt x="1881" y="1429"/>
                      <a:pt x="1881" y="1536"/>
                      <a:pt x="1941" y="1608"/>
                    </a:cubicBezTo>
                    <a:cubicBezTo>
                      <a:pt x="1972" y="1645"/>
                      <a:pt x="2016" y="1663"/>
                      <a:pt x="2061" y="1663"/>
                    </a:cubicBezTo>
                    <a:cubicBezTo>
                      <a:pt x="2103" y="1663"/>
                      <a:pt x="2145" y="1648"/>
                      <a:pt x="2179" y="1620"/>
                    </a:cubicBezTo>
                    <a:cubicBezTo>
                      <a:pt x="3131" y="786"/>
                      <a:pt x="4358" y="346"/>
                      <a:pt x="5620" y="346"/>
                    </a:cubicBezTo>
                    <a:cubicBezTo>
                      <a:pt x="7013" y="346"/>
                      <a:pt x="8346" y="893"/>
                      <a:pt x="9335" y="1893"/>
                    </a:cubicBezTo>
                    <a:cubicBezTo>
                      <a:pt x="10335" y="2882"/>
                      <a:pt x="10882" y="4215"/>
                      <a:pt x="10882" y="5608"/>
                    </a:cubicBezTo>
                    <a:cubicBezTo>
                      <a:pt x="10882" y="7013"/>
                      <a:pt x="10335" y="8335"/>
                      <a:pt x="9335" y="9335"/>
                    </a:cubicBezTo>
                    <a:cubicBezTo>
                      <a:pt x="8346" y="10323"/>
                      <a:pt x="7013" y="10883"/>
                      <a:pt x="5620" y="10883"/>
                    </a:cubicBezTo>
                    <a:cubicBezTo>
                      <a:pt x="4215" y="10883"/>
                      <a:pt x="2893" y="10323"/>
                      <a:pt x="1893" y="9335"/>
                    </a:cubicBezTo>
                    <a:cubicBezTo>
                      <a:pt x="893" y="8335"/>
                      <a:pt x="345" y="7013"/>
                      <a:pt x="345" y="5608"/>
                    </a:cubicBezTo>
                    <a:cubicBezTo>
                      <a:pt x="345" y="4298"/>
                      <a:pt x="822" y="3048"/>
                      <a:pt x="1703" y="2084"/>
                    </a:cubicBezTo>
                    <a:cubicBezTo>
                      <a:pt x="1762" y="2012"/>
                      <a:pt x="1762" y="1905"/>
                      <a:pt x="1691" y="1846"/>
                    </a:cubicBezTo>
                    <a:cubicBezTo>
                      <a:pt x="1657" y="1817"/>
                      <a:pt x="1614" y="1802"/>
                      <a:pt x="1573" y="1802"/>
                    </a:cubicBezTo>
                    <a:cubicBezTo>
                      <a:pt x="1528" y="1802"/>
                      <a:pt x="1484" y="1820"/>
                      <a:pt x="1453" y="1858"/>
                    </a:cubicBezTo>
                    <a:cubicBezTo>
                      <a:pt x="512" y="2882"/>
                      <a:pt x="0" y="4227"/>
                      <a:pt x="0" y="5608"/>
                    </a:cubicBezTo>
                    <a:cubicBezTo>
                      <a:pt x="0" y="7096"/>
                      <a:pt x="583" y="8513"/>
                      <a:pt x="1643" y="9573"/>
                    </a:cubicBezTo>
                    <a:cubicBezTo>
                      <a:pt x="2703" y="10621"/>
                      <a:pt x="4096" y="11204"/>
                      <a:pt x="5608" y="11204"/>
                    </a:cubicBezTo>
                    <a:cubicBezTo>
                      <a:pt x="7108" y="11204"/>
                      <a:pt x="8501" y="10621"/>
                      <a:pt x="9561" y="9573"/>
                    </a:cubicBezTo>
                    <a:cubicBezTo>
                      <a:pt x="10620" y="8513"/>
                      <a:pt x="11204" y="7108"/>
                      <a:pt x="11204" y="5608"/>
                    </a:cubicBezTo>
                    <a:cubicBezTo>
                      <a:pt x="11216" y="4096"/>
                      <a:pt x="10632" y="2691"/>
                      <a:pt x="9573" y="1631"/>
                    </a:cubicBezTo>
                    <a:cubicBezTo>
                      <a:pt x="8525" y="572"/>
                      <a:pt x="7120" y="0"/>
                      <a:pt x="5620" y="0"/>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sp>
            <p:nvSpPr>
              <p:cNvPr id="188" name="Google Shape;188;p23"/>
              <p:cNvSpPr/>
              <p:nvPr/>
            </p:nvSpPr>
            <p:spPr>
              <a:xfrm>
                <a:off x="3183120" y="3921508"/>
                <a:ext cx="59414" cy="59382"/>
              </a:xfrm>
              <a:custGeom>
                <a:rect b="b" l="l" r="r" t="t"/>
                <a:pathLst>
                  <a:path extrusionOk="0" h="1870" w="1871">
                    <a:moveTo>
                      <a:pt x="929" y="334"/>
                    </a:moveTo>
                    <a:cubicBezTo>
                      <a:pt x="1263" y="334"/>
                      <a:pt x="1549" y="608"/>
                      <a:pt x="1549" y="941"/>
                    </a:cubicBezTo>
                    <a:cubicBezTo>
                      <a:pt x="1549" y="1263"/>
                      <a:pt x="1263" y="1548"/>
                      <a:pt x="929" y="1548"/>
                    </a:cubicBezTo>
                    <a:cubicBezTo>
                      <a:pt x="608" y="1548"/>
                      <a:pt x="334" y="1287"/>
                      <a:pt x="334" y="941"/>
                    </a:cubicBezTo>
                    <a:cubicBezTo>
                      <a:pt x="334" y="596"/>
                      <a:pt x="608" y="334"/>
                      <a:pt x="929" y="334"/>
                    </a:cubicBezTo>
                    <a:close/>
                    <a:moveTo>
                      <a:pt x="929" y="1"/>
                    </a:moveTo>
                    <a:cubicBezTo>
                      <a:pt x="429" y="1"/>
                      <a:pt x="1" y="417"/>
                      <a:pt x="1" y="941"/>
                    </a:cubicBezTo>
                    <a:cubicBezTo>
                      <a:pt x="1" y="1453"/>
                      <a:pt x="417" y="1870"/>
                      <a:pt x="929" y="1870"/>
                    </a:cubicBezTo>
                    <a:cubicBezTo>
                      <a:pt x="1191" y="1870"/>
                      <a:pt x="1430" y="1775"/>
                      <a:pt x="1608" y="1596"/>
                    </a:cubicBezTo>
                    <a:cubicBezTo>
                      <a:pt x="1787" y="1417"/>
                      <a:pt x="1870" y="1179"/>
                      <a:pt x="1870" y="941"/>
                    </a:cubicBezTo>
                    <a:cubicBezTo>
                      <a:pt x="1870" y="679"/>
                      <a:pt x="1763" y="453"/>
                      <a:pt x="1584" y="263"/>
                    </a:cubicBezTo>
                    <a:cubicBezTo>
                      <a:pt x="1406" y="108"/>
                      <a:pt x="1191" y="1"/>
                      <a:pt x="929"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sp>
            <p:nvSpPr>
              <p:cNvPr id="189" name="Google Shape;189;p23"/>
              <p:cNvSpPr/>
              <p:nvPr/>
            </p:nvSpPr>
            <p:spPr>
              <a:xfrm>
                <a:off x="3149110" y="3735868"/>
                <a:ext cx="141056" cy="174716"/>
              </a:xfrm>
              <a:custGeom>
                <a:rect b="b" l="l" r="r" t="t"/>
                <a:pathLst>
                  <a:path extrusionOk="0" h="5502" w="4442">
                    <a:moveTo>
                      <a:pt x="2143" y="1"/>
                    </a:moveTo>
                    <a:cubicBezTo>
                      <a:pt x="1322" y="1"/>
                      <a:pt x="810" y="286"/>
                      <a:pt x="536" y="501"/>
                    </a:cubicBezTo>
                    <a:cubicBezTo>
                      <a:pt x="191" y="786"/>
                      <a:pt x="0" y="1156"/>
                      <a:pt x="0" y="1513"/>
                    </a:cubicBezTo>
                    <a:cubicBezTo>
                      <a:pt x="0" y="1739"/>
                      <a:pt x="84" y="1941"/>
                      <a:pt x="262" y="2084"/>
                    </a:cubicBezTo>
                    <a:cubicBezTo>
                      <a:pt x="393" y="2203"/>
                      <a:pt x="596" y="2263"/>
                      <a:pt x="774" y="2263"/>
                    </a:cubicBezTo>
                    <a:cubicBezTo>
                      <a:pt x="1084" y="2263"/>
                      <a:pt x="1227" y="2049"/>
                      <a:pt x="1334" y="1894"/>
                    </a:cubicBezTo>
                    <a:cubicBezTo>
                      <a:pt x="1465" y="1679"/>
                      <a:pt x="1596" y="1489"/>
                      <a:pt x="2108" y="1489"/>
                    </a:cubicBezTo>
                    <a:cubicBezTo>
                      <a:pt x="2286" y="1489"/>
                      <a:pt x="2858" y="1525"/>
                      <a:pt x="2858" y="2001"/>
                    </a:cubicBezTo>
                    <a:cubicBezTo>
                      <a:pt x="2858" y="2358"/>
                      <a:pt x="2512" y="2632"/>
                      <a:pt x="2227" y="2858"/>
                    </a:cubicBezTo>
                    <a:cubicBezTo>
                      <a:pt x="2155" y="2918"/>
                      <a:pt x="2072" y="2965"/>
                      <a:pt x="2024" y="3025"/>
                    </a:cubicBezTo>
                    <a:cubicBezTo>
                      <a:pt x="1679" y="3323"/>
                      <a:pt x="1286" y="3763"/>
                      <a:pt x="1286" y="4668"/>
                    </a:cubicBezTo>
                    <a:cubicBezTo>
                      <a:pt x="1286" y="5180"/>
                      <a:pt x="1405" y="5501"/>
                      <a:pt x="2000" y="5501"/>
                    </a:cubicBezTo>
                    <a:cubicBezTo>
                      <a:pt x="2274" y="5501"/>
                      <a:pt x="2465" y="5442"/>
                      <a:pt x="2596" y="5323"/>
                    </a:cubicBezTo>
                    <a:cubicBezTo>
                      <a:pt x="2703" y="5216"/>
                      <a:pt x="2762" y="5085"/>
                      <a:pt x="2762" y="4918"/>
                    </a:cubicBezTo>
                    <a:cubicBezTo>
                      <a:pt x="2762" y="4430"/>
                      <a:pt x="2762" y="4192"/>
                      <a:pt x="3263" y="3787"/>
                    </a:cubicBezTo>
                    <a:lnTo>
                      <a:pt x="3286" y="3787"/>
                    </a:lnTo>
                    <a:cubicBezTo>
                      <a:pt x="3298" y="3775"/>
                      <a:pt x="3322" y="3763"/>
                      <a:pt x="3358" y="3727"/>
                    </a:cubicBezTo>
                    <a:cubicBezTo>
                      <a:pt x="3429" y="3680"/>
                      <a:pt x="3453" y="3573"/>
                      <a:pt x="3393" y="3489"/>
                    </a:cubicBezTo>
                    <a:cubicBezTo>
                      <a:pt x="3360" y="3449"/>
                      <a:pt x="3311" y="3427"/>
                      <a:pt x="3261" y="3427"/>
                    </a:cubicBezTo>
                    <a:cubicBezTo>
                      <a:pt x="3224" y="3427"/>
                      <a:pt x="3186" y="3440"/>
                      <a:pt x="3155" y="3465"/>
                    </a:cubicBezTo>
                    <a:cubicBezTo>
                      <a:pt x="3120" y="3477"/>
                      <a:pt x="3108" y="3513"/>
                      <a:pt x="3072" y="3525"/>
                    </a:cubicBezTo>
                    <a:lnTo>
                      <a:pt x="3060" y="3525"/>
                    </a:lnTo>
                    <a:cubicBezTo>
                      <a:pt x="2465" y="3989"/>
                      <a:pt x="2429" y="4346"/>
                      <a:pt x="2429" y="4906"/>
                    </a:cubicBezTo>
                    <a:cubicBezTo>
                      <a:pt x="2429" y="4977"/>
                      <a:pt x="2429" y="5156"/>
                      <a:pt x="2000" y="5156"/>
                    </a:cubicBezTo>
                    <a:cubicBezTo>
                      <a:pt x="1798" y="5156"/>
                      <a:pt x="1739" y="5120"/>
                      <a:pt x="1703" y="5085"/>
                    </a:cubicBezTo>
                    <a:cubicBezTo>
                      <a:pt x="1643" y="5025"/>
                      <a:pt x="1619" y="4882"/>
                      <a:pt x="1619" y="4656"/>
                    </a:cubicBezTo>
                    <a:cubicBezTo>
                      <a:pt x="1619" y="3882"/>
                      <a:pt x="1929" y="3513"/>
                      <a:pt x="2227" y="3251"/>
                    </a:cubicBezTo>
                    <a:cubicBezTo>
                      <a:pt x="2286" y="3215"/>
                      <a:pt x="2346" y="3156"/>
                      <a:pt x="2417" y="3108"/>
                    </a:cubicBezTo>
                    <a:cubicBezTo>
                      <a:pt x="2762" y="2858"/>
                      <a:pt x="3179" y="2525"/>
                      <a:pt x="3179" y="1989"/>
                    </a:cubicBezTo>
                    <a:cubicBezTo>
                      <a:pt x="3179" y="1465"/>
                      <a:pt x="2762" y="1144"/>
                      <a:pt x="2108" y="1144"/>
                    </a:cubicBezTo>
                    <a:cubicBezTo>
                      <a:pt x="1417" y="1144"/>
                      <a:pt x="1215" y="1453"/>
                      <a:pt x="1048" y="1691"/>
                    </a:cubicBezTo>
                    <a:cubicBezTo>
                      <a:pt x="941" y="1858"/>
                      <a:pt x="881" y="1918"/>
                      <a:pt x="750" y="1918"/>
                    </a:cubicBezTo>
                    <a:cubicBezTo>
                      <a:pt x="572" y="1918"/>
                      <a:pt x="322" y="1810"/>
                      <a:pt x="322" y="1513"/>
                    </a:cubicBezTo>
                    <a:cubicBezTo>
                      <a:pt x="322" y="1322"/>
                      <a:pt x="429" y="1025"/>
                      <a:pt x="738" y="775"/>
                    </a:cubicBezTo>
                    <a:cubicBezTo>
                      <a:pt x="977" y="572"/>
                      <a:pt x="1405" y="334"/>
                      <a:pt x="2131" y="334"/>
                    </a:cubicBezTo>
                    <a:cubicBezTo>
                      <a:pt x="3298" y="334"/>
                      <a:pt x="4120" y="953"/>
                      <a:pt x="4120" y="1822"/>
                    </a:cubicBezTo>
                    <a:cubicBezTo>
                      <a:pt x="4120" y="2227"/>
                      <a:pt x="3941" y="2644"/>
                      <a:pt x="3596" y="3037"/>
                    </a:cubicBezTo>
                    <a:cubicBezTo>
                      <a:pt x="3524" y="3096"/>
                      <a:pt x="3536" y="3203"/>
                      <a:pt x="3596" y="3263"/>
                    </a:cubicBezTo>
                    <a:cubicBezTo>
                      <a:pt x="3629" y="3290"/>
                      <a:pt x="3669" y="3305"/>
                      <a:pt x="3709" y="3305"/>
                    </a:cubicBezTo>
                    <a:cubicBezTo>
                      <a:pt x="3755" y="3305"/>
                      <a:pt x="3802" y="3284"/>
                      <a:pt x="3834" y="3239"/>
                    </a:cubicBezTo>
                    <a:cubicBezTo>
                      <a:pt x="4239" y="2787"/>
                      <a:pt x="4441" y="2310"/>
                      <a:pt x="4441" y="1810"/>
                    </a:cubicBezTo>
                    <a:cubicBezTo>
                      <a:pt x="4441" y="1287"/>
                      <a:pt x="4203" y="834"/>
                      <a:pt x="3786" y="501"/>
                    </a:cubicBezTo>
                    <a:cubicBezTo>
                      <a:pt x="3370" y="179"/>
                      <a:pt x="2798" y="1"/>
                      <a:pt x="2143" y="1"/>
                    </a:cubicBezTo>
                    <a:close/>
                  </a:path>
                </a:pathLst>
              </a:custGeom>
              <a:solidFill>
                <a:schemeClr val="lt1"/>
              </a:solidFill>
              <a:ln cap="flat" cmpd="sng" w="9525">
                <a:solidFill>
                  <a:schemeClr val="lt1"/>
                </a:solidFill>
                <a:prstDash val="solid"/>
                <a:round/>
                <a:headEnd len="sm" w="sm" type="none"/>
                <a:tailEnd len="sm" w="sm" type="none"/>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Montserrat"/>
                  <a:ea typeface="Montserrat"/>
                  <a:cs typeface="Montserrat"/>
                  <a:sym typeface="Montserrat"/>
                </a:endParaRPr>
              </a:p>
            </p:txBody>
          </p:sp>
        </p:grpSp>
      </p:grpSp>
      <p:sp>
        <p:nvSpPr>
          <p:cNvPr id="190" name="Google Shape;190;p23"/>
          <p:cNvSpPr/>
          <p:nvPr/>
        </p:nvSpPr>
        <p:spPr>
          <a:xfrm>
            <a:off x="971354" y="2727570"/>
            <a:ext cx="1649219" cy="58903"/>
          </a:xfrm>
          <a:prstGeom prst="roundRect">
            <a:avLst>
              <a:gd fmla="val 50000" name="adj"/>
            </a:avLst>
          </a:prstGeom>
          <a:solidFill>
            <a:srgbClr val="0576E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nvGrpSpPr>
          <p:cNvPr id="191" name="Google Shape;191;p23"/>
          <p:cNvGrpSpPr/>
          <p:nvPr/>
        </p:nvGrpSpPr>
        <p:grpSpPr>
          <a:xfrm>
            <a:off x="1006404" y="2901025"/>
            <a:ext cx="142855" cy="142860"/>
            <a:chOff x="596900" y="4902200"/>
            <a:chExt cx="685800" cy="685800"/>
          </a:xfrm>
        </p:grpSpPr>
        <p:pic>
          <p:nvPicPr>
            <p:cNvPr descr="Question mark" id="192" name="Google Shape;192;p23"/>
            <p:cNvPicPr preferRelativeResize="0"/>
            <p:nvPr/>
          </p:nvPicPr>
          <p:blipFill rotWithShape="1">
            <a:blip r:embed="rId3">
              <a:alphaModFix/>
            </a:blip>
            <a:srcRect b="0" l="0" r="0" t="0"/>
            <a:stretch/>
          </p:blipFill>
          <p:spPr>
            <a:xfrm>
              <a:off x="641350" y="4946650"/>
              <a:ext cx="596900" cy="596900"/>
            </a:xfrm>
            <a:prstGeom prst="rect">
              <a:avLst/>
            </a:prstGeom>
            <a:noFill/>
            <a:ln>
              <a:noFill/>
            </a:ln>
          </p:spPr>
        </p:pic>
        <p:sp>
          <p:nvSpPr>
            <p:cNvPr id="193" name="Google Shape;193;p23"/>
            <p:cNvSpPr/>
            <p:nvPr/>
          </p:nvSpPr>
          <p:spPr>
            <a:xfrm>
              <a:off x="596900" y="4902200"/>
              <a:ext cx="685800" cy="685800"/>
            </a:xfrm>
            <a:prstGeom prst="ellipse">
              <a:avLst/>
            </a:prstGeom>
            <a:noFill/>
            <a:ln cap="flat" cmpd="sng" w="9525">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sp>
        <p:nvSpPr>
          <p:cNvPr id="194" name="Google Shape;194;p23"/>
          <p:cNvSpPr txBox="1"/>
          <p:nvPr/>
        </p:nvSpPr>
        <p:spPr>
          <a:xfrm>
            <a:off x="1158516" y="2837413"/>
            <a:ext cx="3594421" cy="293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9">
                <a:solidFill>
                  <a:srgbClr val="00B1EF"/>
                </a:solidFill>
                <a:latin typeface="Montserrat"/>
                <a:ea typeface="Montserrat"/>
                <a:cs typeface="Montserrat"/>
                <a:sym typeface="Montserrat"/>
              </a:rPr>
              <a:t>Challenge Story</a:t>
            </a:r>
            <a:endParaRPr/>
          </a:p>
        </p:txBody>
      </p:sp>
      <p:sp>
        <p:nvSpPr>
          <p:cNvPr id="195" name="Google Shape;195;p23"/>
          <p:cNvSpPr txBox="1"/>
          <p:nvPr/>
        </p:nvSpPr>
        <p:spPr>
          <a:xfrm>
            <a:off x="1158516" y="5468010"/>
            <a:ext cx="2200095" cy="29379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9">
                <a:solidFill>
                  <a:srgbClr val="00B1EF"/>
                </a:solidFill>
                <a:latin typeface="Montserrat"/>
                <a:ea typeface="Montserrat"/>
                <a:cs typeface="Montserrat"/>
                <a:sym typeface="Montserrat"/>
              </a:rPr>
              <a:t>Return of Investment</a:t>
            </a:r>
            <a:endParaRPr b="1" sz="1309">
              <a:solidFill>
                <a:srgbClr val="00B1EF"/>
              </a:solidFill>
              <a:latin typeface="Montserrat"/>
              <a:ea typeface="Montserrat"/>
              <a:cs typeface="Montserrat"/>
              <a:sym typeface="Montserrat"/>
            </a:endParaRPr>
          </a:p>
        </p:txBody>
      </p:sp>
      <p:grpSp>
        <p:nvGrpSpPr>
          <p:cNvPr id="196" name="Google Shape;196;p23"/>
          <p:cNvGrpSpPr/>
          <p:nvPr/>
        </p:nvGrpSpPr>
        <p:grpSpPr>
          <a:xfrm>
            <a:off x="1015570" y="5535071"/>
            <a:ext cx="142855" cy="142860"/>
            <a:chOff x="596900" y="4902200"/>
            <a:chExt cx="685800" cy="685800"/>
          </a:xfrm>
        </p:grpSpPr>
        <p:pic>
          <p:nvPicPr>
            <p:cNvPr descr="Question mark" id="197" name="Google Shape;197;p23"/>
            <p:cNvPicPr preferRelativeResize="0"/>
            <p:nvPr/>
          </p:nvPicPr>
          <p:blipFill rotWithShape="1">
            <a:blip r:embed="rId3">
              <a:alphaModFix/>
            </a:blip>
            <a:srcRect b="0" l="0" r="0" t="0"/>
            <a:stretch/>
          </p:blipFill>
          <p:spPr>
            <a:xfrm>
              <a:off x="641350" y="4946650"/>
              <a:ext cx="596900" cy="596900"/>
            </a:xfrm>
            <a:prstGeom prst="rect">
              <a:avLst/>
            </a:prstGeom>
            <a:noFill/>
            <a:ln>
              <a:noFill/>
            </a:ln>
          </p:spPr>
        </p:pic>
        <p:sp>
          <p:nvSpPr>
            <p:cNvPr id="198" name="Google Shape;198;p23"/>
            <p:cNvSpPr/>
            <p:nvPr/>
          </p:nvSpPr>
          <p:spPr>
            <a:xfrm>
              <a:off x="596900" y="4902200"/>
              <a:ext cx="685800" cy="685800"/>
            </a:xfrm>
            <a:prstGeom prst="ellipse">
              <a:avLst/>
            </a:prstGeom>
            <a:noFill/>
            <a:ln cap="flat" cmpd="sng" w="9525">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grpSp>
      <p:sp>
        <p:nvSpPr>
          <p:cNvPr id="199" name="Google Shape;199;p23"/>
          <p:cNvSpPr/>
          <p:nvPr/>
        </p:nvSpPr>
        <p:spPr>
          <a:xfrm>
            <a:off x="1077990" y="5761753"/>
            <a:ext cx="1187362" cy="366474"/>
          </a:xfrm>
          <a:prstGeom prst="roundRect">
            <a:avLst>
              <a:gd fmla="val 16667" name="adj"/>
            </a:avLst>
          </a:prstGeom>
          <a:noFill/>
          <a:ln cap="flat" cmpd="sng" w="25400">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200" name="Google Shape;200;p23"/>
          <p:cNvSpPr/>
          <p:nvPr/>
        </p:nvSpPr>
        <p:spPr>
          <a:xfrm>
            <a:off x="3883430" y="5753646"/>
            <a:ext cx="1187362" cy="366474"/>
          </a:xfrm>
          <a:prstGeom prst="roundRect">
            <a:avLst>
              <a:gd fmla="val 16667" name="adj"/>
            </a:avLst>
          </a:prstGeom>
          <a:noFill/>
          <a:ln cap="flat" cmpd="sng" w="25400">
            <a:solidFill>
              <a:srgbClr val="00B1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201" name="Google Shape;201;p23"/>
          <p:cNvSpPr txBox="1"/>
          <p:nvPr/>
        </p:nvSpPr>
        <p:spPr>
          <a:xfrm>
            <a:off x="2380028" y="5793913"/>
            <a:ext cx="1170213" cy="318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73">
                <a:solidFill>
                  <a:schemeClr val="lt1"/>
                </a:solidFill>
                <a:latin typeface="Arial Black"/>
                <a:ea typeface="Arial Black"/>
                <a:cs typeface="Arial Black"/>
                <a:sym typeface="Arial Black"/>
              </a:rPr>
              <a:t>40%</a:t>
            </a:r>
            <a:endParaRPr/>
          </a:p>
        </p:txBody>
      </p:sp>
      <p:sp>
        <p:nvSpPr>
          <p:cNvPr id="202" name="Google Shape;202;p23"/>
          <p:cNvSpPr txBox="1"/>
          <p:nvPr>
            <p:ph idx="1" type="body"/>
          </p:nvPr>
        </p:nvSpPr>
        <p:spPr>
          <a:xfrm>
            <a:off x="970650" y="6148290"/>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03" name="Google Shape;203;p23"/>
          <p:cNvSpPr txBox="1"/>
          <p:nvPr>
            <p:ph idx="2" type="body"/>
          </p:nvPr>
        </p:nvSpPr>
        <p:spPr>
          <a:xfrm>
            <a:off x="2380028" y="6144297"/>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04" name="Google Shape;204;p23"/>
          <p:cNvSpPr txBox="1"/>
          <p:nvPr>
            <p:ph idx="3" type="body"/>
          </p:nvPr>
        </p:nvSpPr>
        <p:spPr>
          <a:xfrm>
            <a:off x="3783877" y="6144297"/>
            <a:ext cx="1390984" cy="479601"/>
          </a:xfrm>
          <a:prstGeom prst="rect">
            <a:avLst/>
          </a:prstGeom>
          <a:noFill/>
          <a:ln>
            <a:noFill/>
          </a:ln>
        </p:spPr>
        <p:txBody>
          <a:bodyPr anchorCtr="0" anchor="t" bIns="45700" lIns="91425" spcFirstLastPara="1" rIns="91425" wrap="square" tIns="45700">
            <a:noAutofit/>
          </a:bodyPr>
          <a:lstStyle>
            <a:lvl1pPr indent="-228600" lvl="0" marL="457200" marR="0" rtl="0" algn="ctr">
              <a:spcBef>
                <a:spcPts val="180"/>
              </a:spcBef>
              <a:spcAft>
                <a:spcPts val="0"/>
              </a:spcAft>
              <a:buClr>
                <a:srgbClr val="00B1EF"/>
              </a:buClr>
              <a:buSzPts val="900"/>
              <a:buFont typeface="Arial"/>
              <a:buNone/>
              <a:defRPr b="0" i="0" sz="900" u="none" cap="none" strike="noStrike">
                <a:solidFill>
                  <a:srgbClr val="00B1EF"/>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05" name="Google Shape;205;p23"/>
          <p:cNvSpPr/>
          <p:nvPr/>
        </p:nvSpPr>
        <p:spPr>
          <a:xfrm>
            <a:off x="2480711" y="5761752"/>
            <a:ext cx="1187361" cy="366474"/>
          </a:xfrm>
          <a:prstGeom prst="roundRect">
            <a:avLst>
              <a:gd fmla="val 16667" name="adj"/>
            </a:avLst>
          </a:prstGeom>
          <a:solidFill>
            <a:srgbClr val="2E6F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73">
              <a:solidFill>
                <a:schemeClr val="lt1"/>
              </a:solidFill>
              <a:latin typeface="Calibri"/>
              <a:ea typeface="Calibri"/>
              <a:cs typeface="Calibri"/>
              <a:sym typeface="Calibri"/>
            </a:endParaRPr>
          </a:p>
        </p:txBody>
      </p:sp>
      <p:sp>
        <p:nvSpPr>
          <p:cNvPr id="206" name="Google Shape;206;p23"/>
          <p:cNvSpPr/>
          <p:nvPr/>
        </p:nvSpPr>
        <p:spPr>
          <a:xfrm>
            <a:off x="1153288" y="1733779"/>
            <a:ext cx="165115" cy="21434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chemeClr val="lt1"/>
          </a:solidFill>
          <a:ln>
            <a:noFill/>
          </a:ln>
        </p:spPr>
        <p:txBody>
          <a:bodyPr anchorCtr="0" anchor="ctr" bIns="82675" lIns="82675" spcFirstLastPara="1" rIns="82675" wrap="square" tIns="82675">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nvGrpSpPr>
          <p:cNvPr id="207" name="Google Shape;207;p23"/>
          <p:cNvGrpSpPr/>
          <p:nvPr/>
        </p:nvGrpSpPr>
        <p:grpSpPr>
          <a:xfrm flipH="1">
            <a:off x="1142480" y="2039536"/>
            <a:ext cx="187644" cy="191665"/>
            <a:chOff x="3979435" y="1976585"/>
            <a:chExt cx="345265" cy="349848"/>
          </a:xfrm>
        </p:grpSpPr>
        <p:sp>
          <p:nvSpPr>
            <p:cNvPr id="208" name="Google Shape;208;p23"/>
            <p:cNvSpPr/>
            <p:nvPr/>
          </p:nvSpPr>
          <p:spPr>
            <a:xfrm>
              <a:off x="3979435" y="1976585"/>
              <a:ext cx="345265" cy="349848"/>
            </a:xfrm>
            <a:custGeom>
              <a:rect b="b" l="l" r="r" t="t"/>
              <a:pathLst>
                <a:path extrusionOk="0" h="10992" w="10848">
                  <a:moveTo>
                    <a:pt x="6632" y="322"/>
                  </a:moveTo>
                  <a:cubicBezTo>
                    <a:pt x="6859" y="322"/>
                    <a:pt x="7013" y="501"/>
                    <a:pt x="7013" y="715"/>
                  </a:cubicBezTo>
                  <a:cubicBezTo>
                    <a:pt x="7013" y="929"/>
                    <a:pt x="6835" y="1096"/>
                    <a:pt x="6632" y="1096"/>
                  </a:cubicBezTo>
                  <a:lnTo>
                    <a:pt x="4906" y="1096"/>
                  </a:lnTo>
                  <a:cubicBezTo>
                    <a:pt x="4680" y="1096"/>
                    <a:pt x="4513" y="918"/>
                    <a:pt x="4513" y="715"/>
                  </a:cubicBezTo>
                  <a:cubicBezTo>
                    <a:pt x="4513" y="489"/>
                    <a:pt x="4692" y="322"/>
                    <a:pt x="4906" y="322"/>
                  </a:cubicBezTo>
                  <a:close/>
                  <a:moveTo>
                    <a:pt x="5966" y="1429"/>
                  </a:moveTo>
                  <a:lnTo>
                    <a:pt x="5966" y="1965"/>
                  </a:lnTo>
                  <a:lnTo>
                    <a:pt x="5561" y="1965"/>
                  </a:lnTo>
                  <a:lnTo>
                    <a:pt x="5561" y="1429"/>
                  </a:lnTo>
                  <a:close/>
                  <a:moveTo>
                    <a:pt x="5775" y="2289"/>
                  </a:moveTo>
                  <a:cubicBezTo>
                    <a:pt x="6988" y="2289"/>
                    <a:pt x="8193" y="2825"/>
                    <a:pt x="9026" y="3835"/>
                  </a:cubicBezTo>
                  <a:cubicBezTo>
                    <a:pt x="10466" y="5620"/>
                    <a:pt x="10204" y="8276"/>
                    <a:pt x="8407" y="9728"/>
                  </a:cubicBezTo>
                  <a:cubicBezTo>
                    <a:pt x="7623" y="10362"/>
                    <a:pt x="6686" y="10670"/>
                    <a:pt x="5757" y="10670"/>
                  </a:cubicBezTo>
                  <a:cubicBezTo>
                    <a:pt x="4540" y="10670"/>
                    <a:pt x="3337" y="10141"/>
                    <a:pt x="2513" y="9121"/>
                  </a:cubicBezTo>
                  <a:cubicBezTo>
                    <a:pt x="429" y="6561"/>
                    <a:pt x="2001" y="2715"/>
                    <a:pt x="5251" y="2322"/>
                  </a:cubicBezTo>
                  <a:cubicBezTo>
                    <a:pt x="5425" y="2300"/>
                    <a:pt x="5601" y="2289"/>
                    <a:pt x="5775" y="2289"/>
                  </a:cubicBezTo>
                  <a:close/>
                  <a:moveTo>
                    <a:pt x="4906" y="1"/>
                  </a:moveTo>
                  <a:cubicBezTo>
                    <a:pt x="4501" y="1"/>
                    <a:pt x="4192" y="322"/>
                    <a:pt x="4192" y="715"/>
                  </a:cubicBezTo>
                  <a:cubicBezTo>
                    <a:pt x="4192" y="1108"/>
                    <a:pt x="4513" y="1429"/>
                    <a:pt x="4906" y="1429"/>
                  </a:cubicBezTo>
                  <a:lnTo>
                    <a:pt x="5239" y="1429"/>
                  </a:lnTo>
                  <a:lnTo>
                    <a:pt x="5239" y="1989"/>
                  </a:lnTo>
                  <a:cubicBezTo>
                    <a:pt x="1727" y="2394"/>
                    <a:pt x="1" y="6561"/>
                    <a:pt x="2263" y="9323"/>
                  </a:cubicBezTo>
                  <a:cubicBezTo>
                    <a:pt x="3160" y="10423"/>
                    <a:pt x="4463" y="10991"/>
                    <a:pt x="5774" y="10991"/>
                  </a:cubicBezTo>
                  <a:cubicBezTo>
                    <a:pt x="6777" y="10991"/>
                    <a:pt x="7785" y="10659"/>
                    <a:pt x="8621" y="9978"/>
                  </a:cubicBezTo>
                  <a:cubicBezTo>
                    <a:pt x="10550" y="8407"/>
                    <a:pt x="10847" y="5549"/>
                    <a:pt x="9264" y="3632"/>
                  </a:cubicBezTo>
                  <a:cubicBezTo>
                    <a:pt x="8490" y="2680"/>
                    <a:pt x="7406" y="2120"/>
                    <a:pt x="6287" y="1989"/>
                  </a:cubicBezTo>
                  <a:lnTo>
                    <a:pt x="6287" y="1429"/>
                  </a:lnTo>
                  <a:lnTo>
                    <a:pt x="6632" y="1429"/>
                  </a:lnTo>
                  <a:cubicBezTo>
                    <a:pt x="7037" y="1429"/>
                    <a:pt x="7347" y="1096"/>
                    <a:pt x="7347" y="715"/>
                  </a:cubicBezTo>
                  <a:cubicBezTo>
                    <a:pt x="7347" y="310"/>
                    <a:pt x="7013" y="1"/>
                    <a:pt x="6632"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09" name="Google Shape;209;p23"/>
            <p:cNvSpPr/>
            <p:nvPr/>
          </p:nvSpPr>
          <p:spPr>
            <a:xfrm>
              <a:off x="4044236" y="2176685"/>
              <a:ext cx="144783" cy="123077"/>
            </a:xfrm>
            <a:custGeom>
              <a:rect b="b" l="l" r="r" t="t"/>
              <a:pathLst>
                <a:path extrusionOk="0" h="3867" w="4549">
                  <a:moveTo>
                    <a:pt x="203" y="0"/>
                  </a:moveTo>
                  <a:cubicBezTo>
                    <a:pt x="108" y="0"/>
                    <a:pt x="36" y="84"/>
                    <a:pt x="36" y="167"/>
                  </a:cubicBezTo>
                  <a:cubicBezTo>
                    <a:pt x="36" y="215"/>
                    <a:pt x="1" y="977"/>
                    <a:pt x="405" y="1822"/>
                  </a:cubicBezTo>
                  <a:cubicBezTo>
                    <a:pt x="667" y="2346"/>
                    <a:pt x="1048" y="2798"/>
                    <a:pt x="1525" y="3143"/>
                  </a:cubicBezTo>
                  <a:cubicBezTo>
                    <a:pt x="2186" y="3633"/>
                    <a:pt x="2944" y="3867"/>
                    <a:pt x="3694" y="3867"/>
                  </a:cubicBezTo>
                  <a:cubicBezTo>
                    <a:pt x="3929" y="3867"/>
                    <a:pt x="4164" y="3844"/>
                    <a:pt x="4394" y="3798"/>
                  </a:cubicBezTo>
                  <a:cubicBezTo>
                    <a:pt x="4489" y="3786"/>
                    <a:pt x="4549" y="3691"/>
                    <a:pt x="4537" y="3608"/>
                  </a:cubicBezTo>
                  <a:cubicBezTo>
                    <a:pt x="4526" y="3543"/>
                    <a:pt x="4446" y="3487"/>
                    <a:pt x="4368" y="3487"/>
                  </a:cubicBezTo>
                  <a:cubicBezTo>
                    <a:pt x="4361" y="3487"/>
                    <a:pt x="4354" y="3488"/>
                    <a:pt x="4346" y="3489"/>
                  </a:cubicBezTo>
                  <a:cubicBezTo>
                    <a:pt x="4139" y="3526"/>
                    <a:pt x="3932" y="3545"/>
                    <a:pt x="3725" y="3545"/>
                  </a:cubicBezTo>
                  <a:cubicBezTo>
                    <a:pt x="3018" y="3545"/>
                    <a:pt x="2326" y="3324"/>
                    <a:pt x="1727" y="2882"/>
                  </a:cubicBezTo>
                  <a:cubicBezTo>
                    <a:pt x="275" y="1810"/>
                    <a:pt x="370" y="167"/>
                    <a:pt x="370" y="167"/>
                  </a:cubicBezTo>
                  <a:cubicBezTo>
                    <a:pt x="370" y="84"/>
                    <a:pt x="298" y="0"/>
                    <a:pt x="20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0" name="Google Shape;210;p23"/>
            <p:cNvSpPr/>
            <p:nvPr/>
          </p:nvSpPr>
          <p:spPr>
            <a:xfrm>
              <a:off x="4046910" y="2065957"/>
              <a:ext cx="204269" cy="100893"/>
            </a:xfrm>
            <a:custGeom>
              <a:rect b="b" l="l" r="r" t="t"/>
              <a:pathLst>
                <a:path extrusionOk="0" h="3170" w="6418">
                  <a:moveTo>
                    <a:pt x="3655" y="1"/>
                  </a:moveTo>
                  <a:cubicBezTo>
                    <a:pt x="1971" y="1"/>
                    <a:pt x="367" y="1170"/>
                    <a:pt x="12" y="3003"/>
                  </a:cubicBezTo>
                  <a:cubicBezTo>
                    <a:pt x="0" y="3086"/>
                    <a:pt x="71" y="3170"/>
                    <a:pt x="179" y="3170"/>
                  </a:cubicBezTo>
                  <a:cubicBezTo>
                    <a:pt x="250" y="3170"/>
                    <a:pt x="333" y="3110"/>
                    <a:pt x="345" y="3039"/>
                  </a:cubicBezTo>
                  <a:cubicBezTo>
                    <a:pt x="667" y="1358"/>
                    <a:pt x="2122" y="299"/>
                    <a:pt x="3652" y="299"/>
                  </a:cubicBezTo>
                  <a:cubicBezTo>
                    <a:pt x="4332" y="299"/>
                    <a:pt x="5027" y="509"/>
                    <a:pt x="5644" y="967"/>
                  </a:cubicBezTo>
                  <a:cubicBezTo>
                    <a:pt x="5822" y="1098"/>
                    <a:pt x="5965" y="1241"/>
                    <a:pt x="6120" y="1396"/>
                  </a:cubicBezTo>
                  <a:cubicBezTo>
                    <a:pt x="6155" y="1431"/>
                    <a:pt x="6208" y="1454"/>
                    <a:pt x="6257" y="1454"/>
                  </a:cubicBezTo>
                  <a:cubicBezTo>
                    <a:pt x="6290" y="1454"/>
                    <a:pt x="6322" y="1443"/>
                    <a:pt x="6346" y="1419"/>
                  </a:cubicBezTo>
                  <a:cubicBezTo>
                    <a:pt x="6406" y="1360"/>
                    <a:pt x="6417" y="1253"/>
                    <a:pt x="6358" y="1193"/>
                  </a:cubicBezTo>
                  <a:cubicBezTo>
                    <a:pt x="6191" y="1027"/>
                    <a:pt x="6025" y="860"/>
                    <a:pt x="5834" y="729"/>
                  </a:cubicBezTo>
                  <a:cubicBezTo>
                    <a:pt x="5159" y="229"/>
                    <a:pt x="4399" y="1"/>
                    <a:pt x="3655"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1" name="Google Shape;211;p23"/>
            <p:cNvSpPr/>
            <p:nvPr/>
          </p:nvSpPr>
          <p:spPr>
            <a:xfrm>
              <a:off x="4195735" y="2118027"/>
              <a:ext cx="84247" cy="174224"/>
            </a:xfrm>
            <a:custGeom>
              <a:rect b="b" l="l" r="r" t="t"/>
              <a:pathLst>
                <a:path extrusionOk="0" h="5474" w="2647">
                  <a:moveTo>
                    <a:pt x="1952" y="0"/>
                  </a:moveTo>
                  <a:cubicBezTo>
                    <a:pt x="1920" y="0"/>
                    <a:pt x="1888" y="11"/>
                    <a:pt x="1861" y="33"/>
                  </a:cubicBezTo>
                  <a:cubicBezTo>
                    <a:pt x="1789" y="81"/>
                    <a:pt x="1753" y="176"/>
                    <a:pt x="1813" y="260"/>
                  </a:cubicBezTo>
                  <a:cubicBezTo>
                    <a:pt x="2158" y="795"/>
                    <a:pt x="2325" y="1403"/>
                    <a:pt x="2325" y="2046"/>
                  </a:cubicBezTo>
                  <a:cubicBezTo>
                    <a:pt x="2325" y="3451"/>
                    <a:pt x="1432" y="4689"/>
                    <a:pt x="182" y="5165"/>
                  </a:cubicBezTo>
                  <a:cubicBezTo>
                    <a:pt x="1" y="5229"/>
                    <a:pt x="67" y="5474"/>
                    <a:pt x="237" y="5474"/>
                  </a:cubicBezTo>
                  <a:cubicBezTo>
                    <a:pt x="257" y="5474"/>
                    <a:pt x="278" y="5470"/>
                    <a:pt x="301" y="5463"/>
                  </a:cubicBezTo>
                  <a:cubicBezTo>
                    <a:pt x="1682" y="4927"/>
                    <a:pt x="2646" y="3593"/>
                    <a:pt x="2646" y="2022"/>
                  </a:cubicBezTo>
                  <a:cubicBezTo>
                    <a:pt x="2646" y="1343"/>
                    <a:pt x="2456" y="653"/>
                    <a:pt x="2087" y="81"/>
                  </a:cubicBezTo>
                  <a:cubicBezTo>
                    <a:pt x="2057" y="29"/>
                    <a:pt x="2004" y="0"/>
                    <a:pt x="1952"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2" name="Google Shape;212;p23"/>
            <p:cNvSpPr/>
            <p:nvPr/>
          </p:nvSpPr>
          <p:spPr>
            <a:xfrm>
              <a:off x="4109037" y="2161153"/>
              <a:ext cx="81510" cy="55348"/>
            </a:xfrm>
            <a:custGeom>
              <a:rect b="b" l="l" r="r" t="t"/>
              <a:pathLst>
                <a:path extrusionOk="0" h="1739" w="2561">
                  <a:moveTo>
                    <a:pt x="1691" y="333"/>
                  </a:moveTo>
                  <a:cubicBezTo>
                    <a:pt x="1965" y="333"/>
                    <a:pt x="2144" y="655"/>
                    <a:pt x="1965" y="881"/>
                  </a:cubicBezTo>
                  <a:cubicBezTo>
                    <a:pt x="1900" y="968"/>
                    <a:pt x="1790" y="1020"/>
                    <a:pt x="1682" y="1020"/>
                  </a:cubicBezTo>
                  <a:cubicBezTo>
                    <a:pt x="1613" y="1020"/>
                    <a:pt x="1545" y="999"/>
                    <a:pt x="1489" y="953"/>
                  </a:cubicBezTo>
                  <a:cubicBezTo>
                    <a:pt x="1215" y="762"/>
                    <a:pt x="1370" y="333"/>
                    <a:pt x="1691" y="333"/>
                  </a:cubicBezTo>
                  <a:close/>
                  <a:moveTo>
                    <a:pt x="1691" y="0"/>
                  </a:moveTo>
                  <a:cubicBezTo>
                    <a:pt x="1584" y="0"/>
                    <a:pt x="1334" y="36"/>
                    <a:pt x="1156" y="274"/>
                  </a:cubicBezTo>
                  <a:cubicBezTo>
                    <a:pt x="1025" y="453"/>
                    <a:pt x="989" y="655"/>
                    <a:pt x="1048" y="845"/>
                  </a:cubicBezTo>
                  <a:lnTo>
                    <a:pt x="132" y="1441"/>
                  </a:lnTo>
                  <a:cubicBezTo>
                    <a:pt x="1" y="1536"/>
                    <a:pt x="60" y="1738"/>
                    <a:pt x="215" y="1738"/>
                  </a:cubicBezTo>
                  <a:cubicBezTo>
                    <a:pt x="310" y="1738"/>
                    <a:pt x="263" y="1726"/>
                    <a:pt x="1215" y="1131"/>
                  </a:cubicBezTo>
                  <a:cubicBezTo>
                    <a:pt x="1347" y="1275"/>
                    <a:pt x="1521" y="1344"/>
                    <a:pt x="1693" y="1344"/>
                  </a:cubicBezTo>
                  <a:cubicBezTo>
                    <a:pt x="1893" y="1344"/>
                    <a:pt x="2093" y="1251"/>
                    <a:pt x="2227" y="1072"/>
                  </a:cubicBezTo>
                  <a:cubicBezTo>
                    <a:pt x="2560" y="631"/>
                    <a:pt x="2251" y="0"/>
                    <a:pt x="169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3" name="Google Shape;213;p23"/>
            <p:cNvSpPr/>
            <p:nvPr/>
          </p:nvSpPr>
          <p:spPr>
            <a:xfrm>
              <a:off x="4157160" y="2083080"/>
              <a:ext cx="10662" cy="29218"/>
            </a:xfrm>
            <a:custGeom>
              <a:rect b="b" l="l" r="r" t="t"/>
              <a:pathLst>
                <a:path extrusionOk="0" h="918" w="335">
                  <a:moveTo>
                    <a:pt x="167" y="0"/>
                  </a:moveTo>
                  <a:cubicBezTo>
                    <a:pt x="72" y="0"/>
                    <a:pt x="1" y="72"/>
                    <a:pt x="1" y="167"/>
                  </a:cubicBezTo>
                  <a:lnTo>
                    <a:pt x="1" y="762"/>
                  </a:lnTo>
                  <a:cubicBezTo>
                    <a:pt x="1" y="846"/>
                    <a:pt x="72" y="917"/>
                    <a:pt x="167" y="917"/>
                  </a:cubicBezTo>
                  <a:cubicBezTo>
                    <a:pt x="275" y="917"/>
                    <a:pt x="334" y="846"/>
                    <a:pt x="334" y="762"/>
                  </a:cubicBezTo>
                  <a:lnTo>
                    <a:pt x="334" y="167"/>
                  </a:lnTo>
                  <a:cubicBezTo>
                    <a:pt x="334" y="72"/>
                    <a:pt x="263" y="0"/>
                    <a:pt x="167"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4" name="Google Shape;214;p23"/>
            <p:cNvSpPr/>
            <p:nvPr/>
          </p:nvSpPr>
          <p:spPr>
            <a:xfrm>
              <a:off x="4109419" y="2096034"/>
              <a:ext cx="21261" cy="26862"/>
            </a:xfrm>
            <a:custGeom>
              <a:rect b="b" l="l" r="r" t="t"/>
              <a:pathLst>
                <a:path extrusionOk="0" h="844" w="668">
                  <a:moveTo>
                    <a:pt x="183" y="0"/>
                  </a:moveTo>
                  <a:cubicBezTo>
                    <a:pt x="156" y="0"/>
                    <a:pt x="130" y="7"/>
                    <a:pt x="108" y="22"/>
                  </a:cubicBezTo>
                  <a:cubicBezTo>
                    <a:pt x="36" y="70"/>
                    <a:pt x="1" y="177"/>
                    <a:pt x="48" y="248"/>
                  </a:cubicBezTo>
                  <a:lnTo>
                    <a:pt x="346" y="772"/>
                  </a:lnTo>
                  <a:cubicBezTo>
                    <a:pt x="393" y="808"/>
                    <a:pt x="429" y="844"/>
                    <a:pt x="489" y="844"/>
                  </a:cubicBezTo>
                  <a:cubicBezTo>
                    <a:pt x="524" y="844"/>
                    <a:pt x="548" y="844"/>
                    <a:pt x="572" y="832"/>
                  </a:cubicBezTo>
                  <a:cubicBezTo>
                    <a:pt x="643" y="784"/>
                    <a:pt x="667" y="677"/>
                    <a:pt x="632" y="605"/>
                  </a:cubicBezTo>
                  <a:lnTo>
                    <a:pt x="334" y="82"/>
                  </a:lnTo>
                  <a:cubicBezTo>
                    <a:pt x="301" y="33"/>
                    <a:pt x="241" y="0"/>
                    <a:pt x="18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5" name="Google Shape;215;p23"/>
            <p:cNvSpPr/>
            <p:nvPr/>
          </p:nvSpPr>
          <p:spPr>
            <a:xfrm>
              <a:off x="4074950" y="2130121"/>
              <a:ext cx="28454" cy="19669"/>
            </a:xfrm>
            <a:custGeom>
              <a:rect b="b" l="l" r="r" t="t"/>
              <a:pathLst>
                <a:path extrusionOk="0" h="618" w="894">
                  <a:moveTo>
                    <a:pt x="188" y="1"/>
                  </a:moveTo>
                  <a:cubicBezTo>
                    <a:pt x="130" y="1"/>
                    <a:pt x="72" y="33"/>
                    <a:pt x="48" y="82"/>
                  </a:cubicBezTo>
                  <a:cubicBezTo>
                    <a:pt x="0" y="154"/>
                    <a:pt x="24" y="261"/>
                    <a:pt x="107" y="308"/>
                  </a:cubicBezTo>
                  <a:lnTo>
                    <a:pt x="619" y="606"/>
                  </a:lnTo>
                  <a:cubicBezTo>
                    <a:pt x="655" y="618"/>
                    <a:pt x="679" y="618"/>
                    <a:pt x="703" y="618"/>
                  </a:cubicBezTo>
                  <a:cubicBezTo>
                    <a:pt x="762" y="618"/>
                    <a:pt x="798" y="594"/>
                    <a:pt x="834" y="546"/>
                  </a:cubicBezTo>
                  <a:cubicBezTo>
                    <a:pt x="893" y="475"/>
                    <a:pt x="881" y="368"/>
                    <a:pt x="786" y="320"/>
                  </a:cubicBezTo>
                  <a:lnTo>
                    <a:pt x="262" y="23"/>
                  </a:lnTo>
                  <a:cubicBezTo>
                    <a:pt x="240" y="8"/>
                    <a:pt x="214" y="1"/>
                    <a:pt x="188"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6" name="Google Shape;216;p23"/>
            <p:cNvSpPr/>
            <p:nvPr/>
          </p:nvSpPr>
          <p:spPr>
            <a:xfrm>
              <a:off x="4063555" y="2177067"/>
              <a:ext cx="29218" cy="10630"/>
            </a:xfrm>
            <a:custGeom>
              <a:rect b="b" l="l" r="r" t="t"/>
              <a:pathLst>
                <a:path extrusionOk="0" h="334" w="918">
                  <a:moveTo>
                    <a:pt x="168" y="0"/>
                  </a:moveTo>
                  <a:cubicBezTo>
                    <a:pt x="72" y="0"/>
                    <a:pt x="1" y="83"/>
                    <a:pt x="1" y="167"/>
                  </a:cubicBezTo>
                  <a:cubicBezTo>
                    <a:pt x="1" y="262"/>
                    <a:pt x="72" y="334"/>
                    <a:pt x="168" y="334"/>
                  </a:cubicBezTo>
                  <a:lnTo>
                    <a:pt x="763" y="334"/>
                  </a:lnTo>
                  <a:cubicBezTo>
                    <a:pt x="846" y="334"/>
                    <a:pt x="918" y="262"/>
                    <a:pt x="918" y="167"/>
                  </a:cubicBezTo>
                  <a:cubicBezTo>
                    <a:pt x="918" y="83"/>
                    <a:pt x="846" y="0"/>
                    <a:pt x="76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7" name="Google Shape;217;p23"/>
            <p:cNvSpPr/>
            <p:nvPr/>
          </p:nvSpPr>
          <p:spPr>
            <a:xfrm>
              <a:off x="4073804" y="2215005"/>
              <a:ext cx="29600" cy="20051"/>
            </a:xfrm>
            <a:custGeom>
              <a:rect b="b" l="l" r="r" t="t"/>
              <a:pathLst>
                <a:path extrusionOk="0" h="630" w="930">
                  <a:moveTo>
                    <a:pt x="735" y="1"/>
                  </a:moveTo>
                  <a:cubicBezTo>
                    <a:pt x="709" y="1"/>
                    <a:pt x="681" y="8"/>
                    <a:pt x="655" y="23"/>
                  </a:cubicBezTo>
                  <a:lnTo>
                    <a:pt x="143" y="320"/>
                  </a:lnTo>
                  <a:cubicBezTo>
                    <a:pt x="0" y="404"/>
                    <a:pt x="60" y="630"/>
                    <a:pt x="227" y="630"/>
                  </a:cubicBezTo>
                  <a:cubicBezTo>
                    <a:pt x="298" y="630"/>
                    <a:pt x="298" y="606"/>
                    <a:pt x="822" y="308"/>
                  </a:cubicBezTo>
                  <a:cubicBezTo>
                    <a:pt x="893" y="261"/>
                    <a:pt x="929" y="154"/>
                    <a:pt x="881" y="82"/>
                  </a:cubicBezTo>
                  <a:cubicBezTo>
                    <a:pt x="849" y="33"/>
                    <a:pt x="794" y="1"/>
                    <a:pt x="735"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8" name="Google Shape;218;p23"/>
            <p:cNvSpPr/>
            <p:nvPr/>
          </p:nvSpPr>
          <p:spPr>
            <a:xfrm>
              <a:off x="4109419" y="2242472"/>
              <a:ext cx="21261" cy="26703"/>
            </a:xfrm>
            <a:custGeom>
              <a:rect b="b" l="l" r="r" t="t"/>
              <a:pathLst>
                <a:path extrusionOk="0" h="839" w="668">
                  <a:moveTo>
                    <a:pt x="496" y="0"/>
                  </a:moveTo>
                  <a:cubicBezTo>
                    <a:pt x="441" y="0"/>
                    <a:pt x="391" y="27"/>
                    <a:pt x="358" y="76"/>
                  </a:cubicBezTo>
                  <a:lnTo>
                    <a:pt x="60" y="600"/>
                  </a:lnTo>
                  <a:cubicBezTo>
                    <a:pt x="1" y="707"/>
                    <a:pt x="72" y="838"/>
                    <a:pt x="191" y="838"/>
                  </a:cubicBezTo>
                  <a:cubicBezTo>
                    <a:pt x="251" y="838"/>
                    <a:pt x="298" y="815"/>
                    <a:pt x="334" y="767"/>
                  </a:cubicBezTo>
                  <a:lnTo>
                    <a:pt x="632" y="243"/>
                  </a:lnTo>
                  <a:cubicBezTo>
                    <a:pt x="667" y="172"/>
                    <a:pt x="643" y="64"/>
                    <a:pt x="572" y="17"/>
                  </a:cubicBezTo>
                  <a:cubicBezTo>
                    <a:pt x="546" y="6"/>
                    <a:pt x="520" y="0"/>
                    <a:pt x="496"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19" name="Google Shape;219;p23"/>
            <p:cNvSpPr/>
            <p:nvPr/>
          </p:nvSpPr>
          <p:spPr>
            <a:xfrm>
              <a:off x="4157924" y="2252466"/>
              <a:ext cx="10248" cy="29600"/>
            </a:xfrm>
            <a:custGeom>
              <a:rect b="b" l="l" r="r" t="t"/>
              <a:pathLst>
                <a:path extrusionOk="0" h="930" w="322">
                  <a:moveTo>
                    <a:pt x="155" y="0"/>
                  </a:moveTo>
                  <a:cubicBezTo>
                    <a:pt x="72" y="0"/>
                    <a:pt x="1" y="84"/>
                    <a:pt x="1" y="167"/>
                  </a:cubicBezTo>
                  <a:lnTo>
                    <a:pt x="1" y="762"/>
                  </a:lnTo>
                  <a:cubicBezTo>
                    <a:pt x="1" y="858"/>
                    <a:pt x="72" y="929"/>
                    <a:pt x="155" y="929"/>
                  </a:cubicBezTo>
                  <a:cubicBezTo>
                    <a:pt x="251" y="929"/>
                    <a:pt x="322" y="858"/>
                    <a:pt x="322" y="762"/>
                  </a:cubicBezTo>
                  <a:lnTo>
                    <a:pt x="322" y="167"/>
                  </a:lnTo>
                  <a:cubicBezTo>
                    <a:pt x="322" y="84"/>
                    <a:pt x="251" y="0"/>
                    <a:pt x="155"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0" name="Google Shape;220;p23"/>
            <p:cNvSpPr/>
            <p:nvPr/>
          </p:nvSpPr>
          <p:spPr>
            <a:xfrm>
              <a:off x="4194685" y="2242472"/>
              <a:ext cx="21261" cy="27022"/>
            </a:xfrm>
            <a:custGeom>
              <a:rect b="b" l="l" r="r" t="t"/>
              <a:pathLst>
                <a:path extrusionOk="0" h="849" w="668">
                  <a:moveTo>
                    <a:pt x="181" y="0"/>
                  </a:moveTo>
                  <a:cubicBezTo>
                    <a:pt x="155" y="0"/>
                    <a:pt x="130" y="6"/>
                    <a:pt x="108" y="17"/>
                  </a:cubicBezTo>
                  <a:cubicBezTo>
                    <a:pt x="36" y="64"/>
                    <a:pt x="0" y="172"/>
                    <a:pt x="48" y="243"/>
                  </a:cubicBezTo>
                  <a:lnTo>
                    <a:pt x="346" y="767"/>
                  </a:lnTo>
                  <a:cubicBezTo>
                    <a:pt x="378" y="816"/>
                    <a:pt x="428" y="848"/>
                    <a:pt x="487" y="848"/>
                  </a:cubicBezTo>
                  <a:cubicBezTo>
                    <a:pt x="513" y="848"/>
                    <a:pt x="542" y="841"/>
                    <a:pt x="572" y="826"/>
                  </a:cubicBezTo>
                  <a:cubicBezTo>
                    <a:pt x="643" y="779"/>
                    <a:pt x="667" y="672"/>
                    <a:pt x="631" y="600"/>
                  </a:cubicBezTo>
                  <a:lnTo>
                    <a:pt x="334" y="76"/>
                  </a:lnTo>
                  <a:cubicBezTo>
                    <a:pt x="301" y="27"/>
                    <a:pt x="240" y="0"/>
                    <a:pt x="18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1" name="Google Shape;221;p23"/>
            <p:cNvSpPr/>
            <p:nvPr/>
          </p:nvSpPr>
          <p:spPr>
            <a:xfrm>
              <a:off x="4222343" y="2215387"/>
              <a:ext cx="27690" cy="19669"/>
            </a:xfrm>
            <a:custGeom>
              <a:rect b="b" l="l" r="r" t="t"/>
              <a:pathLst>
                <a:path extrusionOk="0" h="618" w="870">
                  <a:moveTo>
                    <a:pt x="176" y="1"/>
                  </a:moveTo>
                  <a:cubicBezTo>
                    <a:pt x="118" y="1"/>
                    <a:pt x="57" y="33"/>
                    <a:pt x="24" y="82"/>
                  </a:cubicBezTo>
                  <a:cubicBezTo>
                    <a:pt x="1" y="142"/>
                    <a:pt x="13" y="249"/>
                    <a:pt x="96" y="296"/>
                  </a:cubicBezTo>
                  <a:cubicBezTo>
                    <a:pt x="632" y="594"/>
                    <a:pt x="620" y="618"/>
                    <a:pt x="691" y="618"/>
                  </a:cubicBezTo>
                  <a:cubicBezTo>
                    <a:pt x="751" y="618"/>
                    <a:pt x="798" y="594"/>
                    <a:pt x="834" y="546"/>
                  </a:cubicBezTo>
                  <a:cubicBezTo>
                    <a:pt x="870" y="475"/>
                    <a:pt x="846" y="368"/>
                    <a:pt x="775" y="320"/>
                  </a:cubicBezTo>
                  <a:lnTo>
                    <a:pt x="251" y="22"/>
                  </a:lnTo>
                  <a:cubicBezTo>
                    <a:pt x="228" y="8"/>
                    <a:pt x="202" y="1"/>
                    <a:pt x="176" y="1"/>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2" name="Google Shape;222;p23"/>
            <p:cNvSpPr/>
            <p:nvPr/>
          </p:nvSpPr>
          <p:spPr>
            <a:xfrm>
              <a:off x="4232941" y="2177067"/>
              <a:ext cx="29600" cy="10630"/>
            </a:xfrm>
            <a:custGeom>
              <a:rect b="b" l="l" r="r" t="t"/>
              <a:pathLst>
                <a:path extrusionOk="0" h="334" w="930">
                  <a:moveTo>
                    <a:pt x="168" y="0"/>
                  </a:moveTo>
                  <a:cubicBezTo>
                    <a:pt x="72" y="0"/>
                    <a:pt x="1" y="83"/>
                    <a:pt x="1" y="167"/>
                  </a:cubicBezTo>
                  <a:cubicBezTo>
                    <a:pt x="1" y="262"/>
                    <a:pt x="72" y="334"/>
                    <a:pt x="168" y="334"/>
                  </a:cubicBezTo>
                  <a:lnTo>
                    <a:pt x="763" y="334"/>
                  </a:lnTo>
                  <a:cubicBezTo>
                    <a:pt x="858" y="334"/>
                    <a:pt x="930" y="262"/>
                    <a:pt x="930" y="167"/>
                  </a:cubicBezTo>
                  <a:cubicBezTo>
                    <a:pt x="930" y="83"/>
                    <a:pt x="858" y="0"/>
                    <a:pt x="763"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3" name="Google Shape;223;p23"/>
            <p:cNvSpPr/>
            <p:nvPr/>
          </p:nvSpPr>
          <p:spPr>
            <a:xfrm>
              <a:off x="4221579" y="2130694"/>
              <a:ext cx="28454" cy="19478"/>
            </a:xfrm>
            <a:custGeom>
              <a:rect b="b" l="l" r="r" t="t"/>
              <a:pathLst>
                <a:path extrusionOk="0" h="612" w="894">
                  <a:moveTo>
                    <a:pt x="706" y="0"/>
                  </a:moveTo>
                  <a:cubicBezTo>
                    <a:pt x="679" y="0"/>
                    <a:pt x="654" y="5"/>
                    <a:pt x="632" y="16"/>
                  </a:cubicBezTo>
                  <a:lnTo>
                    <a:pt x="108" y="314"/>
                  </a:lnTo>
                  <a:cubicBezTo>
                    <a:pt x="37" y="362"/>
                    <a:pt x="1" y="469"/>
                    <a:pt x="48" y="540"/>
                  </a:cubicBezTo>
                  <a:cubicBezTo>
                    <a:pt x="96" y="588"/>
                    <a:pt x="144" y="612"/>
                    <a:pt x="203" y="612"/>
                  </a:cubicBezTo>
                  <a:cubicBezTo>
                    <a:pt x="227" y="612"/>
                    <a:pt x="263" y="612"/>
                    <a:pt x="275" y="600"/>
                  </a:cubicBezTo>
                  <a:lnTo>
                    <a:pt x="799" y="302"/>
                  </a:lnTo>
                  <a:cubicBezTo>
                    <a:pt x="870" y="255"/>
                    <a:pt x="894" y="159"/>
                    <a:pt x="858" y="76"/>
                  </a:cubicBezTo>
                  <a:cubicBezTo>
                    <a:pt x="825" y="27"/>
                    <a:pt x="764" y="0"/>
                    <a:pt x="706"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4" name="Google Shape;224;p23"/>
            <p:cNvSpPr/>
            <p:nvPr/>
          </p:nvSpPr>
          <p:spPr>
            <a:xfrm>
              <a:off x="4194685" y="2095652"/>
              <a:ext cx="20879" cy="26862"/>
            </a:xfrm>
            <a:custGeom>
              <a:rect b="b" l="l" r="r" t="t"/>
              <a:pathLst>
                <a:path extrusionOk="0" h="844" w="656">
                  <a:moveTo>
                    <a:pt x="479" y="0"/>
                  </a:moveTo>
                  <a:cubicBezTo>
                    <a:pt x="428" y="0"/>
                    <a:pt x="378" y="33"/>
                    <a:pt x="346" y="82"/>
                  </a:cubicBezTo>
                  <a:lnTo>
                    <a:pt x="48" y="606"/>
                  </a:lnTo>
                  <a:cubicBezTo>
                    <a:pt x="0" y="677"/>
                    <a:pt x="36" y="784"/>
                    <a:pt x="108" y="820"/>
                  </a:cubicBezTo>
                  <a:cubicBezTo>
                    <a:pt x="131" y="844"/>
                    <a:pt x="167" y="844"/>
                    <a:pt x="179" y="844"/>
                  </a:cubicBezTo>
                  <a:cubicBezTo>
                    <a:pt x="239" y="844"/>
                    <a:pt x="286" y="808"/>
                    <a:pt x="310" y="760"/>
                  </a:cubicBezTo>
                  <a:lnTo>
                    <a:pt x="608" y="248"/>
                  </a:lnTo>
                  <a:cubicBezTo>
                    <a:pt x="655" y="165"/>
                    <a:pt x="631" y="70"/>
                    <a:pt x="548" y="22"/>
                  </a:cubicBezTo>
                  <a:cubicBezTo>
                    <a:pt x="526" y="7"/>
                    <a:pt x="502" y="0"/>
                    <a:pt x="479"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sp>
        <p:nvSpPr>
          <p:cNvPr id="225" name="Google Shape;225;p23"/>
          <p:cNvSpPr txBox="1"/>
          <p:nvPr/>
        </p:nvSpPr>
        <p:spPr>
          <a:xfrm>
            <a:off x="1294202" y="1970338"/>
            <a:ext cx="786352" cy="2961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995">
                <a:solidFill>
                  <a:srgbClr val="FFFFFF"/>
                </a:solidFill>
                <a:latin typeface="Montserrat"/>
                <a:ea typeface="Montserrat"/>
                <a:cs typeface="Montserrat"/>
                <a:sym typeface="Montserrat"/>
              </a:rPr>
              <a:t>Duration:</a:t>
            </a:r>
            <a:endParaRPr/>
          </a:p>
        </p:txBody>
      </p:sp>
      <p:grpSp>
        <p:nvGrpSpPr>
          <p:cNvPr id="226" name="Google Shape;226;p23"/>
          <p:cNvGrpSpPr/>
          <p:nvPr/>
        </p:nvGrpSpPr>
        <p:grpSpPr>
          <a:xfrm>
            <a:off x="1141688" y="2339783"/>
            <a:ext cx="168509" cy="154837"/>
            <a:chOff x="1952836" y="2774422"/>
            <a:chExt cx="372835" cy="342573"/>
          </a:xfrm>
        </p:grpSpPr>
        <p:sp>
          <p:nvSpPr>
            <p:cNvPr id="227" name="Google Shape;227;p23"/>
            <p:cNvSpPr/>
            <p:nvPr/>
          </p:nvSpPr>
          <p:spPr>
            <a:xfrm>
              <a:off x="2076490" y="3057581"/>
              <a:ext cx="40869" cy="40869"/>
            </a:xfrm>
            <a:custGeom>
              <a:rect b="b" l="l" r="r" t="t"/>
              <a:pathLst>
                <a:path extrusionOk="0" h="1287" w="1287">
                  <a:moveTo>
                    <a:pt x="643" y="346"/>
                  </a:moveTo>
                  <a:cubicBezTo>
                    <a:pt x="810" y="346"/>
                    <a:pt x="941" y="477"/>
                    <a:pt x="941" y="644"/>
                  </a:cubicBezTo>
                  <a:cubicBezTo>
                    <a:pt x="941" y="811"/>
                    <a:pt x="810" y="941"/>
                    <a:pt x="643" y="941"/>
                  </a:cubicBezTo>
                  <a:cubicBezTo>
                    <a:pt x="476" y="941"/>
                    <a:pt x="345" y="811"/>
                    <a:pt x="345" y="644"/>
                  </a:cubicBezTo>
                  <a:cubicBezTo>
                    <a:pt x="345" y="477"/>
                    <a:pt x="476" y="346"/>
                    <a:pt x="643" y="346"/>
                  </a:cubicBezTo>
                  <a:close/>
                  <a:moveTo>
                    <a:pt x="643" y="1"/>
                  </a:moveTo>
                  <a:cubicBezTo>
                    <a:pt x="286" y="1"/>
                    <a:pt x="0" y="287"/>
                    <a:pt x="0" y="644"/>
                  </a:cubicBezTo>
                  <a:cubicBezTo>
                    <a:pt x="0" y="1001"/>
                    <a:pt x="286" y="1287"/>
                    <a:pt x="643" y="1287"/>
                  </a:cubicBezTo>
                  <a:cubicBezTo>
                    <a:pt x="1000" y="1287"/>
                    <a:pt x="1286" y="1001"/>
                    <a:pt x="1286" y="644"/>
                  </a:cubicBezTo>
                  <a:cubicBezTo>
                    <a:pt x="1286" y="287"/>
                    <a:pt x="1000" y="1"/>
                    <a:pt x="643" y="1"/>
                  </a:cubicBezTo>
                  <a:close/>
                </a:path>
              </a:pathLst>
            </a:custGeom>
            <a:solidFill>
              <a:srgbClr val="18375E"/>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8" name="Google Shape;228;p23"/>
            <p:cNvSpPr/>
            <p:nvPr/>
          </p:nvSpPr>
          <p:spPr>
            <a:xfrm>
              <a:off x="2208432" y="3057581"/>
              <a:ext cx="40869" cy="40869"/>
            </a:xfrm>
            <a:custGeom>
              <a:rect b="b" l="l" r="r" t="t"/>
              <a:pathLst>
                <a:path extrusionOk="0" h="1287" w="1287">
                  <a:moveTo>
                    <a:pt x="643" y="346"/>
                  </a:moveTo>
                  <a:cubicBezTo>
                    <a:pt x="810" y="346"/>
                    <a:pt x="941" y="477"/>
                    <a:pt x="941" y="644"/>
                  </a:cubicBezTo>
                  <a:cubicBezTo>
                    <a:pt x="941" y="811"/>
                    <a:pt x="810" y="941"/>
                    <a:pt x="643" y="941"/>
                  </a:cubicBezTo>
                  <a:cubicBezTo>
                    <a:pt x="477" y="941"/>
                    <a:pt x="346" y="811"/>
                    <a:pt x="346" y="644"/>
                  </a:cubicBezTo>
                  <a:cubicBezTo>
                    <a:pt x="346" y="477"/>
                    <a:pt x="477" y="346"/>
                    <a:pt x="643" y="346"/>
                  </a:cubicBezTo>
                  <a:close/>
                  <a:moveTo>
                    <a:pt x="643" y="1"/>
                  </a:moveTo>
                  <a:cubicBezTo>
                    <a:pt x="286" y="1"/>
                    <a:pt x="0" y="287"/>
                    <a:pt x="0" y="644"/>
                  </a:cubicBezTo>
                  <a:cubicBezTo>
                    <a:pt x="0" y="1001"/>
                    <a:pt x="286" y="1287"/>
                    <a:pt x="643" y="1287"/>
                  </a:cubicBezTo>
                  <a:cubicBezTo>
                    <a:pt x="1001" y="1287"/>
                    <a:pt x="1286" y="1001"/>
                    <a:pt x="1286" y="644"/>
                  </a:cubicBezTo>
                  <a:cubicBezTo>
                    <a:pt x="1286" y="287"/>
                    <a:pt x="1001" y="1"/>
                    <a:pt x="643" y="1"/>
                  </a:cubicBezTo>
                  <a:close/>
                </a:path>
              </a:pathLst>
            </a:custGeom>
            <a:solidFill>
              <a:srgbClr val="18375E"/>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sp>
          <p:nvSpPr>
            <p:cNvPr id="229" name="Google Shape;229;p23"/>
            <p:cNvSpPr/>
            <p:nvPr/>
          </p:nvSpPr>
          <p:spPr>
            <a:xfrm>
              <a:off x="1952836" y="2774422"/>
              <a:ext cx="372835" cy="342573"/>
            </a:xfrm>
            <a:custGeom>
              <a:rect b="b" l="l" r="r" t="t"/>
              <a:pathLst>
                <a:path extrusionOk="0" h="10788" w="11741">
                  <a:moveTo>
                    <a:pt x="5382" y="1988"/>
                  </a:moveTo>
                  <a:lnTo>
                    <a:pt x="5382" y="3001"/>
                  </a:lnTo>
                  <a:lnTo>
                    <a:pt x="4359" y="3001"/>
                  </a:lnTo>
                  <a:lnTo>
                    <a:pt x="4359" y="1988"/>
                  </a:lnTo>
                  <a:close/>
                  <a:moveTo>
                    <a:pt x="6752" y="1988"/>
                  </a:moveTo>
                  <a:lnTo>
                    <a:pt x="6752" y="3001"/>
                  </a:lnTo>
                  <a:lnTo>
                    <a:pt x="5728" y="3001"/>
                  </a:lnTo>
                  <a:lnTo>
                    <a:pt x="5728" y="1988"/>
                  </a:lnTo>
                  <a:close/>
                  <a:moveTo>
                    <a:pt x="8121" y="1988"/>
                  </a:moveTo>
                  <a:lnTo>
                    <a:pt x="8121" y="3001"/>
                  </a:lnTo>
                  <a:lnTo>
                    <a:pt x="7097" y="3001"/>
                  </a:lnTo>
                  <a:lnTo>
                    <a:pt x="7097" y="1988"/>
                  </a:lnTo>
                  <a:close/>
                  <a:moveTo>
                    <a:pt x="9490" y="1988"/>
                  </a:moveTo>
                  <a:lnTo>
                    <a:pt x="9490" y="3001"/>
                  </a:lnTo>
                  <a:lnTo>
                    <a:pt x="8466" y="3001"/>
                  </a:lnTo>
                  <a:lnTo>
                    <a:pt x="8466" y="1988"/>
                  </a:lnTo>
                  <a:close/>
                  <a:moveTo>
                    <a:pt x="10324" y="1988"/>
                  </a:moveTo>
                  <a:lnTo>
                    <a:pt x="10085" y="3001"/>
                  </a:lnTo>
                  <a:lnTo>
                    <a:pt x="9847" y="3001"/>
                  </a:lnTo>
                  <a:lnTo>
                    <a:pt x="9847" y="1988"/>
                  </a:lnTo>
                  <a:close/>
                  <a:moveTo>
                    <a:pt x="4001" y="2000"/>
                  </a:moveTo>
                  <a:lnTo>
                    <a:pt x="4001" y="3012"/>
                  </a:lnTo>
                  <a:lnTo>
                    <a:pt x="3311" y="3012"/>
                  </a:lnTo>
                  <a:lnTo>
                    <a:pt x="2965" y="2000"/>
                  </a:lnTo>
                  <a:close/>
                  <a:moveTo>
                    <a:pt x="10014" y="3334"/>
                  </a:moveTo>
                  <a:lnTo>
                    <a:pt x="9847" y="4048"/>
                  </a:lnTo>
                  <a:lnTo>
                    <a:pt x="9847" y="3334"/>
                  </a:lnTo>
                  <a:close/>
                  <a:moveTo>
                    <a:pt x="4013" y="3334"/>
                  </a:moveTo>
                  <a:lnTo>
                    <a:pt x="4013" y="4370"/>
                  </a:lnTo>
                  <a:lnTo>
                    <a:pt x="3823" y="4370"/>
                  </a:lnTo>
                  <a:lnTo>
                    <a:pt x="3454" y="3334"/>
                  </a:lnTo>
                  <a:close/>
                  <a:moveTo>
                    <a:pt x="5371" y="3334"/>
                  </a:moveTo>
                  <a:lnTo>
                    <a:pt x="5371" y="4370"/>
                  </a:lnTo>
                  <a:lnTo>
                    <a:pt x="4347" y="4370"/>
                  </a:lnTo>
                  <a:lnTo>
                    <a:pt x="4347" y="3334"/>
                  </a:lnTo>
                  <a:close/>
                  <a:moveTo>
                    <a:pt x="6752" y="3334"/>
                  </a:moveTo>
                  <a:lnTo>
                    <a:pt x="6752" y="4370"/>
                  </a:lnTo>
                  <a:lnTo>
                    <a:pt x="5728" y="4370"/>
                  </a:lnTo>
                  <a:lnTo>
                    <a:pt x="5728" y="3334"/>
                  </a:lnTo>
                  <a:close/>
                  <a:moveTo>
                    <a:pt x="8121" y="3358"/>
                  </a:moveTo>
                  <a:lnTo>
                    <a:pt x="8121" y="4382"/>
                  </a:lnTo>
                  <a:lnTo>
                    <a:pt x="7097" y="4382"/>
                  </a:lnTo>
                  <a:lnTo>
                    <a:pt x="7097" y="3358"/>
                  </a:lnTo>
                  <a:close/>
                  <a:moveTo>
                    <a:pt x="9514" y="3358"/>
                  </a:moveTo>
                  <a:lnTo>
                    <a:pt x="9514" y="4382"/>
                  </a:lnTo>
                  <a:lnTo>
                    <a:pt x="8478" y="4382"/>
                  </a:lnTo>
                  <a:lnTo>
                    <a:pt x="8478" y="3358"/>
                  </a:lnTo>
                  <a:close/>
                  <a:moveTo>
                    <a:pt x="4001" y="4727"/>
                  </a:moveTo>
                  <a:lnTo>
                    <a:pt x="4001" y="4941"/>
                  </a:lnTo>
                  <a:lnTo>
                    <a:pt x="3930" y="4727"/>
                  </a:lnTo>
                  <a:close/>
                  <a:moveTo>
                    <a:pt x="5371" y="4715"/>
                  </a:moveTo>
                  <a:lnTo>
                    <a:pt x="5371" y="5525"/>
                  </a:lnTo>
                  <a:cubicBezTo>
                    <a:pt x="5297" y="5521"/>
                    <a:pt x="5230" y="5520"/>
                    <a:pt x="5167" y="5520"/>
                  </a:cubicBezTo>
                  <a:cubicBezTo>
                    <a:pt x="5049" y="5520"/>
                    <a:pt x="4947" y="5524"/>
                    <a:pt x="4854" y="5524"/>
                  </a:cubicBezTo>
                  <a:cubicBezTo>
                    <a:pt x="4666" y="5524"/>
                    <a:pt x="4516" y="5507"/>
                    <a:pt x="4347" y="5406"/>
                  </a:cubicBezTo>
                  <a:lnTo>
                    <a:pt x="4347" y="4715"/>
                  </a:lnTo>
                  <a:close/>
                  <a:moveTo>
                    <a:pt x="6752" y="4727"/>
                  </a:moveTo>
                  <a:lnTo>
                    <a:pt x="6752" y="5525"/>
                  </a:lnTo>
                  <a:lnTo>
                    <a:pt x="5728" y="5525"/>
                  </a:lnTo>
                  <a:lnTo>
                    <a:pt x="5728" y="4727"/>
                  </a:lnTo>
                  <a:close/>
                  <a:moveTo>
                    <a:pt x="8121" y="4727"/>
                  </a:moveTo>
                  <a:lnTo>
                    <a:pt x="8121" y="5525"/>
                  </a:lnTo>
                  <a:lnTo>
                    <a:pt x="7097" y="5525"/>
                  </a:lnTo>
                  <a:lnTo>
                    <a:pt x="7097" y="4727"/>
                  </a:lnTo>
                  <a:close/>
                  <a:moveTo>
                    <a:pt x="9490" y="4727"/>
                  </a:moveTo>
                  <a:lnTo>
                    <a:pt x="9490" y="5525"/>
                  </a:lnTo>
                  <a:lnTo>
                    <a:pt x="8466" y="5525"/>
                  </a:lnTo>
                  <a:lnTo>
                    <a:pt x="8466" y="4727"/>
                  </a:lnTo>
                  <a:close/>
                  <a:moveTo>
                    <a:pt x="4537" y="8680"/>
                  </a:moveTo>
                  <a:cubicBezTo>
                    <a:pt x="5025" y="8680"/>
                    <a:pt x="5418" y="9085"/>
                    <a:pt x="5418" y="9561"/>
                  </a:cubicBezTo>
                  <a:cubicBezTo>
                    <a:pt x="5418" y="10037"/>
                    <a:pt x="5025" y="10442"/>
                    <a:pt x="4537" y="10442"/>
                  </a:cubicBezTo>
                  <a:cubicBezTo>
                    <a:pt x="4049" y="10442"/>
                    <a:pt x="3656" y="10049"/>
                    <a:pt x="3656" y="9561"/>
                  </a:cubicBezTo>
                  <a:cubicBezTo>
                    <a:pt x="3656" y="9085"/>
                    <a:pt x="4049" y="8680"/>
                    <a:pt x="4537" y="8680"/>
                  </a:cubicBezTo>
                  <a:close/>
                  <a:moveTo>
                    <a:pt x="8692" y="8680"/>
                  </a:moveTo>
                  <a:cubicBezTo>
                    <a:pt x="9181" y="8680"/>
                    <a:pt x="9573" y="9085"/>
                    <a:pt x="9573" y="9561"/>
                  </a:cubicBezTo>
                  <a:cubicBezTo>
                    <a:pt x="9573" y="10037"/>
                    <a:pt x="9181" y="10442"/>
                    <a:pt x="8692" y="10442"/>
                  </a:cubicBezTo>
                  <a:cubicBezTo>
                    <a:pt x="8204" y="10442"/>
                    <a:pt x="7811" y="10049"/>
                    <a:pt x="7811" y="9561"/>
                  </a:cubicBezTo>
                  <a:cubicBezTo>
                    <a:pt x="7811" y="9085"/>
                    <a:pt x="8204" y="8680"/>
                    <a:pt x="8692" y="8680"/>
                  </a:cubicBezTo>
                  <a:close/>
                  <a:moveTo>
                    <a:pt x="620" y="0"/>
                  </a:moveTo>
                  <a:cubicBezTo>
                    <a:pt x="287" y="0"/>
                    <a:pt x="1" y="286"/>
                    <a:pt x="1" y="631"/>
                  </a:cubicBezTo>
                  <a:cubicBezTo>
                    <a:pt x="1" y="976"/>
                    <a:pt x="287" y="1250"/>
                    <a:pt x="620" y="1250"/>
                  </a:cubicBezTo>
                  <a:lnTo>
                    <a:pt x="1394" y="1250"/>
                  </a:lnTo>
                  <a:lnTo>
                    <a:pt x="2346" y="3965"/>
                  </a:lnTo>
                  <a:cubicBezTo>
                    <a:pt x="2374" y="4029"/>
                    <a:pt x="2444" y="4072"/>
                    <a:pt x="2513" y="4072"/>
                  </a:cubicBezTo>
                  <a:cubicBezTo>
                    <a:pt x="2533" y="4072"/>
                    <a:pt x="2553" y="4068"/>
                    <a:pt x="2573" y="4060"/>
                  </a:cubicBezTo>
                  <a:cubicBezTo>
                    <a:pt x="2668" y="4036"/>
                    <a:pt x="2704" y="3929"/>
                    <a:pt x="2680" y="3846"/>
                  </a:cubicBezTo>
                  <a:cubicBezTo>
                    <a:pt x="1739" y="1191"/>
                    <a:pt x="1692" y="1072"/>
                    <a:pt x="1692" y="1072"/>
                  </a:cubicBezTo>
                  <a:cubicBezTo>
                    <a:pt x="1656" y="965"/>
                    <a:pt x="1561" y="905"/>
                    <a:pt x="1441" y="905"/>
                  </a:cubicBezTo>
                  <a:lnTo>
                    <a:pt x="620" y="905"/>
                  </a:lnTo>
                  <a:cubicBezTo>
                    <a:pt x="465" y="905"/>
                    <a:pt x="346" y="774"/>
                    <a:pt x="346" y="631"/>
                  </a:cubicBezTo>
                  <a:cubicBezTo>
                    <a:pt x="346" y="464"/>
                    <a:pt x="477" y="345"/>
                    <a:pt x="620" y="345"/>
                  </a:cubicBezTo>
                  <a:lnTo>
                    <a:pt x="1441" y="345"/>
                  </a:lnTo>
                  <a:cubicBezTo>
                    <a:pt x="1787" y="345"/>
                    <a:pt x="2084" y="536"/>
                    <a:pt x="2215" y="845"/>
                  </a:cubicBezTo>
                  <a:cubicBezTo>
                    <a:pt x="2418" y="1429"/>
                    <a:pt x="3585" y="4703"/>
                    <a:pt x="3751" y="5191"/>
                  </a:cubicBezTo>
                  <a:cubicBezTo>
                    <a:pt x="3870" y="5548"/>
                    <a:pt x="4287" y="5882"/>
                    <a:pt x="4775" y="5882"/>
                  </a:cubicBezTo>
                  <a:lnTo>
                    <a:pt x="10978" y="5882"/>
                  </a:lnTo>
                  <a:cubicBezTo>
                    <a:pt x="11145" y="5882"/>
                    <a:pt x="11264" y="6013"/>
                    <a:pt x="11264" y="6168"/>
                  </a:cubicBezTo>
                  <a:cubicBezTo>
                    <a:pt x="11264" y="6322"/>
                    <a:pt x="11133" y="6441"/>
                    <a:pt x="10978" y="6441"/>
                  </a:cubicBezTo>
                  <a:lnTo>
                    <a:pt x="4775" y="6441"/>
                  </a:lnTo>
                  <a:cubicBezTo>
                    <a:pt x="4108" y="6441"/>
                    <a:pt x="3489" y="6049"/>
                    <a:pt x="3227" y="5417"/>
                  </a:cubicBezTo>
                  <a:lnTo>
                    <a:pt x="2882" y="4453"/>
                  </a:lnTo>
                  <a:cubicBezTo>
                    <a:pt x="2863" y="4377"/>
                    <a:pt x="2791" y="4339"/>
                    <a:pt x="2720" y="4339"/>
                  </a:cubicBezTo>
                  <a:cubicBezTo>
                    <a:pt x="2702" y="4339"/>
                    <a:pt x="2684" y="4341"/>
                    <a:pt x="2668" y="4346"/>
                  </a:cubicBezTo>
                  <a:cubicBezTo>
                    <a:pt x="2573" y="4382"/>
                    <a:pt x="2525" y="4477"/>
                    <a:pt x="2561" y="4572"/>
                  </a:cubicBezTo>
                  <a:cubicBezTo>
                    <a:pt x="2846" y="5275"/>
                    <a:pt x="2846" y="5596"/>
                    <a:pt x="3180" y="6013"/>
                  </a:cubicBezTo>
                  <a:lnTo>
                    <a:pt x="2799" y="6560"/>
                  </a:lnTo>
                  <a:cubicBezTo>
                    <a:pt x="2215" y="7394"/>
                    <a:pt x="2715" y="8549"/>
                    <a:pt x="3716" y="8680"/>
                  </a:cubicBezTo>
                  <a:cubicBezTo>
                    <a:pt x="2918" y="9418"/>
                    <a:pt x="3442" y="10787"/>
                    <a:pt x="4549" y="10787"/>
                  </a:cubicBezTo>
                  <a:cubicBezTo>
                    <a:pt x="5656" y="10787"/>
                    <a:pt x="6168" y="9454"/>
                    <a:pt x="5394" y="8692"/>
                  </a:cubicBezTo>
                  <a:lnTo>
                    <a:pt x="7871" y="8692"/>
                  </a:lnTo>
                  <a:cubicBezTo>
                    <a:pt x="7085" y="9454"/>
                    <a:pt x="7621" y="10787"/>
                    <a:pt x="8716" y="10787"/>
                  </a:cubicBezTo>
                  <a:cubicBezTo>
                    <a:pt x="9823" y="10787"/>
                    <a:pt x="10335" y="9454"/>
                    <a:pt x="9562" y="8692"/>
                  </a:cubicBezTo>
                  <a:lnTo>
                    <a:pt x="9788" y="8692"/>
                  </a:lnTo>
                  <a:cubicBezTo>
                    <a:pt x="10133" y="8692"/>
                    <a:pt x="10419" y="8406"/>
                    <a:pt x="10419" y="8073"/>
                  </a:cubicBezTo>
                  <a:cubicBezTo>
                    <a:pt x="10419" y="7727"/>
                    <a:pt x="10133" y="7442"/>
                    <a:pt x="9788" y="7442"/>
                  </a:cubicBezTo>
                  <a:lnTo>
                    <a:pt x="8228" y="7442"/>
                  </a:lnTo>
                  <a:cubicBezTo>
                    <a:pt x="8133" y="7442"/>
                    <a:pt x="8061" y="7513"/>
                    <a:pt x="8061" y="7608"/>
                  </a:cubicBezTo>
                  <a:cubicBezTo>
                    <a:pt x="8061" y="7692"/>
                    <a:pt x="8133" y="7775"/>
                    <a:pt x="8228" y="7775"/>
                  </a:cubicBezTo>
                  <a:lnTo>
                    <a:pt x="9788" y="7775"/>
                  </a:lnTo>
                  <a:cubicBezTo>
                    <a:pt x="9954" y="7775"/>
                    <a:pt x="10074" y="7906"/>
                    <a:pt x="10074" y="8049"/>
                  </a:cubicBezTo>
                  <a:cubicBezTo>
                    <a:pt x="10074" y="8215"/>
                    <a:pt x="9943" y="8335"/>
                    <a:pt x="9788" y="8335"/>
                  </a:cubicBezTo>
                  <a:lnTo>
                    <a:pt x="3930" y="8335"/>
                  </a:lnTo>
                  <a:cubicBezTo>
                    <a:pt x="3108" y="8335"/>
                    <a:pt x="2620" y="7418"/>
                    <a:pt x="3096" y="6739"/>
                  </a:cubicBezTo>
                  <a:lnTo>
                    <a:pt x="3442" y="6251"/>
                  </a:lnTo>
                  <a:cubicBezTo>
                    <a:pt x="3573" y="6382"/>
                    <a:pt x="3739" y="6489"/>
                    <a:pt x="3906" y="6560"/>
                  </a:cubicBezTo>
                  <a:lnTo>
                    <a:pt x="3573" y="7072"/>
                  </a:lnTo>
                  <a:cubicBezTo>
                    <a:pt x="3358" y="7370"/>
                    <a:pt x="3573" y="7775"/>
                    <a:pt x="3942" y="7775"/>
                  </a:cubicBezTo>
                  <a:lnTo>
                    <a:pt x="7609" y="7775"/>
                  </a:lnTo>
                  <a:cubicBezTo>
                    <a:pt x="7692" y="7775"/>
                    <a:pt x="7764" y="7692"/>
                    <a:pt x="7764" y="7608"/>
                  </a:cubicBezTo>
                  <a:cubicBezTo>
                    <a:pt x="7764" y="7513"/>
                    <a:pt x="7692" y="7442"/>
                    <a:pt x="7609" y="7442"/>
                  </a:cubicBezTo>
                  <a:lnTo>
                    <a:pt x="3942" y="7442"/>
                  </a:lnTo>
                  <a:cubicBezTo>
                    <a:pt x="3847" y="7442"/>
                    <a:pt x="3811" y="7334"/>
                    <a:pt x="3847" y="7263"/>
                  </a:cubicBezTo>
                  <a:lnTo>
                    <a:pt x="4251" y="6703"/>
                  </a:lnTo>
                  <a:cubicBezTo>
                    <a:pt x="4465" y="6762"/>
                    <a:pt x="4535" y="6775"/>
                    <a:pt x="5134" y="6775"/>
                  </a:cubicBezTo>
                  <a:cubicBezTo>
                    <a:pt x="5630" y="6775"/>
                    <a:pt x="6490" y="6766"/>
                    <a:pt x="8097" y="6766"/>
                  </a:cubicBezTo>
                  <a:cubicBezTo>
                    <a:pt x="8881" y="6766"/>
                    <a:pt x="9842" y="6768"/>
                    <a:pt x="11026" y="6775"/>
                  </a:cubicBezTo>
                  <a:cubicBezTo>
                    <a:pt x="11371" y="6775"/>
                    <a:pt x="11645" y="6489"/>
                    <a:pt x="11645" y="6144"/>
                  </a:cubicBezTo>
                  <a:cubicBezTo>
                    <a:pt x="11598" y="5810"/>
                    <a:pt x="11312" y="5525"/>
                    <a:pt x="10966" y="5525"/>
                  </a:cubicBezTo>
                  <a:lnTo>
                    <a:pt x="10788" y="5525"/>
                  </a:lnTo>
                  <a:lnTo>
                    <a:pt x="11598" y="2048"/>
                  </a:lnTo>
                  <a:cubicBezTo>
                    <a:pt x="11740" y="1393"/>
                    <a:pt x="11252" y="762"/>
                    <a:pt x="10562" y="762"/>
                  </a:cubicBezTo>
                  <a:lnTo>
                    <a:pt x="7252" y="762"/>
                  </a:lnTo>
                  <a:cubicBezTo>
                    <a:pt x="7156" y="762"/>
                    <a:pt x="7085" y="834"/>
                    <a:pt x="7085" y="929"/>
                  </a:cubicBezTo>
                  <a:cubicBezTo>
                    <a:pt x="7085" y="1012"/>
                    <a:pt x="7156" y="1096"/>
                    <a:pt x="7252" y="1096"/>
                  </a:cubicBezTo>
                  <a:lnTo>
                    <a:pt x="10562" y="1096"/>
                  </a:lnTo>
                  <a:cubicBezTo>
                    <a:pt x="11026" y="1096"/>
                    <a:pt x="11359" y="1524"/>
                    <a:pt x="11252" y="1953"/>
                  </a:cubicBezTo>
                  <a:lnTo>
                    <a:pt x="10431" y="5525"/>
                  </a:lnTo>
                  <a:lnTo>
                    <a:pt x="9847" y="5525"/>
                  </a:lnTo>
                  <a:cubicBezTo>
                    <a:pt x="9943" y="5144"/>
                    <a:pt x="10585" y="2369"/>
                    <a:pt x="10705" y="1869"/>
                  </a:cubicBezTo>
                  <a:cubicBezTo>
                    <a:pt x="10728" y="1762"/>
                    <a:pt x="10645" y="1655"/>
                    <a:pt x="10538" y="1655"/>
                  </a:cubicBezTo>
                  <a:lnTo>
                    <a:pt x="2858" y="1655"/>
                  </a:lnTo>
                  <a:lnTo>
                    <a:pt x="2668" y="1096"/>
                  </a:lnTo>
                  <a:lnTo>
                    <a:pt x="6621" y="1096"/>
                  </a:lnTo>
                  <a:cubicBezTo>
                    <a:pt x="6716" y="1096"/>
                    <a:pt x="6787" y="1012"/>
                    <a:pt x="6787" y="929"/>
                  </a:cubicBezTo>
                  <a:cubicBezTo>
                    <a:pt x="6787" y="834"/>
                    <a:pt x="6716" y="762"/>
                    <a:pt x="6621" y="762"/>
                  </a:cubicBezTo>
                  <a:lnTo>
                    <a:pt x="2549" y="762"/>
                  </a:lnTo>
                  <a:cubicBezTo>
                    <a:pt x="2394" y="334"/>
                    <a:pt x="1965" y="0"/>
                    <a:pt x="1441" y="0"/>
                  </a:cubicBezTo>
                  <a:close/>
                </a:path>
              </a:pathLst>
            </a:custGeom>
            <a:solidFill>
              <a:schemeClr val="lt1"/>
            </a:solidFill>
            <a:ln>
              <a:noFill/>
            </a:ln>
          </p:spPr>
          <p:txBody>
            <a:bodyPr anchorCtr="0" anchor="ctr" bIns="91400" lIns="91400" spcFirstLastPara="1" rIns="91400" wrap="square" tIns="91400">
              <a:noAutofit/>
            </a:bodyPr>
            <a:lstStyle/>
            <a:p>
              <a:pPr indent="0" lvl="0" marL="0" marR="0" rtl="0" algn="l">
                <a:spcBef>
                  <a:spcPts val="0"/>
                </a:spcBef>
                <a:spcAft>
                  <a:spcPts val="0"/>
                </a:spcAft>
                <a:buNone/>
              </a:pPr>
              <a:r>
                <a:t/>
              </a:r>
              <a:endParaRPr sz="1628">
                <a:solidFill>
                  <a:srgbClr val="000000"/>
                </a:solidFill>
                <a:latin typeface="Quattrocento Sans"/>
                <a:ea typeface="Quattrocento Sans"/>
                <a:cs typeface="Quattrocento Sans"/>
                <a:sym typeface="Quattrocento Sans"/>
              </a:endParaRPr>
            </a:p>
          </p:txBody>
        </p:sp>
      </p:grpSp>
      <p:sp>
        <p:nvSpPr>
          <p:cNvPr id="230" name="Google Shape;230;p23"/>
          <p:cNvSpPr txBox="1"/>
          <p:nvPr>
            <p:ph idx="4" type="body"/>
          </p:nvPr>
        </p:nvSpPr>
        <p:spPr>
          <a:xfrm>
            <a:off x="1307843" y="1734878"/>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1" name="Google Shape;231;p23"/>
          <p:cNvSpPr txBox="1"/>
          <p:nvPr>
            <p:ph idx="5" type="body"/>
          </p:nvPr>
        </p:nvSpPr>
        <p:spPr>
          <a:xfrm>
            <a:off x="1914421" y="2038725"/>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2" name="Google Shape;232;p23"/>
          <p:cNvSpPr txBox="1"/>
          <p:nvPr/>
        </p:nvSpPr>
        <p:spPr>
          <a:xfrm>
            <a:off x="1288741" y="2240832"/>
            <a:ext cx="1154354" cy="296107"/>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None/>
            </a:pPr>
            <a:r>
              <a:rPr lang="en-US" sz="995">
                <a:solidFill>
                  <a:srgbClr val="FFFFFF"/>
                </a:solidFill>
                <a:latin typeface="Montserrat"/>
                <a:ea typeface="Montserrat"/>
                <a:cs typeface="Montserrat"/>
                <a:sym typeface="Montserrat"/>
              </a:rPr>
              <a:t>Team size:</a:t>
            </a:r>
            <a:endParaRPr/>
          </a:p>
        </p:txBody>
      </p:sp>
      <p:sp>
        <p:nvSpPr>
          <p:cNvPr id="233" name="Google Shape;233;p23"/>
          <p:cNvSpPr txBox="1"/>
          <p:nvPr>
            <p:ph idx="6" type="body"/>
          </p:nvPr>
        </p:nvSpPr>
        <p:spPr>
          <a:xfrm>
            <a:off x="1984171" y="2310085"/>
            <a:ext cx="2487024" cy="22582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199"/>
              </a:spcBef>
              <a:spcAft>
                <a:spcPts val="0"/>
              </a:spcAft>
              <a:buClr>
                <a:srgbClr val="FFFFFF"/>
              </a:buClr>
              <a:buSzPts val="995"/>
              <a:buFont typeface="Arial"/>
              <a:buNone/>
              <a:defRPr b="0" i="0" sz="995"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4" name="Google Shape;234;p23"/>
          <p:cNvSpPr txBox="1"/>
          <p:nvPr>
            <p:ph idx="7" type="body"/>
          </p:nvPr>
        </p:nvSpPr>
        <p:spPr>
          <a:xfrm>
            <a:off x="1073922" y="1112009"/>
            <a:ext cx="3593565" cy="616173"/>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326"/>
              </a:spcBef>
              <a:spcAft>
                <a:spcPts val="0"/>
              </a:spcAft>
              <a:buClr>
                <a:srgbClr val="FFFFFF"/>
              </a:buClr>
              <a:buSzPts val="1628"/>
              <a:buFont typeface="Arial"/>
              <a:buNone/>
              <a:defRPr b="1" i="0" sz="1628" u="none" cap="none" strike="noStrike">
                <a:solidFill>
                  <a:srgbClr val="FFFFFF"/>
                </a:solidFill>
                <a:latin typeface="Montserrat"/>
                <a:ea typeface="Montserrat"/>
                <a:cs typeface="Montserrat"/>
                <a:sym typeface="Montserrat"/>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5" name="Google Shape;235;p23"/>
          <p:cNvSpPr txBox="1"/>
          <p:nvPr>
            <p:ph idx="8" type="body"/>
          </p:nvPr>
        </p:nvSpPr>
        <p:spPr>
          <a:xfrm>
            <a:off x="970650" y="3065510"/>
            <a:ext cx="4205673" cy="243637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262"/>
              </a:spcBef>
              <a:spcAft>
                <a:spcPts val="0"/>
              </a:spcAft>
              <a:buClr>
                <a:schemeClr val="dk1"/>
              </a:buClr>
              <a:buSzPts val="1309"/>
              <a:buFont typeface="Arial"/>
              <a:buNone/>
              <a:defRPr b="0" i="0" sz="1309" u="none" cap="none" strike="noStrike">
                <a:solidFill>
                  <a:schemeClr val="dk1"/>
                </a:solidFill>
                <a:latin typeface="Calibri"/>
                <a:ea typeface="Calibri"/>
                <a:cs typeface="Calibri"/>
                <a:sym typeface="Calibri"/>
              </a:defRPr>
            </a:lvl1pPr>
            <a:lvl2pPr indent="-228600" lvl="1" marL="914400" marR="0" rtl="0" algn="l">
              <a:spcBef>
                <a:spcPts val="507"/>
              </a:spcBef>
              <a:spcAft>
                <a:spcPts val="0"/>
              </a:spcAft>
              <a:buClr>
                <a:schemeClr val="dk1"/>
              </a:buClr>
              <a:buSzPts val="2533"/>
              <a:buFont typeface="Arial"/>
              <a:buNone/>
              <a:defRPr b="0" i="0" sz="2533" u="none" cap="none" strike="noStrike">
                <a:solidFill>
                  <a:schemeClr val="dk1"/>
                </a:solidFill>
                <a:latin typeface="Calibri"/>
                <a:ea typeface="Calibri"/>
                <a:cs typeface="Calibri"/>
                <a:sym typeface="Calibri"/>
              </a:defRPr>
            </a:lvl2pPr>
            <a:lvl3pPr indent="-228600" lvl="2" marL="1371600" marR="0" rtl="0" algn="l">
              <a:spcBef>
                <a:spcPts val="434"/>
              </a:spcBef>
              <a:spcAft>
                <a:spcPts val="0"/>
              </a:spcAft>
              <a:buClr>
                <a:schemeClr val="dk1"/>
              </a:buClr>
              <a:buSzPts val="2171"/>
              <a:buFont typeface="Arial"/>
              <a:buNone/>
              <a:defRPr b="0" i="0" sz="2171" u="none" cap="none" strike="noStrike">
                <a:solidFill>
                  <a:schemeClr val="dk1"/>
                </a:solidFill>
                <a:latin typeface="Calibri"/>
                <a:ea typeface="Calibri"/>
                <a:cs typeface="Calibri"/>
                <a:sym typeface="Calibri"/>
              </a:defRPr>
            </a:lvl3pPr>
            <a:lvl4pPr indent="-228600" lvl="3" marL="18288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4pPr>
            <a:lvl5pPr indent="-228600" lvl="4" marL="2286000" marR="0" rtl="0" algn="l">
              <a:spcBef>
                <a:spcPts val="362"/>
              </a:spcBef>
              <a:spcAft>
                <a:spcPts val="0"/>
              </a:spcAft>
              <a:buClr>
                <a:schemeClr val="dk1"/>
              </a:buClr>
              <a:buSzPts val="1809"/>
              <a:buFont typeface="Arial"/>
              <a:buNone/>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6" name="Google Shape;236;p23"/>
          <p:cNvSpPr txBox="1"/>
          <p:nvPr>
            <p:ph idx="9" type="body"/>
          </p:nvPr>
        </p:nvSpPr>
        <p:spPr>
          <a:xfrm>
            <a:off x="5645854" y="1530935"/>
            <a:ext cx="5417550" cy="2413770"/>
          </a:xfrm>
          <a:prstGeom prst="rect">
            <a:avLst/>
          </a:prstGeom>
          <a:noFill/>
          <a:ln>
            <a:noFill/>
          </a:ln>
        </p:spPr>
        <p:txBody>
          <a:bodyPr anchorCtr="0" anchor="t" bIns="45700" lIns="91425" spcFirstLastPara="1" rIns="91425" wrap="square" tIns="45700">
            <a:normAutofit/>
          </a:bodyPr>
          <a:lstStyle>
            <a:lvl1pPr indent="-301308" lvl="0" marL="457200" marR="0" rtl="0" algn="l">
              <a:spcBef>
                <a:spcPts val="229"/>
              </a:spcBef>
              <a:spcAft>
                <a:spcPts val="0"/>
              </a:spcAft>
              <a:buClr>
                <a:schemeClr val="dk1"/>
              </a:buClr>
              <a:buSzPts val="1145"/>
              <a:buFont typeface="Arial"/>
              <a:buChar char="•"/>
              <a:defRPr b="0" i="0" sz="1145" u="none" cap="none" strike="noStrike">
                <a:solidFill>
                  <a:schemeClr val="dk1"/>
                </a:solidFill>
                <a:latin typeface="Calibri"/>
                <a:ea typeface="Calibri"/>
                <a:cs typeface="Calibri"/>
                <a:sym typeface="Calibri"/>
              </a:defRPr>
            </a:lvl1pPr>
            <a:lvl2pPr indent="-301307" lvl="1" marL="9144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2pPr>
            <a:lvl3pPr indent="-301307" lvl="2" marL="13716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3pPr>
            <a:lvl4pPr indent="-301307" lvl="3" marL="18288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4pPr>
            <a:lvl5pPr indent="-301308" lvl="4" marL="22860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7" name="Google Shape;237;p23"/>
          <p:cNvSpPr txBox="1"/>
          <p:nvPr>
            <p:ph idx="13" type="body"/>
          </p:nvPr>
        </p:nvSpPr>
        <p:spPr>
          <a:xfrm>
            <a:off x="5645854" y="4741376"/>
            <a:ext cx="5417550" cy="1767926"/>
          </a:xfrm>
          <a:prstGeom prst="rect">
            <a:avLst/>
          </a:prstGeom>
          <a:noFill/>
          <a:ln>
            <a:noFill/>
          </a:ln>
        </p:spPr>
        <p:txBody>
          <a:bodyPr anchorCtr="0" anchor="t" bIns="45700" lIns="91425" spcFirstLastPara="1" rIns="91425" wrap="square" tIns="45700">
            <a:normAutofit/>
          </a:bodyPr>
          <a:lstStyle>
            <a:lvl1pPr indent="-301308" lvl="0" marL="457200" marR="0" rtl="0" algn="l">
              <a:spcBef>
                <a:spcPts val="229"/>
              </a:spcBef>
              <a:spcAft>
                <a:spcPts val="0"/>
              </a:spcAft>
              <a:buClr>
                <a:schemeClr val="dk1"/>
              </a:buClr>
              <a:buSzPts val="1145"/>
              <a:buFont typeface="Arial"/>
              <a:buChar char="•"/>
              <a:defRPr b="0" i="0" sz="1145" u="none" cap="none" strike="noStrike">
                <a:solidFill>
                  <a:schemeClr val="dk1"/>
                </a:solidFill>
                <a:latin typeface="Calibri"/>
                <a:ea typeface="Calibri"/>
                <a:cs typeface="Calibri"/>
                <a:sym typeface="Calibri"/>
              </a:defRPr>
            </a:lvl1pPr>
            <a:lvl2pPr indent="-301307" lvl="1" marL="9144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2pPr>
            <a:lvl3pPr indent="-301307" lvl="2" marL="13716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3pPr>
            <a:lvl4pPr indent="-301307" lvl="3" marL="18288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4pPr>
            <a:lvl5pPr indent="-301308" lvl="4" marL="2286000" marR="0" rtl="0" algn="l">
              <a:spcBef>
                <a:spcPts val="229"/>
              </a:spcBef>
              <a:spcAft>
                <a:spcPts val="0"/>
              </a:spcAft>
              <a:buClr>
                <a:schemeClr val="dk1"/>
              </a:buClr>
              <a:buSzPts val="1145"/>
              <a:buFont typeface="Arial"/>
              <a:buChar char="•"/>
              <a:defRPr b="1" i="0" sz="1145"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8" name="Google Shape;238;p23"/>
          <p:cNvSpPr txBox="1"/>
          <p:nvPr>
            <p:ph idx="14" type="body"/>
          </p:nvPr>
        </p:nvSpPr>
        <p:spPr>
          <a:xfrm>
            <a:off x="952063" y="479299"/>
            <a:ext cx="10111341" cy="339306"/>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400"/>
              </a:spcBef>
              <a:spcAft>
                <a:spcPts val="0"/>
              </a:spcAft>
              <a:buClr>
                <a:srgbClr val="1D9AD6"/>
              </a:buClr>
              <a:buSzPts val="2000"/>
              <a:buFont typeface="Arial"/>
              <a:buNone/>
              <a:defRPr b="1" i="0" sz="2000" u="none" cap="none" strike="noStrike">
                <a:solidFill>
                  <a:srgbClr val="1D9AD6"/>
                </a:solidFill>
                <a:latin typeface="Arial"/>
                <a:ea typeface="Arial"/>
                <a:cs typeface="Arial"/>
                <a:sym typeface="Arial"/>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39" name="Google Shape;239;p23"/>
          <p:cNvSpPr txBox="1"/>
          <p:nvPr>
            <p:ph idx="15" type="body"/>
          </p:nvPr>
        </p:nvSpPr>
        <p:spPr>
          <a:xfrm>
            <a:off x="1097231" y="5810983"/>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rgbClr val="0874EA"/>
              </a:buClr>
              <a:buSzPts val="1473"/>
              <a:buFont typeface="Arial"/>
              <a:buNone/>
              <a:defRPr b="1" i="0" sz="1473" u="none" cap="none" strike="noStrike">
                <a:solidFill>
                  <a:srgbClr val="0874EA"/>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40" name="Google Shape;240;p23"/>
          <p:cNvSpPr txBox="1"/>
          <p:nvPr>
            <p:ph idx="16" type="body"/>
          </p:nvPr>
        </p:nvSpPr>
        <p:spPr>
          <a:xfrm>
            <a:off x="3898961" y="5794780"/>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rgbClr val="0874EA"/>
              </a:buClr>
              <a:buSzPts val="1473"/>
              <a:buFont typeface="Arial"/>
              <a:buNone/>
              <a:defRPr b="1" i="0" sz="1473" u="none" cap="none" strike="noStrike">
                <a:solidFill>
                  <a:srgbClr val="0874EA"/>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41" name="Google Shape;241;p23"/>
          <p:cNvSpPr txBox="1"/>
          <p:nvPr>
            <p:ph idx="17" type="body"/>
          </p:nvPr>
        </p:nvSpPr>
        <p:spPr>
          <a:xfrm>
            <a:off x="2493364" y="5810983"/>
            <a:ext cx="1144467" cy="268011"/>
          </a:xfrm>
          <a:prstGeom prst="rect">
            <a:avLst/>
          </a:prstGeom>
          <a:noFill/>
          <a:ln>
            <a:noFill/>
          </a:ln>
        </p:spPr>
        <p:txBody>
          <a:bodyPr anchorCtr="0" anchor="t" bIns="45700" lIns="91425" spcFirstLastPara="1" rIns="91425" wrap="square" tIns="45700">
            <a:normAutofit/>
          </a:bodyPr>
          <a:lstStyle>
            <a:lvl1pPr indent="-228600" lvl="0" marL="457200" marR="0" rtl="0" algn="ctr">
              <a:spcBef>
                <a:spcPts val="295"/>
              </a:spcBef>
              <a:spcAft>
                <a:spcPts val="0"/>
              </a:spcAft>
              <a:buClr>
                <a:schemeClr val="lt1"/>
              </a:buClr>
              <a:buSzPts val="1473"/>
              <a:buFont typeface="Arial"/>
              <a:buNone/>
              <a:defRPr b="1" i="0" sz="1473" u="none" cap="none" strike="noStrike">
                <a:solidFill>
                  <a:schemeClr val="lt1"/>
                </a:solidFill>
                <a:latin typeface="Arial Black"/>
                <a:ea typeface="Arial Black"/>
                <a:cs typeface="Arial Black"/>
                <a:sym typeface="Arial Black"/>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42" name="Google Shape;242;p23"/>
          <p:cNvSpPr/>
          <p:nvPr/>
        </p:nvSpPr>
        <p:spPr>
          <a:xfrm>
            <a:off x="1" y="522514"/>
            <a:ext cx="790575" cy="296092"/>
          </a:xfrm>
          <a:prstGeom prst="rect">
            <a:avLst/>
          </a:prstGeom>
          <a:solidFill>
            <a:srgbClr val="2E6FF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43" name="Google Shape;243;p23"/>
          <p:cNvPicPr preferRelativeResize="0"/>
          <p:nvPr/>
        </p:nvPicPr>
        <p:blipFill rotWithShape="1">
          <a:blip r:embed="rId4">
            <a:alphaModFix/>
          </a:blip>
          <a:srcRect b="0" l="0" r="0" t="0"/>
          <a:stretch/>
        </p:blipFill>
        <p:spPr>
          <a:xfrm>
            <a:off x="10083298" y="552271"/>
            <a:ext cx="1135566" cy="306747"/>
          </a:xfrm>
          <a:prstGeom prst="rect">
            <a:avLst/>
          </a:prstGeom>
          <a:noFill/>
          <a:ln>
            <a:noFill/>
          </a:ln>
        </p:spPr>
      </p:pic>
      <p:sp>
        <p:nvSpPr>
          <p:cNvPr id="244" name="Google Shape;244;p23"/>
          <p:cNvSpPr/>
          <p:nvPr/>
        </p:nvSpPr>
        <p:spPr>
          <a:xfrm rot="-5400000">
            <a:off x="5909233" y="580294"/>
            <a:ext cx="365760" cy="12199777"/>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267">
              <a:latin typeface="Calibri"/>
              <a:ea typeface="Calibri"/>
              <a:cs typeface="Calibri"/>
              <a:sym typeface="Calibri"/>
            </a:endParaRPr>
          </a:p>
        </p:txBody>
      </p:sp>
      <p:pic>
        <p:nvPicPr>
          <p:cNvPr id="245" name="Google Shape;245;p23"/>
          <p:cNvPicPr preferRelativeResize="0"/>
          <p:nvPr/>
        </p:nvPicPr>
        <p:blipFill rotWithShape="1">
          <a:blip r:embed="rId5">
            <a:alphaModFix/>
          </a:blip>
          <a:srcRect b="0" l="0" r="0" t="0"/>
          <a:stretch/>
        </p:blipFill>
        <p:spPr>
          <a:xfrm>
            <a:off x="10761999" y="6555937"/>
            <a:ext cx="1119493" cy="24384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Taam slide layout">
  <p:cSld name="4_Taam slide layout">
    <p:spTree>
      <p:nvGrpSpPr>
        <p:cNvPr id="246" name="Shape 246"/>
        <p:cNvGrpSpPr/>
        <p:nvPr/>
      </p:nvGrpSpPr>
      <p:grpSpPr>
        <a:xfrm>
          <a:off x="0" y="0"/>
          <a:ext cx="0" cy="0"/>
          <a:chOff x="0" y="0"/>
          <a:chExt cx="0" cy="0"/>
        </a:xfrm>
      </p:grpSpPr>
      <p:sp>
        <p:nvSpPr>
          <p:cNvPr id="247" name="Google Shape;247;p24"/>
          <p:cNvSpPr txBox="1"/>
          <p:nvPr>
            <p:ph idx="1" type="body"/>
          </p:nvPr>
        </p:nvSpPr>
        <p:spPr>
          <a:xfrm>
            <a:off x="323530" y="339510"/>
            <a:ext cx="11573197" cy="724247"/>
          </a:xfrm>
          <a:prstGeom prst="rect">
            <a:avLst/>
          </a:prstGeom>
          <a:noFill/>
          <a:ln>
            <a:noFill/>
          </a:ln>
        </p:spPr>
        <p:txBody>
          <a:bodyPr anchorCtr="0" anchor="ctr" bIns="45700" lIns="91425" spcFirstLastPara="1" rIns="91425" wrap="square" tIns="45700">
            <a:noAutofit/>
          </a:bodyPr>
          <a:lstStyle>
            <a:lvl1pPr indent="-228600" lvl="0" marL="457200" marR="0" rtl="0" algn="ctr">
              <a:spcBef>
                <a:spcPts val="1080"/>
              </a:spcBef>
              <a:spcAft>
                <a:spcPts val="0"/>
              </a:spcAft>
              <a:buClr>
                <a:srgbClr val="262626"/>
              </a:buClr>
              <a:buSzPts val="5400"/>
              <a:buFont typeface="Arial"/>
              <a:buNone/>
              <a:defRPr b="0" i="0" sz="5400" u="none" cap="none" strike="noStrike">
                <a:solidFill>
                  <a:srgbClr val="262626"/>
                </a:solidFill>
                <a:latin typeface="Calibri"/>
                <a:ea typeface="Calibri"/>
                <a:cs typeface="Calibri"/>
                <a:sym typeface="Calibri"/>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
        <p:nvSpPr>
          <p:cNvPr id="248" name="Google Shape;248;p24"/>
          <p:cNvSpPr/>
          <p:nvPr>
            <p:ph idx="2" type="pic"/>
          </p:nvPr>
        </p:nvSpPr>
        <p:spPr>
          <a:xfrm>
            <a:off x="3650190" y="1769412"/>
            <a:ext cx="2124000" cy="2095028"/>
          </a:xfrm>
          <a:prstGeom prst="rect">
            <a:avLst/>
          </a:prstGeom>
          <a:solidFill>
            <a:srgbClr val="F2F2F2"/>
          </a:solidFill>
          <a:ln>
            <a:noFill/>
          </a:ln>
        </p:spPr>
      </p:sp>
      <p:sp>
        <p:nvSpPr>
          <p:cNvPr id="249" name="Google Shape;249;p24"/>
          <p:cNvSpPr/>
          <p:nvPr>
            <p:ph idx="3" type="pic"/>
          </p:nvPr>
        </p:nvSpPr>
        <p:spPr>
          <a:xfrm>
            <a:off x="6403397" y="1769412"/>
            <a:ext cx="2124000" cy="2095028"/>
          </a:xfrm>
          <a:prstGeom prst="rect">
            <a:avLst/>
          </a:prstGeom>
          <a:solidFill>
            <a:srgbClr val="F2F2F2"/>
          </a:solidFill>
          <a:ln>
            <a:noFill/>
          </a:ln>
        </p:spPr>
      </p:sp>
      <p:sp>
        <p:nvSpPr>
          <p:cNvPr id="250" name="Google Shape;250;p24"/>
          <p:cNvSpPr/>
          <p:nvPr>
            <p:ph idx="4" type="pic"/>
          </p:nvPr>
        </p:nvSpPr>
        <p:spPr>
          <a:xfrm>
            <a:off x="9156603" y="1769412"/>
            <a:ext cx="2124000" cy="2095028"/>
          </a:xfrm>
          <a:prstGeom prst="rect">
            <a:avLst/>
          </a:prstGeom>
          <a:solidFill>
            <a:srgbClr val="F2F2F2"/>
          </a:solidFill>
          <a:ln>
            <a:noFill/>
          </a:ln>
        </p:spPr>
      </p:sp>
      <p:sp>
        <p:nvSpPr>
          <p:cNvPr id="251" name="Google Shape;251;p24"/>
          <p:cNvSpPr/>
          <p:nvPr>
            <p:ph idx="5" type="pic"/>
          </p:nvPr>
        </p:nvSpPr>
        <p:spPr>
          <a:xfrm>
            <a:off x="896983" y="1769412"/>
            <a:ext cx="2124000" cy="2095028"/>
          </a:xfrm>
          <a:prstGeom prst="rect">
            <a:avLst/>
          </a:prstGeom>
          <a:solidFill>
            <a:srgbClr val="F2F2F2"/>
          </a:solidFill>
          <a:ln>
            <a:no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_Contents slide layout">
  <p:cSld name="18_Contents slide layout">
    <p:bg>
      <p:bgPr>
        <a:solidFill>
          <a:schemeClr val="lt1"/>
        </a:solidFill>
      </p:bgPr>
    </p:bg>
    <p:spTree>
      <p:nvGrpSpPr>
        <p:cNvPr id="252" name="Shape 252"/>
        <p:cNvGrpSpPr/>
        <p:nvPr/>
      </p:nvGrpSpPr>
      <p:grpSpPr>
        <a:xfrm>
          <a:off x="0" y="0"/>
          <a:ext cx="0" cy="0"/>
          <a:chOff x="0" y="0"/>
          <a:chExt cx="0" cy="0"/>
        </a:xfrm>
      </p:grpSpPr>
      <p:sp>
        <p:nvSpPr>
          <p:cNvPr id="253" name="Google Shape;253;p25"/>
          <p:cNvSpPr/>
          <p:nvPr>
            <p:ph idx="2" type="pic"/>
          </p:nvPr>
        </p:nvSpPr>
        <p:spPr>
          <a:xfrm>
            <a:off x="5622522" y="0"/>
            <a:ext cx="6569479" cy="6858000"/>
          </a:xfrm>
          <a:prstGeom prst="rect">
            <a:avLst/>
          </a:prstGeom>
          <a:solidFill>
            <a:srgbClr val="F2F2F2"/>
          </a:solidFill>
          <a:ln>
            <a:no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54" name="Shape 254"/>
        <p:cNvGrpSpPr/>
        <p:nvPr/>
      </p:nvGrpSpPr>
      <p:grpSpPr>
        <a:xfrm>
          <a:off x="0" y="0"/>
          <a:ext cx="0" cy="0"/>
          <a:chOff x="0" y="0"/>
          <a:chExt cx="0" cy="0"/>
        </a:xfrm>
      </p:grpSpPr>
      <p:sp>
        <p:nvSpPr>
          <p:cNvPr id="255" name="Google Shape;255;p26"/>
          <p:cNvSpPr txBox="1"/>
          <p:nvPr>
            <p:ph type="title"/>
          </p:nvPr>
        </p:nvSpPr>
        <p:spPr>
          <a:xfrm>
            <a:off x="6586267" y="1717682"/>
            <a:ext cx="2540400" cy="1294000"/>
          </a:xfrm>
          <a:prstGeom prst="rect">
            <a:avLst/>
          </a:prstGeom>
          <a:noFill/>
          <a:ln>
            <a:noFill/>
          </a:ln>
        </p:spPr>
        <p:txBody>
          <a:bodyPr anchorCtr="0" anchor="b" bIns="91425" lIns="91425" spcFirstLastPara="1" rIns="91425" wrap="square" tIns="91425">
            <a:noAutofit/>
          </a:bodyPr>
          <a:lstStyle>
            <a:lvl1pPr lvl="0" marR="0" rtl="0" algn="ctr">
              <a:spcBef>
                <a:spcPts val="0"/>
              </a:spcBef>
              <a:spcAft>
                <a:spcPts val="0"/>
              </a:spcAft>
              <a:buClr>
                <a:schemeClr val="dk1"/>
              </a:buClr>
              <a:buSzPts val="2400"/>
              <a:buFont typeface="Calibri"/>
              <a:buNone/>
              <a:defRPr b="0" i="0" sz="3980" u="none" cap="none" strike="noStrike">
                <a:solidFill>
                  <a:schemeClr val="dk1"/>
                </a:solidFill>
                <a:latin typeface="Calibri"/>
                <a:ea typeface="Calibri"/>
                <a:cs typeface="Calibri"/>
                <a:sym typeface="Calibri"/>
              </a:defRPr>
            </a:lvl1pPr>
            <a:lvl2pPr lvl="1">
              <a:spcBef>
                <a:spcPts val="0"/>
              </a:spcBef>
              <a:spcAft>
                <a:spcPts val="0"/>
              </a:spcAft>
              <a:buSzPts val="2400"/>
              <a:buFont typeface="Arial"/>
              <a:buNone/>
              <a:defRPr sz="3200"/>
            </a:lvl2pPr>
            <a:lvl3pPr lvl="2">
              <a:spcBef>
                <a:spcPts val="0"/>
              </a:spcBef>
              <a:spcAft>
                <a:spcPts val="0"/>
              </a:spcAft>
              <a:buSzPts val="2400"/>
              <a:buFont typeface="Arial"/>
              <a:buNone/>
              <a:defRPr sz="3200"/>
            </a:lvl3pPr>
            <a:lvl4pPr lvl="3">
              <a:spcBef>
                <a:spcPts val="0"/>
              </a:spcBef>
              <a:spcAft>
                <a:spcPts val="0"/>
              </a:spcAft>
              <a:buSzPts val="2400"/>
              <a:buFont typeface="Arial"/>
              <a:buNone/>
              <a:defRPr sz="3200"/>
            </a:lvl4pPr>
            <a:lvl5pPr lvl="4">
              <a:spcBef>
                <a:spcPts val="0"/>
              </a:spcBef>
              <a:spcAft>
                <a:spcPts val="0"/>
              </a:spcAft>
              <a:buSzPts val="2400"/>
              <a:buFont typeface="Arial"/>
              <a:buNone/>
              <a:defRPr sz="3200"/>
            </a:lvl5pPr>
            <a:lvl6pPr lvl="5">
              <a:spcBef>
                <a:spcPts val="0"/>
              </a:spcBef>
              <a:spcAft>
                <a:spcPts val="0"/>
              </a:spcAft>
              <a:buSzPts val="2400"/>
              <a:buFont typeface="Arial"/>
              <a:buNone/>
              <a:defRPr sz="3200"/>
            </a:lvl6pPr>
            <a:lvl7pPr lvl="6">
              <a:spcBef>
                <a:spcPts val="0"/>
              </a:spcBef>
              <a:spcAft>
                <a:spcPts val="0"/>
              </a:spcAft>
              <a:buSzPts val="2400"/>
              <a:buFont typeface="Arial"/>
              <a:buNone/>
              <a:defRPr sz="3200"/>
            </a:lvl7pPr>
            <a:lvl8pPr lvl="7">
              <a:spcBef>
                <a:spcPts val="0"/>
              </a:spcBef>
              <a:spcAft>
                <a:spcPts val="0"/>
              </a:spcAft>
              <a:buSzPts val="2400"/>
              <a:buFont typeface="Arial"/>
              <a:buNone/>
              <a:defRPr sz="3200"/>
            </a:lvl8pPr>
            <a:lvl9pPr lvl="8">
              <a:spcBef>
                <a:spcPts val="0"/>
              </a:spcBef>
              <a:spcAft>
                <a:spcPts val="0"/>
              </a:spcAft>
              <a:buSzPts val="2400"/>
              <a:buFont typeface="Arial"/>
              <a:buNone/>
              <a:defRPr sz="3200"/>
            </a:lvl9pPr>
          </a:lstStyle>
          <a:p/>
        </p:txBody>
      </p:sp>
      <p:sp>
        <p:nvSpPr>
          <p:cNvPr id="256" name="Google Shape;256;p26"/>
          <p:cNvSpPr txBox="1"/>
          <p:nvPr>
            <p:ph idx="1" type="body"/>
          </p:nvPr>
        </p:nvSpPr>
        <p:spPr>
          <a:xfrm>
            <a:off x="6586267" y="2910051"/>
            <a:ext cx="2540400" cy="2404800"/>
          </a:xfrm>
          <a:prstGeom prst="rect">
            <a:avLst/>
          </a:prstGeom>
          <a:noFill/>
          <a:ln>
            <a:noFill/>
          </a:ln>
        </p:spPr>
        <p:txBody>
          <a:bodyPr anchorCtr="0" anchor="t" bIns="91425" lIns="91425" spcFirstLastPara="1" rIns="91425" wrap="square" tIns="91425">
            <a:noAutofit/>
          </a:bodyPr>
          <a:lstStyle>
            <a:lvl1pPr indent="-317500" lvl="0" marL="457200" marR="0" rtl="0" algn="l">
              <a:spcBef>
                <a:spcPts val="0"/>
              </a:spcBef>
              <a:spcAft>
                <a:spcPts val="0"/>
              </a:spcAft>
              <a:buClr>
                <a:schemeClr val="dk1"/>
              </a:buClr>
              <a:buSzPts val="1400"/>
              <a:buFont typeface="Arial"/>
              <a:buChar char="●"/>
              <a:defRPr b="0" i="0" sz="2894" u="none" cap="none" strike="noStrike">
                <a:solidFill>
                  <a:schemeClr val="dk1"/>
                </a:solidFill>
                <a:latin typeface="Calibri"/>
                <a:ea typeface="Calibri"/>
                <a:cs typeface="Calibri"/>
                <a:sym typeface="Calibri"/>
              </a:defRPr>
            </a:lvl1pPr>
            <a:lvl2pPr indent="-317500" lvl="1" marL="914400" marR="0" rtl="0" algn="l">
              <a:spcBef>
                <a:spcPts val="0"/>
              </a:spcBef>
              <a:spcAft>
                <a:spcPts val="0"/>
              </a:spcAft>
              <a:buClr>
                <a:schemeClr val="dk1"/>
              </a:buClr>
              <a:buSzPts val="1400"/>
              <a:buFont typeface="Arial"/>
              <a:buChar char="○"/>
              <a:defRPr b="0" i="0" sz="2533" u="none" cap="none" strike="noStrike">
                <a:solidFill>
                  <a:schemeClr val="dk1"/>
                </a:solidFill>
                <a:latin typeface="Calibri"/>
                <a:ea typeface="Calibri"/>
                <a:cs typeface="Calibri"/>
                <a:sym typeface="Calibri"/>
              </a:defRPr>
            </a:lvl2pPr>
            <a:lvl3pPr indent="-317500" lvl="2" marL="1371600" marR="0" rtl="0" algn="l">
              <a:spcBef>
                <a:spcPts val="2133"/>
              </a:spcBef>
              <a:spcAft>
                <a:spcPts val="0"/>
              </a:spcAft>
              <a:buClr>
                <a:schemeClr val="dk1"/>
              </a:buClr>
              <a:buSzPts val="1400"/>
              <a:buFont typeface="Arial"/>
              <a:buChar char="■"/>
              <a:defRPr b="0" i="0" sz="2171" u="none" cap="none" strike="noStrike">
                <a:solidFill>
                  <a:schemeClr val="dk1"/>
                </a:solidFill>
                <a:latin typeface="Calibri"/>
                <a:ea typeface="Calibri"/>
                <a:cs typeface="Calibri"/>
                <a:sym typeface="Calibri"/>
              </a:defRPr>
            </a:lvl3pPr>
            <a:lvl4pPr indent="-317500" lvl="3" marL="18288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4pPr>
            <a:lvl5pPr indent="-317500" lvl="4" marL="22860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5pPr>
            <a:lvl6pPr indent="-317500" lvl="5" marL="27432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6pPr>
            <a:lvl7pPr indent="-317500" lvl="6" marL="32004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7pPr>
            <a:lvl8pPr indent="-317500" lvl="7" marL="3657600" marR="0" rtl="0" algn="l">
              <a:spcBef>
                <a:spcPts val="2133"/>
              </a:spcBef>
              <a:spcAft>
                <a:spcPts val="0"/>
              </a:spcAft>
              <a:buClr>
                <a:schemeClr val="dk1"/>
              </a:buClr>
              <a:buSzPts val="1400"/>
              <a:buFont typeface="Arial"/>
              <a:buChar char="○"/>
              <a:defRPr b="0" i="0" sz="1809" u="none" cap="none" strike="noStrike">
                <a:solidFill>
                  <a:schemeClr val="dk1"/>
                </a:solidFill>
                <a:latin typeface="Calibri"/>
                <a:ea typeface="Calibri"/>
                <a:cs typeface="Calibri"/>
                <a:sym typeface="Calibri"/>
              </a:defRPr>
            </a:lvl8pPr>
            <a:lvl9pPr indent="-317500" lvl="8" marL="4114800" marR="0" rtl="0" algn="l">
              <a:spcBef>
                <a:spcPts val="2133"/>
              </a:spcBef>
              <a:spcAft>
                <a:spcPts val="2133"/>
              </a:spcAft>
              <a:buClr>
                <a:schemeClr val="dk1"/>
              </a:buClr>
              <a:buSzPts val="1400"/>
              <a:buFont typeface="Arial"/>
              <a:buChar char="■"/>
              <a:defRPr b="0" i="0" sz="1809" u="none" cap="none" strike="noStrike">
                <a:solidFill>
                  <a:schemeClr val="dk1"/>
                </a:solidFill>
                <a:latin typeface="Calibri"/>
                <a:ea typeface="Calibri"/>
                <a:cs typeface="Calibri"/>
                <a:sym typeface="Calibri"/>
              </a:defRPr>
            </a:lvl9pPr>
          </a:lstStyle>
          <a:p/>
        </p:txBody>
      </p:sp>
      <p:sp>
        <p:nvSpPr>
          <p:cNvPr id="257" name="Google Shape;257;p26"/>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ustom Layout">
  <p:cSld name="6_Custom Layout">
    <p:spTree>
      <p:nvGrpSpPr>
        <p:cNvPr id="258" name="Shape 258"/>
        <p:cNvGrpSpPr/>
        <p:nvPr/>
      </p:nvGrpSpPr>
      <p:grpSpPr>
        <a:xfrm>
          <a:off x="0" y="0"/>
          <a:ext cx="0" cy="0"/>
          <a:chOff x="0" y="0"/>
          <a:chExt cx="0" cy="0"/>
        </a:xfrm>
      </p:grpSpPr>
      <p:sp>
        <p:nvSpPr>
          <p:cNvPr id="259" name="Google Shape;259;p27"/>
          <p:cNvSpPr txBox="1"/>
          <p:nvPr>
            <p:ph type="title"/>
          </p:nvPr>
        </p:nvSpPr>
        <p:spPr>
          <a:xfrm>
            <a:off x="560070" y="373644"/>
            <a:ext cx="11403330" cy="640080"/>
          </a:xfrm>
          <a:prstGeom prst="rect">
            <a:avLst/>
          </a:prstGeom>
          <a:noFill/>
          <a:ln>
            <a:noFill/>
          </a:ln>
        </p:spPr>
        <p:txBody>
          <a:bodyPr anchorCtr="0" anchor="ctr" bIns="91425" lIns="91425" spcFirstLastPara="1" rIns="91425" wrap="square" tIns="91425">
            <a:noAutofit/>
          </a:bodyPr>
          <a:lstStyle>
            <a:lvl1pPr lvl="0" marR="0" rtl="0" algn="ctr">
              <a:spcBef>
                <a:spcPts val="0"/>
              </a:spcBef>
              <a:spcAft>
                <a:spcPts val="0"/>
              </a:spcAft>
              <a:buClr>
                <a:srgbClr val="155DF5"/>
              </a:buClr>
              <a:buSzPts val="3000"/>
              <a:buFont typeface="Calibri"/>
              <a:buNone/>
              <a:defRPr b="1" i="0" sz="3200" u="none" cap="none" strike="noStrike">
                <a:solidFill>
                  <a:srgbClr val="155DF5"/>
                </a:solidFill>
                <a:latin typeface="Calibri"/>
                <a:ea typeface="Calibri"/>
                <a:cs typeface="Calibri"/>
                <a:sym typeface="Calibri"/>
              </a:defRPr>
            </a:lvl1pPr>
            <a:lvl2pPr lvl="1" rtl="0">
              <a:spcBef>
                <a:spcPts val="0"/>
              </a:spcBef>
              <a:spcAft>
                <a:spcPts val="0"/>
              </a:spcAft>
              <a:buSzPts val="3500"/>
              <a:buFont typeface="Arial"/>
              <a:buNone/>
              <a:defRPr sz="1800"/>
            </a:lvl2pPr>
            <a:lvl3pPr lvl="2" rtl="0">
              <a:spcBef>
                <a:spcPts val="0"/>
              </a:spcBef>
              <a:spcAft>
                <a:spcPts val="0"/>
              </a:spcAft>
              <a:buSzPts val="3500"/>
              <a:buFont typeface="Arial"/>
              <a:buNone/>
              <a:defRPr sz="1800"/>
            </a:lvl3pPr>
            <a:lvl4pPr lvl="3" rtl="0">
              <a:spcBef>
                <a:spcPts val="0"/>
              </a:spcBef>
              <a:spcAft>
                <a:spcPts val="0"/>
              </a:spcAft>
              <a:buSzPts val="3500"/>
              <a:buFont typeface="Arial"/>
              <a:buNone/>
              <a:defRPr sz="1800"/>
            </a:lvl4pPr>
            <a:lvl5pPr lvl="4" rtl="0">
              <a:spcBef>
                <a:spcPts val="0"/>
              </a:spcBef>
              <a:spcAft>
                <a:spcPts val="0"/>
              </a:spcAft>
              <a:buSzPts val="3500"/>
              <a:buFont typeface="Arial"/>
              <a:buNone/>
              <a:defRPr sz="1800"/>
            </a:lvl5pPr>
            <a:lvl6pPr lvl="5" rtl="0">
              <a:spcBef>
                <a:spcPts val="0"/>
              </a:spcBef>
              <a:spcAft>
                <a:spcPts val="0"/>
              </a:spcAft>
              <a:buSzPts val="3500"/>
              <a:buFont typeface="Arial"/>
              <a:buNone/>
              <a:defRPr sz="1800"/>
            </a:lvl6pPr>
            <a:lvl7pPr lvl="6" rtl="0">
              <a:spcBef>
                <a:spcPts val="0"/>
              </a:spcBef>
              <a:spcAft>
                <a:spcPts val="0"/>
              </a:spcAft>
              <a:buSzPts val="3500"/>
              <a:buFont typeface="Arial"/>
              <a:buNone/>
              <a:defRPr sz="1800"/>
            </a:lvl7pPr>
            <a:lvl8pPr lvl="7" rtl="0">
              <a:spcBef>
                <a:spcPts val="0"/>
              </a:spcBef>
              <a:spcAft>
                <a:spcPts val="0"/>
              </a:spcAft>
              <a:buSzPts val="3500"/>
              <a:buFont typeface="Arial"/>
              <a:buNone/>
              <a:defRPr sz="1800"/>
            </a:lvl8pPr>
            <a:lvl9pPr lvl="8" rtl="0">
              <a:spcBef>
                <a:spcPts val="0"/>
              </a:spcBef>
              <a:spcAft>
                <a:spcPts val="0"/>
              </a:spcAft>
              <a:buSzPts val="3500"/>
              <a:buFont typeface="Arial"/>
              <a:buNone/>
              <a:defRPr sz="1800"/>
            </a:lvl9pPr>
          </a:lstStyle>
          <a:p/>
        </p:txBody>
      </p:sp>
      <p:pic>
        <p:nvPicPr>
          <p:cNvPr id="260" name="Google Shape;260;p27"/>
          <p:cNvPicPr preferRelativeResize="0"/>
          <p:nvPr/>
        </p:nvPicPr>
        <p:blipFill rotWithShape="1">
          <a:blip r:embed="rId2">
            <a:alphaModFix/>
          </a:blip>
          <a:srcRect b="34827" l="0" r="-24" t="34881"/>
          <a:stretch/>
        </p:blipFill>
        <p:spPr>
          <a:xfrm>
            <a:off x="10905270" y="486350"/>
            <a:ext cx="1225892" cy="371347"/>
          </a:xfrm>
          <a:prstGeom prst="rect">
            <a:avLst/>
          </a:prstGeom>
          <a:noFill/>
          <a:ln>
            <a:noFill/>
          </a:ln>
        </p:spPr>
      </p:pic>
      <p:sp>
        <p:nvSpPr>
          <p:cNvPr id="261" name="Google Shape;261;p27"/>
          <p:cNvSpPr/>
          <p:nvPr/>
        </p:nvSpPr>
        <p:spPr>
          <a:xfrm>
            <a:off x="1" y="6585628"/>
            <a:ext cx="1060314" cy="272372"/>
          </a:xfrm>
          <a:custGeom>
            <a:rect b="b" l="l" r="r" t="t"/>
            <a:pathLst>
              <a:path extrusionOk="0" h="272372" w="1060314">
                <a:moveTo>
                  <a:pt x="0" y="0"/>
                </a:moveTo>
                <a:lnTo>
                  <a:pt x="924128" y="0"/>
                </a:lnTo>
                <a:cubicBezTo>
                  <a:pt x="1002860" y="152"/>
                  <a:pt x="1060163" y="66978"/>
                  <a:pt x="1060314" y="136186"/>
                </a:cubicBezTo>
                <a:lnTo>
                  <a:pt x="1060314" y="272372"/>
                </a:lnTo>
                <a:lnTo>
                  <a:pt x="0" y="272372"/>
                </a:lnTo>
                <a:lnTo>
                  <a:pt x="0" y="0"/>
                </a:lnTo>
                <a:close/>
              </a:path>
            </a:pathLst>
          </a:custGeom>
          <a:solidFill>
            <a:srgbClr val="176CF3"/>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rPr lang="en-US" sz="1200">
                <a:solidFill>
                  <a:schemeClr val="lt1"/>
                </a:solidFill>
                <a:latin typeface="Calibri"/>
                <a:ea typeface="Calibri"/>
                <a:cs typeface="Calibri"/>
                <a:sym typeface="Calibri"/>
              </a:rPr>
              <a:t>cmc-apac.sg</a:t>
            </a:r>
            <a:endParaRPr/>
          </a:p>
        </p:txBody>
      </p:sp>
      <p:sp>
        <p:nvSpPr>
          <p:cNvPr id="262" name="Google Shape;262;p27"/>
          <p:cNvSpPr/>
          <p:nvPr/>
        </p:nvSpPr>
        <p:spPr>
          <a:xfrm flipH="1">
            <a:off x="11747383" y="6585628"/>
            <a:ext cx="444616" cy="272372"/>
          </a:xfrm>
          <a:custGeom>
            <a:rect b="b" l="l" r="r" t="t"/>
            <a:pathLst>
              <a:path extrusionOk="0" h="272372" w="444616">
                <a:moveTo>
                  <a:pt x="0" y="0"/>
                </a:moveTo>
                <a:lnTo>
                  <a:pt x="308430" y="0"/>
                </a:lnTo>
                <a:cubicBezTo>
                  <a:pt x="396688" y="152"/>
                  <a:pt x="444464" y="40787"/>
                  <a:pt x="444616" y="136186"/>
                </a:cubicBezTo>
                <a:lnTo>
                  <a:pt x="444616" y="272372"/>
                </a:lnTo>
                <a:lnTo>
                  <a:pt x="0" y="272372"/>
                </a:lnTo>
                <a:lnTo>
                  <a:pt x="0" y="0"/>
                </a:lnTo>
                <a:close/>
              </a:path>
            </a:pathLst>
          </a:custGeom>
          <a:solidFill>
            <a:srgbClr val="176CF3"/>
          </a:solidFill>
          <a:ln>
            <a:noFill/>
          </a:ln>
        </p:spPr>
        <p:txBody>
          <a:bodyPr anchorCtr="0" anchor="ctr" bIns="45700" lIns="91425" spcFirstLastPara="1" rIns="91425" wrap="square" tIns="0">
            <a:noAutofit/>
          </a:bodyPr>
          <a:lstStyle/>
          <a:p>
            <a:pPr indent="0" lvl="0" marL="0" marR="0" rtl="0" algn="l">
              <a:spcBef>
                <a:spcPts val="0"/>
              </a:spcBef>
              <a:spcAft>
                <a:spcPts val="0"/>
              </a:spcAft>
              <a:buNone/>
            </a:pPr>
            <a:r>
              <a:t/>
            </a:r>
            <a:endParaRPr sz="1200">
              <a:solidFill>
                <a:schemeClr val="lt1"/>
              </a:solidFill>
              <a:latin typeface="Calibri"/>
              <a:ea typeface="Calibri"/>
              <a:cs typeface="Calibri"/>
              <a:sym typeface="Calibri"/>
            </a:endParaRPr>
          </a:p>
        </p:txBody>
      </p:sp>
      <p:sp>
        <p:nvSpPr>
          <p:cNvPr id="263" name="Google Shape;263;p27"/>
          <p:cNvSpPr txBox="1"/>
          <p:nvPr>
            <p:ph idx="12" type="sldNum"/>
          </p:nvPr>
        </p:nvSpPr>
        <p:spPr>
          <a:xfrm>
            <a:off x="11747383" y="6585628"/>
            <a:ext cx="444617" cy="272372"/>
          </a:xfrm>
          <a:prstGeom prst="rect">
            <a:avLst/>
          </a:prstGeom>
          <a:noFill/>
          <a:ln>
            <a:noFill/>
          </a:ln>
        </p:spPr>
        <p:txBody>
          <a:bodyPr anchorCtr="0" anchor="t" bIns="0" lIns="91425" spcFirstLastPara="1" rIns="91425" wrap="square" tIns="0">
            <a:noAutofit/>
          </a:bodyPr>
          <a:lstStyle>
            <a:lvl1pPr indent="0" lvl="0" marL="0" marR="0" rtl="0" algn="l">
              <a:spcBef>
                <a:spcPts val="0"/>
              </a:spcBef>
              <a:buNone/>
              <a:defRPr sz="1000">
                <a:solidFill>
                  <a:schemeClr val="lt1"/>
                </a:solidFill>
                <a:latin typeface="Calibri"/>
                <a:ea typeface="Calibri"/>
                <a:cs typeface="Calibri"/>
                <a:sym typeface="Calibri"/>
              </a:defRPr>
            </a:lvl1pPr>
            <a:lvl2pPr indent="0" lvl="1" marL="0" marR="0" rtl="0" algn="l">
              <a:spcBef>
                <a:spcPts val="0"/>
              </a:spcBef>
              <a:buNone/>
              <a:defRPr sz="1000">
                <a:solidFill>
                  <a:schemeClr val="lt1"/>
                </a:solidFill>
                <a:latin typeface="Calibri"/>
                <a:ea typeface="Calibri"/>
                <a:cs typeface="Calibri"/>
                <a:sym typeface="Calibri"/>
              </a:defRPr>
            </a:lvl2pPr>
            <a:lvl3pPr indent="0" lvl="2" marL="0" marR="0" rtl="0" algn="l">
              <a:spcBef>
                <a:spcPts val="0"/>
              </a:spcBef>
              <a:buNone/>
              <a:defRPr sz="1000">
                <a:solidFill>
                  <a:schemeClr val="lt1"/>
                </a:solidFill>
                <a:latin typeface="Calibri"/>
                <a:ea typeface="Calibri"/>
                <a:cs typeface="Calibri"/>
                <a:sym typeface="Calibri"/>
              </a:defRPr>
            </a:lvl3pPr>
            <a:lvl4pPr indent="0" lvl="3" marL="0" marR="0" rtl="0" algn="l">
              <a:spcBef>
                <a:spcPts val="0"/>
              </a:spcBef>
              <a:buNone/>
              <a:defRPr sz="1000">
                <a:solidFill>
                  <a:schemeClr val="lt1"/>
                </a:solidFill>
                <a:latin typeface="Calibri"/>
                <a:ea typeface="Calibri"/>
                <a:cs typeface="Calibri"/>
                <a:sym typeface="Calibri"/>
              </a:defRPr>
            </a:lvl4pPr>
            <a:lvl5pPr indent="0" lvl="4" marL="0" marR="0" rtl="0" algn="l">
              <a:spcBef>
                <a:spcPts val="0"/>
              </a:spcBef>
              <a:buNone/>
              <a:defRPr sz="1000">
                <a:solidFill>
                  <a:schemeClr val="lt1"/>
                </a:solidFill>
                <a:latin typeface="Calibri"/>
                <a:ea typeface="Calibri"/>
                <a:cs typeface="Calibri"/>
                <a:sym typeface="Calibri"/>
              </a:defRPr>
            </a:lvl5pPr>
            <a:lvl6pPr indent="0" lvl="5" marL="0" marR="0" rtl="0" algn="l">
              <a:spcBef>
                <a:spcPts val="0"/>
              </a:spcBef>
              <a:buNone/>
              <a:defRPr sz="1000">
                <a:solidFill>
                  <a:schemeClr val="lt1"/>
                </a:solidFill>
                <a:latin typeface="Calibri"/>
                <a:ea typeface="Calibri"/>
                <a:cs typeface="Calibri"/>
                <a:sym typeface="Calibri"/>
              </a:defRPr>
            </a:lvl6pPr>
            <a:lvl7pPr indent="0" lvl="6" marL="0" marR="0" rtl="0" algn="l">
              <a:spcBef>
                <a:spcPts val="0"/>
              </a:spcBef>
              <a:buNone/>
              <a:defRPr sz="1000">
                <a:solidFill>
                  <a:schemeClr val="lt1"/>
                </a:solidFill>
                <a:latin typeface="Calibri"/>
                <a:ea typeface="Calibri"/>
                <a:cs typeface="Calibri"/>
                <a:sym typeface="Calibri"/>
              </a:defRPr>
            </a:lvl7pPr>
            <a:lvl8pPr indent="0" lvl="7" marL="0" marR="0" rtl="0" algn="l">
              <a:spcBef>
                <a:spcPts val="0"/>
              </a:spcBef>
              <a:buNone/>
              <a:defRPr sz="1000">
                <a:solidFill>
                  <a:schemeClr val="lt1"/>
                </a:solidFill>
                <a:latin typeface="Calibri"/>
                <a:ea typeface="Calibri"/>
                <a:cs typeface="Calibri"/>
                <a:sym typeface="Calibri"/>
              </a:defRPr>
            </a:lvl8pPr>
            <a:lvl9pPr indent="0" lvl="8" marL="0" marR="0" rtl="0" algn="l">
              <a:spcBef>
                <a:spcPts val="0"/>
              </a:spcBef>
              <a:buNone/>
              <a:defRPr sz="10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264" name="Google Shape;264;p27"/>
          <p:cNvSpPr/>
          <p:nvPr/>
        </p:nvSpPr>
        <p:spPr>
          <a:xfrm>
            <a:off x="0" y="228504"/>
            <a:ext cx="330090" cy="914400"/>
          </a:xfrm>
          <a:custGeom>
            <a:rect b="b" l="l" r="r" t="t"/>
            <a:pathLst>
              <a:path extrusionOk="0" h="914400" w="330090">
                <a:moveTo>
                  <a:pt x="55770" y="0"/>
                </a:moveTo>
                <a:cubicBezTo>
                  <a:pt x="207273" y="0"/>
                  <a:pt x="330090" y="122817"/>
                  <a:pt x="330090" y="274320"/>
                </a:cubicBezTo>
                <a:lnTo>
                  <a:pt x="330090" y="640080"/>
                </a:lnTo>
                <a:cubicBezTo>
                  <a:pt x="330090" y="791583"/>
                  <a:pt x="207273" y="914400"/>
                  <a:pt x="55770" y="914400"/>
                </a:cubicBezTo>
                <a:cubicBezTo>
                  <a:pt x="36832" y="914400"/>
                  <a:pt x="18342" y="912481"/>
                  <a:pt x="485" y="908827"/>
                </a:cubicBezTo>
                <a:lnTo>
                  <a:pt x="0" y="908677"/>
                </a:lnTo>
                <a:lnTo>
                  <a:pt x="0" y="5724"/>
                </a:lnTo>
                <a:lnTo>
                  <a:pt x="485" y="5573"/>
                </a:lnTo>
                <a:cubicBezTo>
                  <a:pt x="18342" y="1919"/>
                  <a:pt x="36832" y="0"/>
                  <a:pt x="55770" y="0"/>
                </a:cubicBezTo>
                <a:close/>
              </a:path>
            </a:pathLst>
          </a:custGeom>
          <a:gradFill>
            <a:gsLst>
              <a:gs pos="0">
                <a:srgbClr val="113CF7"/>
              </a:gs>
              <a:gs pos="100000">
                <a:srgbClr val="1D9AD6"/>
              </a:gs>
            </a:gsLst>
            <a:lin ang="135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628"/>
              <a:buFont typeface="Calibri"/>
              <a:buNone/>
            </a:pPr>
            <a:r>
              <a:t/>
            </a:r>
            <a:endParaRPr b="0" i="0" sz="1628" u="none" cap="none" strike="noStrike">
              <a:solidFill>
                <a:srgbClr val="FFFFFF"/>
              </a:solidFill>
              <a:latin typeface="Calibri"/>
              <a:ea typeface="Calibri"/>
              <a:cs typeface="Calibri"/>
              <a:sym typeface="Calibri"/>
            </a:endParaRPr>
          </a:p>
        </p:txBody>
      </p:sp>
    </p:spTree>
  </p:cSld>
  <p:clrMapOvr>
    <a:masterClrMapping/>
  </p:clrMapOvr>
  <p:extLst>
    <p:ext uri="{DCECCB84-F9BA-43D5-87BE-67443E8EF086}">
      <p15:sldGuideLst>
        <p15:guide id="1" pos="3840">
          <p15:clr>
            <a:srgbClr val="FBAE40"/>
          </p15:clr>
        </p15:guide>
        <p15:guide id="2" orient="horz" pos="2160">
          <p15:clr>
            <a:srgbClr val="FBAE40"/>
          </p15:clr>
        </p15:guide>
        <p15:guide id="3" pos="384">
          <p15:clr>
            <a:srgbClr val="FBAE40"/>
          </p15:clr>
        </p15:guide>
        <p15:guide id="4" pos="7296">
          <p15:clr>
            <a:srgbClr val="FBAE40"/>
          </p15:clr>
        </p15:guide>
        <p15:guide id="5" orient="horz" pos="288">
          <p15:clr>
            <a:srgbClr val="FBAE40"/>
          </p15:clr>
        </p15:guide>
        <p15:guide id="6" orient="horz" pos="4032">
          <p15:clr>
            <a:srgbClr val="FBAE40"/>
          </p15:clr>
        </p15:guide>
        <p15:guide id="7"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With Separation">
  <p:cSld name="3_With Separation">
    <p:spTree>
      <p:nvGrpSpPr>
        <p:cNvPr id="265" name="Shape 265"/>
        <p:cNvGrpSpPr/>
        <p:nvPr/>
      </p:nvGrpSpPr>
      <p:grpSpPr>
        <a:xfrm>
          <a:off x="0" y="0"/>
          <a:ext cx="0" cy="0"/>
          <a:chOff x="0" y="0"/>
          <a:chExt cx="0" cy="0"/>
        </a:xfrm>
      </p:grpSpPr>
      <p:sp>
        <p:nvSpPr>
          <p:cNvPr id="266" name="Google Shape;266;p28"/>
          <p:cNvSpPr/>
          <p:nvPr/>
        </p:nvSpPr>
        <p:spPr>
          <a:xfrm>
            <a:off x="11836452" y="0"/>
            <a:ext cx="360250" cy="6858000"/>
          </a:xfrm>
          <a:prstGeom prst="rect">
            <a:avLst/>
          </a:prstGeom>
          <a:gradFill>
            <a:gsLst>
              <a:gs pos="0">
                <a:srgbClr val="1D9AD6"/>
              </a:gs>
              <a:gs pos="47000">
                <a:srgbClr val="3276F1"/>
              </a:gs>
              <a:gs pos="96330">
                <a:srgbClr val="183497"/>
              </a:gs>
              <a:gs pos="100000">
                <a:srgbClr val="183497"/>
              </a:gs>
            </a:gsLst>
            <a:lin ang="16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267" name="Google Shape;267;p28"/>
          <p:cNvSpPr txBox="1"/>
          <p:nvPr/>
        </p:nvSpPr>
        <p:spPr>
          <a:xfrm>
            <a:off x="11835747" y="6458579"/>
            <a:ext cx="343364" cy="231602"/>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fld id="{00000000-1234-1234-1234-123412341234}" type="slidenum">
              <a:rPr lang="en-US" sz="905">
                <a:solidFill>
                  <a:schemeClr val="lt1"/>
                </a:solidFill>
                <a:latin typeface="Montserrat SemiBold"/>
                <a:ea typeface="Montserrat SemiBold"/>
                <a:cs typeface="Montserrat SemiBold"/>
                <a:sym typeface="Montserrat SemiBold"/>
              </a:rPr>
              <a:t>‹#›</a:t>
            </a:fld>
            <a:endParaRPr sz="905">
              <a:solidFill>
                <a:schemeClr val="lt1"/>
              </a:solidFill>
              <a:latin typeface="Montserrat SemiBold"/>
              <a:ea typeface="Montserrat SemiBold"/>
              <a:cs typeface="Montserrat SemiBold"/>
              <a:sym typeface="Montserrat SemiBold"/>
            </a:endParaRPr>
          </a:p>
        </p:txBody>
      </p:sp>
      <p:pic>
        <p:nvPicPr>
          <p:cNvPr id="268" name="Google Shape;268;p28"/>
          <p:cNvPicPr preferRelativeResize="0"/>
          <p:nvPr/>
        </p:nvPicPr>
        <p:blipFill rotWithShape="1">
          <a:blip r:embed="rId2">
            <a:alphaModFix/>
          </a:blip>
          <a:srcRect b="0" l="0" r="0" t="0"/>
          <a:stretch/>
        </p:blipFill>
        <p:spPr>
          <a:xfrm>
            <a:off x="448392" y="6355531"/>
            <a:ext cx="1422432" cy="309823"/>
          </a:xfrm>
          <a:prstGeom prst="rect">
            <a:avLst/>
          </a:prstGeom>
          <a:noFill/>
          <a:ln>
            <a:noFill/>
          </a:ln>
        </p:spPr>
      </p:pic>
      <p:sp>
        <p:nvSpPr>
          <p:cNvPr id="269" name="Google Shape;269;p28"/>
          <p:cNvSpPr/>
          <p:nvPr/>
        </p:nvSpPr>
        <p:spPr>
          <a:xfrm>
            <a:off x="448390" y="764020"/>
            <a:ext cx="927240" cy="24813"/>
          </a:xfrm>
          <a:prstGeom prst="rect">
            <a:avLst/>
          </a:prstGeom>
          <a:gradFill>
            <a:gsLst>
              <a:gs pos="0">
                <a:srgbClr val="1D9AD6">
                  <a:alpha val="0"/>
                </a:srgbClr>
              </a:gs>
              <a:gs pos="35000">
                <a:srgbClr val="1D9AD6"/>
              </a:gs>
              <a:gs pos="67000">
                <a:srgbClr val="4A9FEA"/>
              </a:gs>
              <a:gs pos="100000">
                <a:srgbClr val="3276F1"/>
              </a:gs>
            </a:gsLst>
            <a:lin ang="10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28">
              <a:latin typeface="Calibri"/>
              <a:ea typeface="Calibri"/>
              <a:cs typeface="Calibri"/>
              <a:sym typeface="Calibri"/>
            </a:endParaRPr>
          </a:p>
        </p:txBody>
      </p:sp>
      <p:sp>
        <p:nvSpPr>
          <p:cNvPr id="270" name="Google Shape;270;p28"/>
          <p:cNvSpPr txBox="1"/>
          <p:nvPr>
            <p:ph idx="1" type="body"/>
          </p:nvPr>
        </p:nvSpPr>
        <p:spPr>
          <a:xfrm>
            <a:off x="327371" y="240298"/>
            <a:ext cx="4955203" cy="424732"/>
          </a:xfrm>
          <a:prstGeom prst="rect">
            <a:avLst/>
          </a:prstGeom>
          <a:noFill/>
          <a:ln>
            <a:noFill/>
          </a:ln>
        </p:spPr>
        <p:txBody>
          <a:bodyPr anchorCtr="0" anchor="t" bIns="45700" lIns="91425" spcFirstLastPara="1" rIns="91425" wrap="square" tIns="45700">
            <a:spAutoFit/>
          </a:bodyPr>
          <a:lstStyle>
            <a:lvl1pPr indent="-228600" lvl="0" marL="457200" marR="0" rtl="0" algn="l">
              <a:spcBef>
                <a:spcPts val="480"/>
              </a:spcBef>
              <a:spcAft>
                <a:spcPts val="0"/>
              </a:spcAft>
              <a:buClr>
                <a:srgbClr val="1867DC"/>
              </a:buClr>
              <a:buSzPts val="2400"/>
              <a:buFont typeface="Arial"/>
              <a:buNone/>
              <a:defRPr b="0" i="0" sz="2400" u="none" cap="none" strike="noStrike">
                <a:solidFill>
                  <a:srgbClr val="1867DC"/>
                </a:solidFill>
                <a:latin typeface="Montserrat SemiBold"/>
                <a:ea typeface="Montserrat SemiBold"/>
                <a:cs typeface="Montserrat SemiBold"/>
                <a:sym typeface="Montserrat SemiBold"/>
              </a:defRPr>
            </a:lvl1pPr>
            <a:lvl2pPr indent="-389446" lvl="1" marL="914400" marR="0" rtl="0" algn="l">
              <a:spcBef>
                <a:spcPts val="507"/>
              </a:spcBef>
              <a:spcAft>
                <a:spcPts val="0"/>
              </a:spcAft>
              <a:buClr>
                <a:schemeClr val="dk1"/>
              </a:buClr>
              <a:buSzPts val="2533"/>
              <a:buFont typeface="Arial"/>
              <a:buChar char="–"/>
              <a:defRPr b="0" i="0" sz="2533" u="none" cap="none" strike="noStrike">
                <a:solidFill>
                  <a:schemeClr val="dk1"/>
                </a:solidFill>
                <a:latin typeface="Calibri"/>
                <a:ea typeface="Calibri"/>
                <a:cs typeface="Calibri"/>
                <a:sym typeface="Calibri"/>
              </a:defRPr>
            </a:lvl2pPr>
            <a:lvl3pPr indent="-366458" lvl="2" marL="1371600" marR="0" rtl="0" algn="l">
              <a:spcBef>
                <a:spcPts val="434"/>
              </a:spcBef>
              <a:spcAft>
                <a:spcPts val="0"/>
              </a:spcAft>
              <a:buClr>
                <a:schemeClr val="dk1"/>
              </a:buClr>
              <a:buSzPts val="2171"/>
              <a:buFont typeface="Arial"/>
              <a:buChar char="•"/>
              <a:defRPr b="0" i="0" sz="2171" u="none" cap="none" strike="noStrike">
                <a:solidFill>
                  <a:schemeClr val="dk1"/>
                </a:solidFill>
                <a:latin typeface="Calibri"/>
                <a:ea typeface="Calibri"/>
                <a:cs typeface="Calibri"/>
                <a:sym typeface="Calibri"/>
              </a:defRPr>
            </a:lvl3pPr>
            <a:lvl4pPr indent="-343471" lvl="3" marL="1828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4pPr>
            <a:lvl5pPr indent="-343471" lvl="4" marL="22860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5pPr>
            <a:lvl6pPr indent="-343471" lvl="5" marL="27432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6pPr>
            <a:lvl7pPr indent="-343471" lvl="6" marL="32004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7pPr>
            <a:lvl8pPr indent="-343472" lvl="7" marL="36576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8pPr>
            <a:lvl9pPr indent="-343472" lvl="8" marL="4114800" marR="0" rtl="0" algn="l">
              <a:spcBef>
                <a:spcPts val="362"/>
              </a:spcBef>
              <a:spcAft>
                <a:spcPts val="0"/>
              </a:spcAft>
              <a:buClr>
                <a:schemeClr val="dk1"/>
              </a:buClr>
              <a:buSzPts val="1809"/>
              <a:buFont typeface="Arial"/>
              <a:buChar char="•"/>
              <a:defRPr b="0" i="0" sz="1809"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272" name="Shape 272"/>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73" name="Shape 273"/>
        <p:cNvGrpSpPr/>
        <p:nvPr/>
      </p:nvGrpSpPr>
      <p:grpSpPr>
        <a:xfrm>
          <a:off x="0" y="0"/>
          <a:ext cx="0" cy="0"/>
          <a:chOff x="0" y="0"/>
          <a:chExt cx="0" cy="0"/>
        </a:xfrm>
      </p:grpSpPr>
      <p:sp>
        <p:nvSpPr>
          <p:cNvPr id="274" name="Google Shape;274;p3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a:spcBef>
                <a:spcPts val="0"/>
              </a:spcBef>
              <a:spcAft>
                <a:spcPts val="0"/>
              </a:spcAft>
              <a:buSzPts val="1400"/>
              <a:buFont typeface="Arial"/>
              <a:buNone/>
              <a:defRPr sz="1800"/>
            </a:lvl2pPr>
            <a:lvl3pPr lvl="2">
              <a:spcBef>
                <a:spcPts val="0"/>
              </a:spcBef>
              <a:spcAft>
                <a:spcPts val="0"/>
              </a:spcAft>
              <a:buSzPts val="1400"/>
              <a:buFont typeface="Arial"/>
              <a:buNone/>
              <a:defRPr sz="1800"/>
            </a:lvl3pPr>
            <a:lvl4pPr lvl="3">
              <a:spcBef>
                <a:spcPts val="0"/>
              </a:spcBef>
              <a:spcAft>
                <a:spcPts val="0"/>
              </a:spcAft>
              <a:buSzPts val="1400"/>
              <a:buFont typeface="Arial"/>
              <a:buNone/>
              <a:defRPr sz="1800"/>
            </a:lvl4pPr>
            <a:lvl5pPr lvl="4">
              <a:spcBef>
                <a:spcPts val="0"/>
              </a:spcBef>
              <a:spcAft>
                <a:spcPts val="0"/>
              </a:spcAft>
              <a:buSzPts val="1400"/>
              <a:buFont typeface="Arial"/>
              <a:buNone/>
              <a:defRPr sz="1800"/>
            </a:lvl5pPr>
            <a:lvl6pPr lvl="5">
              <a:spcBef>
                <a:spcPts val="0"/>
              </a:spcBef>
              <a:spcAft>
                <a:spcPts val="0"/>
              </a:spcAft>
              <a:buSzPts val="1400"/>
              <a:buFont typeface="Arial"/>
              <a:buNone/>
              <a:defRPr sz="1800"/>
            </a:lvl6pPr>
            <a:lvl7pPr lvl="6">
              <a:spcBef>
                <a:spcPts val="0"/>
              </a:spcBef>
              <a:spcAft>
                <a:spcPts val="0"/>
              </a:spcAft>
              <a:buSzPts val="1400"/>
              <a:buFont typeface="Arial"/>
              <a:buNone/>
              <a:defRPr sz="1800"/>
            </a:lvl7pPr>
            <a:lvl8pPr lvl="7">
              <a:spcBef>
                <a:spcPts val="0"/>
              </a:spcBef>
              <a:spcAft>
                <a:spcPts val="0"/>
              </a:spcAft>
              <a:buSzPts val="1400"/>
              <a:buFont typeface="Arial"/>
              <a:buNone/>
              <a:defRPr sz="1800"/>
            </a:lvl8pPr>
            <a:lvl9pPr lvl="8">
              <a:spcBef>
                <a:spcPts val="0"/>
              </a:spcBef>
              <a:spcAft>
                <a:spcPts val="0"/>
              </a:spcAft>
              <a:buSzPts val="1400"/>
              <a:buFont typeface="Arial"/>
              <a:buNone/>
              <a:defRPr sz="1800"/>
            </a:lvl9pPr>
          </a:lstStyle>
          <a:p/>
        </p:txBody>
      </p:sp>
      <p:sp>
        <p:nvSpPr>
          <p:cNvPr id="275" name="Google Shape;275;p3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Calibri"/>
                <a:ea typeface="Calibri"/>
                <a:cs typeface="Calibri"/>
                <a:sym typeface="Calibri"/>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Calibri"/>
                <a:ea typeface="Calibri"/>
                <a:cs typeface="Calibri"/>
                <a:sym typeface="Calibri"/>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9pPr>
          </a:lstStyle>
          <a:p/>
        </p:txBody>
      </p:sp>
      <p:sp>
        <p:nvSpPr>
          <p:cNvPr id="276" name="Google Shape;276;p31"/>
          <p:cNvSpPr txBox="1"/>
          <p:nvPr>
            <p:ph idx="10" type="dt"/>
          </p:nvPr>
        </p:nvSpPr>
        <p:spPr>
          <a:xfrm>
            <a:off x="838200" y="6356351"/>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dk1"/>
              </a:buClr>
              <a:buSzPts val="1400"/>
              <a:buFont typeface="Calibri"/>
              <a:buNone/>
              <a:defRPr sz="1800">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77" name="Google Shape;277;p31"/>
          <p:cNvSpPr txBox="1"/>
          <p:nvPr>
            <p:ph idx="11" type="ftr"/>
          </p:nvPr>
        </p:nvSpPr>
        <p:spPr>
          <a:xfrm>
            <a:off x="4038600" y="6356351"/>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Clr>
                <a:schemeClr val="dk1"/>
              </a:buClr>
              <a:buSzPts val="1400"/>
              <a:buFont typeface="Calibri"/>
              <a:buNone/>
              <a:defRPr sz="1800">
                <a:solidFill>
                  <a:schemeClr val="dk1"/>
                </a:solidFill>
                <a:latin typeface="Calibri"/>
                <a:ea typeface="Calibri"/>
                <a:cs typeface="Calibri"/>
                <a:sym typeface="Calibri"/>
              </a:defRPr>
            </a:lvl1pPr>
            <a:lvl2pPr lvl="1"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Clr>
                <a:schemeClr val="dk1"/>
              </a:buClr>
              <a:buSzPts val="1400"/>
              <a:buFont typeface="Calibri"/>
              <a:buNone/>
              <a:defRPr b="0" i="0" sz="1800" u="none" cap="none" strike="noStrike">
                <a:solidFill>
                  <a:schemeClr val="dk1"/>
                </a:solidFill>
                <a:latin typeface="Calibri"/>
                <a:ea typeface="Calibri"/>
                <a:cs typeface="Calibri"/>
                <a:sym typeface="Calibri"/>
              </a:defRPr>
            </a:lvl9pPr>
          </a:lstStyle>
          <a:p/>
        </p:txBody>
      </p:sp>
      <p:sp>
        <p:nvSpPr>
          <p:cNvPr id="278" name="Google Shape;278;p31"/>
          <p:cNvSpPr txBox="1"/>
          <p:nvPr>
            <p:ph idx="12" type="sldNum"/>
          </p:nvPr>
        </p:nvSpPr>
        <p:spPr>
          <a:xfrm>
            <a:off x="8610601" y="6356351"/>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1pPr>
            <a:lvl2pPr indent="0" lvl="1"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2pPr>
            <a:lvl3pPr indent="0" lvl="2"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3pPr>
            <a:lvl4pPr indent="0" lvl="3"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4pPr>
            <a:lvl5pPr indent="0" lvl="4"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5pPr>
            <a:lvl6pPr indent="0" lvl="5"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6pPr>
            <a:lvl7pPr indent="0" lvl="6"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7pPr>
            <a:lvl8pPr indent="0" lvl="7"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8pPr>
            <a:lvl9pPr indent="0" lvl="8" marL="0" marR="0" rtl="0" algn="r">
              <a:spcBef>
                <a:spcPts val="0"/>
              </a:spcBef>
              <a:buClr>
                <a:schemeClr val="dk1"/>
              </a:buClr>
              <a:buSzPts val="1800"/>
              <a:buFont typeface="Calibri"/>
              <a:buNone/>
              <a:defRPr sz="18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4.xml"/><Relationship Id="rId10" Type="http://schemas.openxmlformats.org/officeDocument/2006/relationships/slideLayout" Target="../slideLayouts/slideLayout23.xml"/><Relationship Id="rId13" Type="http://schemas.openxmlformats.org/officeDocument/2006/relationships/slideLayout" Target="../slideLayouts/slideLayout26.xml"/><Relationship Id="rId12" Type="http://schemas.openxmlformats.org/officeDocument/2006/relationships/slideLayout" Target="../slideLayouts/slideLayout25.xml"/><Relationship Id="rId1" Type="http://schemas.openxmlformats.org/officeDocument/2006/relationships/slideLayout" Target="../slideLayouts/slideLayout14.xml"/><Relationship Id="rId2" Type="http://schemas.openxmlformats.org/officeDocument/2006/relationships/slideLayout" Target="../slideLayouts/slideLayout15.xml"/><Relationship Id="rId3" Type="http://schemas.openxmlformats.org/officeDocument/2006/relationships/slideLayout" Target="../slideLayouts/slideLayout16.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4.xml"/><Relationship Id="rId5" Type="http://schemas.openxmlformats.org/officeDocument/2006/relationships/slideLayout" Target="../slideLayouts/slideLayout18.xml"/><Relationship Id="rId6" Type="http://schemas.openxmlformats.org/officeDocument/2006/relationships/slideLayout" Target="../slideLayouts/slideLayout19.xml"/><Relationship Id="rId7" Type="http://schemas.openxmlformats.org/officeDocument/2006/relationships/slideLayout" Target="../slideLayouts/slideLayout20.xml"/><Relationship Id="rId8"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slideLayout" Target="../slideLayouts/slideLayout28.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1" name="Shape 27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74" r:id="rId1"/>
    <p:sldLayoutId id="214748367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1" Type="http://schemas.openxmlformats.org/officeDocument/2006/relationships/image" Target="../media/image24.png"/><Relationship Id="rId10" Type="http://schemas.openxmlformats.org/officeDocument/2006/relationships/image" Target="../media/image17.png"/><Relationship Id="rId13" Type="http://schemas.openxmlformats.org/officeDocument/2006/relationships/image" Target="../media/image23.png"/><Relationship Id="rId12" Type="http://schemas.openxmlformats.org/officeDocument/2006/relationships/image" Target="../media/image16.png"/><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0.png"/><Relationship Id="rId9" Type="http://schemas.openxmlformats.org/officeDocument/2006/relationships/image" Target="../media/image19.png"/><Relationship Id="rId15" Type="http://schemas.openxmlformats.org/officeDocument/2006/relationships/image" Target="../media/image21.png"/><Relationship Id="rId14" Type="http://schemas.openxmlformats.org/officeDocument/2006/relationships/image" Target="../media/image20.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14.png"/><Relationship Id="rId8" Type="http://schemas.openxmlformats.org/officeDocument/2006/relationships/image" Target="../media/image2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31.png"/><Relationship Id="rId9" Type="http://schemas.openxmlformats.org/officeDocument/2006/relationships/image" Target="../media/image42.png"/><Relationship Id="rId5" Type="http://schemas.openxmlformats.org/officeDocument/2006/relationships/image" Target="../media/image27.png"/><Relationship Id="rId6" Type="http://schemas.openxmlformats.org/officeDocument/2006/relationships/image" Target="../media/image38.png"/><Relationship Id="rId7" Type="http://schemas.openxmlformats.org/officeDocument/2006/relationships/image" Target="../media/image37.png"/><Relationship Id="rId8" Type="http://schemas.openxmlformats.org/officeDocument/2006/relationships/image" Target="../media/image28.png"/></Relationships>
</file>

<file path=ppt/slides/_rels/slide15.xml.rels><?xml version="1.0" encoding="UTF-8" standalone="yes"?><Relationships xmlns="http://schemas.openxmlformats.org/package/2006/relationships"><Relationship Id="rId11" Type="http://schemas.openxmlformats.org/officeDocument/2006/relationships/image" Target="../media/image43.png"/><Relationship Id="rId10" Type="http://schemas.openxmlformats.org/officeDocument/2006/relationships/image" Target="../media/image50.png"/><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30.png"/><Relationship Id="rId9" Type="http://schemas.openxmlformats.org/officeDocument/2006/relationships/image" Target="../media/image51.png"/><Relationship Id="rId5" Type="http://schemas.openxmlformats.org/officeDocument/2006/relationships/image" Target="../media/image40.png"/><Relationship Id="rId6" Type="http://schemas.openxmlformats.org/officeDocument/2006/relationships/image" Target="../media/image33.png"/><Relationship Id="rId7" Type="http://schemas.openxmlformats.org/officeDocument/2006/relationships/image" Target="../media/image36.png"/><Relationship Id="rId8" Type="http://schemas.openxmlformats.org/officeDocument/2006/relationships/image" Target="../media/image4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6.xml"/><Relationship Id="rId3" Type="http://schemas.openxmlformats.org/officeDocument/2006/relationships/image" Target="../media/image39.png"/><Relationship Id="rId4" Type="http://schemas.openxmlformats.org/officeDocument/2006/relationships/image" Target="../media/image26.png"/><Relationship Id="rId5" Type="http://schemas.openxmlformats.org/officeDocument/2006/relationships/image" Target="../media/image41.png"/><Relationship Id="rId6"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48.png"/><Relationship Id="rId4" Type="http://schemas.openxmlformats.org/officeDocument/2006/relationships/image" Target="../media/image3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45.png"/><Relationship Id="rId4" Type="http://schemas.openxmlformats.org/officeDocument/2006/relationships/image" Target="../media/image55.png"/><Relationship Id="rId5" Type="http://schemas.openxmlformats.org/officeDocument/2006/relationships/image" Target="../media/image53.png"/><Relationship Id="rId6" Type="http://schemas.openxmlformats.org/officeDocument/2006/relationships/image" Target="../media/image4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3.xml"/><Relationship Id="rId3" Type="http://schemas.openxmlformats.org/officeDocument/2006/relationships/image" Target="../media/image34.png"/><Relationship Id="rId4" Type="http://schemas.openxmlformats.org/officeDocument/2006/relationships/image" Target="../media/image52.png"/><Relationship Id="rId5" Type="http://schemas.openxmlformats.org/officeDocument/2006/relationships/image" Target="../media/image56.png"/><Relationship Id="rId6" Type="http://schemas.openxmlformats.org/officeDocument/2006/relationships/image" Target="../media/image5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49.png"/><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7.xml"/><Relationship Id="rId3" Type="http://schemas.openxmlformats.org/officeDocument/2006/relationships/image" Target="../media/image53.png"/><Relationship Id="rId4" Type="http://schemas.openxmlformats.org/officeDocument/2006/relationships/image" Target="../media/image44.png"/><Relationship Id="rId5" Type="http://schemas.openxmlformats.org/officeDocument/2006/relationships/image" Target="../media/image30.png"/><Relationship Id="rId6" Type="http://schemas.openxmlformats.org/officeDocument/2006/relationships/image" Target="../media/image5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9.xml"/><Relationship Id="rId3" Type="http://schemas.openxmlformats.org/officeDocument/2006/relationships/image" Target="../media/image65.png"/><Relationship Id="rId4" Type="http://schemas.openxmlformats.org/officeDocument/2006/relationships/image" Target="../media/image64.png"/><Relationship Id="rId5" Type="http://schemas.openxmlformats.org/officeDocument/2006/relationships/image" Target="../media/image5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0.xml"/><Relationship Id="rId3" Type="http://schemas.openxmlformats.org/officeDocument/2006/relationships/image" Target="../media/image52.png"/><Relationship Id="rId4" Type="http://schemas.openxmlformats.org/officeDocument/2006/relationships/image" Target="../media/image63.png"/><Relationship Id="rId5" Type="http://schemas.openxmlformats.org/officeDocument/2006/relationships/image" Target="../media/image56.png"/><Relationship Id="rId6"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5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45.png"/><Relationship Id="rId4" Type="http://schemas.openxmlformats.org/officeDocument/2006/relationships/image" Target="../media/image55.png"/><Relationship Id="rId5" Type="http://schemas.openxmlformats.org/officeDocument/2006/relationships/image" Target="../media/image53.png"/><Relationship Id="rId6"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4.xml"/><Relationship Id="rId3" Type="http://schemas.openxmlformats.org/officeDocument/2006/relationships/image" Target="../media/image62.jpg"/><Relationship Id="rId4" Type="http://schemas.openxmlformats.org/officeDocument/2006/relationships/image" Target="../media/image61.png"/><Relationship Id="rId5" Type="http://schemas.openxmlformats.org/officeDocument/2006/relationships/image" Target="../media/image66.png"/><Relationship Id="rId6" Type="http://schemas.openxmlformats.org/officeDocument/2006/relationships/image" Target="../media/image6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BB8"/>
        </a:solidFill>
      </p:bgPr>
    </p:bg>
    <p:spTree>
      <p:nvGrpSpPr>
        <p:cNvPr id="283" name="Shape 283"/>
        <p:cNvGrpSpPr/>
        <p:nvPr/>
      </p:nvGrpSpPr>
      <p:grpSpPr>
        <a:xfrm>
          <a:off x="0" y="0"/>
          <a:ext cx="0" cy="0"/>
          <a:chOff x="0" y="0"/>
          <a:chExt cx="0" cy="0"/>
        </a:xfrm>
      </p:grpSpPr>
      <p:pic>
        <p:nvPicPr>
          <p:cNvPr descr="gen-dedup-290cd3d1bb77bdab57ed63a9be0e9731.jpg" id="284" name="Google Shape;284;p32"/>
          <p:cNvPicPr preferRelativeResize="0"/>
          <p:nvPr/>
        </p:nvPicPr>
        <p:blipFill rotWithShape="1">
          <a:blip r:embed="rId3">
            <a:alphaModFix/>
          </a:blip>
          <a:srcRect b="0" l="0" r="0" t="0"/>
          <a:stretch/>
        </p:blipFill>
        <p:spPr>
          <a:xfrm>
            <a:off x="0" y="0"/>
            <a:ext cx="12191696" cy="6858000"/>
          </a:xfrm>
          <a:prstGeom prst="rect">
            <a:avLst/>
          </a:prstGeom>
          <a:noFill/>
          <a:ln>
            <a:noFill/>
          </a:ln>
        </p:spPr>
      </p:pic>
      <p:sp>
        <p:nvSpPr>
          <p:cNvPr id="285" name="Google Shape;285;p32"/>
          <p:cNvSpPr/>
          <p:nvPr/>
        </p:nvSpPr>
        <p:spPr>
          <a:xfrm>
            <a:off x="-2095805" y="-2095805"/>
            <a:ext cx="7239300" cy="7239300"/>
          </a:xfrm>
          <a:prstGeom prst="ellipse">
            <a:avLst/>
          </a:prstGeom>
          <a:noFill/>
          <a:ln cap="flat" cmpd="sng" w="12700">
            <a:solidFill>
              <a:srgbClr val="FFFFFF">
                <a:alpha val="102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6" name="Google Shape;286;p32"/>
          <p:cNvSpPr/>
          <p:nvPr/>
        </p:nvSpPr>
        <p:spPr>
          <a:xfrm>
            <a:off x="-1047902" y="-1047902"/>
            <a:ext cx="5143500" cy="5143500"/>
          </a:xfrm>
          <a:prstGeom prst="ellipse">
            <a:avLst/>
          </a:prstGeom>
          <a:noFill/>
          <a:ln cap="flat" cmpd="sng" w="12700">
            <a:solidFill>
              <a:srgbClr val="FFFFFF">
                <a:alpha val="1608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7" name="Google Shape;287;p32"/>
          <p:cNvSpPr/>
          <p:nvPr/>
        </p:nvSpPr>
        <p:spPr>
          <a:xfrm>
            <a:off x="10287000" y="761695"/>
            <a:ext cx="1143000" cy="1143000"/>
          </a:xfrm>
          <a:prstGeom prst="ellipse">
            <a:avLst/>
          </a:prstGeom>
          <a:noFill/>
          <a:ln cap="flat" cmpd="sng" w="25400">
            <a:solidFill>
              <a:srgbClr val="8FBDF8">
                <a:alpha val="3490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7eae289c03ac4160a052cb51e7171e49.png" id="288" name="Google Shape;288;p32"/>
          <p:cNvPicPr preferRelativeResize="0"/>
          <p:nvPr/>
        </p:nvPicPr>
        <p:blipFill rotWithShape="1">
          <a:blip r:embed="rId4">
            <a:alphaModFix/>
          </a:blip>
          <a:srcRect b="0" l="0" r="0" t="0"/>
          <a:stretch/>
        </p:blipFill>
        <p:spPr>
          <a:xfrm>
            <a:off x="448056" y="562356"/>
            <a:ext cx="3105302" cy="657454"/>
          </a:xfrm>
          <a:prstGeom prst="rect">
            <a:avLst/>
          </a:prstGeom>
          <a:noFill/>
          <a:ln>
            <a:noFill/>
          </a:ln>
        </p:spPr>
      </p:pic>
      <p:sp>
        <p:nvSpPr>
          <p:cNvPr id="289" name="Google Shape;289;p32"/>
          <p:cNvSpPr txBox="1"/>
          <p:nvPr/>
        </p:nvSpPr>
        <p:spPr>
          <a:xfrm>
            <a:off x="629107" y="3143707"/>
            <a:ext cx="7239300" cy="14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7EA"/>
              </a:buClr>
              <a:buSzPts val="1000"/>
              <a:buFont typeface="Montserrat"/>
              <a:buNone/>
            </a:pPr>
            <a:r>
              <a:rPr b="1" lang="en-US" sz="1000">
                <a:solidFill>
                  <a:srgbClr val="A9C7EA"/>
                </a:solidFill>
                <a:latin typeface="Montserrat"/>
                <a:ea typeface="Montserrat"/>
                <a:cs typeface="Montserrat"/>
                <a:sym typeface="Montserrat"/>
              </a:rPr>
              <a:t>2026년 10월 2일 제출 제안서의 번역본</a:t>
            </a:r>
            <a:endParaRPr sz="1000">
              <a:solidFill>
                <a:schemeClr val="dk1"/>
              </a:solidFill>
              <a:latin typeface="Calibri"/>
              <a:ea typeface="Calibri"/>
              <a:cs typeface="Calibri"/>
              <a:sym typeface="Calibri"/>
            </a:endParaRPr>
          </a:p>
        </p:txBody>
      </p:sp>
      <p:sp>
        <p:nvSpPr>
          <p:cNvPr id="290" name="Google Shape;290;p32"/>
          <p:cNvSpPr txBox="1"/>
          <p:nvPr/>
        </p:nvSpPr>
        <p:spPr>
          <a:xfrm>
            <a:off x="561057" y="4094965"/>
            <a:ext cx="10935300" cy="54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50"/>
              <a:buFont typeface="Montserrat"/>
              <a:buNone/>
            </a:pPr>
            <a:r>
              <a:rPr b="1" lang="en-US" sz="4050">
                <a:solidFill>
                  <a:srgbClr val="FFFFFF"/>
                </a:solidFill>
                <a:latin typeface="Montserrat"/>
                <a:ea typeface="Montserrat"/>
                <a:cs typeface="Montserrat"/>
                <a:sym typeface="Montserrat"/>
              </a:rPr>
              <a:t>네이티브 모바일 상주 개발 제안서</a:t>
            </a:r>
            <a:endParaRPr sz="4050">
              <a:solidFill>
                <a:schemeClr val="dk1"/>
              </a:solidFill>
              <a:latin typeface="Calibri"/>
              <a:ea typeface="Calibri"/>
              <a:cs typeface="Calibri"/>
              <a:sym typeface="Calibri"/>
            </a:endParaRPr>
          </a:p>
        </p:txBody>
      </p:sp>
      <p:sp>
        <p:nvSpPr>
          <p:cNvPr id="291" name="Google Shape;291;p32"/>
          <p:cNvSpPr txBox="1"/>
          <p:nvPr/>
        </p:nvSpPr>
        <p:spPr>
          <a:xfrm>
            <a:off x="561057" y="3446033"/>
            <a:ext cx="10935300" cy="543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050"/>
              <a:buFont typeface="Montserrat"/>
              <a:buNone/>
            </a:pPr>
            <a:r>
              <a:rPr b="1" lang="en-US" sz="4050">
                <a:solidFill>
                  <a:srgbClr val="8FBDF8"/>
                </a:solidFill>
                <a:latin typeface="Montserrat"/>
                <a:ea typeface="Montserrat"/>
                <a:cs typeface="Montserrat"/>
                <a:sym typeface="Montserrat"/>
              </a:rPr>
              <a:t>큐셀 설치 기사용 앱 </a:t>
            </a:r>
            <a:r>
              <a:rPr b="1" lang="en-US" sz="4050">
                <a:solidFill>
                  <a:schemeClr val="lt1"/>
                </a:solidFill>
                <a:latin typeface="Montserrat"/>
                <a:ea typeface="Montserrat"/>
                <a:cs typeface="Montserrat"/>
                <a:sym typeface="Montserrat"/>
              </a:rPr>
              <a:t>을 위한</a:t>
            </a:r>
            <a:endParaRPr sz="4050">
              <a:solidFill>
                <a:schemeClr val="dk1"/>
              </a:solidFill>
              <a:latin typeface="Calibri"/>
              <a:ea typeface="Calibri"/>
              <a:cs typeface="Calibri"/>
              <a:sym typeface="Calibri"/>
            </a:endParaRPr>
          </a:p>
        </p:txBody>
      </p:sp>
      <p:sp>
        <p:nvSpPr>
          <p:cNvPr id="292" name="Google Shape;292;p32"/>
          <p:cNvSpPr txBox="1"/>
          <p:nvPr/>
        </p:nvSpPr>
        <p:spPr>
          <a:xfrm>
            <a:off x="629107" y="4743907"/>
            <a:ext cx="7429500" cy="22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DCE8F7"/>
              </a:buClr>
              <a:buSzPts val="1350"/>
              <a:buFont typeface="Barlow"/>
              <a:buNone/>
            </a:pPr>
            <a:r>
              <a:rPr lang="en-US" sz="1350">
                <a:solidFill>
                  <a:srgbClr val="DCE8F7"/>
                </a:solidFill>
                <a:latin typeface="Barlow"/>
                <a:ea typeface="Barlow"/>
                <a:cs typeface="Barlow"/>
                <a:sym typeface="Barlow"/>
              </a:rPr>
              <a:t>큐셀 코리아 (한화 솔루션)를 위한 제안</a:t>
            </a:r>
            <a:endParaRPr sz="1350">
              <a:solidFill>
                <a:schemeClr val="dk1"/>
              </a:solidFill>
              <a:latin typeface="Calibri"/>
              <a:ea typeface="Calibri"/>
              <a:cs typeface="Calibri"/>
              <a:sym typeface="Calibri"/>
            </a:endParaRPr>
          </a:p>
        </p:txBody>
      </p:sp>
      <p:sp>
        <p:nvSpPr>
          <p:cNvPr id="293" name="Google Shape;293;p32"/>
          <p:cNvSpPr txBox="1"/>
          <p:nvPr/>
        </p:nvSpPr>
        <p:spPr>
          <a:xfrm>
            <a:off x="629107" y="5143500"/>
            <a:ext cx="8382300" cy="18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A9C7EA"/>
              </a:buClr>
              <a:buSzPts val="1050"/>
              <a:buFont typeface="Barlow"/>
              <a:buNone/>
            </a:pPr>
            <a:r>
              <a:rPr lang="en-US" sz="1050">
                <a:solidFill>
                  <a:srgbClr val="A9C7EA"/>
                </a:solidFill>
                <a:latin typeface="Barlow"/>
                <a:ea typeface="Barlow"/>
                <a:cs typeface="Barlow"/>
                <a:sym typeface="Barlow"/>
              </a:rPr>
              <a:t>팀장 1명 + 개발자 3명 · Android 2명 &amp; iOS 2명 · 모두 서울 </a:t>
            </a:r>
            <a:r>
              <a:rPr lang="en-US" sz="1050">
                <a:solidFill>
                  <a:srgbClr val="A9C7EA"/>
                </a:solidFill>
                <a:latin typeface="Barlow"/>
                <a:ea typeface="Barlow"/>
                <a:cs typeface="Barlow"/>
                <a:sym typeface="Barlow"/>
              </a:rPr>
              <a:t>상주</a:t>
            </a:r>
            <a:r>
              <a:rPr lang="en-US" sz="1050">
                <a:solidFill>
                  <a:srgbClr val="A9C7EA"/>
                </a:solidFill>
                <a:latin typeface="Barlow"/>
                <a:ea typeface="Barlow"/>
                <a:cs typeface="Barlow"/>
                <a:sym typeface="Barlow"/>
              </a:rPr>
              <a:t> ·한국어로 업무 가능 · 계약 기한: ~2026.12.31</a:t>
            </a:r>
            <a:endParaRPr sz="1050">
              <a:solidFill>
                <a:schemeClr val="dk1"/>
              </a:solidFill>
              <a:latin typeface="Calibri"/>
              <a:ea typeface="Calibri"/>
              <a:cs typeface="Calibri"/>
              <a:sym typeface="Calibri"/>
            </a:endParaRPr>
          </a:p>
        </p:txBody>
      </p:sp>
      <p:sp>
        <p:nvSpPr>
          <p:cNvPr id="294" name="Google Shape;294;p32"/>
          <p:cNvSpPr txBox="1"/>
          <p:nvPr/>
        </p:nvSpPr>
        <p:spPr>
          <a:xfrm>
            <a:off x="629107" y="6286500"/>
            <a:ext cx="28575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Montserrat"/>
              <a:buNone/>
            </a:pPr>
            <a:r>
              <a:rPr lang="en-US" sz="1050">
                <a:solidFill>
                  <a:srgbClr val="FFFFFF"/>
                </a:solidFill>
                <a:latin typeface="Montserrat"/>
                <a:ea typeface="Montserrat"/>
                <a:cs typeface="Montserrat"/>
                <a:sym typeface="Montserrat"/>
              </a:rPr>
              <a:t>www.cmcglobal.co.kr</a:t>
            </a:r>
            <a:endParaRPr sz="10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pic>
        <p:nvPicPr>
          <p:cNvPr id="299" name="Google Shape;299;p33"/>
          <p:cNvPicPr preferRelativeResize="0"/>
          <p:nvPr/>
        </p:nvPicPr>
        <p:blipFill rotWithShape="1">
          <a:blip r:embed="rId3">
            <a:alphaModFix/>
          </a:blip>
          <a:srcRect b="0" l="0" r="0" t="0"/>
          <a:stretch/>
        </p:blipFill>
        <p:spPr>
          <a:xfrm>
            <a:off x="857255" y="590702"/>
            <a:ext cx="9951644" cy="5600776"/>
          </a:xfrm>
          <a:prstGeom prst="rect">
            <a:avLst/>
          </a:prstGeom>
          <a:noFill/>
          <a:ln>
            <a:noFill/>
          </a:ln>
        </p:spPr>
      </p:pic>
      <p:sp>
        <p:nvSpPr>
          <p:cNvPr id="300" name="Google Shape;300;p33"/>
          <p:cNvSpPr txBox="1"/>
          <p:nvPr/>
        </p:nvSpPr>
        <p:spPr>
          <a:xfrm>
            <a:off x="457200" y="323698"/>
            <a:ext cx="7239300" cy="13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02 · 모바일 개발 경험</a:t>
            </a:r>
            <a:endParaRPr sz="1000">
              <a:solidFill>
                <a:schemeClr val="dk1"/>
              </a:solidFill>
              <a:latin typeface="Calibri"/>
              <a:ea typeface="Calibri"/>
              <a:cs typeface="Calibri"/>
              <a:sym typeface="Calibri"/>
            </a:endParaRPr>
          </a:p>
        </p:txBody>
      </p:sp>
      <p:sp>
        <p:nvSpPr>
          <p:cNvPr id="301" name="Google Shape;301;p33"/>
          <p:cNvSpPr txBox="1"/>
          <p:nvPr/>
        </p:nvSpPr>
        <p:spPr>
          <a:xfrm>
            <a:off x="457200" y="590702"/>
            <a:ext cx="10478100" cy="5715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요구사항 이해: BLE / Wi-Fi를 통해 오프라인에서도 설치 업무 가능하도록 지원</a:t>
            </a:r>
            <a:endParaRPr sz="1950">
              <a:solidFill>
                <a:schemeClr val="dk1"/>
              </a:solidFill>
              <a:latin typeface="Calibri"/>
              <a:ea typeface="Calibri"/>
              <a:cs typeface="Calibri"/>
              <a:sym typeface="Calibri"/>
            </a:endParaRPr>
          </a:p>
        </p:txBody>
      </p:sp>
      <p:sp>
        <p:nvSpPr>
          <p:cNvPr id="302" name="Google Shape;302;p33"/>
          <p:cNvSpPr txBox="1"/>
          <p:nvPr/>
        </p:nvSpPr>
        <p:spPr>
          <a:xfrm>
            <a:off x="1135467" y="4932273"/>
            <a:ext cx="3177600" cy="14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제안하는 설계 원칙</a:t>
            </a:r>
            <a:endParaRPr sz="1000">
              <a:solidFill>
                <a:schemeClr val="dk1"/>
              </a:solidFill>
              <a:latin typeface="Calibri"/>
              <a:ea typeface="Calibri"/>
              <a:cs typeface="Calibri"/>
              <a:sym typeface="Calibri"/>
            </a:endParaRPr>
          </a:p>
        </p:txBody>
      </p:sp>
      <p:sp>
        <p:nvSpPr>
          <p:cNvPr id="303" name="Google Shape;303;p33"/>
          <p:cNvSpPr txBox="1"/>
          <p:nvPr/>
        </p:nvSpPr>
        <p:spPr>
          <a:xfrm>
            <a:off x="1100671" y="5711719"/>
            <a:ext cx="1886400" cy="44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로컬 원천 데이터를 </a:t>
            </a:r>
            <a:endParaRPr/>
          </a:p>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안전하게 동기화</a:t>
            </a:r>
            <a:endParaRPr sz="1000">
              <a:solidFill>
                <a:schemeClr val="dk1"/>
              </a:solidFill>
              <a:latin typeface="Calibri"/>
              <a:ea typeface="Calibri"/>
              <a:cs typeface="Calibri"/>
              <a:sym typeface="Calibri"/>
            </a:endParaRPr>
          </a:p>
        </p:txBody>
      </p:sp>
      <p:sp>
        <p:nvSpPr>
          <p:cNvPr id="304" name="Google Shape;304;p33"/>
          <p:cNvSpPr txBox="1"/>
          <p:nvPr/>
        </p:nvSpPr>
        <p:spPr>
          <a:xfrm>
            <a:off x="2987079" y="5825016"/>
            <a:ext cx="1737300" cy="252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재시도,시간초과, </a:t>
            </a:r>
            <a:endParaRPr/>
          </a:p>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명확한 상태 분류</a:t>
            </a:r>
            <a:endParaRPr sz="1000">
              <a:solidFill>
                <a:schemeClr val="dk1"/>
              </a:solidFill>
              <a:latin typeface="Calibri"/>
              <a:ea typeface="Calibri"/>
              <a:cs typeface="Calibri"/>
              <a:sym typeface="Calibri"/>
            </a:endParaRPr>
          </a:p>
        </p:txBody>
      </p:sp>
      <p:sp>
        <p:nvSpPr>
          <p:cNvPr id="305" name="Google Shape;305;p33"/>
          <p:cNvSpPr txBox="1"/>
          <p:nvPr/>
        </p:nvSpPr>
        <p:spPr>
          <a:xfrm>
            <a:off x="4962222" y="5825016"/>
            <a:ext cx="2134200" cy="271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기기 인증 </a:t>
            </a:r>
            <a:endParaRPr/>
          </a:p>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로컬 DB 암호화</a:t>
            </a:r>
            <a:endParaRPr sz="1000">
              <a:solidFill>
                <a:schemeClr val="dk1"/>
              </a:solidFill>
              <a:latin typeface="Calibri"/>
              <a:ea typeface="Calibri"/>
              <a:cs typeface="Calibri"/>
              <a:sym typeface="Calibri"/>
            </a:endParaRPr>
          </a:p>
        </p:txBody>
      </p:sp>
      <p:sp>
        <p:nvSpPr>
          <p:cNvPr id="306" name="Google Shape;306;p33"/>
          <p:cNvSpPr txBox="1"/>
          <p:nvPr/>
        </p:nvSpPr>
        <p:spPr>
          <a:xfrm>
            <a:off x="6931384" y="5826739"/>
            <a:ext cx="1905600" cy="12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모든 변경 사항에 대한 단위/UI tests </a:t>
            </a:r>
            <a:endParaRPr sz="1000">
              <a:solidFill>
                <a:schemeClr val="dk1"/>
              </a:solidFill>
              <a:latin typeface="Calibri"/>
              <a:ea typeface="Calibri"/>
              <a:cs typeface="Calibri"/>
              <a:sym typeface="Calibri"/>
            </a:endParaRPr>
          </a:p>
        </p:txBody>
      </p:sp>
      <p:sp>
        <p:nvSpPr>
          <p:cNvPr id="307" name="Google Shape;307;p33"/>
          <p:cNvSpPr txBox="1"/>
          <p:nvPr/>
        </p:nvSpPr>
        <p:spPr>
          <a:xfrm>
            <a:off x="8849570" y="5864649"/>
            <a:ext cx="1886400" cy="12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빌드 · 테스트 · 서명 · 배포</a:t>
            </a:r>
            <a:endParaRPr sz="1000">
              <a:solidFill>
                <a:schemeClr val="dk1"/>
              </a:solidFill>
              <a:latin typeface="Calibri"/>
              <a:ea typeface="Calibri"/>
              <a:cs typeface="Calibri"/>
              <a:sym typeface="Calibri"/>
            </a:endParaRPr>
          </a:p>
        </p:txBody>
      </p:sp>
      <p:sp>
        <p:nvSpPr>
          <p:cNvPr id="308" name="Google Shape;308;p33"/>
          <p:cNvSpPr txBox="1"/>
          <p:nvPr/>
        </p:nvSpPr>
        <p:spPr>
          <a:xfrm>
            <a:off x="1030960" y="1458330"/>
            <a:ext cx="1276500" cy="277200"/>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설비 기사</a:t>
            </a:r>
            <a:endParaRPr sz="1000">
              <a:solidFill>
                <a:schemeClr val="dk1"/>
              </a:solidFill>
              <a:latin typeface="Calibri"/>
              <a:ea typeface="Calibri"/>
              <a:cs typeface="Calibri"/>
              <a:sym typeface="Calibri"/>
            </a:endParaRPr>
          </a:p>
          <a:p>
            <a:pPr indent="0" lvl="0" marL="0" marR="0" rtl="0" algn="ctr">
              <a:lnSpc>
                <a:spcPct val="130000"/>
              </a:lnSpc>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(현장)</a:t>
            </a:r>
            <a:endParaRPr sz="1000">
              <a:solidFill>
                <a:schemeClr val="dk1"/>
              </a:solidFill>
              <a:latin typeface="Calibri"/>
              <a:ea typeface="Calibri"/>
              <a:cs typeface="Calibri"/>
              <a:sym typeface="Calibri"/>
            </a:endParaRPr>
          </a:p>
        </p:txBody>
      </p:sp>
      <p:sp>
        <p:nvSpPr>
          <p:cNvPr id="309" name="Google Shape;309;p33"/>
          <p:cNvSpPr txBox="1"/>
          <p:nvPr/>
        </p:nvSpPr>
        <p:spPr>
          <a:xfrm>
            <a:off x="6284551" y="1522814"/>
            <a:ext cx="2000700" cy="4719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인버터 · 배터리 · 중계기 연결, </a:t>
            </a:r>
            <a:endParaRPr sz="1000">
              <a:solidFill>
                <a:srgbClr val="1F2A37"/>
              </a:solidFill>
              <a:latin typeface="Barlow"/>
              <a:ea typeface="Barlow"/>
              <a:cs typeface="Barlow"/>
              <a:sym typeface="Barlow"/>
            </a:endParaRPr>
          </a:p>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설정,</a:t>
            </a:r>
            <a:r>
              <a:rPr lang="en-US" sz="1000">
                <a:solidFill>
                  <a:schemeClr val="dk1"/>
                </a:solidFill>
                <a:latin typeface="Calibri"/>
                <a:ea typeface="Calibri"/>
                <a:cs typeface="Calibri"/>
                <a:sym typeface="Calibri"/>
              </a:rPr>
              <a:t> </a:t>
            </a:r>
            <a:r>
              <a:rPr lang="en-US" sz="1000">
                <a:solidFill>
                  <a:srgbClr val="1F2A37"/>
                </a:solidFill>
                <a:latin typeface="Barlow"/>
                <a:ea typeface="Barlow"/>
                <a:cs typeface="Barlow"/>
                <a:sym typeface="Barlow"/>
              </a:rPr>
              <a:t>시운전, 진단</a:t>
            </a:r>
            <a:endParaRPr sz="1000">
              <a:solidFill>
                <a:schemeClr val="dk1"/>
              </a:solidFill>
              <a:latin typeface="Calibri"/>
              <a:ea typeface="Calibri"/>
              <a:cs typeface="Calibri"/>
              <a:sym typeface="Calibri"/>
            </a:endParaRPr>
          </a:p>
        </p:txBody>
      </p:sp>
      <p:sp>
        <p:nvSpPr>
          <p:cNvPr id="310" name="Google Shape;310;p33"/>
          <p:cNvSpPr txBox="1"/>
          <p:nvPr/>
        </p:nvSpPr>
        <p:spPr>
          <a:xfrm>
            <a:off x="8685313" y="1458330"/>
            <a:ext cx="2000700" cy="4719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설치 이력, 보증 기간 확인, 상태 조회와 온라인에서 백그라운드 동기화등을 위한</a:t>
            </a:r>
            <a:endParaRPr sz="1000">
              <a:solidFill>
                <a:srgbClr val="1F2A37"/>
              </a:solidFill>
              <a:latin typeface="Barlow"/>
              <a:ea typeface="Barlow"/>
              <a:cs typeface="Barlow"/>
              <a:sym typeface="Barlow"/>
            </a:endParaRPr>
          </a:p>
          <a:p>
            <a:pPr indent="0" lvl="0" marL="0" marR="0" rtl="0" algn="ctr">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 API</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5" name="Shape 315"/>
        <p:cNvGrpSpPr/>
        <p:nvPr/>
      </p:nvGrpSpPr>
      <p:grpSpPr>
        <a:xfrm>
          <a:off x="0" y="0"/>
          <a:ext cx="0" cy="0"/>
          <a:chOff x="0" y="0"/>
          <a:chExt cx="0" cy="0"/>
        </a:xfrm>
      </p:grpSpPr>
      <p:sp>
        <p:nvSpPr>
          <p:cNvPr id="316" name="Google Shape;316;p34"/>
          <p:cNvSpPr/>
          <p:nvPr/>
        </p:nvSpPr>
        <p:spPr>
          <a:xfrm>
            <a:off x="780898" y="1324051"/>
            <a:ext cx="2286000" cy="714000"/>
          </a:xfrm>
          <a:prstGeom prst="rect">
            <a:avLst/>
          </a:prstGeom>
          <a:solidFill>
            <a:srgbClr val="EAF2FB"/>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3444d98513d4d611770faa1cf2fb9098.png" id="317" name="Google Shape;317;p34"/>
          <p:cNvPicPr preferRelativeResize="0"/>
          <p:nvPr/>
        </p:nvPicPr>
        <p:blipFill rotWithShape="1">
          <a:blip r:embed="rId3">
            <a:alphaModFix/>
          </a:blip>
          <a:srcRect b="-393" l="0" r="0" t="-403"/>
          <a:stretch/>
        </p:blipFill>
        <p:spPr>
          <a:xfrm>
            <a:off x="3066898" y="1676095"/>
            <a:ext cx="914400" cy="19202"/>
          </a:xfrm>
          <a:prstGeom prst="rect">
            <a:avLst/>
          </a:prstGeom>
          <a:noFill/>
          <a:ln>
            <a:noFill/>
          </a:ln>
        </p:spPr>
      </p:pic>
      <p:sp>
        <p:nvSpPr>
          <p:cNvPr id="318" name="Google Shape;318;p34"/>
          <p:cNvSpPr/>
          <p:nvPr/>
        </p:nvSpPr>
        <p:spPr>
          <a:xfrm>
            <a:off x="3981298" y="1324051"/>
            <a:ext cx="2790600" cy="714000"/>
          </a:xfrm>
          <a:prstGeom prst="rect">
            <a:avLst/>
          </a:prstGeom>
          <a:solidFill>
            <a:srgbClr val="0B2F5B"/>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e3546d157aa9ffdc0747b62dc25b3cf5.png" id="319" name="Google Shape;319;p34"/>
          <p:cNvPicPr preferRelativeResize="0"/>
          <p:nvPr/>
        </p:nvPicPr>
        <p:blipFill rotWithShape="1">
          <a:blip r:embed="rId4">
            <a:alphaModFix/>
          </a:blip>
          <a:srcRect b="0" l="-363" r="-353" t="0"/>
          <a:stretch/>
        </p:blipFill>
        <p:spPr>
          <a:xfrm>
            <a:off x="5362956" y="2038198"/>
            <a:ext cx="19202" cy="381305"/>
          </a:xfrm>
          <a:prstGeom prst="rect">
            <a:avLst/>
          </a:prstGeom>
          <a:noFill/>
          <a:ln>
            <a:noFill/>
          </a:ln>
        </p:spPr>
      </p:pic>
      <p:pic>
        <p:nvPicPr>
          <p:cNvPr descr="gen-dedup-5b9b1ab462a5730aa23abe1e0abd6603.png" id="320" name="Google Shape;320;p34"/>
          <p:cNvPicPr preferRelativeResize="0"/>
          <p:nvPr/>
        </p:nvPicPr>
        <p:blipFill rotWithShape="1">
          <a:blip r:embed="rId5">
            <a:alphaModFix/>
          </a:blip>
          <a:srcRect b="-403" l="0" r="0" t="-403"/>
          <a:stretch/>
        </p:blipFill>
        <p:spPr>
          <a:xfrm flipH="1" rot="10800000">
            <a:off x="3937000" y="2373781"/>
            <a:ext cx="2457603" cy="45719"/>
          </a:xfrm>
          <a:prstGeom prst="rect">
            <a:avLst/>
          </a:prstGeom>
          <a:noFill/>
          <a:ln>
            <a:noFill/>
          </a:ln>
        </p:spPr>
      </p:pic>
      <p:pic>
        <p:nvPicPr>
          <p:cNvPr descr="gen-dedup-ee49ba211c2d020ab97ef7fdd83d819b.png" id="321" name="Google Shape;321;p34"/>
          <p:cNvPicPr preferRelativeResize="0"/>
          <p:nvPr/>
        </p:nvPicPr>
        <p:blipFill rotWithShape="1">
          <a:blip r:embed="rId6">
            <a:alphaModFix/>
          </a:blip>
          <a:srcRect b="0" l="-403" r="-393" t="0"/>
          <a:stretch/>
        </p:blipFill>
        <p:spPr>
          <a:xfrm>
            <a:off x="3937000" y="2419502"/>
            <a:ext cx="19202" cy="228600"/>
          </a:xfrm>
          <a:prstGeom prst="rect">
            <a:avLst/>
          </a:prstGeom>
          <a:noFill/>
          <a:ln>
            <a:noFill/>
          </a:ln>
        </p:spPr>
      </p:pic>
      <p:sp>
        <p:nvSpPr>
          <p:cNvPr id="322" name="Google Shape;322;p34"/>
          <p:cNvSpPr/>
          <p:nvPr/>
        </p:nvSpPr>
        <p:spPr>
          <a:xfrm>
            <a:off x="3416300" y="2648102"/>
            <a:ext cx="1066800" cy="10095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ee49ba211c2d020ab97ef7fdd83d819b.png" id="323" name="Google Shape;323;p34"/>
          <p:cNvPicPr preferRelativeResize="0"/>
          <p:nvPr/>
        </p:nvPicPr>
        <p:blipFill rotWithShape="1">
          <a:blip r:embed="rId6">
            <a:alphaModFix/>
          </a:blip>
          <a:srcRect b="0" l="-403" r="-393" t="0"/>
          <a:stretch/>
        </p:blipFill>
        <p:spPr>
          <a:xfrm>
            <a:off x="5156200" y="2419502"/>
            <a:ext cx="19202" cy="228600"/>
          </a:xfrm>
          <a:prstGeom prst="rect">
            <a:avLst/>
          </a:prstGeom>
          <a:noFill/>
          <a:ln>
            <a:noFill/>
          </a:ln>
        </p:spPr>
      </p:pic>
      <p:sp>
        <p:nvSpPr>
          <p:cNvPr id="324" name="Google Shape;324;p34"/>
          <p:cNvSpPr/>
          <p:nvPr/>
        </p:nvSpPr>
        <p:spPr>
          <a:xfrm>
            <a:off x="4635500" y="2648102"/>
            <a:ext cx="1066800" cy="10095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5" name="Google Shape;325;p34"/>
          <p:cNvSpPr/>
          <p:nvPr/>
        </p:nvSpPr>
        <p:spPr>
          <a:xfrm>
            <a:off x="457200" y="3771900"/>
            <a:ext cx="6305700" cy="295500"/>
          </a:xfrm>
          <a:prstGeom prst="rect">
            <a:avLst/>
          </a:prstGeom>
          <a:solidFill>
            <a:srgbClr val="EAF2FB"/>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34"/>
          <p:cNvSpPr/>
          <p:nvPr/>
        </p:nvSpPr>
        <p:spPr>
          <a:xfrm>
            <a:off x="457200" y="4343400"/>
            <a:ext cx="6305700" cy="1828800"/>
          </a:xfrm>
          <a:prstGeom prst="rect">
            <a:avLst/>
          </a:prstGeom>
          <a:solidFill>
            <a:srgbClr val="F5F8FC"/>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7" name="Google Shape;327;p34"/>
          <p:cNvSpPr/>
          <p:nvPr/>
        </p:nvSpPr>
        <p:spPr>
          <a:xfrm>
            <a:off x="7086600" y="1324051"/>
            <a:ext cx="4647900" cy="48480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8" name="Google Shape;328;p34"/>
          <p:cNvSpPr/>
          <p:nvPr/>
        </p:nvSpPr>
        <p:spPr>
          <a:xfrm>
            <a:off x="7315200" y="2009851"/>
            <a:ext cx="504600" cy="504600"/>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34"/>
          <p:cNvSpPr/>
          <p:nvPr/>
        </p:nvSpPr>
        <p:spPr>
          <a:xfrm>
            <a:off x="7315200" y="3057754"/>
            <a:ext cx="504600" cy="504600"/>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0" name="Google Shape;330;p34"/>
          <p:cNvSpPr/>
          <p:nvPr/>
        </p:nvSpPr>
        <p:spPr>
          <a:xfrm>
            <a:off x="7315200" y="4076395"/>
            <a:ext cx="504600" cy="504600"/>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1" name="Google Shape;331;p34"/>
          <p:cNvSpPr/>
          <p:nvPr/>
        </p:nvSpPr>
        <p:spPr>
          <a:xfrm>
            <a:off x="7315200" y="5105095"/>
            <a:ext cx="504600" cy="504600"/>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4cea9d55ac73ceb87f9d434a137ac334.png" id="332" name="Google Shape;332;p34"/>
          <p:cNvPicPr preferRelativeResize="0"/>
          <p:nvPr/>
        </p:nvPicPr>
        <p:blipFill rotWithShape="1">
          <a:blip r:embed="rId7">
            <a:alphaModFix/>
          </a:blip>
          <a:srcRect b="0" l="0" r="0" t="0"/>
          <a:stretch/>
        </p:blipFill>
        <p:spPr>
          <a:xfrm>
            <a:off x="5029200" y="2762402"/>
            <a:ext cx="276149" cy="276149"/>
          </a:xfrm>
          <a:prstGeom prst="rect">
            <a:avLst/>
          </a:prstGeom>
          <a:noFill/>
          <a:ln>
            <a:noFill/>
          </a:ln>
        </p:spPr>
      </p:pic>
      <p:pic>
        <p:nvPicPr>
          <p:cNvPr descr="gen-dedup-3089d98ba100676462818f6f6dbbf8f0.png" id="333" name="Google Shape;333;p34"/>
          <p:cNvPicPr preferRelativeResize="0"/>
          <p:nvPr/>
        </p:nvPicPr>
        <p:blipFill rotWithShape="1">
          <a:blip r:embed="rId8">
            <a:alphaModFix/>
          </a:blip>
          <a:srcRect b="0" l="0" r="0" t="0"/>
          <a:stretch/>
        </p:blipFill>
        <p:spPr>
          <a:xfrm>
            <a:off x="3810000" y="2762402"/>
            <a:ext cx="276149" cy="276149"/>
          </a:xfrm>
          <a:prstGeom prst="rect">
            <a:avLst/>
          </a:prstGeom>
          <a:noFill/>
          <a:ln>
            <a:noFill/>
          </a:ln>
        </p:spPr>
      </p:pic>
      <p:pic>
        <p:nvPicPr>
          <p:cNvPr descr="gen-dedup-12e370bf7d4c25516b52403967cf4cd6.png" id="334" name="Google Shape;334;p34"/>
          <p:cNvPicPr preferRelativeResize="0"/>
          <p:nvPr/>
        </p:nvPicPr>
        <p:blipFill rotWithShape="1">
          <a:blip r:embed="rId9">
            <a:alphaModFix/>
          </a:blip>
          <a:srcRect b="0" l="0" r="0" t="0"/>
          <a:stretch/>
        </p:blipFill>
        <p:spPr>
          <a:xfrm>
            <a:off x="638251" y="4848149"/>
            <a:ext cx="342900" cy="342900"/>
          </a:xfrm>
          <a:prstGeom prst="rect">
            <a:avLst/>
          </a:prstGeom>
          <a:noFill/>
          <a:ln>
            <a:noFill/>
          </a:ln>
        </p:spPr>
      </p:pic>
      <p:pic>
        <p:nvPicPr>
          <p:cNvPr descr="gen-dedup-5b83c5dc3378b12ad13048add3ebbd95.png" id="335" name="Google Shape;335;p34"/>
          <p:cNvPicPr preferRelativeResize="0"/>
          <p:nvPr/>
        </p:nvPicPr>
        <p:blipFill rotWithShape="1">
          <a:blip r:embed="rId10">
            <a:alphaModFix/>
          </a:blip>
          <a:srcRect b="0" l="0" r="0" t="0"/>
          <a:stretch/>
        </p:blipFill>
        <p:spPr>
          <a:xfrm>
            <a:off x="2648102" y="4848149"/>
            <a:ext cx="342900" cy="342900"/>
          </a:xfrm>
          <a:prstGeom prst="rect">
            <a:avLst/>
          </a:prstGeom>
          <a:noFill/>
          <a:ln>
            <a:noFill/>
          </a:ln>
        </p:spPr>
      </p:pic>
      <p:pic>
        <p:nvPicPr>
          <p:cNvPr descr="gen-dedup-69fd188f54af51847ab249ecdcf52da0.png" id="336" name="Google Shape;336;p34"/>
          <p:cNvPicPr preferRelativeResize="0"/>
          <p:nvPr/>
        </p:nvPicPr>
        <p:blipFill rotWithShape="1">
          <a:blip r:embed="rId11">
            <a:alphaModFix/>
          </a:blip>
          <a:srcRect b="0" l="0" r="0" t="0"/>
          <a:stretch/>
        </p:blipFill>
        <p:spPr>
          <a:xfrm>
            <a:off x="4667098" y="4848149"/>
            <a:ext cx="342900" cy="342900"/>
          </a:xfrm>
          <a:prstGeom prst="rect">
            <a:avLst/>
          </a:prstGeom>
          <a:noFill/>
          <a:ln>
            <a:noFill/>
          </a:ln>
        </p:spPr>
      </p:pic>
      <p:pic>
        <p:nvPicPr>
          <p:cNvPr descr="gen-dedup-2db8469e8264f14683deb2d362f515fa.png" id="337" name="Google Shape;337;p34"/>
          <p:cNvPicPr preferRelativeResize="0"/>
          <p:nvPr/>
        </p:nvPicPr>
        <p:blipFill rotWithShape="1">
          <a:blip r:embed="rId12">
            <a:alphaModFix/>
          </a:blip>
          <a:srcRect b="0" l="0" r="0" t="0"/>
          <a:stretch/>
        </p:blipFill>
        <p:spPr>
          <a:xfrm>
            <a:off x="7448702" y="2162556"/>
            <a:ext cx="237744" cy="237744"/>
          </a:xfrm>
          <a:prstGeom prst="rect">
            <a:avLst/>
          </a:prstGeom>
          <a:noFill/>
          <a:ln>
            <a:noFill/>
          </a:ln>
        </p:spPr>
      </p:pic>
      <p:pic>
        <p:nvPicPr>
          <p:cNvPr descr="gen-dedup-54b3a1529c1978bbb46d2227ed447ba1.png" id="338" name="Google Shape;338;p34"/>
          <p:cNvPicPr preferRelativeResize="0"/>
          <p:nvPr/>
        </p:nvPicPr>
        <p:blipFill rotWithShape="1">
          <a:blip r:embed="rId13">
            <a:alphaModFix/>
          </a:blip>
          <a:srcRect b="0" l="0" r="0" t="0"/>
          <a:stretch/>
        </p:blipFill>
        <p:spPr>
          <a:xfrm>
            <a:off x="7448702" y="3181198"/>
            <a:ext cx="237744" cy="237744"/>
          </a:xfrm>
          <a:prstGeom prst="rect">
            <a:avLst/>
          </a:prstGeom>
          <a:noFill/>
          <a:ln>
            <a:noFill/>
          </a:ln>
        </p:spPr>
      </p:pic>
      <p:pic>
        <p:nvPicPr>
          <p:cNvPr descr="gen-dedup-3b4c9c1206268e6174e62fdee30e9841.png" id="339" name="Google Shape;339;p34"/>
          <p:cNvPicPr preferRelativeResize="0"/>
          <p:nvPr/>
        </p:nvPicPr>
        <p:blipFill rotWithShape="1">
          <a:blip r:embed="rId14">
            <a:alphaModFix/>
          </a:blip>
          <a:srcRect b="0" l="0" r="0" t="0"/>
          <a:stretch/>
        </p:blipFill>
        <p:spPr>
          <a:xfrm>
            <a:off x="7448702" y="4209898"/>
            <a:ext cx="237744" cy="237744"/>
          </a:xfrm>
          <a:prstGeom prst="rect">
            <a:avLst/>
          </a:prstGeom>
          <a:noFill/>
          <a:ln>
            <a:noFill/>
          </a:ln>
        </p:spPr>
      </p:pic>
      <p:pic>
        <p:nvPicPr>
          <p:cNvPr descr="gen-dedup-d6d0fc48eafe4c4fb7d26a2308f98977.png" id="340" name="Google Shape;340;p34"/>
          <p:cNvPicPr preferRelativeResize="0"/>
          <p:nvPr/>
        </p:nvPicPr>
        <p:blipFill rotWithShape="1">
          <a:blip r:embed="rId15">
            <a:alphaModFix/>
          </a:blip>
          <a:srcRect b="0" l="0" r="0" t="0"/>
          <a:stretch/>
        </p:blipFill>
        <p:spPr>
          <a:xfrm>
            <a:off x="7448702" y="5229454"/>
            <a:ext cx="237744" cy="237744"/>
          </a:xfrm>
          <a:prstGeom prst="rect">
            <a:avLst/>
          </a:prstGeom>
          <a:noFill/>
          <a:ln>
            <a:noFill/>
          </a:ln>
        </p:spPr>
      </p:pic>
      <p:sp>
        <p:nvSpPr>
          <p:cNvPr id="341" name="Google Shape;341;p34"/>
          <p:cNvSpPr txBox="1"/>
          <p:nvPr/>
        </p:nvSpPr>
        <p:spPr>
          <a:xfrm>
            <a:off x="457200" y="323698"/>
            <a:ext cx="7239300" cy="13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04 · 팀 구성 및 보고 체계</a:t>
            </a:r>
            <a:endParaRPr sz="1000">
              <a:solidFill>
                <a:schemeClr val="dk1"/>
              </a:solidFill>
              <a:latin typeface="Calibri"/>
              <a:ea typeface="Calibri"/>
              <a:cs typeface="Calibri"/>
              <a:sym typeface="Calibri"/>
            </a:endParaRPr>
          </a:p>
        </p:txBody>
      </p:sp>
      <p:sp>
        <p:nvSpPr>
          <p:cNvPr id="342" name="Google Shape;342;p34"/>
          <p:cNvSpPr txBox="1"/>
          <p:nvPr/>
        </p:nvSpPr>
        <p:spPr>
          <a:xfrm>
            <a:off x="457200" y="590702"/>
            <a:ext cx="11117400" cy="28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팀 구성: 현장 대리인 1, 팀장 1 및 개발자 3명</a:t>
            </a:r>
            <a:endParaRPr sz="1950">
              <a:solidFill>
                <a:schemeClr val="dk1"/>
              </a:solidFill>
              <a:latin typeface="Calibri"/>
              <a:ea typeface="Calibri"/>
              <a:cs typeface="Calibri"/>
              <a:sym typeface="Calibri"/>
            </a:endParaRPr>
          </a:p>
        </p:txBody>
      </p:sp>
      <p:sp>
        <p:nvSpPr>
          <p:cNvPr id="343" name="Google Shape;343;p34"/>
          <p:cNvSpPr txBox="1"/>
          <p:nvPr/>
        </p:nvSpPr>
        <p:spPr>
          <a:xfrm>
            <a:off x="886054" y="1447495"/>
            <a:ext cx="2067600" cy="13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큐셀 Korea</a:t>
            </a:r>
            <a:endParaRPr sz="1000">
              <a:solidFill>
                <a:schemeClr val="dk1"/>
              </a:solidFill>
              <a:latin typeface="Calibri"/>
              <a:ea typeface="Calibri"/>
              <a:cs typeface="Calibri"/>
              <a:sym typeface="Calibri"/>
            </a:endParaRPr>
          </a:p>
        </p:txBody>
      </p:sp>
      <p:sp>
        <p:nvSpPr>
          <p:cNvPr id="344" name="Google Shape;344;p34"/>
          <p:cNvSpPr txBox="1"/>
          <p:nvPr/>
        </p:nvSpPr>
        <p:spPr>
          <a:xfrm>
            <a:off x="886054" y="1695298"/>
            <a:ext cx="20676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1000"/>
              <a:buFont typeface="Barlow"/>
              <a:buNone/>
            </a:pPr>
            <a:r>
              <a:rPr lang="en-US" sz="1000">
                <a:solidFill>
                  <a:srgbClr val="5F6B7A"/>
                </a:solidFill>
                <a:latin typeface="Barlow"/>
                <a:ea typeface="Barlow"/>
                <a:cs typeface="Barlow"/>
                <a:sym typeface="Barlow"/>
              </a:rPr>
              <a:t>Product Owner · Mobile Lead</a:t>
            </a:r>
            <a:endParaRPr sz="1000">
              <a:solidFill>
                <a:schemeClr val="dk1"/>
              </a:solidFill>
              <a:latin typeface="Calibri"/>
              <a:ea typeface="Calibri"/>
              <a:cs typeface="Calibri"/>
              <a:sym typeface="Calibri"/>
            </a:endParaRPr>
          </a:p>
        </p:txBody>
      </p:sp>
      <p:sp>
        <p:nvSpPr>
          <p:cNvPr id="345" name="Google Shape;345;p34"/>
          <p:cNvSpPr txBox="1"/>
          <p:nvPr/>
        </p:nvSpPr>
        <p:spPr>
          <a:xfrm>
            <a:off x="3066898" y="1193800"/>
            <a:ext cx="914400" cy="431700"/>
          </a:xfrm>
          <a:prstGeom prst="rect">
            <a:avLst/>
          </a:prstGeom>
          <a:noFill/>
          <a:ln>
            <a:noFill/>
          </a:ln>
        </p:spPr>
        <p:txBody>
          <a:bodyPr anchorCtr="0" anchor="t" bIns="0" lIns="0" spcFirstLastPara="1" rIns="0" wrap="square" tIns="0">
            <a:noAutofit/>
          </a:bodyPr>
          <a:lstStyle/>
          <a:p>
            <a:pPr indent="0" lvl="0" marL="0" marR="0" rtl="0" algn="ctr">
              <a:lnSpc>
                <a:spcPct val="125000"/>
              </a:lnSpc>
              <a:spcBef>
                <a:spcPts val="0"/>
              </a:spcBef>
              <a:spcAft>
                <a:spcPts val="0"/>
              </a:spcAft>
              <a:buClr>
                <a:srgbClr val="5F6B7A"/>
              </a:buClr>
              <a:buSzPts val="1000"/>
              <a:buFont typeface="Barlow"/>
              <a:buNone/>
            </a:pPr>
            <a:r>
              <a:t/>
            </a:r>
            <a:endParaRPr i="1" sz="1000">
              <a:solidFill>
                <a:srgbClr val="5F6B7A"/>
              </a:solidFill>
              <a:latin typeface="Barlow"/>
              <a:ea typeface="Barlow"/>
              <a:cs typeface="Barlow"/>
              <a:sym typeface="Barlow"/>
            </a:endParaRPr>
          </a:p>
          <a:p>
            <a:pPr indent="0" lvl="0" marL="0" marR="0" rtl="0" algn="ctr">
              <a:lnSpc>
                <a:spcPct val="125000"/>
              </a:lnSpc>
              <a:spcBef>
                <a:spcPts val="0"/>
              </a:spcBef>
              <a:spcAft>
                <a:spcPts val="0"/>
              </a:spcAft>
              <a:buClr>
                <a:srgbClr val="5F6B7A"/>
              </a:buClr>
              <a:buSzPts val="1000"/>
              <a:buFont typeface="Barlow"/>
              <a:buNone/>
            </a:pPr>
            <a:r>
              <a:rPr i="1" lang="en-US" sz="1000">
                <a:solidFill>
                  <a:srgbClr val="5F6B7A"/>
                </a:solidFill>
                <a:latin typeface="Barlow"/>
                <a:ea typeface="Barlow"/>
                <a:cs typeface="Barlow"/>
                <a:sym typeface="Barlow"/>
              </a:rPr>
              <a:t>보고 만</a:t>
            </a:r>
            <a:endParaRPr sz="1000">
              <a:solidFill>
                <a:schemeClr val="dk1"/>
              </a:solidFill>
              <a:latin typeface="Calibri"/>
              <a:ea typeface="Calibri"/>
              <a:cs typeface="Calibri"/>
              <a:sym typeface="Calibri"/>
            </a:endParaRPr>
          </a:p>
        </p:txBody>
      </p:sp>
      <p:sp>
        <p:nvSpPr>
          <p:cNvPr id="346" name="Google Shape;346;p34"/>
          <p:cNvSpPr txBox="1"/>
          <p:nvPr/>
        </p:nvSpPr>
        <p:spPr>
          <a:xfrm>
            <a:off x="4648200" y="1447495"/>
            <a:ext cx="2031900" cy="13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Montserrat"/>
              <a:buNone/>
            </a:pPr>
            <a:r>
              <a:rPr b="1" lang="en-US" sz="1000">
                <a:solidFill>
                  <a:srgbClr val="FFFFFF"/>
                </a:solidFill>
                <a:latin typeface="Montserrat"/>
                <a:ea typeface="Montserrat"/>
                <a:cs typeface="Montserrat"/>
                <a:sym typeface="Montserrat"/>
              </a:rPr>
              <a:t>CMC TL · iOS (개발자 A)</a:t>
            </a:r>
            <a:endParaRPr sz="1000">
              <a:solidFill>
                <a:schemeClr val="dk1"/>
              </a:solidFill>
              <a:latin typeface="Calibri"/>
              <a:ea typeface="Calibri"/>
              <a:cs typeface="Calibri"/>
              <a:sym typeface="Calibri"/>
            </a:endParaRPr>
          </a:p>
        </p:txBody>
      </p:sp>
      <p:sp>
        <p:nvSpPr>
          <p:cNvPr id="347" name="Google Shape;347;p34"/>
          <p:cNvSpPr txBox="1"/>
          <p:nvPr/>
        </p:nvSpPr>
        <p:spPr>
          <a:xfrm>
            <a:off x="4648200" y="1695298"/>
            <a:ext cx="20319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DCE6F5"/>
              </a:buClr>
              <a:buSzPts val="1000"/>
              <a:buFont typeface="Barlow"/>
              <a:buNone/>
            </a:pPr>
            <a:r>
              <a:rPr lang="en-US" sz="1000">
                <a:solidFill>
                  <a:srgbClr val="DCE6F5"/>
                </a:solidFill>
                <a:latin typeface="Barlow"/>
                <a:ea typeface="Barlow"/>
                <a:cs typeface="Barlow"/>
                <a:sym typeface="Barlow"/>
              </a:rPr>
              <a:t>보고 · 검토</a:t>
            </a:r>
            <a:endParaRPr sz="1000">
              <a:solidFill>
                <a:schemeClr val="dk1"/>
              </a:solidFill>
              <a:latin typeface="Calibri"/>
              <a:ea typeface="Calibri"/>
              <a:cs typeface="Calibri"/>
              <a:sym typeface="Calibri"/>
            </a:endParaRPr>
          </a:p>
        </p:txBody>
      </p:sp>
      <p:sp>
        <p:nvSpPr>
          <p:cNvPr id="348" name="Google Shape;348;p34"/>
          <p:cNvSpPr txBox="1"/>
          <p:nvPr/>
        </p:nvSpPr>
        <p:spPr>
          <a:xfrm>
            <a:off x="3416300" y="3124505"/>
            <a:ext cx="1066800" cy="13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iOS</a:t>
            </a:r>
            <a:endParaRPr sz="1000">
              <a:solidFill>
                <a:schemeClr val="dk1"/>
              </a:solidFill>
              <a:latin typeface="Calibri"/>
              <a:ea typeface="Calibri"/>
              <a:cs typeface="Calibri"/>
              <a:sym typeface="Calibri"/>
            </a:endParaRPr>
          </a:p>
        </p:txBody>
      </p:sp>
      <p:sp>
        <p:nvSpPr>
          <p:cNvPr id="349" name="Google Shape;349;p34"/>
          <p:cNvSpPr txBox="1"/>
          <p:nvPr/>
        </p:nvSpPr>
        <p:spPr>
          <a:xfrm>
            <a:off x="3416300" y="3353105"/>
            <a:ext cx="10668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1000"/>
              <a:buFont typeface="Barlow"/>
              <a:buNone/>
            </a:pPr>
            <a:r>
              <a:rPr lang="en-US" sz="1000">
                <a:solidFill>
                  <a:srgbClr val="5F6B7A"/>
                </a:solidFill>
                <a:latin typeface="Barlow"/>
                <a:ea typeface="Barlow"/>
                <a:cs typeface="Barlow"/>
                <a:sym typeface="Barlow"/>
              </a:rPr>
              <a:t>개발자 B (Sr)</a:t>
            </a:r>
            <a:endParaRPr sz="1000">
              <a:solidFill>
                <a:schemeClr val="dk1"/>
              </a:solidFill>
              <a:latin typeface="Calibri"/>
              <a:ea typeface="Calibri"/>
              <a:cs typeface="Calibri"/>
              <a:sym typeface="Calibri"/>
            </a:endParaRPr>
          </a:p>
        </p:txBody>
      </p:sp>
      <p:sp>
        <p:nvSpPr>
          <p:cNvPr id="350" name="Google Shape;350;p34"/>
          <p:cNvSpPr txBox="1"/>
          <p:nvPr/>
        </p:nvSpPr>
        <p:spPr>
          <a:xfrm>
            <a:off x="4635500" y="3124505"/>
            <a:ext cx="1066800" cy="13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Android</a:t>
            </a:r>
            <a:endParaRPr sz="1000">
              <a:solidFill>
                <a:schemeClr val="dk1"/>
              </a:solidFill>
              <a:latin typeface="Calibri"/>
              <a:ea typeface="Calibri"/>
              <a:cs typeface="Calibri"/>
              <a:sym typeface="Calibri"/>
            </a:endParaRPr>
          </a:p>
        </p:txBody>
      </p:sp>
      <p:sp>
        <p:nvSpPr>
          <p:cNvPr id="351" name="Google Shape;351;p34"/>
          <p:cNvSpPr txBox="1"/>
          <p:nvPr/>
        </p:nvSpPr>
        <p:spPr>
          <a:xfrm>
            <a:off x="4635500" y="3353105"/>
            <a:ext cx="10668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1000"/>
              <a:buFont typeface="Barlow"/>
              <a:buNone/>
            </a:pPr>
            <a:r>
              <a:rPr lang="en-US" sz="1000">
                <a:solidFill>
                  <a:srgbClr val="5F6B7A"/>
                </a:solidFill>
                <a:latin typeface="Barlow"/>
                <a:ea typeface="Barlow"/>
                <a:cs typeface="Barlow"/>
                <a:sym typeface="Barlow"/>
              </a:rPr>
              <a:t>개발자 C (Sr)</a:t>
            </a:r>
            <a:endParaRPr sz="1000">
              <a:solidFill>
                <a:schemeClr val="dk1"/>
              </a:solidFill>
              <a:latin typeface="Calibri"/>
              <a:ea typeface="Calibri"/>
              <a:cs typeface="Calibri"/>
              <a:sym typeface="Calibri"/>
            </a:endParaRPr>
          </a:p>
        </p:txBody>
      </p:sp>
      <p:sp>
        <p:nvSpPr>
          <p:cNvPr id="352" name="Google Shape;352;p34"/>
          <p:cNvSpPr txBox="1"/>
          <p:nvPr/>
        </p:nvSpPr>
        <p:spPr>
          <a:xfrm>
            <a:off x="457200" y="3838651"/>
            <a:ext cx="6305700" cy="124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팀장 포함 개발자 4인, 모두 서울 근무 · 팀장이 큐셀에 일일보고</a:t>
            </a:r>
            <a:endParaRPr sz="1000">
              <a:solidFill>
                <a:schemeClr val="dk1"/>
              </a:solidFill>
              <a:latin typeface="Calibri"/>
              <a:ea typeface="Calibri"/>
              <a:cs typeface="Calibri"/>
              <a:sym typeface="Calibri"/>
            </a:endParaRPr>
          </a:p>
        </p:txBody>
      </p:sp>
      <p:sp>
        <p:nvSpPr>
          <p:cNvPr id="353" name="Google Shape;353;p34"/>
          <p:cNvSpPr txBox="1"/>
          <p:nvPr/>
        </p:nvSpPr>
        <p:spPr>
          <a:xfrm>
            <a:off x="638251" y="4496105"/>
            <a:ext cx="5943600" cy="14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CMC Global 본사 지원 (베트남) — 비청구, 비상주</a:t>
            </a:r>
            <a:endParaRPr sz="1000">
              <a:solidFill>
                <a:schemeClr val="dk1"/>
              </a:solidFill>
              <a:latin typeface="Calibri"/>
              <a:ea typeface="Calibri"/>
              <a:cs typeface="Calibri"/>
              <a:sym typeface="Calibri"/>
            </a:endParaRPr>
          </a:p>
        </p:txBody>
      </p:sp>
      <p:sp>
        <p:nvSpPr>
          <p:cNvPr id="354" name="Google Shape;354;p34"/>
          <p:cNvSpPr txBox="1"/>
          <p:nvPr/>
        </p:nvSpPr>
        <p:spPr>
          <a:xfrm>
            <a:off x="638251" y="5277002"/>
            <a:ext cx="1877400" cy="12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대체 인력</a:t>
            </a:r>
            <a:endParaRPr sz="1000">
              <a:solidFill>
                <a:schemeClr val="dk1"/>
              </a:solidFill>
              <a:latin typeface="Calibri"/>
              <a:ea typeface="Calibri"/>
              <a:cs typeface="Calibri"/>
              <a:sym typeface="Calibri"/>
            </a:endParaRPr>
          </a:p>
        </p:txBody>
      </p:sp>
      <p:sp>
        <p:nvSpPr>
          <p:cNvPr id="355" name="Google Shape;355;p34"/>
          <p:cNvSpPr txBox="1"/>
          <p:nvPr/>
        </p:nvSpPr>
        <p:spPr>
          <a:xfrm>
            <a:off x="638251" y="5524805"/>
            <a:ext cx="1877400" cy="267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한국어 구사 가능 개발자 준비</a:t>
            </a:r>
            <a:endParaRPr sz="1000">
              <a:solidFill>
                <a:schemeClr val="dk1"/>
              </a:solidFill>
              <a:latin typeface="Calibri"/>
              <a:ea typeface="Calibri"/>
              <a:cs typeface="Calibri"/>
              <a:sym typeface="Calibri"/>
            </a:endParaRPr>
          </a:p>
        </p:txBody>
      </p:sp>
      <p:sp>
        <p:nvSpPr>
          <p:cNvPr id="356" name="Google Shape;356;p34"/>
          <p:cNvSpPr txBox="1"/>
          <p:nvPr/>
        </p:nvSpPr>
        <p:spPr>
          <a:xfrm>
            <a:off x="2648102" y="5277002"/>
            <a:ext cx="1877400" cy="12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모바일 기술 조언</a:t>
            </a:r>
            <a:endParaRPr sz="1000">
              <a:solidFill>
                <a:schemeClr val="dk1"/>
              </a:solidFill>
              <a:latin typeface="Calibri"/>
              <a:ea typeface="Calibri"/>
              <a:cs typeface="Calibri"/>
              <a:sym typeface="Calibri"/>
            </a:endParaRPr>
          </a:p>
        </p:txBody>
      </p:sp>
      <p:sp>
        <p:nvSpPr>
          <p:cNvPr id="357" name="Google Shape;357;p34"/>
          <p:cNvSpPr txBox="1"/>
          <p:nvPr/>
        </p:nvSpPr>
        <p:spPr>
          <a:xfrm>
            <a:off x="2648102" y="5524805"/>
            <a:ext cx="1877400" cy="267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요청 시 아키텍쳐와 BLE 및 오프라인 동기화 로직 검토</a:t>
            </a:r>
            <a:endParaRPr sz="1000">
              <a:solidFill>
                <a:schemeClr val="dk1"/>
              </a:solidFill>
              <a:latin typeface="Calibri"/>
              <a:ea typeface="Calibri"/>
              <a:cs typeface="Calibri"/>
              <a:sym typeface="Calibri"/>
            </a:endParaRPr>
          </a:p>
        </p:txBody>
      </p:sp>
      <p:sp>
        <p:nvSpPr>
          <p:cNvPr id="358" name="Google Shape;358;p34"/>
          <p:cNvSpPr txBox="1"/>
          <p:nvPr/>
        </p:nvSpPr>
        <p:spPr>
          <a:xfrm>
            <a:off x="4667098" y="5277002"/>
            <a:ext cx="1877400" cy="124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QA &amp; CI/CD 구축 지원</a:t>
            </a:r>
            <a:endParaRPr sz="1000">
              <a:solidFill>
                <a:schemeClr val="dk1"/>
              </a:solidFill>
              <a:latin typeface="Calibri"/>
              <a:ea typeface="Calibri"/>
              <a:cs typeface="Calibri"/>
              <a:sym typeface="Calibri"/>
            </a:endParaRPr>
          </a:p>
        </p:txBody>
      </p:sp>
      <p:sp>
        <p:nvSpPr>
          <p:cNvPr id="359" name="Google Shape;359;p34"/>
          <p:cNvSpPr txBox="1"/>
          <p:nvPr/>
        </p:nvSpPr>
        <p:spPr>
          <a:xfrm>
            <a:off x="4667098" y="5524805"/>
            <a:ext cx="1877400" cy="2670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큐셀 요청 시 테스트 자동화 구축 지원</a:t>
            </a:r>
            <a:endParaRPr sz="1000">
              <a:solidFill>
                <a:schemeClr val="dk1"/>
              </a:solidFill>
              <a:latin typeface="Calibri"/>
              <a:ea typeface="Calibri"/>
              <a:cs typeface="Calibri"/>
              <a:sym typeface="Calibri"/>
            </a:endParaRPr>
          </a:p>
        </p:txBody>
      </p:sp>
      <p:sp>
        <p:nvSpPr>
          <p:cNvPr id="360" name="Google Shape;360;p34"/>
          <p:cNvSpPr txBox="1"/>
          <p:nvPr/>
        </p:nvSpPr>
        <p:spPr>
          <a:xfrm>
            <a:off x="7315200" y="1524305"/>
            <a:ext cx="4210800" cy="162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Montserrat"/>
              <a:buNone/>
            </a:pPr>
            <a:r>
              <a:rPr b="1" lang="en-US" sz="1050">
                <a:solidFill>
                  <a:srgbClr val="0B2F5B"/>
                </a:solidFill>
                <a:latin typeface="Montserrat"/>
                <a:ea typeface="Montserrat"/>
                <a:cs typeface="Montserrat"/>
                <a:sym typeface="Montserrat"/>
              </a:rPr>
              <a:t>소통 방법</a:t>
            </a:r>
            <a:endParaRPr sz="1050">
              <a:solidFill>
                <a:schemeClr val="dk1"/>
              </a:solidFill>
              <a:latin typeface="Calibri"/>
              <a:ea typeface="Calibri"/>
              <a:cs typeface="Calibri"/>
              <a:sym typeface="Calibri"/>
            </a:endParaRPr>
          </a:p>
        </p:txBody>
      </p:sp>
      <p:sp>
        <p:nvSpPr>
          <p:cNvPr id="361" name="Google Shape;361;p34"/>
          <p:cNvSpPr txBox="1"/>
          <p:nvPr/>
        </p:nvSpPr>
        <p:spPr>
          <a:xfrm>
            <a:off x="8001000" y="2009851"/>
            <a:ext cx="3562500" cy="14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업무 준비</a:t>
            </a:r>
            <a:endParaRPr sz="1000">
              <a:solidFill>
                <a:schemeClr val="dk1"/>
              </a:solidFill>
              <a:latin typeface="Calibri"/>
              <a:ea typeface="Calibri"/>
              <a:cs typeface="Calibri"/>
              <a:sym typeface="Calibri"/>
            </a:endParaRPr>
          </a:p>
        </p:txBody>
      </p:sp>
      <p:sp>
        <p:nvSpPr>
          <p:cNvPr id="362" name="Google Shape;362;p34"/>
          <p:cNvSpPr txBox="1"/>
          <p:nvPr/>
        </p:nvSpPr>
        <p:spPr>
          <a:xfrm>
            <a:off x="8001000" y="2257654"/>
            <a:ext cx="3762900" cy="152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팀장(개발자. A) 외 3인</a:t>
            </a:r>
            <a:endParaRPr sz="1000">
              <a:solidFill>
                <a:schemeClr val="dk1"/>
              </a:solidFill>
              <a:latin typeface="Calibri"/>
              <a:ea typeface="Calibri"/>
              <a:cs typeface="Calibri"/>
              <a:sym typeface="Calibri"/>
            </a:endParaRPr>
          </a:p>
        </p:txBody>
      </p:sp>
      <p:sp>
        <p:nvSpPr>
          <p:cNvPr id="363" name="Google Shape;363;p34"/>
          <p:cNvSpPr txBox="1"/>
          <p:nvPr/>
        </p:nvSpPr>
        <p:spPr>
          <a:xfrm>
            <a:off x="8001000" y="3038551"/>
            <a:ext cx="3562500" cy="14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생산성 관리</a:t>
            </a:r>
            <a:endParaRPr sz="1000">
              <a:solidFill>
                <a:schemeClr val="dk1"/>
              </a:solidFill>
              <a:latin typeface="Calibri"/>
              <a:ea typeface="Calibri"/>
              <a:cs typeface="Calibri"/>
              <a:sym typeface="Calibri"/>
            </a:endParaRPr>
          </a:p>
        </p:txBody>
      </p:sp>
      <p:sp>
        <p:nvSpPr>
          <p:cNvPr id="364" name="Google Shape;364;p34"/>
          <p:cNvSpPr txBox="1"/>
          <p:nvPr/>
        </p:nvSpPr>
        <p:spPr>
          <a:xfrm>
            <a:off x="8001000" y="3286354"/>
            <a:ext cx="35559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현장 대리인</a:t>
            </a:r>
            <a:r>
              <a:rPr lang="en-US" sz="1000">
                <a:solidFill>
                  <a:srgbClr val="1F2A37"/>
                </a:solidFill>
                <a:latin typeface="Barlow"/>
                <a:ea typeface="Barlow"/>
                <a:cs typeface="Barlow"/>
                <a:sym typeface="Barlow"/>
              </a:rPr>
              <a:t> — </a:t>
            </a:r>
            <a:r>
              <a:rPr lang="en-US" sz="1000">
                <a:solidFill>
                  <a:srgbClr val="1F2A37"/>
                </a:solidFill>
                <a:latin typeface="Barlow"/>
                <a:ea typeface="Barlow"/>
                <a:cs typeface="Barlow"/>
                <a:sym typeface="Barlow"/>
              </a:rPr>
              <a:t>큐셀과 월간 생산성 검토</a:t>
            </a:r>
            <a:r>
              <a:rPr lang="en-US" sz="1000">
                <a:solidFill>
                  <a:srgbClr val="1F2A37"/>
                </a:solidFill>
                <a:latin typeface="Barlow"/>
                <a:ea typeface="Barlow"/>
                <a:cs typeface="Barlow"/>
                <a:sym typeface="Barlow"/>
              </a:rPr>
              <a:t> lead</a:t>
            </a:r>
            <a:endParaRPr sz="1000">
              <a:solidFill>
                <a:schemeClr val="dk1"/>
              </a:solidFill>
              <a:latin typeface="Calibri"/>
              <a:ea typeface="Calibri"/>
              <a:cs typeface="Calibri"/>
              <a:sym typeface="Calibri"/>
            </a:endParaRPr>
          </a:p>
        </p:txBody>
      </p:sp>
      <p:sp>
        <p:nvSpPr>
          <p:cNvPr id="365" name="Google Shape;365;p34"/>
          <p:cNvSpPr txBox="1"/>
          <p:nvPr/>
        </p:nvSpPr>
        <p:spPr>
          <a:xfrm>
            <a:off x="8001000" y="4058107"/>
            <a:ext cx="3562500" cy="14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보고 체계</a:t>
            </a:r>
            <a:endParaRPr sz="1000">
              <a:solidFill>
                <a:schemeClr val="dk1"/>
              </a:solidFill>
              <a:latin typeface="Calibri"/>
              <a:ea typeface="Calibri"/>
              <a:cs typeface="Calibri"/>
              <a:sym typeface="Calibri"/>
            </a:endParaRPr>
          </a:p>
        </p:txBody>
      </p:sp>
      <p:sp>
        <p:nvSpPr>
          <p:cNvPr id="366" name="Google Shape;366;p34"/>
          <p:cNvSpPr txBox="1"/>
          <p:nvPr/>
        </p:nvSpPr>
        <p:spPr>
          <a:xfrm>
            <a:off x="8001000" y="4267047"/>
            <a:ext cx="3555900" cy="330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1차: 팀장 (개발자 A) ·2차: 큐셀에 보고하는 현장 대리인</a:t>
            </a:r>
            <a:endParaRPr sz="1000">
              <a:solidFill>
                <a:schemeClr val="dk1"/>
              </a:solidFill>
              <a:latin typeface="Calibri"/>
              <a:ea typeface="Calibri"/>
              <a:cs typeface="Calibri"/>
              <a:sym typeface="Calibri"/>
            </a:endParaRPr>
          </a:p>
        </p:txBody>
      </p:sp>
      <p:sp>
        <p:nvSpPr>
          <p:cNvPr id="367" name="Google Shape;367;p34"/>
          <p:cNvSpPr txBox="1"/>
          <p:nvPr/>
        </p:nvSpPr>
        <p:spPr>
          <a:xfrm>
            <a:off x="8001000" y="5086807"/>
            <a:ext cx="3562500" cy="143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정산</a:t>
            </a:r>
            <a:endParaRPr sz="1000">
              <a:solidFill>
                <a:schemeClr val="dk1"/>
              </a:solidFill>
              <a:latin typeface="Calibri"/>
              <a:ea typeface="Calibri"/>
              <a:cs typeface="Calibri"/>
              <a:sym typeface="Calibri"/>
            </a:endParaRPr>
          </a:p>
        </p:txBody>
      </p:sp>
      <p:sp>
        <p:nvSpPr>
          <p:cNvPr id="368" name="Google Shape;368;p34"/>
          <p:cNvSpPr txBox="1"/>
          <p:nvPr/>
        </p:nvSpPr>
        <p:spPr>
          <a:xfrm>
            <a:off x="8001000" y="5333695"/>
            <a:ext cx="3555900" cy="152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한화의 제안서 의견 받은 후 기입</a:t>
            </a:r>
            <a:endParaRPr sz="1000">
              <a:solidFill>
                <a:schemeClr val="dk1"/>
              </a:solidFill>
              <a:latin typeface="Calibri"/>
              <a:ea typeface="Calibri"/>
              <a:cs typeface="Calibri"/>
              <a:sym typeface="Calibri"/>
            </a:endParaRPr>
          </a:p>
        </p:txBody>
      </p:sp>
      <p:sp>
        <p:nvSpPr>
          <p:cNvPr id="369" name="Google Shape;369;p34"/>
          <p:cNvSpPr txBox="1"/>
          <p:nvPr/>
        </p:nvSpPr>
        <p:spPr>
          <a:xfrm>
            <a:off x="11277295" y="6476695"/>
            <a:ext cx="457200" cy="1143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000"/>
              <a:buFont typeface="Barlow"/>
              <a:buNone/>
            </a:pPr>
            <a:r>
              <a:rPr lang="en-US" sz="1000">
                <a:solidFill>
                  <a:srgbClr val="FFFFFF"/>
                </a:solidFill>
                <a:latin typeface="Barlow"/>
                <a:ea typeface="Barlow"/>
                <a:cs typeface="Barlow"/>
                <a:sym typeface="Barlow"/>
              </a:rPr>
              <a:t>11 / 20</a:t>
            </a:r>
            <a:endParaRPr sz="1000">
              <a:solidFill>
                <a:schemeClr val="dk1"/>
              </a:solidFill>
              <a:latin typeface="Calibri"/>
              <a:ea typeface="Calibri"/>
              <a:cs typeface="Calibri"/>
              <a:sym typeface="Calibri"/>
            </a:endParaRPr>
          </a:p>
        </p:txBody>
      </p:sp>
      <p:sp>
        <p:nvSpPr>
          <p:cNvPr id="370" name="Google Shape;370;p34"/>
          <p:cNvSpPr/>
          <p:nvPr/>
        </p:nvSpPr>
        <p:spPr>
          <a:xfrm>
            <a:off x="4019702" y="1428120"/>
            <a:ext cx="504600" cy="504600"/>
          </a:xfrm>
          <a:prstGeom prst="rect">
            <a:avLst/>
          </a:prstGeom>
          <a:solidFill>
            <a:srgbClr val="1565C0"/>
          </a:solidFill>
          <a:ln cap="flat" cmpd="sng" w="12700">
            <a:solidFill>
              <a:srgbClr val="FFFFFF">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2db8469e8264f14683deb2d362f515fa.png" id="371" name="Google Shape;371;p34"/>
          <p:cNvPicPr preferRelativeResize="0"/>
          <p:nvPr/>
        </p:nvPicPr>
        <p:blipFill rotWithShape="1">
          <a:blip r:embed="rId12">
            <a:alphaModFix/>
          </a:blip>
          <a:srcRect b="0" l="0" r="0" t="0"/>
          <a:stretch/>
        </p:blipFill>
        <p:spPr>
          <a:xfrm>
            <a:off x="4153204" y="1580825"/>
            <a:ext cx="237744" cy="237744"/>
          </a:xfrm>
          <a:prstGeom prst="rect">
            <a:avLst/>
          </a:prstGeom>
          <a:noFill/>
          <a:ln>
            <a:noFill/>
          </a:ln>
        </p:spPr>
      </p:pic>
      <p:sp>
        <p:nvSpPr>
          <p:cNvPr id="372" name="Google Shape;372;p34"/>
          <p:cNvSpPr/>
          <p:nvPr/>
        </p:nvSpPr>
        <p:spPr>
          <a:xfrm>
            <a:off x="5854700" y="2648102"/>
            <a:ext cx="1066800" cy="10095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gen-dedup-ee49ba211c2d020ab97ef7fdd83d819b.png" id="373" name="Google Shape;373;p34"/>
          <p:cNvPicPr preferRelativeResize="0"/>
          <p:nvPr/>
        </p:nvPicPr>
        <p:blipFill rotWithShape="1">
          <a:blip r:embed="rId6">
            <a:alphaModFix/>
          </a:blip>
          <a:srcRect b="0" l="-403" r="-393" t="0"/>
          <a:stretch/>
        </p:blipFill>
        <p:spPr>
          <a:xfrm>
            <a:off x="6375400" y="2419502"/>
            <a:ext cx="19202" cy="228600"/>
          </a:xfrm>
          <a:prstGeom prst="rect">
            <a:avLst/>
          </a:prstGeom>
          <a:noFill/>
          <a:ln>
            <a:noFill/>
          </a:ln>
        </p:spPr>
      </p:pic>
      <p:pic>
        <p:nvPicPr>
          <p:cNvPr descr="gen-dedup-3089d98ba100676462818f6f6dbbf8f0.png" id="374" name="Google Shape;374;p34"/>
          <p:cNvPicPr preferRelativeResize="0"/>
          <p:nvPr/>
        </p:nvPicPr>
        <p:blipFill rotWithShape="1">
          <a:blip r:embed="rId8">
            <a:alphaModFix/>
          </a:blip>
          <a:srcRect b="0" l="0" r="0" t="0"/>
          <a:stretch/>
        </p:blipFill>
        <p:spPr>
          <a:xfrm>
            <a:off x="6248400" y="2762402"/>
            <a:ext cx="276149" cy="276149"/>
          </a:xfrm>
          <a:prstGeom prst="rect">
            <a:avLst/>
          </a:prstGeom>
          <a:noFill/>
          <a:ln>
            <a:noFill/>
          </a:ln>
        </p:spPr>
      </p:pic>
      <p:sp>
        <p:nvSpPr>
          <p:cNvPr id="375" name="Google Shape;375;p34"/>
          <p:cNvSpPr txBox="1"/>
          <p:nvPr/>
        </p:nvSpPr>
        <p:spPr>
          <a:xfrm>
            <a:off x="5854700" y="3124505"/>
            <a:ext cx="1066800" cy="1335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Montserrat"/>
              <a:buNone/>
            </a:pPr>
            <a:r>
              <a:rPr b="1" lang="en-US" sz="1000">
                <a:solidFill>
                  <a:srgbClr val="0B2F5B"/>
                </a:solidFill>
                <a:latin typeface="Montserrat"/>
                <a:ea typeface="Montserrat"/>
                <a:cs typeface="Montserrat"/>
                <a:sym typeface="Montserrat"/>
              </a:rPr>
              <a:t>Android</a:t>
            </a:r>
            <a:endParaRPr sz="1000">
              <a:solidFill>
                <a:schemeClr val="dk1"/>
              </a:solidFill>
              <a:latin typeface="Calibri"/>
              <a:ea typeface="Calibri"/>
              <a:cs typeface="Calibri"/>
              <a:sym typeface="Calibri"/>
            </a:endParaRPr>
          </a:p>
        </p:txBody>
      </p:sp>
      <p:sp>
        <p:nvSpPr>
          <p:cNvPr id="376" name="Google Shape;376;p34"/>
          <p:cNvSpPr txBox="1"/>
          <p:nvPr/>
        </p:nvSpPr>
        <p:spPr>
          <a:xfrm>
            <a:off x="5854700" y="3353105"/>
            <a:ext cx="1066800" cy="1143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F6B7A"/>
              </a:buClr>
              <a:buSzPts val="1000"/>
              <a:buFont typeface="Barlow"/>
              <a:buNone/>
            </a:pPr>
            <a:r>
              <a:rPr lang="en-US" sz="1000">
                <a:solidFill>
                  <a:srgbClr val="5F6B7A"/>
                </a:solidFill>
                <a:latin typeface="Barlow"/>
                <a:ea typeface="Barlow"/>
                <a:cs typeface="Barlow"/>
                <a:sym typeface="Barlow"/>
              </a:rPr>
              <a:t>개발자 D (Mid-Sr)</a:t>
            </a:r>
            <a:endParaRPr sz="10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80" name="Shape 380"/>
        <p:cNvGrpSpPr/>
        <p:nvPr/>
      </p:nvGrpSpPr>
      <p:grpSpPr>
        <a:xfrm>
          <a:off x="0" y="0"/>
          <a:ext cx="0" cy="0"/>
          <a:chOff x="0" y="0"/>
          <a:chExt cx="0" cy="0"/>
        </a:xfrm>
      </p:grpSpPr>
      <p:cxnSp>
        <p:nvCxnSpPr>
          <p:cNvPr id="381" name="Google Shape;381;p35"/>
          <p:cNvCxnSpPr/>
          <p:nvPr/>
        </p:nvCxnSpPr>
        <p:spPr>
          <a:xfrm>
            <a:off x="457200" y="1840000"/>
            <a:ext cx="11277600" cy="0"/>
          </a:xfrm>
          <a:prstGeom prst="straightConnector1">
            <a:avLst/>
          </a:prstGeom>
          <a:noFill/>
          <a:ln cap="flat" cmpd="sng" w="12700">
            <a:solidFill>
              <a:srgbClr val="0B2F5B"/>
            </a:solidFill>
            <a:prstDash val="solid"/>
            <a:round/>
            <a:headEnd len="sm" w="sm" type="none"/>
            <a:tailEnd len="sm" w="sm" type="none"/>
          </a:ln>
        </p:spPr>
      </p:cxnSp>
      <p:cxnSp>
        <p:nvCxnSpPr>
          <p:cNvPr id="382" name="Google Shape;382;p35"/>
          <p:cNvCxnSpPr/>
          <p:nvPr/>
        </p:nvCxnSpPr>
        <p:spPr>
          <a:xfrm>
            <a:off x="6246391" y="1540000"/>
            <a:ext cx="0" cy="3560100"/>
          </a:xfrm>
          <a:prstGeom prst="straightConnector1">
            <a:avLst/>
          </a:prstGeom>
          <a:noFill/>
          <a:ln cap="flat" cmpd="sng" w="9525">
            <a:solidFill>
              <a:srgbClr val="D9DEE5"/>
            </a:solidFill>
            <a:prstDash val="solid"/>
            <a:round/>
            <a:headEnd len="sm" w="sm" type="none"/>
            <a:tailEnd len="sm" w="sm" type="none"/>
          </a:ln>
        </p:spPr>
      </p:cxnSp>
      <p:cxnSp>
        <p:nvCxnSpPr>
          <p:cNvPr id="383" name="Google Shape;383;p35"/>
          <p:cNvCxnSpPr/>
          <p:nvPr/>
        </p:nvCxnSpPr>
        <p:spPr>
          <a:xfrm>
            <a:off x="8945609" y="1540000"/>
            <a:ext cx="0" cy="3560100"/>
          </a:xfrm>
          <a:prstGeom prst="straightConnector1">
            <a:avLst/>
          </a:prstGeom>
          <a:noFill/>
          <a:ln cap="flat" cmpd="sng" w="9525">
            <a:solidFill>
              <a:srgbClr val="D9DEE5"/>
            </a:solidFill>
            <a:prstDash val="solid"/>
            <a:round/>
            <a:headEnd len="sm" w="sm" type="none"/>
            <a:tailEnd len="sm" w="sm" type="none"/>
          </a:ln>
        </p:spPr>
      </p:cxnSp>
      <p:cxnSp>
        <p:nvCxnSpPr>
          <p:cNvPr id="384" name="Google Shape;384;p35"/>
          <p:cNvCxnSpPr/>
          <p:nvPr/>
        </p:nvCxnSpPr>
        <p:spPr>
          <a:xfrm>
            <a:off x="4446913" y="1300000"/>
            <a:ext cx="0" cy="3380100"/>
          </a:xfrm>
          <a:prstGeom prst="straightConnector1">
            <a:avLst/>
          </a:prstGeom>
          <a:noFill/>
          <a:ln cap="flat" cmpd="sng" w="9525">
            <a:solidFill>
              <a:srgbClr val="1867DC"/>
            </a:solidFill>
            <a:prstDash val="dash"/>
            <a:round/>
            <a:headEnd len="sm" w="sm" type="none"/>
            <a:tailEnd len="sm" w="sm" type="none"/>
          </a:ln>
        </p:spPr>
      </p:cxnSp>
      <p:cxnSp>
        <p:nvCxnSpPr>
          <p:cNvPr id="385" name="Google Shape;385;p35"/>
          <p:cNvCxnSpPr/>
          <p:nvPr/>
        </p:nvCxnSpPr>
        <p:spPr>
          <a:xfrm>
            <a:off x="6336365" y="1300000"/>
            <a:ext cx="0" cy="3380100"/>
          </a:xfrm>
          <a:prstGeom prst="straightConnector1">
            <a:avLst/>
          </a:prstGeom>
          <a:noFill/>
          <a:ln cap="flat" cmpd="sng" w="9525">
            <a:solidFill>
              <a:srgbClr val="1867DC"/>
            </a:solidFill>
            <a:prstDash val="dash"/>
            <a:round/>
            <a:headEnd len="sm" w="sm" type="none"/>
            <a:tailEnd len="sm" w="sm" type="none"/>
          </a:ln>
        </p:spPr>
      </p:cxnSp>
      <p:cxnSp>
        <p:nvCxnSpPr>
          <p:cNvPr id="386" name="Google Shape;386;p35"/>
          <p:cNvCxnSpPr/>
          <p:nvPr/>
        </p:nvCxnSpPr>
        <p:spPr>
          <a:xfrm>
            <a:off x="457200" y="2580000"/>
            <a:ext cx="11277600" cy="0"/>
          </a:xfrm>
          <a:prstGeom prst="straightConnector1">
            <a:avLst/>
          </a:prstGeom>
          <a:noFill/>
          <a:ln cap="flat" cmpd="sng" w="9525">
            <a:solidFill>
              <a:srgbClr val="D9DEE5"/>
            </a:solidFill>
            <a:prstDash val="solid"/>
            <a:round/>
            <a:headEnd len="sm" w="sm" type="none"/>
            <a:tailEnd len="sm" w="sm" type="none"/>
          </a:ln>
        </p:spPr>
      </p:cxnSp>
      <p:cxnSp>
        <p:nvCxnSpPr>
          <p:cNvPr id="387" name="Google Shape;387;p35"/>
          <p:cNvCxnSpPr/>
          <p:nvPr/>
        </p:nvCxnSpPr>
        <p:spPr>
          <a:xfrm>
            <a:off x="457200" y="3280000"/>
            <a:ext cx="11277600" cy="0"/>
          </a:xfrm>
          <a:prstGeom prst="straightConnector1">
            <a:avLst/>
          </a:prstGeom>
          <a:noFill/>
          <a:ln cap="flat" cmpd="sng" w="9525">
            <a:solidFill>
              <a:srgbClr val="D9DEE5"/>
            </a:solidFill>
            <a:prstDash val="solid"/>
            <a:round/>
            <a:headEnd len="sm" w="sm" type="none"/>
            <a:tailEnd len="sm" w="sm" type="none"/>
          </a:ln>
        </p:spPr>
      </p:cxnSp>
      <p:cxnSp>
        <p:nvCxnSpPr>
          <p:cNvPr id="388" name="Google Shape;388;p35"/>
          <p:cNvCxnSpPr/>
          <p:nvPr/>
        </p:nvCxnSpPr>
        <p:spPr>
          <a:xfrm>
            <a:off x="457200" y="3980000"/>
            <a:ext cx="11277600" cy="0"/>
          </a:xfrm>
          <a:prstGeom prst="straightConnector1">
            <a:avLst/>
          </a:prstGeom>
          <a:noFill/>
          <a:ln cap="flat" cmpd="sng" w="9525">
            <a:solidFill>
              <a:srgbClr val="D9DEE5"/>
            </a:solidFill>
            <a:prstDash val="solid"/>
            <a:round/>
            <a:headEnd len="sm" w="sm" type="none"/>
            <a:tailEnd len="sm" w="sm" type="none"/>
          </a:ln>
        </p:spPr>
      </p:cxnSp>
      <p:cxnSp>
        <p:nvCxnSpPr>
          <p:cNvPr id="389" name="Google Shape;389;p35"/>
          <p:cNvCxnSpPr/>
          <p:nvPr/>
        </p:nvCxnSpPr>
        <p:spPr>
          <a:xfrm>
            <a:off x="457200" y="4680000"/>
            <a:ext cx="11277600" cy="0"/>
          </a:xfrm>
          <a:prstGeom prst="straightConnector1">
            <a:avLst/>
          </a:prstGeom>
          <a:noFill/>
          <a:ln cap="flat" cmpd="sng" w="9525">
            <a:solidFill>
              <a:srgbClr val="D9DEE5"/>
            </a:solidFill>
            <a:prstDash val="solid"/>
            <a:round/>
            <a:headEnd len="sm" w="sm" type="none"/>
            <a:tailEnd len="sm" w="sm" type="none"/>
          </a:ln>
        </p:spPr>
      </p:cxnSp>
      <p:sp>
        <p:nvSpPr>
          <p:cNvPr id="390" name="Google Shape;390;p35"/>
          <p:cNvSpPr txBox="1"/>
          <p:nvPr/>
        </p:nvSpPr>
        <p:spPr>
          <a:xfrm>
            <a:off x="457200" y="4720000"/>
            <a:ext cx="11277600" cy="380100"/>
          </a:xfrm>
          <a:prstGeom prst="rect">
            <a:avLst/>
          </a:prstGeom>
          <a:solidFill>
            <a:srgbClr val="E8F0F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391" name="Google Shape;391;p35"/>
          <p:cNvSpPr txBox="1"/>
          <p:nvPr/>
        </p:nvSpPr>
        <p:spPr>
          <a:xfrm>
            <a:off x="457200" y="323698"/>
            <a:ext cx="9000000" cy="133500"/>
          </a:xfrm>
          <a:prstGeom prst="rect">
            <a:avLst/>
          </a:prstGeom>
          <a:noFill/>
          <a:ln>
            <a:noFill/>
          </a:ln>
        </p:spPr>
        <p:txBody>
          <a:bodyPr anchorCtr="0" anchor="ctr" bIns="0" lIns="0" spcFirstLastPara="1" rIns="0" wrap="square" tIns="0">
            <a:normAutofit lnSpcReduction="20000"/>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06 · 투입 계획</a:t>
            </a:r>
            <a:endParaRPr/>
          </a:p>
        </p:txBody>
      </p:sp>
      <p:sp>
        <p:nvSpPr>
          <p:cNvPr id="392" name="Google Shape;392;p35"/>
          <p:cNvSpPr txBox="1"/>
          <p:nvPr/>
        </p:nvSpPr>
        <p:spPr>
          <a:xfrm>
            <a:off x="457200" y="590702"/>
            <a:ext cx="11277600" cy="286200"/>
          </a:xfrm>
          <a:prstGeom prst="rect">
            <a:avLst/>
          </a:prstGeom>
          <a:noFill/>
          <a:ln>
            <a:noFill/>
          </a:ln>
        </p:spPr>
        <p:txBody>
          <a:bodyPr anchorCtr="0" anchor="ctr" bIns="0" lIns="0" spcFirstLastPara="1" rIns="0" wrap="square" tIns="0">
            <a:normAutofit lnSpcReduction="10000"/>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투입 계획: 2026년 10월 12일 3인, 11월 2일 부터 12월 31일까지 4인</a:t>
            </a:r>
            <a:endParaRPr/>
          </a:p>
        </p:txBody>
      </p:sp>
      <p:sp>
        <p:nvSpPr>
          <p:cNvPr id="393" name="Google Shape;393;p35"/>
          <p:cNvSpPr txBox="1"/>
          <p:nvPr/>
        </p:nvSpPr>
        <p:spPr>
          <a:xfrm>
            <a:off x="457200" y="1050000"/>
            <a:ext cx="11277600" cy="17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050"/>
              <a:buFont typeface="Montserrat"/>
              <a:buNone/>
            </a:pPr>
            <a:r>
              <a:rPr b="1" lang="en-US" sz="1050">
                <a:solidFill>
                  <a:srgbClr val="0B2F5B"/>
                </a:solidFill>
                <a:latin typeface="Montserrat"/>
                <a:ea typeface="Montserrat"/>
                <a:cs typeface="Montserrat"/>
                <a:sym typeface="Montserrat"/>
              </a:rPr>
              <a:t>개발자 투입 계획, 큐셀 Korea (서울) 상주, 2026년 10월 ~ 12월</a:t>
            </a:r>
            <a:endParaRPr/>
          </a:p>
        </p:txBody>
      </p:sp>
      <p:sp>
        <p:nvSpPr>
          <p:cNvPr id="394" name="Google Shape;394;p35"/>
          <p:cNvSpPr txBox="1"/>
          <p:nvPr/>
        </p:nvSpPr>
        <p:spPr>
          <a:xfrm>
            <a:off x="4506913" y="1300000"/>
            <a:ext cx="1749900" cy="189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867DC"/>
              </a:buClr>
              <a:buSzPts val="850"/>
              <a:buFont typeface="Montserrat"/>
              <a:buNone/>
            </a:pPr>
            <a:r>
              <a:rPr b="1" lang="en-US" sz="850">
                <a:solidFill>
                  <a:srgbClr val="1867DC"/>
                </a:solidFill>
                <a:latin typeface="Montserrat"/>
                <a:ea typeface="Montserrat"/>
                <a:cs typeface="Montserrat"/>
                <a:sym typeface="Montserrat"/>
              </a:rPr>
              <a:t>12 OCT · WAVE 1 · 3 HC</a:t>
            </a:r>
            <a:endParaRPr/>
          </a:p>
        </p:txBody>
      </p:sp>
      <p:sp>
        <p:nvSpPr>
          <p:cNvPr id="395" name="Google Shape;395;p35"/>
          <p:cNvSpPr txBox="1"/>
          <p:nvPr/>
        </p:nvSpPr>
        <p:spPr>
          <a:xfrm>
            <a:off x="6396365" y="1300000"/>
            <a:ext cx="1749900" cy="189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1867DC"/>
              </a:buClr>
              <a:buSzPts val="850"/>
              <a:buFont typeface="Montserrat"/>
              <a:buNone/>
            </a:pPr>
            <a:r>
              <a:rPr b="1" lang="en-US" sz="850">
                <a:solidFill>
                  <a:srgbClr val="1867DC"/>
                </a:solidFill>
                <a:latin typeface="Montserrat"/>
                <a:ea typeface="Montserrat"/>
                <a:cs typeface="Montserrat"/>
                <a:sym typeface="Montserrat"/>
              </a:rPr>
              <a:t>2 NOV · WAVE 2 · 4 HC</a:t>
            </a:r>
            <a:endParaRPr/>
          </a:p>
        </p:txBody>
      </p:sp>
      <p:sp>
        <p:nvSpPr>
          <p:cNvPr id="396" name="Google Shape;396;p35"/>
          <p:cNvSpPr txBox="1"/>
          <p:nvPr/>
        </p:nvSpPr>
        <p:spPr>
          <a:xfrm>
            <a:off x="457200" y="1540000"/>
            <a:ext cx="3000000" cy="300000"/>
          </a:xfrm>
          <a:prstGeom prst="rect">
            <a:avLst/>
          </a:prstGeom>
          <a:noFill/>
          <a:ln>
            <a:noFill/>
          </a:ln>
        </p:spPr>
        <p:txBody>
          <a:bodyPr anchorCtr="0" anchor="ctr" bIns="0" lIns="72000" spcFirstLastPara="1" rIns="72000" wrap="square" tIns="0">
            <a:normAutofit/>
          </a:bodyPr>
          <a:lstStyle/>
          <a:p>
            <a:pPr indent="0" lvl="0" marL="0" marR="0" rtl="0" algn="l">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Engineer · platform</a:t>
            </a:r>
            <a:endParaRPr/>
          </a:p>
        </p:txBody>
      </p:sp>
      <p:sp>
        <p:nvSpPr>
          <p:cNvPr id="397" name="Google Shape;397;p35"/>
          <p:cNvSpPr txBox="1"/>
          <p:nvPr/>
        </p:nvSpPr>
        <p:spPr>
          <a:xfrm>
            <a:off x="3457200" y="1540000"/>
            <a:ext cx="2789100" cy="30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Oct 2026</a:t>
            </a:r>
            <a:endParaRPr/>
          </a:p>
        </p:txBody>
      </p:sp>
      <p:sp>
        <p:nvSpPr>
          <p:cNvPr id="398" name="Google Shape;398;p35"/>
          <p:cNvSpPr txBox="1"/>
          <p:nvPr/>
        </p:nvSpPr>
        <p:spPr>
          <a:xfrm>
            <a:off x="6246391" y="1540000"/>
            <a:ext cx="2699100" cy="30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Nov 2026</a:t>
            </a:r>
            <a:endParaRPr/>
          </a:p>
        </p:txBody>
      </p:sp>
      <p:sp>
        <p:nvSpPr>
          <p:cNvPr id="399" name="Google Shape;399;p35"/>
          <p:cNvSpPr txBox="1"/>
          <p:nvPr/>
        </p:nvSpPr>
        <p:spPr>
          <a:xfrm>
            <a:off x="8945609" y="1540000"/>
            <a:ext cx="2789100" cy="3000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Dec 2026</a:t>
            </a:r>
            <a:endParaRPr/>
          </a:p>
        </p:txBody>
      </p:sp>
      <p:sp>
        <p:nvSpPr>
          <p:cNvPr id="400" name="Google Shape;400;p35"/>
          <p:cNvSpPr txBox="1"/>
          <p:nvPr/>
        </p:nvSpPr>
        <p:spPr>
          <a:xfrm>
            <a:off x="457200" y="2750000"/>
            <a:ext cx="60000" cy="360000"/>
          </a:xfrm>
          <a:prstGeom prst="rect">
            <a:avLst/>
          </a:prstGeom>
          <a:solidFill>
            <a:srgbClr val="1867DC"/>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01" name="Google Shape;401;p35"/>
          <p:cNvSpPr txBox="1"/>
          <p:nvPr/>
        </p:nvSpPr>
        <p:spPr>
          <a:xfrm>
            <a:off x="597200" y="2580000"/>
            <a:ext cx="2859900" cy="699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150"/>
              <a:buFont typeface="Barlow"/>
              <a:buNone/>
            </a:pPr>
            <a:r>
              <a:rPr b="1" lang="en-US" sz="1150">
                <a:solidFill>
                  <a:srgbClr val="0B2F5B"/>
                </a:solidFill>
                <a:latin typeface="Barlow"/>
                <a:ea typeface="Barlow"/>
                <a:cs typeface="Barlow"/>
                <a:sym typeface="Barlow"/>
              </a:rPr>
              <a:t>Jinhee Kim</a:t>
            </a:r>
            <a:endParaRPr/>
          </a:p>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Senior iOS Engineer </a:t>
            </a:r>
            <a:endParaRPr/>
          </a:p>
        </p:txBody>
      </p:sp>
      <p:sp>
        <p:nvSpPr>
          <p:cNvPr id="402" name="Google Shape;402;p35"/>
          <p:cNvSpPr/>
          <p:nvPr/>
        </p:nvSpPr>
        <p:spPr>
          <a:xfrm>
            <a:off x="4446913" y="2750000"/>
            <a:ext cx="7287900" cy="360000"/>
          </a:xfrm>
          <a:prstGeom prst="roundRect">
            <a:avLst>
              <a:gd fmla="val 15000" name="adj"/>
            </a:avLst>
          </a:prstGeom>
          <a:solidFill>
            <a:srgbClr val="1867DC"/>
          </a:solidFill>
          <a:ln>
            <a:noFill/>
          </a:ln>
        </p:spPr>
        <p:txBody>
          <a:bodyPr anchorCtr="0" anchor="ctr" bIns="0" lIns="120000" spcFirstLastPara="1" rIns="12000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12 Oct 2026  →  31 Dec 2026</a:t>
            </a:r>
            <a:endParaRPr/>
          </a:p>
        </p:txBody>
      </p:sp>
      <p:sp>
        <p:nvSpPr>
          <p:cNvPr id="403" name="Google Shape;403;p35"/>
          <p:cNvSpPr txBox="1"/>
          <p:nvPr/>
        </p:nvSpPr>
        <p:spPr>
          <a:xfrm>
            <a:off x="457200" y="2050000"/>
            <a:ext cx="60000" cy="360000"/>
          </a:xfrm>
          <a:prstGeom prst="rect">
            <a:avLst/>
          </a:prstGeom>
          <a:solidFill>
            <a:srgbClr val="1867DC"/>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04" name="Google Shape;404;p35"/>
          <p:cNvSpPr txBox="1"/>
          <p:nvPr/>
        </p:nvSpPr>
        <p:spPr>
          <a:xfrm>
            <a:off x="597200" y="1880000"/>
            <a:ext cx="2859900" cy="699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150"/>
              <a:buFont typeface="Barlow"/>
              <a:buNone/>
            </a:pPr>
            <a:r>
              <a:rPr b="1" lang="en-US" sz="1150">
                <a:solidFill>
                  <a:srgbClr val="0B2F5B"/>
                </a:solidFill>
                <a:latin typeface="Barlow"/>
                <a:ea typeface="Barlow"/>
                <a:cs typeface="Barlow"/>
                <a:sym typeface="Barlow"/>
              </a:rPr>
              <a:t>Young-jun Lee</a:t>
            </a:r>
            <a:endParaRPr/>
          </a:p>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Senior iOS Engineer – </a:t>
            </a:r>
            <a:r>
              <a:rPr b="1" lang="en-US" sz="950">
                <a:solidFill>
                  <a:srgbClr val="5A6472"/>
                </a:solidFill>
                <a:latin typeface="Barlow"/>
                <a:ea typeface="Barlow"/>
                <a:cs typeface="Barlow"/>
                <a:sym typeface="Barlow"/>
              </a:rPr>
              <a:t>Team Lead</a:t>
            </a:r>
            <a:endParaRPr/>
          </a:p>
        </p:txBody>
      </p:sp>
      <p:sp>
        <p:nvSpPr>
          <p:cNvPr id="405" name="Google Shape;405;p35"/>
          <p:cNvSpPr/>
          <p:nvPr/>
        </p:nvSpPr>
        <p:spPr>
          <a:xfrm>
            <a:off x="4446913" y="2050000"/>
            <a:ext cx="7287900" cy="360000"/>
          </a:xfrm>
          <a:prstGeom prst="roundRect">
            <a:avLst>
              <a:gd fmla="val 15000" name="adj"/>
            </a:avLst>
          </a:prstGeom>
          <a:solidFill>
            <a:srgbClr val="1867DC"/>
          </a:solidFill>
          <a:ln>
            <a:noFill/>
          </a:ln>
        </p:spPr>
        <p:txBody>
          <a:bodyPr anchorCtr="0" anchor="ctr" bIns="0" lIns="120000" spcFirstLastPara="1" rIns="12000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12 Oct 2026  →  31 Dec 2026</a:t>
            </a:r>
            <a:endParaRPr/>
          </a:p>
        </p:txBody>
      </p:sp>
      <p:sp>
        <p:nvSpPr>
          <p:cNvPr id="406" name="Google Shape;406;p35"/>
          <p:cNvSpPr txBox="1"/>
          <p:nvPr/>
        </p:nvSpPr>
        <p:spPr>
          <a:xfrm>
            <a:off x="457200" y="3450000"/>
            <a:ext cx="60000" cy="360000"/>
          </a:xfrm>
          <a:prstGeom prst="rect">
            <a:avLst/>
          </a:prstGeom>
          <a:solidFill>
            <a:srgbClr val="0B2F5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07" name="Google Shape;407;p35"/>
          <p:cNvSpPr txBox="1"/>
          <p:nvPr/>
        </p:nvSpPr>
        <p:spPr>
          <a:xfrm>
            <a:off x="597200" y="3280000"/>
            <a:ext cx="2859900" cy="699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150"/>
              <a:buFont typeface="Barlow"/>
              <a:buNone/>
            </a:pPr>
            <a:r>
              <a:rPr b="1" lang="en-US" sz="1150">
                <a:solidFill>
                  <a:srgbClr val="0B2F5B"/>
                </a:solidFill>
                <a:latin typeface="Barlow"/>
                <a:ea typeface="Barlow"/>
                <a:cs typeface="Barlow"/>
                <a:sym typeface="Barlow"/>
              </a:rPr>
              <a:t>Jaehyun Ahn</a:t>
            </a:r>
            <a:endParaRPr/>
          </a:p>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Senior Android Engineer</a:t>
            </a:r>
            <a:endParaRPr/>
          </a:p>
        </p:txBody>
      </p:sp>
      <p:sp>
        <p:nvSpPr>
          <p:cNvPr id="408" name="Google Shape;408;p35"/>
          <p:cNvSpPr/>
          <p:nvPr/>
        </p:nvSpPr>
        <p:spPr>
          <a:xfrm>
            <a:off x="4446913" y="3450000"/>
            <a:ext cx="7287900" cy="360000"/>
          </a:xfrm>
          <a:prstGeom prst="roundRect">
            <a:avLst>
              <a:gd fmla="val 15000" name="adj"/>
            </a:avLst>
          </a:prstGeom>
          <a:solidFill>
            <a:srgbClr val="0B2F5B"/>
          </a:solidFill>
          <a:ln>
            <a:noFill/>
          </a:ln>
        </p:spPr>
        <p:txBody>
          <a:bodyPr anchorCtr="0" anchor="ctr" bIns="0" lIns="120000" spcFirstLastPara="1" rIns="12000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12 Oct 2026  →  31 Dec 2026</a:t>
            </a:r>
            <a:endParaRPr/>
          </a:p>
        </p:txBody>
      </p:sp>
      <p:sp>
        <p:nvSpPr>
          <p:cNvPr id="409" name="Google Shape;409;p35"/>
          <p:cNvSpPr txBox="1"/>
          <p:nvPr/>
        </p:nvSpPr>
        <p:spPr>
          <a:xfrm>
            <a:off x="457200" y="4150000"/>
            <a:ext cx="60000" cy="360000"/>
          </a:xfrm>
          <a:prstGeom prst="rect">
            <a:avLst/>
          </a:prstGeom>
          <a:solidFill>
            <a:srgbClr val="0B2F5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10" name="Google Shape;410;p35"/>
          <p:cNvSpPr txBox="1"/>
          <p:nvPr/>
        </p:nvSpPr>
        <p:spPr>
          <a:xfrm>
            <a:off x="597200" y="3980000"/>
            <a:ext cx="2859900" cy="6999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150"/>
              <a:buFont typeface="Barlow"/>
              <a:buNone/>
            </a:pPr>
            <a:r>
              <a:rPr b="1" lang="en-US" sz="1150">
                <a:solidFill>
                  <a:srgbClr val="0B2F5B"/>
                </a:solidFill>
                <a:latin typeface="Barlow"/>
                <a:ea typeface="Barlow"/>
                <a:cs typeface="Barlow"/>
                <a:sym typeface="Barlow"/>
              </a:rPr>
              <a:t>JiYoung Lim</a:t>
            </a:r>
            <a:endParaRPr/>
          </a:p>
          <a:p>
            <a:pPr indent="0" lvl="0" marL="0" marR="0" rtl="0" algn="l">
              <a:spcBef>
                <a:spcPts val="0"/>
              </a:spcBef>
              <a:spcAft>
                <a:spcPts val="0"/>
              </a:spcAft>
              <a:buClr>
                <a:srgbClr val="0B2F5B"/>
              </a:buClr>
              <a:buSzPts val="1000"/>
              <a:buFont typeface="Barlow"/>
              <a:buNone/>
            </a:pPr>
            <a:r>
              <a:rPr b="0" lang="en-US" sz="1000">
                <a:solidFill>
                  <a:srgbClr val="0B2F5B"/>
                </a:solidFill>
                <a:latin typeface="Barlow"/>
                <a:ea typeface="Barlow"/>
                <a:cs typeface="Barlow"/>
                <a:sym typeface="Barlow"/>
              </a:rPr>
              <a:t>Mid-Senio</a:t>
            </a:r>
            <a:r>
              <a:rPr b="0" lang="en-US" sz="950">
                <a:solidFill>
                  <a:srgbClr val="5A6472"/>
                </a:solidFill>
                <a:latin typeface="Barlow"/>
                <a:ea typeface="Barlow"/>
                <a:cs typeface="Barlow"/>
                <a:sym typeface="Barlow"/>
              </a:rPr>
              <a:t>r </a:t>
            </a:r>
            <a:r>
              <a:rPr lang="en-US" sz="950">
                <a:solidFill>
                  <a:srgbClr val="5A6472"/>
                </a:solidFill>
                <a:latin typeface="Barlow"/>
                <a:ea typeface="Barlow"/>
                <a:cs typeface="Barlow"/>
                <a:sym typeface="Barlow"/>
              </a:rPr>
              <a:t>Android Engineer</a:t>
            </a:r>
            <a:endParaRPr/>
          </a:p>
        </p:txBody>
      </p:sp>
      <p:sp>
        <p:nvSpPr>
          <p:cNvPr id="411" name="Google Shape;411;p35"/>
          <p:cNvSpPr/>
          <p:nvPr/>
        </p:nvSpPr>
        <p:spPr>
          <a:xfrm>
            <a:off x="6336365" y="4150000"/>
            <a:ext cx="5398500" cy="360000"/>
          </a:xfrm>
          <a:prstGeom prst="roundRect">
            <a:avLst>
              <a:gd fmla="val 15000" name="adj"/>
            </a:avLst>
          </a:prstGeom>
          <a:solidFill>
            <a:srgbClr val="0B2F5B"/>
          </a:solidFill>
          <a:ln>
            <a:noFill/>
          </a:ln>
        </p:spPr>
        <p:txBody>
          <a:bodyPr anchorCtr="0" anchor="ctr" bIns="0" lIns="120000" spcFirstLastPara="1" rIns="12000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2 Nov 2026  →  31 Dec 2026</a:t>
            </a:r>
            <a:endParaRPr/>
          </a:p>
        </p:txBody>
      </p:sp>
      <p:sp>
        <p:nvSpPr>
          <p:cNvPr id="412" name="Google Shape;412;p35"/>
          <p:cNvSpPr txBox="1"/>
          <p:nvPr/>
        </p:nvSpPr>
        <p:spPr>
          <a:xfrm>
            <a:off x="457200" y="4720000"/>
            <a:ext cx="3000000" cy="380100"/>
          </a:xfrm>
          <a:prstGeom prst="rect">
            <a:avLst/>
          </a:prstGeom>
          <a:noFill/>
          <a:ln>
            <a:noFill/>
          </a:ln>
        </p:spPr>
        <p:txBody>
          <a:bodyPr anchorCtr="0" anchor="ctr" bIns="0" lIns="140000" spcFirstLastPara="1" rIns="140000" wrap="square" tIns="0">
            <a:normAutofit/>
          </a:bodyPr>
          <a:lstStyle/>
          <a:p>
            <a:pPr indent="0" lvl="0" marL="0" marR="0" rtl="0" algn="l">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Onsite headcount</a:t>
            </a:r>
            <a:endParaRPr/>
          </a:p>
        </p:txBody>
      </p:sp>
      <p:sp>
        <p:nvSpPr>
          <p:cNvPr id="413" name="Google Shape;413;p35"/>
          <p:cNvSpPr txBox="1"/>
          <p:nvPr/>
        </p:nvSpPr>
        <p:spPr>
          <a:xfrm>
            <a:off x="3457200" y="4720000"/>
            <a:ext cx="2789100" cy="380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3 HC (from 12 Oct)</a:t>
            </a:r>
            <a:endParaRPr/>
          </a:p>
        </p:txBody>
      </p:sp>
      <p:sp>
        <p:nvSpPr>
          <p:cNvPr id="414" name="Google Shape;414;p35"/>
          <p:cNvSpPr txBox="1"/>
          <p:nvPr/>
        </p:nvSpPr>
        <p:spPr>
          <a:xfrm>
            <a:off x="6246391" y="4720000"/>
            <a:ext cx="2699100" cy="380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4 HC</a:t>
            </a:r>
            <a:endParaRPr/>
          </a:p>
        </p:txBody>
      </p:sp>
      <p:sp>
        <p:nvSpPr>
          <p:cNvPr id="415" name="Google Shape;415;p35"/>
          <p:cNvSpPr txBox="1"/>
          <p:nvPr/>
        </p:nvSpPr>
        <p:spPr>
          <a:xfrm>
            <a:off x="8945609" y="4720000"/>
            <a:ext cx="2789100" cy="380100"/>
          </a:xfrm>
          <a:prstGeom prst="rect">
            <a:avLst/>
          </a:prstGeom>
          <a:noFill/>
          <a:ln>
            <a:noFill/>
          </a:ln>
        </p:spPr>
        <p:txBody>
          <a:bodyPr anchorCtr="0" anchor="ctr" bIns="0" lIns="0" spcFirstLastPara="1" rIns="0" wrap="square" tIns="0">
            <a:normAutofit/>
          </a:bodyPr>
          <a:lstStyle/>
          <a:p>
            <a:pPr indent="0" lvl="0" marL="0" marR="0" rtl="0" algn="ctr">
              <a:spcBef>
                <a:spcPts val="0"/>
              </a:spcBef>
              <a:spcAft>
                <a:spcPts val="0"/>
              </a:spcAft>
              <a:buClr>
                <a:srgbClr val="0B2F5B"/>
              </a:buClr>
              <a:buSzPts val="1100"/>
              <a:buFont typeface="Barlow"/>
              <a:buNone/>
            </a:pPr>
            <a:r>
              <a:rPr b="1" lang="en-US" sz="1100">
                <a:solidFill>
                  <a:srgbClr val="0B2F5B"/>
                </a:solidFill>
                <a:latin typeface="Barlow"/>
                <a:ea typeface="Barlow"/>
                <a:cs typeface="Barlow"/>
                <a:sym typeface="Barlow"/>
              </a:rPr>
              <a:t>4 HC</a:t>
            </a:r>
            <a:endParaRPr/>
          </a:p>
        </p:txBody>
      </p:sp>
      <p:sp>
        <p:nvSpPr>
          <p:cNvPr id="416" name="Google Shape;416;p35"/>
          <p:cNvSpPr txBox="1"/>
          <p:nvPr/>
        </p:nvSpPr>
        <p:spPr>
          <a:xfrm>
            <a:off x="457200" y="5330000"/>
            <a:ext cx="120000" cy="120000"/>
          </a:xfrm>
          <a:prstGeom prst="rect">
            <a:avLst/>
          </a:prstGeom>
          <a:solidFill>
            <a:srgbClr val="1867DC"/>
          </a:solidFill>
          <a:ln>
            <a:noFill/>
          </a:ln>
        </p:spPr>
        <p:txBody>
          <a:bodyPr anchorCtr="0" anchor="ctr" bIns="0" lIns="0" spcFirstLastPara="1" rIns="0" wrap="square" tIns="0">
            <a:normAutofit lnSpcReduction="10000"/>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17" name="Google Shape;417;p35"/>
          <p:cNvSpPr txBox="1"/>
          <p:nvPr/>
        </p:nvSpPr>
        <p:spPr>
          <a:xfrm>
            <a:off x="637200" y="5300000"/>
            <a:ext cx="1400100" cy="18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iOS Engineer</a:t>
            </a:r>
            <a:endParaRPr/>
          </a:p>
        </p:txBody>
      </p:sp>
      <p:sp>
        <p:nvSpPr>
          <p:cNvPr id="418" name="Google Shape;418;p35"/>
          <p:cNvSpPr txBox="1"/>
          <p:nvPr/>
        </p:nvSpPr>
        <p:spPr>
          <a:xfrm>
            <a:off x="2157200" y="5330000"/>
            <a:ext cx="120000" cy="120000"/>
          </a:xfrm>
          <a:prstGeom prst="rect">
            <a:avLst/>
          </a:prstGeom>
          <a:solidFill>
            <a:srgbClr val="0B2F5B"/>
          </a:solidFill>
          <a:ln>
            <a:noFill/>
          </a:ln>
        </p:spPr>
        <p:txBody>
          <a:bodyPr anchorCtr="0" anchor="ctr" bIns="0" lIns="0" spcFirstLastPara="1" rIns="0" wrap="square" tIns="0">
            <a:normAutofit lnSpcReduction="10000"/>
          </a:bodyPr>
          <a:lstStyle/>
          <a:p>
            <a:pPr indent="0" lvl="0" marL="0" marR="0" rtl="0" algn="l">
              <a:spcBef>
                <a:spcPts val="0"/>
              </a:spcBef>
              <a:spcAft>
                <a:spcPts val="0"/>
              </a:spcAft>
              <a:buClr>
                <a:schemeClr val="dk1"/>
              </a:buClr>
              <a:buSzPts val="800"/>
              <a:buFont typeface="Calibri"/>
              <a:buNone/>
            </a:pPr>
            <a:r>
              <a:t/>
            </a:r>
            <a:endParaRPr sz="800">
              <a:solidFill>
                <a:schemeClr val="dk1"/>
              </a:solidFill>
              <a:latin typeface="Calibri"/>
              <a:ea typeface="Calibri"/>
              <a:cs typeface="Calibri"/>
              <a:sym typeface="Calibri"/>
            </a:endParaRPr>
          </a:p>
        </p:txBody>
      </p:sp>
      <p:sp>
        <p:nvSpPr>
          <p:cNvPr id="419" name="Google Shape;419;p35"/>
          <p:cNvSpPr txBox="1"/>
          <p:nvPr/>
        </p:nvSpPr>
        <p:spPr>
          <a:xfrm>
            <a:off x="2337200" y="5300000"/>
            <a:ext cx="1400100" cy="18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Android Engineer</a:t>
            </a:r>
            <a:endParaRPr/>
          </a:p>
        </p:txBody>
      </p:sp>
      <p:sp>
        <p:nvSpPr>
          <p:cNvPr id="420" name="Google Shape;420;p35"/>
          <p:cNvSpPr txBox="1"/>
          <p:nvPr/>
        </p:nvSpPr>
        <p:spPr>
          <a:xfrm>
            <a:off x="3857200" y="5300000"/>
            <a:ext cx="3999900" cy="1800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5A6472"/>
              </a:buClr>
              <a:buSzPts val="950"/>
              <a:buFont typeface="Barlow"/>
              <a:buNone/>
            </a:pPr>
            <a:r>
              <a:rPr lang="en-US" sz="950">
                <a:solidFill>
                  <a:srgbClr val="5A6472"/>
                </a:solidFill>
                <a:latin typeface="Barlow"/>
                <a:ea typeface="Barlow"/>
                <a:cs typeface="Barlow"/>
                <a:sym typeface="Barlow"/>
              </a:rPr>
              <a:t>Dashed line = onboarding wave start date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24" name="Shape 424"/>
        <p:cNvGrpSpPr/>
        <p:nvPr/>
      </p:nvGrpSpPr>
      <p:grpSpPr>
        <a:xfrm>
          <a:off x="0" y="0"/>
          <a:ext cx="0" cy="0"/>
          <a:chOff x="0" y="0"/>
          <a:chExt cx="0" cy="0"/>
        </a:xfrm>
      </p:grpSpPr>
      <p:sp>
        <p:nvSpPr>
          <p:cNvPr id="425" name="Google Shape;425;p36"/>
          <p:cNvSpPr txBox="1"/>
          <p:nvPr/>
        </p:nvSpPr>
        <p:spPr>
          <a:xfrm>
            <a:off x="457200" y="323698"/>
            <a:ext cx="9000000" cy="133500"/>
          </a:xfrm>
          <a:prstGeom prst="rect">
            <a:avLst/>
          </a:prstGeom>
          <a:noFill/>
          <a:ln>
            <a:noFill/>
          </a:ln>
        </p:spPr>
        <p:txBody>
          <a:bodyPr anchorCtr="0" anchor="ctr" bIns="0" lIns="0" spcFirstLastPara="1" rIns="0" wrap="square" tIns="0">
            <a:normAutofit lnSpcReduction="20000"/>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07 · 인력 제안 · 개발자 상세 정보 (1/2)</a:t>
            </a:r>
            <a:endParaRPr/>
          </a:p>
        </p:txBody>
      </p:sp>
      <p:sp>
        <p:nvSpPr>
          <p:cNvPr id="426" name="Google Shape;426;p36"/>
          <p:cNvSpPr txBox="1"/>
          <p:nvPr/>
        </p:nvSpPr>
        <p:spPr>
          <a:xfrm>
            <a:off x="457200" y="590702"/>
            <a:ext cx="11277600" cy="286200"/>
          </a:xfrm>
          <a:prstGeom prst="rect">
            <a:avLst/>
          </a:prstGeom>
          <a:noFill/>
          <a:ln>
            <a:noFill/>
          </a:ln>
        </p:spPr>
        <p:txBody>
          <a:bodyPr anchorCtr="0" anchor="ctr" bIns="0" lIns="0" spcFirstLastPara="1" rIns="0" wrap="square" tIns="0">
            <a:normAutofit lnSpcReduction="10000"/>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개발자 상세 정보: iOS 2명, Android 2명, iOS Tech Lead가 총괄</a:t>
            </a:r>
            <a:endParaRPr/>
          </a:p>
        </p:txBody>
      </p:sp>
      <p:sp>
        <p:nvSpPr>
          <p:cNvPr id="427" name="Google Shape;427;p36"/>
          <p:cNvSpPr txBox="1"/>
          <p:nvPr/>
        </p:nvSpPr>
        <p:spPr>
          <a:xfrm>
            <a:off x="457200" y="1050000"/>
            <a:ext cx="11277600" cy="17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050"/>
              <a:buFont typeface="Montserrat"/>
              <a:buNone/>
            </a:pPr>
            <a:r>
              <a:rPr b="1" lang="en-US" sz="1050">
                <a:solidFill>
                  <a:srgbClr val="0B2F5B"/>
                </a:solidFill>
                <a:latin typeface="Montserrat"/>
                <a:ea typeface="Montserrat"/>
                <a:cs typeface="Montserrat"/>
                <a:sym typeface="Montserrat"/>
              </a:rPr>
              <a:t>개발자 상세 정보, 플랫폼 및 보유 기술 수준 (첨부 A, 2026년 10월 2일 기준)</a:t>
            </a:r>
            <a:endParaRPr/>
          </a:p>
        </p:txBody>
      </p:sp>
      <p:graphicFrame>
        <p:nvGraphicFramePr>
          <p:cNvPr id="428" name="Google Shape;428;p36"/>
          <p:cNvGraphicFramePr/>
          <p:nvPr/>
        </p:nvGraphicFramePr>
        <p:xfrm>
          <a:off x="457200" y="1280000"/>
          <a:ext cx="3000000" cy="3000000"/>
        </p:xfrm>
        <a:graphic>
          <a:graphicData uri="http://schemas.openxmlformats.org/drawingml/2006/table">
            <a:tbl>
              <a:tblPr>
                <a:noFill/>
                <a:tableStyleId>{81E3FC77-955F-43EE-AE7F-ED60C7898631}</a:tableStyleId>
              </a:tblPr>
              <a:tblGrid>
                <a:gridCol w="2000000"/>
                <a:gridCol w="2319400"/>
                <a:gridCol w="2319400"/>
                <a:gridCol w="2319400"/>
                <a:gridCol w="2319400"/>
              </a:tblGrid>
              <a:tr h="300000">
                <a:tc>
                  <a:txBody>
                    <a:bodyPr/>
                    <a:lstStyle/>
                    <a:p>
                      <a:pPr indent="0" lvl="0" marL="0" marR="0" rtl="0" algn="l">
                        <a:spcBef>
                          <a:spcPts val="0"/>
                        </a:spcBef>
                        <a:spcAft>
                          <a:spcPts val="0"/>
                        </a:spcAft>
                        <a:buNone/>
                      </a:pPr>
                      <a:r>
                        <a:rPr b="1" lang="en-US" sz="1100">
                          <a:solidFill>
                            <a:srgbClr val="0B2F5B"/>
                          </a:solidFill>
                          <a:latin typeface="Barlow"/>
                          <a:ea typeface="Barlow"/>
                          <a:cs typeface="Barlow"/>
                          <a:sym typeface="Barlow"/>
                        </a:rPr>
                        <a:t>항목</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Young-jun Lee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Jinhee Kim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Jaehyun Ahn</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100" u="none" cap="none" strike="noStrike">
                          <a:solidFill>
                            <a:srgbClr val="0B2F5B"/>
                          </a:solidFill>
                          <a:latin typeface="Barlow"/>
                          <a:ea typeface="Barlow"/>
                          <a:cs typeface="Barlow"/>
                          <a:sym typeface="Barlow"/>
                        </a:rPr>
                        <a:t>JiYoung Lim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a:solidFill>
                            <a:srgbClr val="0B2F5B"/>
                          </a:solidFill>
                          <a:latin typeface="Barlow"/>
                          <a:ea typeface="Barlow"/>
                          <a:cs typeface="Barlow"/>
                          <a:sym typeface="Barlow"/>
                        </a:rPr>
                        <a:t>이름</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이영준</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김진희</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안재현</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Laura Lim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a:solidFill>
                            <a:srgbClr val="0B2F5B"/>
                          </a:solidFill>
                          <a:latin typeface="Barlow"/>
                          <a:ea typeface="Barlow"/>
                          <a:cs typeface="Barlow"/>
                          <a:sym typeface="Barlow"/>
                        </a:rPr>
                        <a:t>플랫폼</a:t>
                      </a:r>
                      <a:r>
                        <a:rPr b="1" lang="en-US" sz="1000" u="none" cap="none" strike="noStrike">
                          <a:solidFill>
                            <a:srgbClr val="0B2F5B"/>
                          </a:solidFill>
                          <a:latin typeface="Barlow"/>
                          <a:ea typeface="Barlow"/>
                          <a:cs typeface="Barlow"/>
                          <a:sym typeface="Barlow"/>
                        </a:rPr>
                        <a:t> / </a:t>
                      </a:r>
                      <a:r>
                        <a:rPr b="1" lang="en-US" sz="1000">
                          <a:solidFill>
                            <a:srgbClr val="0B2F5B"/>
                          </a:solidFill>
                          <a:latin typeface="Barlow"/>
                          <a:ea typeface="Barlow"/>
                          <a:cs typeface="Barlow"/>
                          <a:sym typeface="Barlow"/>
                        </a:rPr>
                        <a:t>역할</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시니어</a:t>
                      </a:r>
                      <a:r>
                        <a:rPr lang="en-US" sz="1000" u="none" cap="none" strike="noStrike">
                          <a:solidFill>
                            <a:srgbClr val="5A6472"/>
                          </a:solidFill>
                          <a:latin typeface="Barlow"/>
                          <a:ea typeface="Barlow"/>
                          <a:cs typeface="Barlow"/>
                          <a:sym typeface="Barlow"/>
                        </a:rPr>
                        <a:t> iOS </a:t>
                      </a:r>
                      <a:r>
                        <a:rPr lang="en-US" sz="1000">
                          <a:solidFill>
                            <a:srgbClr val="5A6472"/>
                          </a:solidFill>
                          <a:latin typeface="Barlow"/>
                          <a:ea typeface="Barlow"/>
                          <a:cs typeface="Barlow"/>
                          <a:sym typeface="Barlow"/>
                        </a:rPr>
                        <a:t>개발자</a:t>
                      </a:r>
                      <a:r>
                        <a:rPr lang="en-US" sz="1000" u="none" cap="none" strike="noStrike">
                          <a:solidFill>
                            <a:srgbClr val="5A6472"/>
                          </a:solidFill>
                          <a:latin typeface="Barlow"/>
                          <a:ea typeface="Barlow"/>
                          <a:cs typeface="Barlow"/>
                          <a:sym typeface="Barlow"/>
                        </a:rPr>
                        <a:t> · Mobile Tech Lead </a:t>
                      </a:r>
                      <a:r>
                        <a:rPr lang="en-US" sz="1000">
                          <a:solidFill>
                            <a:srgbClr val="5A6472"/>
                          </a:solidFill>
                          <a:latin typeface="Barlow"/>
                          <a:ea typeface="Barlow"/>
                          <a:cs typeface="Barlow"/>
                          <a:sym typeface="Barlow"/>
                        </a:rPr>
                        <a:t>제안</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시니어</a:t>
                      </a:r>
                      <a:r>
                        <a:rPr lang="en-US" sz="1000" u="none" cap="none" strike="noStrike">
                          <a:solidFill>
                            <a:srgbClr val="5A6472"/>
                          </a:solidFill>
                          <a:latin typeface="Barlow"/>
                          <a:ea typeface="Barlow"/>
                          <a:cs typeface="Barlow"/>
                          <a:sym typeface="Barlow"/>
                        </a:rPr>
                        <a:t> iOS </a:t>
                      </a:r>
                      <a:r>
                        <a:rPr lang="en-US" sz="1000">
                          <a:solidFill>
                            <a:srgbClr val="5A6472"/>
                          </a:solidFill>
                          <a:latin typeface="Barlow"/>
                          <a:ea typeface="Barlow"/>
                          <a:cs typeface="Barlow"/>
                          <a:sym typeface="Barlow"/>
                        </a:rPr>
                        <a:t>개발자</a:t>
                      </a:r>
                      <a:r>
                        <a:rPr lang="en-US" sz="1000" u="none" cap="none" strike="noStrike">
                          <a:solidFill>
                            <a:srgbClr val="5A6472"/>
                          </a:solidFill>
                          <a:latin typeface="Barlow"/>
                          <a:ea typeface="Barlow"/>
                          <a:cs typeface="Barlow"/>
                          <a:sym typeface="Barlow"/>
                        </a:rPr>
                        <a:t> · </a:t>
                      </a:r>
                      <a:r>
                        <a:rPr lang="en-US" sz="1000">
                          <a:solidFill>
                            <a:srgbClr val="5A6472"/>
                          </a:solidFill>
                          <a:latin typeface="Barlow"/>
                          <a:ea typeface="Barlow"/>
                          <a:cs typeface="Barlow"/>
                          <a:sym typeface="Barlow"/>
                        </a:rPr>
                        <a:t>설비 연결</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데이터 유지</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시니어</a:t>
                      </a:r>
                      <a:r>
                        <a:rPr lang="en-US" sz="1000" u="none" cap="none" strike="noStrike">
                          <a:solidFill>
                            <a:srgbClr val="5A6472"/>
                          </a:solidFill>
                          <a:latin typeface="Barlow"/>
                          <a:ea typeface="Barlow"/>
                          <a:cs typeface="Barlow"/>
                          <a:sym typeface="Barlow"/>
                        </a:rPr>
                        <a:t> Android </a:t>
                      </a:r>
                      <a:r>
                        <a:rPr lang="en-US" sz="1000">
                          <a:solidFill>
                            <a:srgbClr val="5A6472"/>
                          </a:solidFill>
                          <a:latin typeface="Barlow"/>
                          <a:ea typeface="Barlow"/>
                          <a:cs typeface="Barlow"/>
                          <a:sym typeface="Barlow"/>
                        </a:rPr>
                        <a:t>개발자</a:t>
                      </a:r>
                      <a:r>
                        <a:rPr lang="en-US" sz="1000" u="none" cap="none" strike="noStrike">
                          <a:solidFill>
                            <a:srgbClr val="5A6472"/>
                          </a:solidFill>
                          <a:latin typeface="Barlow"/>
                          <a:ea typeface="Barlow"/>
                          <a:cs typeface="Barlow"/>
                          <a:sym typeface="Barlow"/>
                        </a:rPr>
                        <a:t> · Kotlin, Compose, native UI</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미드</a:t>
                      </a:r>
                      <a:r>
                        <a:rPr lang="en-US" sz="1000" u="none" cap="none" strike="noStrike">
                          <a:solidFill>
                            <a:srgbClr val="5A6472"/>
                          </a:solidFill>
                          <a:latin typeface="Barlow"/>
                          <a:ea typeface="Barlow"/>
                          <a:cs typeface="Barlow"/>
                          <a:sym typeface="Barlow"/>
                        </a:rPr>
                        <a:t>-</a:t>
                      </a:r>
                      <a:r>
                        <a:rPr lang="en-US" sz="1000">
                          <a:solidFill>
                            <a:srgbClr val="5A6472"/>
                          </a:solidFill>
                          <a:latin typeface="Barlow"/>
                          <a:ea typeface="Barlow"/>
                          <a:cs typeface="Barlow"/>
                          <a:sym typeface="Barlow"/>
                        </a:rPr>
                        <a:t>시니어</a:t>
                      </a:r>
                      <a:r>
                        <a:rPr lang="en-US" sz="1000" u="none" cap="none" strike="noStrike">
                          <a:solidFill>
                            <a:srgbClr val="5A6472"/>
                          </a:solidFill>
                          <a:latin typeface="Barlow"/>
                          <a:ea typeface="Barlow"/>
                          <a:cs typeface="Barlow"/>
                          <a:sym typeface="Barlow"/>
                        </a:rPr>
                        <a:t> Android </a:t>
                      </a:r>
                      <a:r>
                        <a:rPr lang="en-US" sz="1000">
                          <a:solidFill>
                            <a:srgbClr val="5A6472"/>
                          </a:solidFill>
                          <a:latin typeface="Barlow"/>
                          <a:ea typeface="Barlow"/>
                          <a:cs typeface="Barlow"/>
                          <a:sym typeface="Barlow"/>
                        </a:rPr>
                        <a:t>개발자</a:t>
                      </a:r>
                      <a:r>
                        <a:rPr lang="en-US" sz="1000" u="none" cap="none" strike="noStrike">
                          <a:solidFill>
                            <a:srgbClr val="5A6472"/>
                          </a:solidFill>
                          <a:latin typeface="Barlow"/>
                          <a:ea typeface="Barlow"/>
                          <a:cs typeface="Barlow"/>
                          <a:sym typeface="Barlow"/>
                        </a:rPr>
                        <a:t> · </a:t>
                      </a:r>
                      <a:r>
                        <a:rPr lang="en-US" sz="1000">
                          <a:solidFill>
                            <a:srgbClr val="5A6472"/>
                          </a:solidFill>
                          <a:latin typeface="Barlow"/>
                          <a:ea typeface="Barlow"/>
                          <a:cs typeface="Barlow"/>
                          <a:sym typeface="Barlow"/>
                        </a:rPr>
                        <a:t>활성화</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장비</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연결</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a:solidFill>
                            <a:srgbClr val="0B2F5B"/>
                          </a:solidFill>
                          <a:latin typeface="Barlow"/>
                          <a:ea typeface="Barlow"/>
                          <a:cs typeface="Barlow"/>
                          <a:sym typeface="Barlow"/>
                        </a:rPr>
                        <a:t>Lead 제안</a:t>
                      </a:r>
                      <a:r>
                        <a:rPr b="1" lang="en-US" sz="1000" u="none" cap="none" strike="noStrike">
                          <a:solidFill>
                            <a:srgbClr val="0B2F5B"/>
                          </a:solidFill>
                          <a:latin typeface="Barlow"/>
                          <a:ea typeface="Barlow"/>
                          <a:cs typeface="Barlow"/>
                          <a:sym typeface="Barlow"/>
                        </a:rPr>
                        <a:t>?</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네</a:t>
                      </a:r>
                      <a:r>
                        <a:rPr lang="en-US" sz="1000" u="none" cap="none" strike="noStrike">
                          <a:solidFill>
                            <a:srgbClr val="5A6472"/>
                          </a:solidFill>
                          <a:latin typeface="Barlow"/>
                          <a:ea typeface="Barlow"/>
                          <a:cs typeface="Barlow"/>
                          <a:sym typeface="Barlow"/>
                        </a:rPr>
                        <a:t> · 4</a:t>
                      </a:r>
                      <a:r>
                        <a:rPr lang="en-US" sz="1000">
                          <a:solidFill>
                            <a:srgbClr val="5A6472"/>
                          </a:solidFill>
                          <a:latin typeface="Barlow"/>
                          <a:ea typeface="Barlow"/>
                          <a:cs typeface="Barlow"/>
                          <a:sym typeface="Barlow"/>
                        </a:rPr>
                        <a:t>인 팀의 </a:t>
                      </a:r>
                      <a:r>
                        <a:rPr lang="en-US" sz="1000" u="none" cap="none" strike="noStrike">
                          <a:solidFill>
                            <a:srgbClr val="5A6472"/>
                          </a:solidFill>
                          <a:latin typeface="Barlow"/>
                          <a:ea typeface="Barlow"/>
                          <a:cs typeface="Barlow"/>
                          <a:sym typeface="Barlow"/>
                        </a:rPr>
                        <a:t>Tech Lead</a:t>
                      </a:r>
                      <a:r>
                        <a:rPr lang="en-US" sz="1000">
                          <a:solidFill>
                            <a:srgbClr val="5A6472"/>
                          </a:solidFill>
                          <a:latin typeface="Barlow"/>
                          <a:ea typeface="Barlow"/>
                          <a:cs typeface="Barlow"/>
                          <a:sym typeface="Barlow"/>
                        </a:rPr>
                        <a:t> 역임</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아니오</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아니오</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아니오</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a:solidFill>
                            <a:srgbClr val="0B2F5B"/>
                          </a:solidFill>
                          <a:latin typeface="Barlow"/>
                          <a:ea typeface="Barlow"/>
                          <a:cs typeface="Barlow"/>
                          <a:sym typeface="Barlow"/>
                        </a:rPr>
                        <a:t>소속 및 고용 형태</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CMC Global</a:t>
                      </a:r>
                      <a:r>
                        <a:rPr lang="en-US" sz="1000">
                          <a:solidFill>
                            <a:srgbClr val="5A6472"/>
                          </a:solidFill>
                          <a:latin typeface="Barlow"/>
                          <a:ea typeface="Barlow"/>
                          <a:cs typeface="Barlow"/>
                          <a:sym typeface="Barlow"/>
                        </a:rPr>
                        <a:t>에서 직접 계약</a:t>
                      </a:r>
                      <a:r>
                        <a:rPr lang="en-US" sz="1000" u="none" cap="none" strike="noStrike">
                          <a:solidFill>
                            <a:srgbClr val="5A6472"/>
                          </a:solidFill>
                          <a:latin typeface="Barlow"/>
                          <a:ea typeface="Barlow"/>
                          <a:cs typeface="Barlow"/>
                          <a:sym typeface="Barlow"/>
                        </a:rPr>
                        <a:t>;</a:t>
                      </a:r>
                      <a:endParaRPr sz="1000" u="none" cap="none" strike="noStrike">
                        <a:solidFill>
                          <a:srgbClr val="5A6472"/>
                        </a:solidFill>
                        <a:latin typeface="Barlow"/>
                        <a:ea typeface="Barlow"/>
                        <a:cs typeface="Barlow"/>
                        <a:sym typeface="Barlow"/>
                      </a:endParaRPr>
                    </a:p>
                    <a:p>
                      <a:pPr indent="0" lvl="0" marL="0" marR="0" rtl="0" algn="l">
                        <a:spcBef>
                          <a:spcPts val="0"/>
                        </a:spcBef>
                        <a:spcAft>
                          <a:spcPts val="0"/>
                        </a:spcAft>
                        <a:buNone/>
                      </a:pPr>
                      <a:r>
                        <a:rPr lang="en-US" sz="1000">
                          <a:solidFill>
                            <a:srgbClr val="5A6472"/>
                          </a:solidFill>
                          <a:latin typeface="Barlow"/>
                          <a:ea typeface="Barlow"/>
                          <a:cs typeface="Barlow"/>
                          <a:sym typeface="Barlow"/>
                        </a:rPr>
                        <a:t>필요시 계약 연장</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Sotatek </a:t>
                      </a:r>
                      <a:r>
                        <a:rPr lang="en-US" sz="1000">
                          <a:solidFill>
                            <a:srgbClr val="5A6472"/>
                          </a:solidFill>
                          <a:latin typeface="Barlow"/>
                          <a:ea typeface="Barlow"/>
                          <a:cs typeface="Barlow"/>
                          <a:sym typeface="Barlow"/>
                        </a:rPr>
                        <a:t>정규직</a:t>
                      </a:r>
                      <a:r>
                        <a:rPr lang="en-US" sz="1000" u="none" cap="none" strike="noStrike">
                          <a:solidFill>
                            <a:srgbClr val="5A6472"/>
                          </a:solidFill>
                          <a:latin typeface="Barlow"/>
                          <a:ea typeface="Barlow"/>
                          <a:cs typeface="Barlow"/>
                          <a:sym typeface="Barlow"/>
                        </a:rPr>
                        <a:t> · CMC Global </a:t>
                      </a:r>
                      <a:r>
                        <a:rPr lang="en-US" sz="1000">
                          <a:solidFill>
                            <a:srgbClr val="5A6472"/>
                          </a:solidFill>
                          <a:latin typeface="Barlow"/>
                          <a:ea typeface="Barlow"/>
                          <a:cs typeface="Barlow"/>
                          <a:sym typeface="Barlow"/>
                        </a:rPr>
                        <a:t>협력사</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000">
                          <a:solidFill>
                            <a:srgbClr val="5A6472"/>
                          </a:solidFill>
                          <a:latin typeface="Barlow"/>
                          <a:ea typeface="Barlow"/>
                          <a:cs typeface="Barlow"/>
                          <a:sym typeface="Barlow"/>
                        </a:rPr>
                        <a:t>Sotatek 정규직 · CMC Global 협력사</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000">
                          <a:solidFill>
                            <a:srgbClr val="5A6472"/>
                          </a:solidFill>
                          <a:latin typeface="Barlow"/>
                          <a:ea typeface="Barlow"/>
                          <a:cs typeface="Barlow"/>
                          <a:sym typeface="Barlow"/>
                        </a:rPr>
                        <a:t>CMC Global에서 직접 계약;</a:t>
                      </a:r>
                      <a:endParaRPr sz="1000">
                        <a:solidFill>
                          <a:srgbClr val="5A6472"/>
                        </a:solidFill>
                        <a:latin typeface="Barlow"/>
                        <a:ea typeface="Barlow"/>
                        <a:cs typeface="Barlow"/>
                        <a:sym typeface="Barlow"/>
                      </a:endParaRPr>
                    </a:p>
                    <a:p>
                      <a:pPr indent="0" lvl="0" marL="0" rtl="0" algn="l">
                        <a:spcBef>
                          <a:spcPts val="0"/>
                        </a:spcBef>
                        <a:spcAft>
                          <a:spcPts val="0"/>
                        </a:spcAft>
                        <a:buClr>
                          <a:schemeClr val="dk1"/>
                        </a:buClr>
                        <a:buFont typeface="Arial"/>
                        <a:buNone/>
                      </a:pPr>
                      <a:r>
                        <a:rPr lang="en-US" sz="1000">
                          <a:solidFill>
                            <a:srgbClr val="5A6472"/>
                          </a:solidFill>
                          <a:latin typeface="Barlow"/>
                          <a:ea typeface="Barlow"/>
                          <a:cs typeface="Barlow"/>
                          <a:sym typeface="Barlow"/>
                        </a:rPr>
                        <a:t>필요시 계약 연장</a:t>
                      </a:r>
                      <a:endParaRPr sz="1000">
                        <a:solidFill>
                          <a:srgbClr val="5A6472"/>
                        </a:solidFill>
                        <a:latin typeface="Barlow"/>
                        <a:ea typeface="Barlow"/>
                        <a:cs typeface="Barlow"/>
                        <a:sym typeface="Barlow"/>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a:solidFill>
                            <a:srgbClr val="0B2F5B"/>
                          </a:solidFill>
                          <a:latin typeface="Barlow"/>
                          <a:ea typeface="Barlow"/>
                          <a:cs typeface="Barlow"/>
                          <a:sym typeface="Barlow"/>
                        </a:rPr>
                        <a:t>근속 연수</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해당 없음</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000">
                          <a:solidFill>
                            <a:srgbClr val="5A6472"/>
                          </a:solidFill>
                          <a:latin typeface="Barlow"/>
                          <a:ea typeface="Barlow"/>
                          <a:cs typeface="Barlow"/>
                          <a:sym typeface="Barlow"/>
                        </a:rPr>
                        <a:t>해당 없음</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000">
                          <a:solidFill>
                            <a:srgbClr val="5A6472"/>
                          </a:solidFill>
                          <a:latin typeface="Barlow"/>
                          <a:ea typeface="Barlow"/>
                          <a:cs typeface="Barlow"/>
                          <a:sym typeface="Barlow"/>
                        </a:rPr>
                        <a:t>해당 없음</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000">
                          <a:solidFill>
                            <a:srgbClr val="5A6472"/>
                          </a:solidFill>
                          <a:latin typeface="Barlow"/>
                          <a:ea typeface="Barlow"/>
                          <a:cs typeface="Barlow"/>
                          <a:sym typeface="Barlow"/>
                        </a:rPr>
                        <a:t>해당 없음</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a:solidFill>
                            <a:srgbClr val="0B2F5B"/>
                          </a:solidFill>
                          <a:latin typeface="Barlow"/>
                          <a:ea typeface="Barlow"/>
                          <a:cs typeface="Barlow"/>
                          <a:sym typeface="Barlow"/>
                        </a:rPr>
                        <a:t>모바일</a:t>
                      </a:r>
                      <a:r>
                        <a:rPr b="1" lang="en-US" sz="1000" u="none" cap="none" strike="noStrike">
                          <a:solidFill>
                            <a:srgbClr val="0B2F5B"/>
                          </a:solidFill>
                          <a:latin typeface="Barlow"/>
                          <a:ea typeface="Barlow"/>
                          <a:cs typeface="Barlow"/>
                          <a:sym typeface="Barlow"/>
                        </a:rPr>
                        <a:t> </a:t>
                      </a:r>
                      <a:r>
                        <a:rPr b="1" lang="en-US" sz="1000">
                          <a:solidFill>
                            <a:srgbClr val="0B2F5B"/>
                          </a:solidFill>
                          <a:latin typeface="Barlow"/>
                          <a:ea typeface="Barlow"/>
                          <a:cs typeface="Barlow"/>
                          <a:sym typeface="Barlow"/>
                        </a:rPr>
                        <a:t>경력</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모바일 8년</a:t>
                      </a:r>
                      <a:r>
                        <a:rPr lang="en-US" sz="1000" u="none" cap="none" strike="noStrike">
                          <a:solidFill>
                            <a:srgbClr val="5A6472"/>
                          </a:solidFill>
                          <a:latin typeface="Barlow"/>
                          <a:ea typeface="Barlow"/>
                          <a:cs typeface="Barlow"/>
                          <a:sym typeface="Barlow"/>
                        </a:rPr>
                        <a:t>,iOS 5</a:t>
                      </a:r>
                      <a:r>
                        <a:rPr lang="en-US" sz="1000">
                          <a:solidFill>
                            <a:srgbClr val="5A6472"/>
                          </a:solidFill>
                          <a:latin typeface="Barlow"/>
                          <a:ea typeface="Barlow"/>
                          <a:cs typeface="Barlow"/>
                          <a:sym typeface="Barlow"/>
                        </a:rPr>
                        <a:t>년</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S</a:t>
                      </a:r>
                      <a:r>
                        <a:rPr lang="en-US" sz="1000" u="none" cap="none" strike="noStrike">
                          <a:solidFill>
                            <a:srgbClr val="5A6472"/>
                          </a:solidFill>
                          <a:latin typeface="Barlow"/>
                          <a:ea typeface="Barlow"/>
                          <a:cs typeface="Barlow"/>
                          <a:sym typeface="Barlow"/>
                        </a:rPr>
                        <a:t>oftware </a:t>
                      </a:r>
                      <a:r>
                        <a:rPr lang="en-US" sz="1000">
                          <a:solidFill>
                            <a:srgbClr val="5A6472"/>
                          </a:solidFill>
                          <a:latin typeface="Barlow"/>
                          <a:ea typeface="Barlow"/>
                          <a:cs typeface="Barlow"/>
                          <a:sym typeface="Barlow"/>
                        </a:rPr>
                        <a:t>총 </a:t>
                      </a:r>
                      <a:r>
                        <a:rPr lang="en-US" sz="1000" u="none" cap="none" strike="noStrike">
                          <a:solidFill>
                            <a:srgbClr val="5A6472"/>
                          </a:solidFill>
                          <a:latin typeface="Barlow"/>
                          <a:ea typeface="Barlow"/>
                          <a:cs typeface="Barlow"/>
                          <a:sym typeface="Barlow"/>
                        </a:rPr>
                        <a:t>15</a:t>
                      </a:r>
                      <a:r>
                        <a:rPr lang="en-US" sz="1000">
                          <a:solidFill>
                            <a:srgbClr val="5A6472"/>
                          </a:solidFill>
                          <a:latin typeface="Barlow"/>
                          <a:ea typeface="Barlow"/>
                          <a:cs typeface="Barlow"/>
                          <a:sym typeface="Barlow"/>
                        </a:rPr>
                        <a:t>년</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iOS 8</a:t>
                      </a:r>
                      <a:r>
                        <a:rPr lang="en-US" sz="1000">
                          <a:solidFill>
                            <a:srgbClr val="5A6472"/>
                          </a:solidFill>
                          <a:latin typeface="Barlow"/>
                          <a:ea typeface="Barlow"/>
                          <a:cs typeface="Barlow"/>
                          <a:sym typeface="Barlow"/>
                        </a:rPr>
                        <a:t>년</a:t>
                      </a:r>
                      <a:r>
                        <a:rPr lang="en-US" sz="1000" u="none" cap="none" strike="noStrike">
                          <a:solidFill>
                            <a:srgbClr val="5A6472"/>
                          </a:solidFill>
                          <a:latin typeface="Barlow"/>
                          <a:ea typeface="Barlow"/>
                          <a:cs typeface="Barlow"/>
                          <a:sym typeface="Barlow"/>
                        </a:rPr>
                        <a:t> (IT 18</a:t>
                      </a:r>
                      <a:r>
                        <a:rPr lang="en-US" sz="1000">
                          <a:solidFill>
                            <a:srgbClr val="5A6472"/>
                          </a:solidFill>
                          <a:latin typeface="Barlow"/>
                          <a:ea typeface="Barlow"/>
                          <a:cs typeface="Barlow"/>
                          <a:sym typeface="Barlow"/>
                        </a:rPr>
                        <a:t>년</a:t>
                      </a:r>
                      <a:r>
                        <a:rPr lang="en-US" sz="1000" u="none" cap="none" strike="noStrike">
                          <a:solidFill>
                            <a:srgbClr val="5A6472"/>
                          </a:solidFill>
                          <a:latin typeface="Barlow"/>
                          <a:ea typeface="Barlow"/>
                          <a:cs typeface="Barlow"/>
                          <a:sym typeface="Barlow"/>
                        </a:rPr>
                        <a:t>); 2016–2026</a:t>
                      </a:r>
                      <a:r>
                        <a:rPr lang="en-US" sz="1000">
                          <a:solidFill>
                            <a:srgbClr val="5A6472"/>
                          </a:solidFill>
                          <a:latin typeface="Barlow"/>
                          <a:ea typeface="Barlow"/>
                          <a:cs typeface="Barlow"/>
                          <a:sym typeface="Barlow"/>
                        </a:rPr>
                        <a:t>년 iOS 수행</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Android 7</a:t>
                      </a:r>
                      <a:r>
                        <a:rPr lang="en-US" sz="1000">
                          <a:solidFill>
                            <a:srgbClr val="5A6472"/>
                          </a:solidFill>
                          <a:latin typeface="Barlow"/>
                          <a:ea typeface="Barlow"/>
                          <a:cs typeface="Barlow"/>
                          <a:sym typeface="Barlow"/>
                        </a:rPr>
                        <a:t>년</a:t>
                      </a:r>
                      <a:r>
                        <a:rPr lang="en-US" sz="1000" u="none" cap="none" strike="noStrike">
                          <a:solidFill>
                            <a:srgbClr val="5A6472"/>
                          </a:solidFill>
                          <a:latin typeface="Barlow"/>
                          <a:ea typeface="Barlow"/>
                          <a:cs typeface="Barlow"/>
                          <a:sym typeface="Barlow"/>
                        </a:rPr>
                        <a:t>; 2017–2026</a:t>
                      </a:r>
                      <a:r>
                        <a:rPr lang="en-US" sz="1000">
                          <a:solidFill>
                            <a:srgbClr val="5A6472"/>
                          </a:solidFill>
                          <a:latin typeface="Barlow"/>
                          <a:ea typeface="Barlow"/>
                          <a:cs typeface="Barlow"/>
                          <a:sym typeface="Barlow"/>
                        </a:rPr>
                        <a:t>년 수행</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2021</a:t>
                      </a:r>
                      <a:r>
                        <a:rPr lang="en-US" sz="1000">
                          <a:solidFill>
                            <a:srgbClr val="5A6472"/>
                          </a:solidFill>
                          <a:latin typeface="Barlow"/>
                          <a:ea typeface="Barlow"/>
                          <a:cs typeface="Barlow"/>
                          <a:sym typeface="Barlow"/>
                        </a:rPr>
                        <a:t>년 부터 Android</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차량 단말</a:t>
                      </a:r>
                      <a:r>
                        <a:rPr lang="en-US" sz="1000" u="none" cap="none" strike="noStrike">
                          <a:solidFill>
                            <a:srgbClr val="5A6472"/>
                          </a:solidFill>
                          <a:latin typeface="Barlow"/>
                          <a:ea typeface="Barlow"/>
                          <a:cs typeface="Barlow"/>
                          <a:sym typeface="Barlow"/>
                        </a:rPr>
                        <a:t>); Software 6</a:t>
                      </a:r>
                      <a:r>
                        <a:rPr lang="en-US" sz="1000">
                          <a:solidFill>
                            <a:srgbClr val="5A6472"/>
                          </a:solidFill>
                          <a:latin typeface="Barlow"/>
                          <a:ea typeface="Barlow"/>
                          <a:cs typeface="Barlow"/>
                          <a:sym typeface="Barlow"/>
                        </a:rPr>
                        <a:t>년</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Kotlin/Compose or Swift/SwiftUI </a:t>
                      </a:r>
                      <a:r>
                        <a:rPr b="1" lang="en-US" sz="1000">
                          <a:solidFill>
                            <a:srgbClr val="0B2F5B"/>
                          </a:solidFill>
                          <a:latin typeface="Barlow"/>
                          <a:ea typeface="Barlow"/>
                          <a:cs typeface="Barlow"/>
                          <a:sym typeface="Barlow"/>
                        </a:rPr>
                        <a:t>경험</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Swift, Swift Concurrency, Combine, MVVM; production SwiftUI widget</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Swift, RxSwift, Combine, MVVM; 1 SwiftUI project (2024)</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Kotlin; 2 Compose projects (2024–25); Clean Architecture, MVVM</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Kotlin/Java; Android </a:t>
                      </a:r>
                      <a:r>
                        <a:rPr lang="en-US" sz="1000">
                          <a:solidFill>
                            <a:srgbClr val="5A6472"/>
                          </a:solidFill>
                          <a:latin typeface="Barlow"/>
                          <a:ea typeface="Barlow"/>
                          <a:cs typeface="Barlow"/>
                          <a:sym typeface="Barlow"/>
                        </a:rPr>
                        <a:t>차량 단말 활성화</a:t>
                      </a:r>
                      <a:r>
                        <a:rPr lang="en-US" sz="1000" u="none" cap="none" strike="noStrike">
                          <a:solidFill>
                            <a:srgbClr val="5A6472"/>
                          </a:solidFill>
                          <a:latin typeface="Barlow"/>
                          <a:ea typeface="Barlow"/>
                          <a:cs typeface="Barlow"/>
                          <a:sym typeface="Barlow"/>
                        </a:rPr>
                        <a:t>; Compose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u="none" cap="none" strike="noStrike">
                          <a:solidFill>
                            <a:srgbClr val="0B2F5B"/>
                          </a:solidFill>
                          <a:latin typeface="Barlow"/>
                          <a:ea typeface="Barlow"/>
                          <a:cs typeface="Barlow"/>
                          <a:sym typeface="Barlow"/>
                        </a:rPr>
                        <a:t>BLE/Wi-Fi/</a:t>
                      </a:r>
                      <a:r>
                        <a:rPr b="1" lang="en-US" sz="1000">
                          <a:solidFill>
                            <a:srgbClr val="0B2F5B"/>
                          </a:solidFill>
                          <a:latin typeface="Barlow"/>
                          <a:ea typeface="Barlow"/>
                          <a:cs typeface="Barlow"/>
                          <a:sym typeface="Barlow"/>
                        </a:rPr>
                        <a:t>설비</a:t>
                      </a:r>
                      <a:r>
                        <a:rPr b="1" lang="en-US" sz="1000" u="none" cap="none" strike="noStrike">
                          <a:solidFill>
                            <a:srgbClr val="0B2F5B"/>
                          </a:solidFill>
                          <a:latin typeface="Barlow"/>
                          <a:ea typeface="Barlow"/>
                          <a:cs typeface="Barlow"/>
                          <a:sym typeface="Barlow"/>
                        </a:rPr>
                        <a:t> </a:t>
                      </a:r>
                      <a:r>
                        <a:rPr b="1" lang="en-US" sz="1000">
                          <a:solidFill>
                            <a:srgbClr val="0B2F5B"/>
                          </a:solidFill>
                          <a:latin typeface="Barlow"/>
                          <a:ea typeface="Barlow"/>
                          <a:cs typeface="Barlow"/>
                          <a:sym typeface="Barlow"/>
                        </a:rPr>
                        <a:t>경험</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BLE </a:t>
                      </a:r>
                      <a:r>
                        <a:rPr lang="en-US" sz="1000">
                          <a:solidFill>
                            <a:srgbClr val="5A6472"/>
                          </a:solidFill>
                          <a:latin typeface="Barlow"/>
                          <a:ea typeface="Barlow"/>
                          <a:cs typeface="Barlow"/>
                          <a:sym typeface="Barlow"/>
                        </a:rPr>
                        <a:t>전기자전거 및 헬멧 잠금 제어</a:t>
                      </a:r>
                      <a:r>
                        <a:rPr lang="en-US" sz="1000" u="none" cap="none" strike="noStrike">
                          <a:solidFill>
                            <a:srgbClr val="5A6472"/>
                          </a:solidFill>
                          <a:latin typeface="Barlow"/>
                          <a:ea typeface="Barlow"/>
                          <a:cs typeface="Barlow"/>
                          <a:sym typeface="Barlow"/>
                        </a:rPr>
                        <a:t> (Core Bluetooth); Wi-Fi </a:t>
                      </a:r>
                      <a:r>
                        <a:rPr lang="en-US" sz="1000">
                          <a:solidFill>
                            <a:srgbClr val="5A6472"/>
                          </a:solidFill>
                          <a:latin typeface="Barlow"/>
                          <a:ea typeface="Barlow"/>
                          <a:cs typeface="Barlow"/>
                          <a:sym typeface="Barlow"/>
                        </a:rPr>
                        <a:t>측위</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LG SmartThinQ IoT; serial/network, RS232/485; BLE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Mobile app </a:t>
                      </a:r>
                      <a:r>
                        <a:rPr lang="en-US" sz="1000">
                          <a:solidFill>
                            <a:srgbClr val="5A6472"/>
                          </a:solidFill>
                          <a:latin typeface="Barlow"/>
                          <a:ea typeface="Barlow"/>
                          <a:cs typeface="Barlow"/>
                          <a:sym typeface="Barlow"/>
                        </a:rPr>
                        <a:t>개발 및 운영</a:t>
                      </a:r>
                      <a:r>
                        <a:rPr lang="en-US" sz="1000" u="none" cap="none" strike="noStrike">
                          <a:solidFill>
                            <a:srgbClr val="5A6472"/>
                          </a:solidFill>
                          <a:latin typeface="Barlow"/>
                          <a:ea typeface="Barlow"/>
                          <a:cs typeface="Barlow"/>
                          <a:sym typeface="Barlow"/>
                        </a:rPr>
                        <a:t>; BLE/Wi-Fi </a:t>
                      </a:r>
                      <a:r>
                        <a:rPr lang="en-US" sz="1000">
                          <a:solidFill>
                            <a:srgbClr val="5A6472"/>
                          </a:solidFill>
                          <a:latin typeface="Barlow"/>
                          <a:ea typeface="Barlow"/>
                          <a:cs typeface="Barlow"/>
                          <a:sym typeface="Barlow"/>
                        </a:rPr>
                        <a:t>검증</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AAOS/IVI </a:t>
                      </a:r>
                      <a:r>
                        <a:rPr lang="en-US" sz="1000">
                          <a:solidFill>
                            <a:srgbClr val="5A6472"/>
                          </a:solidFill>
                          <a:latin typeface="Barlow"/>
                          <a:ea typeface="Barlow"/>
                          <a:cs typeface="Barlow"/>
                          <a:sym typeface="Barlow"/>
                        </a:rPr>
                        <a:t>활성화</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장비 프로토콜 구현</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진단</a:t>
                      </a:r>
                      <a:r>
                        <a:rPr lang="en-US" sz="1000" u="none" cap="none" strike="noStrike">
                          <a:solidFill>
                            <a:srgbClr val="5A6472"/>
                          </a:solidFill>
                          <a:latin typeface="Barlow"/>
                          <a:ea typeface="Barlow"/>
                          <a:cs typeface="Barlow"/>
                          <a:sym typeface="Barlow"/>
                        </a:rPr>
                        <a:t>; BLE</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a:solidFill>
                            <a:srgbClr val="0B2F5B"/>
                          </a:solidFill>
                          <a:latin typeface="Barlow"/>
                          <a:ea typeface="Barlow"/>
                          <a:cs typeface="Barlow"/>
                          <a:sym typeface="Barlow"/>
                        </a:rPr>
                        <a:t>오프라인</a:t>
                      </a:r>
                      <a:r>
                        <a:rPr b="1" lang="en-US" sz="1000" u="none" cap="none" strike="noStrike">
                          <a:solidFill>
                            <a:srgbClr val="0B2F5B"/>
                          </a:solidFill>
                          <a:latin typeface="Barlow"/>
                          <a:ea typeface="Barlow"/>
                          <a:cs typeface="Barlow"/>
                          <a:sym typeface="Barlow"/>
                        </a:rPr>
                        <a:t>/</a:t>
                      </a:r>
                      <a:r>
                        <a:rPr b="1" lang="en-US" sz="1000">
                          <a:solidFill>
                            <a:srgbClr val="0B2F5B"/>
                          </a:solidFill>
                          <a:latin typeface="Barlow"/>
                          <a:ea typeface="Barlow"/>
                          <a:cs typeface="Barlow"/>
                          <a:sym typeface="Barlow"/>
                        </a:rPr>
                        <a:t>동기화</a:t>
                      </a:r>
                      <a:r>
                        <a:rPr b="1" lang="en-US" sz="1000" u="none" cap="none" strike="noStrike">
                          <a:solidFill>
                            <a:srgbClr val="0B2F5B"/>
                          </a:solidFill>
                          <a:latin typeface="Barlow"/>
                          <a:ea typeface="Barlow"/>
                          <a:cs typeface="Barlow"/>
                          <a:sym typeface="Barlow"/>
                        </a:rPr>
                        <a:t> </a:t>
                      </a:r>
                      <a:r>
                        <a:rPr b="1" lang="en-US" sz="1000">
                          <a:solidFill>
                            <a:srgbClr val="0B2F5B"/>
                          </a:solidFill>
                          <a:latin typeface="Barlow"/>
                          <a:ea typeface="Barlow"/>
                          <a:cs typeface="Barlow"/>
                          <a:sym typeface="Barlow"/>
                        </a:rPr>
                        <a:t>경험</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Offline </a:t>
                      </a:r>
                      <a:r>
                        <a:rPr lang="en-US" sz="1000">
                          <a:solidFill>
                            <a:srgbClr val="5A6472"/>
                          </a:solidFill>
                          <a:latin typeface="Barlow"/>
                          <a:ea typeface="Barlow"/>
                          <a:cs typeface="Barlow"/>
                          <a:sym typeface="Barlow"/>
                        </a:rPr>
                        <a:t>강의 다운로드 및 재생</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위치 데이터 캐싱</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Realm </a:t>
                      </a:r>
                      <a:r>
                        <a:rPr lang="en-US" sz="1000">
                          <a:solidFill>
                            <a:srgbClr val="5A6472"/>
                          </a:solidFill>
                          <a:latin typeface="Barlow"/>
                          <a:ea typeface="Barlow"/>
                          <a:cs typeface="Barlow"/>
                          <a:sym typeface="Barlow"/>
                        </a:rPr>
                        <a:t>기반 저장</a:t>
                      </a:r>
                      <a:r>
                        <a:rPr lang="en-US" sz="1000" u="none" cap="none" strike="noStrike">
                          <a:solidFill>
                            <a:srgbClr val="5A6472"/>
                          </a:solidFill>
                          <a:latin typeface="Barlow"/>
                          <a:ea typeface="Barlow"/>
                          <a:cs typeface="Barlow"/>
                          <a:sym typeface="Barlow"/>
                        </a:rPr>
                        <a:t> (LG SmartThinQ)</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Native app </a:t>
                      </a:r>
                      <a:r>
                        <a:rPr lang="en-US" sz="1000">
                          <a:solidFill>
                            <a:srgbClr val="5A6472"/>
                          </a:solidFill>
                          <a:latin typeface="Barlow"/>
                          <a:ea typeface="Barlow"/>
                          <a:cs typeface="Barlow"/>
                          <a:sym typeface="Barlow"/>
                        </a:rPr>
                        <a:t>재개발 및 운영</a:t>
                      </a:r>
                      <a:r>
                        <a:rPr lang="en-US" sz="1000" u="none" cap="none" strike="noStrike">
                          <a:solidFill>
                            <a:srgbClr val="5A6472"/>
                          </a:solidFill>
                          <a:latin typeface="Barlow"/>
                          <a:ea typeface="Barlow"/>
                          <a:cs typeface="Barlow"/>
                          <a:sym typeface="Barlow"/>
                        </a:rPr>
                        <a:t>; offline </a:t>
                      </a:r>
                      <a:r>
                        <a:rPr lang="en-US" sz="1000">
                          <a:solidFill>
                            <a:srgbClr val="5A6472"/>
                          </a:solidFill>
                          <a:latin typeface="Barlow"/>
                          <a:ea typeface="Barlow"/>
                          <a:cs typeface="Barlow"/>
                          <a:sym typeface="Barlow"/>
                        </a:rPr>
                        <a:t>동기화</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차량과 계정 정보 동기화</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오프라인 저장 검증</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410000">
                <a:tc>
                  <a:txBody>
                    <a:bodyPr/>
                    <a:lstStyle/>
                    <a:p>
                      <a:pPr indent="0" lvl="0" marL="0" marR="0" rtl="0" algn="l">
                        <a:spcBef>
                          <a:spcPts val="0"/>
                        </a:spcBef>
                        <a:spcAft>
                          <a:spcPts val="0"/>
                        </a:spcAft>
                        <a:buNone/>
                      </a:pPr>
                      <a:r>
                        <a:rPr b="1" lang="en-US" sz="1000">
                          <a:solidFill>
                            <a:srgbClr val="0B2F5B"/>
                          </a:solidFill>
                          <a:latin typeface="Barlow"/>
                          <a:ea typeface="Barlow"/>
                          <a:cs typeface="Barlow"/>
                          <a:sym typeface="Barlow"/>
                        </a:rPr>
                        <a:t>테스트</a:t>
                      </a:r>
                      <a:r>
                        <a:rPr b="1" lang="en-US" sz="1000" u="none" cap="none" strike="noStrike">
                          <a:solidFill>
                            <a:srgbClr val="0B2F5B"/>
                          </a:solidFill>
                          <a:latin typeface="Barlow"/>
                          <a:ea typeface="Barlow"/>
                          <a:cs typeface="Barlow"/>
                          <a:sym typeface="Barlow"/>
                        </a:rPr>
                        <a:t> </a:t>
                      </a:r>
                      <a:r>
                        <a:rPr b="1" lang="en-US" sz="1000">
                          <a:solidFill>
                            <a:srgbClr val="0B2F5B"/>
                          </a:solidFill>
                          <a:latin typeface="Barlow"/>
                          <a:ea typeface="Barlow"/>
                          <a:cs typeface="Barlow"/>
                          <a:sym typeface="Barlow"/>
                        </a:rPr>
                        <a:t>및</a:t>
                      </a:r>
                      <a:r>
                        <a:rPr b="1" lang="en-US" sz="1000" u="none" cap="none" strike="noStrike">
                          <a:solidFill>
                            <a:srgbClr val="0B2F5B"/>
                          </a:solidFill>
                          <a:latin typeface="Barlow"/>
                          <a:ea typeface="Barlow"/>
                          <a:cs typeface="Barlow"/>
                          <a:sym typeface="Barlow"/>
                        </a:rPr>
                        <a:t> CI/CD </a:t>
                      </a:r>
                      <a:r>
                        <a:rPr b="1" lang="en-US" sz="1000">
                          <a:solidFill>
                            <a:srgbClr val="0B2F5B"/>
                          </a:solidFill>
                          <a:latin typeface="Barlow"/>
                          <a:ea typeface="Barlow"/>
                          <a:cs typeface="Barlow"/>
                          <a:sym typeface="Barlow"/>
                        </a:rPr>
                        <a:t>구축 경험</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000" u="none" cap="none" strike="noStrike">
                          <a:solidFill>
                            <a:srgbClr val="5A6472"/>
                          </a:solidFill>
                          <a:latin typeface="Barlow"/>
                          <a:ea typeface="Barlow"/>
                          <a:cs typeface="Barlow"/>
                          <a:sym typeface="Barlow"/>
                        </a:rPr>
                        <a:t>XCTest, XCUITest, Jest; Fastlane, GitHub Actions, GitLab CI</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장비 및 회귀</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테스트</a:t>
                      </a:r>
                      <a:r>
                        <a:rPr lang="en-US" sz="1000" u="none" cap="none" strike="noStrike">
                          <a:solidFill>
                            <a:srgbClr val="5A6472"/>
                          </a:solidFill>
                          <a:latin typeface="Barlow"/>
                          <a:ea typeface="Barlow"/>
                          <a:cs typeface="Barlow"/>
                          <a:sym typeface="Barlow"/>
                        </a:rPr>
                        <a:t>; CI/CD</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주행 오류 분석</a:t>
                      </a:r>
                      <a:r>
                        <a:rPr lang="en-US" sz="1000" u="none" cap="none" strike="noStrike">
                          <a:solidFill>
                            <a:srgbClr val="5A6472"/>
                          </a:solidFill>
                          <a:latin typeface="Barlow"/>
                          <a:ea typeface="Barlow"/>
                          <a:cs typeface="Barlow"/>
                          <a:sym typeface="Barlow"/>
                        </a:rPr>
                        <a:t>; CI/CD</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000">
                          <a:solidFill>
                            <a:srgbClr val="5A6472"/>
                          </a:solidFill>
                          <a:latin typeface="Barlow"/>
                          <a:ea typeface="Barlow"/>
                          <a:cs typeface="Barlow"/>
                          <a:sym typeface="Barlow"/>
                        </a:rPr>
                        <a:t>통합 테스트</a:t>
                      </a:r>
                      <a:r>
                        <a:rPr lang="en-US" sz="1000" u="none" cap="none" strike="noStrike">
                          <a:solidFill>
                            <a:srgbClr val="5A6472"/>
                          </a:solidFill>
                          <a:latin typeface="Barlow"/>
                          <a:ea typeface="Barlow"/>
                          <a:cs typeface="Barlow"/>
                          <a:sym typeface="Barlow"/>
                        </a:rPr>
                        <a:t>, </a:t>
                      </a:r>
                      <a:r>
                        <a:rPr lang="en-US" sz="1000">
                          <a:solidFill>
                            <a:srgbClr val="5A6472"/>
                          </a:solidFill>
                          <a:latin typeface="Barlow"/>
                          <a:ea typeface="Barlow"/>
                          <a:cs typeface="Barlow"/>
                          <a:sym typeface="Barlow"/>
                        </a:rPr>
                        <a:t>통계 분석</a:t>
                      </a:r>
                      <a:r>
                        <a:rPr lang="en-US" sz="1000" u="none" cap="none" strike="noStrike">
                          <a:solidFill>
                            <a:srgbClr val="5A6472"/>
                          </a:solidFill>
                          <a:latin typeface="Barlow"/>
                          <a:ea typeface="Barlow"/>
                          <a:cs typeface="Barlow"/>
                          <a:sym typeface="Barlow"/>
                        </a:rPr>
                        <a:t>, QA </a:t>
                      </a:r>
                      <a:r>
                        <a:rPr lang="en-US" sz="1000">
                          <a:solidFill>
                            <a:srgbClr val="5A6472"/>
                          </a:solidFill>
                          <a:latin typeface="Barlow"/>
                          <a:ea typeface="Barlow"/>
                          <a:cs typeface="Barlow"/>
                          <a:sym typeface="Barlow"/>
                        </a:rPr>
                        <a:t>구축</a:t>
                      </a:r>
                      <a:r>
                        <a:rPr lang="en-US" sz="1000" u="none" cap="none" strike="noStrike">
                          <a:solidFill>
                            <a:srgbClr val="5A6472"/>
                          </a:solidFill>
                          <a:latin typeface="Barlow"/>
                          <a:ea typeface="Barlow"/>
                          <a:cs typeface="Barlow"/>
                          <a:sym typeface="Barlow"/>
                        </a:rPr>
                        <a:t>; Jenkins</a:t>
                      </a:r>
                      <a:endParaRPr/>
                    </a:p>
                  </a:txBody>
                  <a:tcPr marT="24000" marB="24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2" name="Shape 432"/>
        <p:cNvGrpSpPr/>
        <p:nvPr/>
      </p:nvGrpSpPr>
      <p:grpSpPr>
        <a:xfrm>
          <a:off x="0" y="0"/>
          <a:ext cx="0" cy="0"/>
          <a:chOff x="0" y="0"/>
          <a:chExt cx="0" cy="0"/>
        </a:xfrm>
      </p:grpSpPr>
      <p:sp>
        <p:nvSpPr>
          <p:cNvPr id="433" name="Google Shape;433;p37"/>
          <p:cNvSpPr txBox="1"/>
          <p:nvPr/>
        </p:nvSpPr>
        <p:spPr>
          <a:xfrm>
            <a:off x="457200" y="323698"/>
            <a:ext cx="9000000" cy="133500"/>
          </a:xfrm>
          <a:prstGeom prst="rect">
            <a:avLst/>
          </a:prstGeom>
          <a:noFill/>
          <a:ln>
            <a:noFill/>
          </a:ln>
        </p:spPr>
        <p:txBody>
          <a:bodyPr anchorCtr="0" anchor="ctr" bIns="0" lIns="0" spcFirstLastPara="1" rIns="0" wrap="square" tIns="0">
            <a:normAutofit lnSpcReduction="20000"/>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07 · 인력 제안 · 개발자 상세 정보 (2/2)</a:t>
            </a:r>
            <a:endParaRPr/>
          </a:p>
        </p:txBody>
      </p:sp>
      <p:sp>
        <p:nvSpPr>
          <p:cNvPr id="434" name="Google Shape;434;p37"/>
          <p:cNvSpPr txBox="1"/>
          <p:nvPr/>
        </p:nvSpPr>
        <p:spPr>
          <a:xfrm>
            <a:off x="457200" y="590702"/>
            <a:ext cx="11277600" cy="286200"/>
          </a:xfrm>
          <a:prstGeom prst="rect">
            <a:avLst/>
          </a:prstGeom>
          <a:noFill/>
          <a:ln>
            <a:noFill/>
          </a:ln>
        </p:spPr>
        <p:txBody>
          <a:bodyPr anchorCtr="0" anchor="ctr" bIns="0" lIns="0" spcFirstLastPara="1" rIns="0" wrap="square" tIns="0">
            <a:normAutofit lnSpcReduction="10000"/>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개발자 상세 정보: 서울 거주 한국어 구사자, 10월 12일 부터 투입</a:t>
            </a:r>
            <a:endParaRPr/>
          </a:p>
        </p:txBody>
      </p:sp>
      <p:sp>
        <p:nvSpPr>
          <p:cNvPr id="435" name="Google Shape;435;p37"/>
          <p:cNvSpPr txBox="1"/>
          <p:nvPr/>
        </p:nvSpPr>
        <p:spPr>
          <a:xfrm>
            <a:off x="457200" y="1050000"/>
            <a:ext cx="11277600" cy="170100"/>
          </a:xfrm>
          <a:prstGeom prst="rect">
            <a:avLst/>
          </a:prstGeom>
          <a:noFill/>
          <a:ln>
            <a:noFill/>
          </a:ln>
        </p:spPr>
        <p:txBody>
          <a:bodyPr anchorCtr="0" anchor="ctr" bIns="0" lIns="0" spcFirstLastPara="1" rIns="0" wrap="square" tIns="0">
            <a:normAutofit/>
          </a:bodyPr>
          <a:lstStyle/>
          <a:p>
            <a:pPr indent="0" lvl="0" marL="0" marR="0" rtl="0" algn="l">
              <a:spcBef>
                <a:spcPts val="0"/>
              </a:spcBef>
              <a:spcAft>
                <a:spcPts val="0"/>
              </a:spcAft>
              <a:buClr>
                <a:srgbClr val="0B2F5B"/>
              </a:buClr>
              <a:buSzPts val="1050"/>
              <a:buFont typeface="Montserrat"/>
              <a:buNone/>
            </a:pPr>
            <a:r>
              <a:rPr b="1" lang="en-US" sz="1050">
                <a:solidFill>
                  <a:srgbClr val="0B2F5B"/>
                </a:solidFill>
                <a:latin typeface="Montserrat"/>
                <a:ea typeface="Montserrat"/>
                <a:cs typeface="Montserrat"/>
                <a:sym typeface="Montserrat"/>
              </a:rPr>
              <a:t>상세 정보, 사용 언어, 거주지, 투입 시기 및 계약 조건 (Appendix A, 2 Oct 2026)</a:t>
            </a:r>
            <a:endParaRPr/>
          </a:p>
        </p:txBody>
      </p:sp>
      <p:graphicFrame>
        <p:nvGraphicFramePr>
          <p:cNvPr id="436" name="Google Shape;436;p37"/>
          <p:cNvGraphicFramePr/>
          <p:nvPr/>
        </p:nvGraphicFramePr>
        <p:xfrm>
          <a:off x="457200" y="1280000"/>
          <a:ext cx="3000000" cy="3000000"/>
        </p:xfrm>
        <a:graphic>
          <a:graphicData uri="http://schemas.openxmlformats.org/drawingml/2006/table">
            <a:tbl>
              <a:tblPr>
                <a:noFill/>
                <a:tableStyleId>{81E3FC77-955F-43EE-AE7F-ED60C7898631}</a:tableStyleId>
              </a:tblPr>
              <a:tblGrid>
                <a:gridCol w="2000000"/>
                <a:gridCol w="2319400"/>
                <a:gridCol w="2319400"/>
                <a:gridCol w="2319400"/>
                <a:gridCol w="2319400"/>
              </a:tblGrid>
              <a:tr h="300000">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항목</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이영준</a:t>
                      </a:r>
                      <a:r>
                        <a:rPr b="1" lang="en-US" sz="1200" u="none" cap="none" strike="noStrike">
                          <a:solidFill>
                            <a:srgbClr val="0B2F5B"/>
                          </a:solidFill>
                          <a:latin typeface="Barlow"/>
                          <a:ea typeface="Barlow"/>
                          <a:cs typeface="Barlow"/>
                          <a:sym typeface="Barlow"/>
                        </a:rPr>
                        <a:t> · iOS · Team Lead</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김진희</a:t>
                      </a:r>
                      <a:r>
                        <a:rPr b="1" lang="en-US" sz="1200" u="none" cap="none" strike="noStrike">
                          <a:solidFill>
                            <a:srgbClr val="0B2F5B"/>
                          </a:solidFill>
                          <a:latin typeface="Barlow"/>
                          <a:ea typeface="Barlow"/>
                          <a:cs typeface="Barlow"/>
                          <a:sym typeface="Barlow"/>
                        </a:rPr>
                        <a:t> · iOS</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안재현</a:t>
                      </a:r>
                      <a:r>
                        <a:rPr b="1" lang="en-US" sz="1200" u="none" cap="none" strike="noStrike">
                          <a:solidFill>
                            <a:srgbClr val="0B2F5B"/>
                          </a:solidFill>
                          <a:latin typeface="Barlow"/>
                          <a:ea typeface="Barlow"/>
                          <a:cs typeface="Barlow"/>
                          <a:sym typeface="Barlow"/>
                        </a:rPr>
                        <a:t> · Android</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임재영</a:t>
                      </a:r>
                      <a:r>
                        <a:rPr b="1" lang="en-US" sz="1200" u="none" cap="none" strike="noStrike">
                          <a:solidFill>
                            <a:srgbClr val="0B2F5B"/>
                          </a:solidFill>
                          <a:latin typeface="Barlow"/>
                          <a:ea typeface="Barlow"/>
                          <a:cs typeface="Barlow"/>
                          <a:sym typeface="Barlow"/>
                        </a:rPr>
                        <a:t> · Android</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B2F5B"/>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한국어 수준</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5A6472"/>
                          </a:solidFill>
                          <a:latin typeface="Barlow"/>
                          <a:ea typeface="Barlow"/>
                          <a:cs typeface="Barlow"/>
                          <a:sym typeface="Barlow"/>
                        </a:rPr>
                        <a:t>내국인</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내국인</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내국인</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내국인</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B2F5B"/>
                      </a:solidFill>
                      <a:prstDash val="solid"/>
                      <a:round/>
                      <a:headEnd len="sm" w="sm" type="none"/>
                      <a:tailEnd len="sm" w="sm" type="none"/>
                    </a:lnT>
                    <a:lnB cap="flat" cmpd="sng" w="9525">
                      <a:solidFill>
                        <a:srgbClr val="D9DEE5"/>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거주지</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5A6472"/>
                          </a:solidFill>
                          <a:latin typeface="Barlow"/>
                          <a:ea typeface="Barlow"/>
                          <a:cs typeface="Barlow"/>
                          <a:sym typeface="Barlow"/>
                        </a:rPr>
                        <a:t>서울</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서울</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서울</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서울</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투입 가능 시기</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2026년 10월 12일</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c>
                  <a:txBody>
                    <a:bodyPr/>
                    <a:lstStyle/>
                    <a:p>
                      <a:pPr indent="0" lvl="0" marL="0" rtl="0" algn="l">
                        <a:spcBef>
                          <a:spcPts val="0"/>
                        </a:spcBef>
                        <a:spcAft>
                          <a:spcPts val="0"/>
                        </a:spcAft>
                        <a:buClr>
                          <a:schemeClr val="dk1"/>
                        </a:buClr>
                        <a:buFont typeface="Arial"/>
                        <a:buNone/>
                      </a:pPr>
                      <a:r>
                        <a:rPr b="1" lang="en-US" sz="1200">
                          <a:solidFill>
                            <a:srgbClr val="0B2F5B"/>
                          </a:solidFill>
                          <a:latin typeface="Barlow"/>
                          <a:ea typeface="Barlow"/>
                          <a:cs typeface="Barlow"/>
                          <a:sym typeface="Barlow"/>
                        </a:rPr>
                        <a:t>2026년 10월 12일</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c>
                  <a:txBody>
                    <a:bodyPr/>
                    <a:lstStyle/>
                    <a:p>
                      <a:pPr indent="0" lvl="0" marL="0" rtl="0" algn="l">
                        <a:spcBef>
                          <a:spcPts val="0"/>
                        </a:spcBef>
                        <a:spcAft>
                          <a:spcPts val="0"/>
                        </a:spcAft>
                        <a:buClr>
                          <a:schemeClr val="dk1"/>
                        </a:buClr>
                        <a:buFont typeface="Arial"/>
                        <a:buNone/>
                      </a:pPr>
                      <a:r>
                        <a:rPr b="1" lang="en-US" sz="1200">
                          <a:solidFill>
                            <a:srgbClr val="0B2F5B"/>
                          </a:solidFill>
                          <a:latin typeface="Barlow"/>
                          <a:ea typeface="Barlow"/>
                          <a:cs typeface="Barlow"/>
                          <a:sym typeface="Barlow"/>
                        </a:rPr>
                        <a:t>2026년 10월 12일</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c>
                  <a:txBody>
                    <a:bodyPr/>
                    <a:lstStyle/>
                    <a:p>
                      <a:pPr indent="0" lvl="0" marL="0" rtl="0" algn="l">
                        <a:spcBef>
                          <a:spcPts val="0"/>
                        </a:spcBef>
                        <a:spcAft>
                          <a:spcPts val="0"/>
                        </a:spcAft>
                        <a:buClr>
                          <a:schemeClr val="dk1"/>
                        </a:buClr>
                        <a:buFont typeface="Arial"/>
                        <a:buNone/>
                      </a:pPr>
                      <a:r>
                        <a:rPr b="1" lang="en-US" sz="1200">
                          <a:solidFill>
                            <a:srgbClr val="0B2F5B"/>
                          </a:solidFill>
                          <a:latin typeface="Barlow"/>
                          <a:ea typeface="Barlow"/>
                          <a:cs typeface="Barlow"/>
                          <a:sym typeface="Barlow"/>
                        </a:rPr>
                        <a:t>2026년 11월 2일</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E8F0FB"/>
                    </a:solidFill>
                  </a:tcPr>
                </a:tc>
              </a:tr>
              <a:tr h="580000">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배정</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5A6472"/>
                          </a:solidFill>
                          <a:latin typeface="Barlow"/>
                          <a:ea typeface="Barlow"/>
                          <a:cs typeface="Barlow"/>
                          <a:sym typeface="Barlow"/>
                        </a:rPr>
                        <a:t>큐셀</a:t>
                      </a:r>
                      <a:r>
                        <a:rPr lang="en-US" sz="1200" u="none" cap="none" strike="noStrike">
                          <a:solidFill>
                            <a:srgbClr val="5A6472"/>
                          </a:solidFill>
                          <a:latin typeface="Barlow"/>
                          <a:ea typeface="Barlow"/>
                          <a:cs typeface="Barlow"/>
                          <a:sym typeface="Barlow"/>
                        </a:rPr>
                        <a:t> Korea </a:t>
                      </a:r>
                      <a:r>
                        <a:rPr lang="en-US" sz="1200">
                          <a:solidFill>
                            <a:srgbClr val="5A6472"/>
                          </a:solidFill>
                          <a:latin typeface="Barlow"/>
                          <a:ea typeface="Barlow"/>
                          <a:cs typeface="Barlow"/>
                          <a:sym typeface="Barlow"/>
                        </a:rPr>
                        <a:t>상주</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큐셀 Korea 상주</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큐셀 Korea 상주</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큐셀 Korea 상주</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이탈 / 중단 계획</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marR="0" rtl="0" algn="l">
                        <a:spcBef>
                          <a:spcPts val="0"/>
                        </a:spcBef>
                        <a:spcAft>
                          <a:spcPts val="0"/>
                        </a:spcAft>
                        <a:buNone/>
                      </a:pPr>
                      <a:r>
                        <a:rPr lang="en-US" sz="1200" u="none" cap="none" strike="noStrike">
                          <a:solidFill>
                            <a:srgbClr val="5A6472"/>
                          </a:solidFill>
                          <a:latin typeface="Barlow"/>
                          <a:ea typeface="Barlow"/>
                          <a:cs typeface="Barlow"/>
                          <a:sym typeface="Barlow"/>
                        </a:rPr>
                        <a:t>2026</a:t>
                      </a:r>
                      <a:r>
                        <a:rPr lang="en-US" sz="1200">
                          <a:solidFill>
                            <a:srgbClr val="5A6472"/>
                          </a:solidFill>
                          <a:latin typeface="Barlow"/>
                          <a:ea typeface="Barlow"/>
                          <a:cs typeface="Barlow"/>
                          <a:sym typeface="Barlow"/>
                        </a:rPr>
                        <a:t>.12.31까지 계획 없음</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2026.12.31까지 계획 없음</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2026.12.31까지 계획 없음</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2026.12.31까지 계획 없음</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tcPr>
                </a:tc>
              </a:tr>
              <a:tr h="580000">
                <a:tc>
                  <a:txBody>
                    <a:bodyPr/>
                    <a:lstStyle/>
                    <a:p>
                      <a:pPr indent="0" lvl="0" marL="0" marR="0" rtl="0" algn="l">
                        <a:spcBef>
                          <a:spcPts val="0"/>
                        </a:spcBef>
                        <a:spcAft>
                          <a:spcPts val="0"/>
                        </a:spcAft>
                        <a:buNone/>
                      </a:pPr>
                      <a:r>
                        <a:rPr b="1" lang="en-US" sz="1200">
                          <a:solidFill>
                            <a:srgbClr val="0B2F5B"/>
                          </a:solidFill>
                          <a:latin typeface="Barlow"/>
                          <a:ea typeface="Barlow"/>
                          <a:cs typeface="Barlow"/>
                          <a:sym typeface="Barlow"/>
                        </a:rPr>
                        <a:t>월 단가</a:t>
                      </a:r>
                      <a:r>
                        <a:rPr b="1" lang="en-US" sz="1200" u="none" cap="none" strike="noStrike">
                          <a:solidFill>
                            <a:srgbClr val="0B2F5B"/>
                          </a:solidFill>
                          <a:latin typeface="Barlow"/>
                          <a:ea typeface="Barlow"/>
                          <a:cs typeface="Barlow"/>
                          <a:sym typeface="Barlow"/>
                        </a:rPr>
                        <a:t> (</a:t>
                      </a:r>
                      <a:r>
                        <a:rPr b="1" lang="en-US" sz="1200">
                          <a:solidFill>
                            <a:srgbClr val="0B2F5B"/>
                          </a:solidFill>
                          <a:latin typeface="Barlow"/>
                          <a:ea typeface="Barlow"/>
                          <a:cs typeface="Barlow"/>
                          <a:sym typeface="Barlow"/>
                        </a:rPr>
                        <a:t>원화</a:t>
                      </a:r>
                      <a:r>
                        <a:rPr b="1" lang="en-US" sz="1200" u="none" cap="none" strike="noStrike">
                          <a:solidFill>
                            <a:srgbClr val="0B2F5B"/>
                          </a:solidFill>
                          <a:latin typeface="Barlow"/>
                          <a:ea typeface="Barlow"/>
                          <a:cs typeface="Barlow"/>
                          <a:sym typeface="Barlow"/>
                        </a:rPr>
                        <a:t>)</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marR="0" rtl="0" algn="l">
                        <a:spcBef>
                          <a:spcPts val="0"/>
                        </a:spcBef>
                        <a:spcAft>
                          <a:spcPts val="0"/>
                        </a:spcAft>
                        <a:buNone/>
                      </a:pPr>
                      <a:r>
                        <a:rPr lang="en-US" sz="1200">
                          <a:solidFill>
                            <a:srgbClr val="5A6472"/>
                          </a:solidFill>
                          <a:latin typeface="Barlow"/>
                          <a:ea typeface="Barlow"/>
                          <a:cs typeface="Barlow"/>
                          <a:sym typeface="Barlow"/>
                        </a:rPr>
                        <a:t>견적서 참조</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견적서 참조</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견적서 참조</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c>
                  <a:txBody>
                    <a:bodyPr/>
                    <a:lstStyle/>
                    <a:p>
                      <a:pPr indent="0" lvl="0" marL="0" rtl="0" algn="l">
                        <a:spcBef>
                          <a:spcPts val="0"/>
                        </a:spcBef>
                        <a:spcAft>
                          <a:spcPts val="0"/>
                        </a:spcAft>
                        <a:buClr>
                          <a:schemeClr val="dk1"/>
                        </a:buClr>
                        <a:buFont typeface="Arial"/>
                        <a:buNone/>
                      </a:pPr>
                      <a:r>
                        <a:rPr lang="en-US" sz="1200">
                          <a:solidFill>
                            <a:srgbClr val="5A6472"/>
                          </a:solidFill>
                          <a:latin typeface="Barlow"/>
                          <a:ea typeface="Barlow"/>
                          <a:cs typeface="Barlow"/>
                          <a:sym typeface="Barlow"/>
                        </a:rPr>
                        <a:t>견적서 참조</a:t>
                      </a:r>
                      <a:endParaRPr/>
                    </a:p>
                  </a:txBody>
                  <a:tcPr marT="36000" marB="36000" marR="72000" marL="720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D9DEE5"/>
                      </a:solidFill>
                      <a:prstDash val="solid"/>
                      <a:round/>
                      <a:headEnd len="sm" w="sm" type="none"/>
                      <a:tailEnd len="sm" w="sm" type="none"/>
                    </a:lnT>
                    <a:lnB cap="flat" cmpd="sng" w="12700">
                      <a:solidFill>
                        <a:srgbClr val="0B2F5B"/>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41" name="Shape 441"/>
        <p:cNvGrpSpPr/>
        <p:nvPr/>
      </p:nvGrpSpPr>
      <p:grpSpPr>
        <a:xfrm>
          <a:off x="0" y="0"/>
          <a:ext cx="0" cy="0"/>
          <a:chOff x="0" y="0"/>
          <a:chExt cx="0" cy="0"/>
        </a:xfrm>
      </p:grpSpPr>
      <p:sp>
        <p:nvSpPr>
          <p:cNvPr id="442" name="Google Shape;442;p38"/>
          <p:cNvSpPr txBox="1"/>
          <p:nvPr/>
        </p:nvSpPr>
        <p:spPr>
          <a:xfrm>
            <a:off x="457200" y="323698"/>
            <a:ext cx="6667800" cy="13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개발 인력 제안</a:t>
            </a:r>
            <a:endParaRPr/>
          </a:p>
        </p:txBody>
      </p:sp>
      <p:sp>
        <p:nvSpPr>
          <p:cNvPr id="443" name="Google Shape;443;p38"/>
          <p:cNvSpPr txBox="1"/>
          <p:nvPr/>
        </p:nvSpPr>
        <p:spPr>
          <a:xfrm>
            <a:off x="457200" y="590702"/>
            <a:ext cx="11277600" cy="28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개발자 A — 이영준, 팀장: Software 15 경력, iOS 5년, BLE 경험</a:t>
            </a:r>
            <a:endParaRPr/>
          </a:p>
        </p:txBody>
      </p:sp>
      <p:sp>
        <p:nvSpPr>
          <p:cNvPr id="444" name="Google Shape;444;p38"/>
          <p:cNvSpPr/>
          <p:nvPr/>
        </p:nvSpPr>
        <p:spPr>
          <a:xfrm>
            <a:off x="457200" y="1238098"/>
            <a:ext cx="3886200" cy="48582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5" name="Google Shape;445;p38"/>
          <p:cNvSpPr/>
          <p:nvPr/>
        </p:nvSpPr>
        <p:spPr>
          <a:xfrm>
            <a:off x="629107" y="1390802"/>
            <a:ext cx="590700" cy="5907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38"/>
          <p:cNvSpPr txBox="1"/>
          <p:nvPr/>
        </p:nvSpPr>
        <p:spPr>
          <a:xfrm>
            <a:off x="629107" y="1390802"/>
            <a:ext cx="5907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Montserrat"/>
              <a:buNone/>
            </a:pPr>
            <a:r>
              <a:rPr b="1" lang="en-US" sz="1350">
                <a:solidFill>
                  <a:srgbClr val="FFFFFF"/>
                </a:solidFill>
                <a:latin typeface="Montserrat"/>
                <a:ea typeface="Montserrat"/>
                <a:cs typeface="Montserrat"/>
                <a:sym typeface="Montserrat"/>
              </a:rPr>
              <a:t>YL</a:t>
            </a:r>
            <a:endParaRPr/>
          </a:p>
        </p:txBody>
      </p:sp>
      <p:sp>
        <p:nvSpPr>
          <p:cNvPr id="447" name="Google Shape;447;p38"/>
          <p:cNvSpPr txBox="1"/>
          <p:nvPr/>
        </p:nvSpPr>
        <p:spPr>
          <a:xfrm>
            <a:off x="1320000" y="1400000"/>
            <a:ext cx="29001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125"/>
              <a:buFont typeface="Montserrat"/>
              <a:buNone/>
            </a:pPr>
            <a:r>
              <a:rPr b="1" lang="en-US" sz="1125">
                <a:solidFill>
                  <a:srgbClr val="0B2F5B"/>
                </a:solidFill>
                <a:latin typeface="Montserrat"/>
                <a:ea typeface="Montserrat"/>
                <a:cs typeface="Montserrat"/>
                <a:sym typeface="Montserrat"/>
              </a:rPr>
              <a:t>개발자 A — 이영준</a:t>
            </a:r>
            <a:endParaRPr/>
          </a:p>
        </p:txBody>
      </p:sp>
      <p:sp>
        <p:nvSpPr>
          <p:cNvPr id="448" name="Google Shape;448;p38"/>
          <p:cNvSpPr txBox="1"/>
          <p:nvPr/>
        </p:nvSpPr>
        <p:spPr>
          <a:xfrm>
            <a:off x="1320000" y="1700000"/>
            <a:ext cx="2900100" cy="26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Barlow"/>
              <a:buNone/>
            </a:pPr>
            <a:r>
              <a:rPr lang="en-US" sz="1000">
                <a:solidFill>
                  <a:srgbClr val="1867DC"/>
                </a:solidFill>
                <a:latin typeface="Barlow"/>
                <a:ea typeface="Barlow"/>
                <a:cs typeface="Barlow"/>
                <a:sym typeface="Barlow"/>
              </a:rPr>
              <a:t>팀장 · 시니어 iOS 개발자</a:t>
            </a:r>
            <a:endParaRPr/>
          </a:p>
        </p:txBody>
      </p:sp>
      <p:sp>
        <p:nvSpPr>
          <p:cNvPr id="449" name="Google Shape;449;p38"/>
          <p:cNvSpPr/>
          <p:nvPr/>
        </p:nvSpPr>
        <p:spPr>
          <a:xfrm>
            <a:off x="629107" y="21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38"/>
          <p:cNvSpPr txBox="1"/>
          <p:nvPr/>
        </p:nvSpPr>
        <p:spPr>
          <a:xfrm>
            <a:off x="700000" y="21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역할</a:t>
            </a:r>
            <a:endParaRPr/>
          </a:p>
        </p:txBody>
      </p:sp>
      <p:sp>
        <p:nvSpPr>
          <p:cNvPr id="451" name="Google Shape;451;p38"/>
          <p:cNvSpPr txBox="1"/>
          <p:nvPr/>
        </p:nvSpPr>
        <p:spPr>
          <a:xfrm>
            <a:off x="1980000" y="21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팀장 · iOS 총괄 · BLE 통합</a:t>
            </a:r>
            <a:endParaRPr/>
          </a:p>
        </p:txBody>
      </p:sp>
      <p:sp>
        <p:nvSpPr>
          <p:cNvPr id="452" name="Google Shape;452;p38"/>
          <p:cNvSpPr txBox="1"/>
          <p:nvPr/>
        </p:nvSpPr>
        <p:spPr>
          <a:xfrm>
            <a:off x="700000" y="25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수준</a:t>
            </a:r>
            <a:endParaRPr/>
          </a:p>
        </p:txBody>
      </p:sp>
      <p:sp>
        <p:nvSpPr>
          <p:cNvPr id="453" name="Google Shape;453;p38"/>
          <p:cNvSpPr txBox="1"/>
          <p:nvPr/>
        </p:nvSpPr>
        <p:spPr>
          <a:xfrm>
            <a:off x="1980000" y="25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Senior · ex-Mobile Tech Lead</a:t>
            </a:r>
            <a:endParaRPr/>
          </a:p>
        </p:txBody>
      </p:sp>
      <p:sp>
        <p:nvSpPr>
          <p:cNvPr id="454" name="Google Shape;454;p38"/>
          <p:cNvSpPr/>
          <p:nvPr/>
        </p:nvSpPr>
        <p:spPr>
          <a:xfrm>
            <a:off x="629107" y="29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p38"/>
          <p:cNvSpPr txBox="1"/>
          <p:nvPr/>
        </p:nvSpPr>
        <p:spPr>
          <a:xfrm>
            <a:off x="700000" y="29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경력</a:t>
            </a:r>
            <a:endParaRPr/>
          </a:p>
        </p:txBody>
      </p:sp>
      <p:sp>
        <p:nvSpPr>
          <p:cNvPr id="456" name="Google Shape;456;p38"/>
          <p:cNvSpPr txBox="1"/>
          <p:nvPr/>
        </p:nvSpPr>
        <p:spPr>
          <a:xfrm>
            <a:off x="1980000" y="29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2009.08 – 2025.10 · 15+ yrs</a:t>
            </a:r>
            <a:endParaRPr/>
          </a:p>
        </p:txBody>
      </p:sp>
      <p:sp>
        <p:nvSpPr>
          <p:cNvPr id="457" name="Google Shape;457;p38"/>
          <p:cNvSpPr txBox="1"/>
          <p:nvPr/>
        </p:nvSpPr>
        <p:spPr>
          <a:xfrm>
            <a:off x="700000" y="33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모바일 경력</a:t>
            </a:r>
            <a:endParaRPr/>
          </a:p>
        </p:txBody>
      </p:sp>
      <p:sp>
        <p:nvSpPr>
          <p:cNvPr id="458" name="Google Shape;458;p38"/>
          <p:cNvSpPr txBox="1"/>
          <p:nvPr/>
        </p:nvSpPr>
        <p:spPr>
          <a:xfrm>
            <a:off x="1980000" y="33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iOS since 2017 (5+ yrs) · mobile 8+ yrs</a:t>
            </a:r>
            <a:endParaRPr/>
          </a:p>
        </p:txBody>
      </p:sp>
      <p:sp>
        <p:nvSpPr>
          <p:cNvPr id="459" name="Google Shape;459;p38"/>
          <p:cNvSpPr/>
          <p:nvPr/>
        </p:nvSpPr>
        <p:spPr>
          <a:xfrm>
            <a:off x="629107" y="37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0" name="Google Shape;460;p38"/>
          <p:cNvSpPr txBox="1"/>
          <p:nvPr/>
        </p:nvSpPr>
        <p:spPr>
          <a:xfrm>
            <a:off x="700000" y="37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프로젝트 경력</a:t>
            </a:r>
            <a:endParaRPr/>
          </a:p>
        </p:txBody>
      </p:sp>
      <p:sp>
        <p:nvSpPr>
          <p:cNvPr id="461" name="Google Shape;461;p38"/>
          <p:cNvSpPr txBox="1"/>
          <p:nvPr/>
        </p:nvSpPr>
        <p:spPr>
          <a:xfrm>
            <a:off x="1980000" y="37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30+ · telecom, mobility, edtech</a:t>
            </a:r>
            <a:endParaRPr/>
          </a:p>
        </p:txBody>
      </p:sp>
      <p:sp>
        <p:nvSpPr>
          <p:cNvPr id="462" name="Google Shape;462;p38"/>
          <p:cNvSpPr txBox="1"/>
          <p:nvPr/>
        </p:nvSpPr>
        <p:spPr>
          <a:xfrm>
            <a:off x="700000" y="41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EDUCATION</a:t>
            </a:r>
            <a:endParaRPr/>
          </a:p>
        </p:txBody>
      </p:sp>
      <p:sp>
        <p:nvSpPr>
          <p:cNvPr id="463" name="Google Shape;463;p38"/>
          <p:cNvSpPr txBox="1"/>
          <p:nvPr/>
        </p:nvSpPr>
        <p:spPr>
          <a:xfrm>
            <a:off x="1980000" y="41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Seoil Univ., Software Engineering</a:t>
            </a:r>
            <a:endParaRPr/>
          </a:p>
        </p:txBody>
      </p:sp>
      <p:sp>
        <p:nvSpPr>
          <p:cNvPr id="464" name="Google Shape;464;p38"/>
          <p:cNvSpPr/>
          <p:nvPr/>
        </p:nvSpPr>
        <p:spPr>
          <a:xfrm>
            <a:off x="629107" y="45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38"/>
          <p:cNvSpPr txBox="1"/>
          <p:nvPr/>
        </p:nvSpPr>
        <p:spPr>
          <a:xfrm>
            <a:off x="700000" y="45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BASED IN</a:t>
            </a:r>
            <a:endParaRPr/>
          </a:p>
        </p:txBody>
      </p:sp>
      <p:sp>
        <p:nvSpPr>
          <p:cNvPr id="466" name="Google Shape;466;p38"/>
          <p:cNvSpPr txBox="1"/>
          <p:nvPr/>
        </p:nvSpPr>
        <p:spPr>
          <a:xfrm>
            <a:off x="1980000" y="45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Seoul</a:t>
            </a:r>
            <a:endParaRPr/>
          </a:p>
        </p:txBody>
      </p:sp>
      <p:sp>
        <p:nvSpPr>
          <p:cNvPr id="467" name="Google Shape;467;p38"/>
          <p:cNvSpPr/>
          <p:nvPr/>
        </p:nvSpPr>
        <p:spPr>
          <a:xfrm>
            <a:off x="629107" y="5120000"/>
            <a:ext cx="3542400" cy="80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8" name="Google Shape;468;p38"/>
          <p:cNvSpPr txBox="1"/>
          <p:nvPr/>
        </p:nvSpPr>
        <p:spPr>
          <a:xfrm>
            <a:off x="730000" y="5170000"/>
            <a:ext cx="3339900" cy="6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lang="en-US" sz="1050">
                <a:solidFill>
                  <a:srgbClr val="0B2F5B"/>
                </a:solidFill>
                <a:latin typeface="Barlow"/>
                <a:ea typeface="Barlow"/>
                <a:cs typeface="Barlow"/>
                <a:sym typeface="Barlow"/>
              </a:rPr>
              <a:t>Team Leader — owns delivery quality for all CMC work: code review, release gate, iOS lead, single technical contact for Qcells.</a:t>
            </a:r>
            <a:endParaRPr/>
          </a:p>
        </p:txBody>
      </p:sp>
      <p:sp>
        <p:nvSpPr>
          <p:cNvPr id="469" name="Google Shape;469;p38"/>
          <p:cNvSpPr/>
          <p:nvPr/>
        </p:nvSpPr>
        <p:spPr>
          <a:xfrm>
            <a:off x="4495800" y="1238098"/>
            <a:ext cx="7239300" cy="48582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0" name="Google Shape;470;p38"/>
          <p:cNvSpPr txBox="1"/>
          <p:nvPr/>
        </p:nvSpPr>
        <p:spPr>
          <a:xfrm>
            <a:off x="4667707" y="1390802"/>
            <a:ext cx="30000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Skills matching the RFP</a:t>
            </a:r>
            <a:endParaRPr/>
          </a:p>
        </p:txBody>
      </p:sp>
      <p:sp>
        <p:nvSpPr>
          <p:cNvPr id="471" name="Google Shape;471;p38"/>
          <p:cNvSpPr/>
          <p:nvPr/>
        </p:nvSpPr>
        <p:spPr>
          <a:xfrm>
            <a:off x="466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2" name="Google Shape;472;p38"/>
          <p:cNvSpPr txBox="1"/>
          <p:nvPr/>
        </p:nvSpPr>
        <p:spPr>
          <a:xfrm>
            <a:off x="466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Swift · SwiftUI</a:t>
            </a:r>
            <a:endParaRPr/>
          </a:p>
        </p:txBody>
      </p:sp>
      <p:sp>
        <p:nvSpPr>
          <p:cNvPr id="473" name="Google Shape;473;p38"/>
          <p:cNvSpPr/>
          <p:nvPr/>
        </p:nvSpPr>
        <p:spPr>
          <a:xfrm>
            <a:off x="582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p38"/>
          <p:cNvSpPr txBox="1"/>
          <p:nvPr/>
        </p:nvSpPr>
        <p:spPr>
          <a:xfrm>
            <a:off x="582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Concurrency</a:t>
            </a:r>
            <a:endParaRPr/>
          </a:p>
        </p:txBody>
      </p:sp>
      <p:sp>
        <p:nvSpPr>
          <p:cNvPr id="475" name="Google Shape;475;p38"/>
          <p:cNvSpPr/>
          <p:nvPr/>
        </p:nvSpPr>
        <p:spPr>
          <a:xfrm>
            <a:off x="698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6" name="Google Shape;476;p38"/>
          <p:cNvSpPr txBox="1"/>
          <p:nvPr/>
        </p:nvSpPr>
        <p:spPr>
          <a:xfrm>
            <a:off x="698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Combine · Rx</a:t>
            </a:r>
            <a:endParaRPr/>
          </a:p>
        </p:txBody>
      </p:sp>
      <p:sp>
        <p:nvSpPr>
          <p:cNvPr id="477" name="Google Shape;477;p38"/>
          <p:cNvSpPr/>
          <p:nvPr/>
        </p:nvSpPr>
        <p:spPr>
          <a:xfrm>
            <a:off x="814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38"/>
          <p:cNvSpPr txBox="1"/>
          <p:nvPr/>
        </p:nvSpPr>
        <p:spPr>
          <a:xfrm>
            <a:off x="814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Core Bluetooth</a:t>
            </a:r>
            <a:endParaRPr/>
          </a:p>
        </p:txBody>
      </p:sp>
      <p:sp>
        <p:nvSpPr>
          <p:cNvPr id="479" name="Google Shape;479;p38"/>
          <p:cNvSpPr/>
          <p:nvPr/>
        </p:nvSpPr>
        <p:spPr>
          <a:xfrm>
            <a:off x="930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38"/>
          <p:cNvSpPr txBox="1"/>
          <p:nvPr/>
        </p:nvSpPr>
        <p:spPr>
          <a:xfrm>
            <a:off x="930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XCTest · XCUI</a:t>
            </a:r>
            <a:endParaRPr/>
          </a:p>
        </p:txBody>
      </p:sp>
      <p:sp>
        <p:nvSpPr>
          <p:cNvPr id="481" name="Google Shape;481;p38"/>
          <p:cNvSpPr/>
          <p:nvPr/>
        </p:nvSpPr>
        <p:spPr>
          <a:xfrm>
            <a:off x="1046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38"/>
          <p:cNvSpPr txBox="1"/>
          <p:nvPr/>
        </p:nvSpPr>
        <p:spPr>
          <a:xfrm>
            <a:off x="1046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Fastlane · CI</a:t>
            </a:r>
            <a:endParaRPr/>
          </a:p>
        </p:txBody>
      </p:sp>
      <p:sp>
        <p:nvSpPr>
          <p:cNvPr id="483" name="Google Shape;483;p38"/>
          <p:cNvSpPr txBox="1"/>
          <p:nvPr/>
        </p:nvSpPr>
        <p:spPr>
          <a:xfrm>
            <a:off x="4667707" y="2080000"/>
            <a:ext cx="50001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Selected projects (from technical career sheet, latest first)</a:t>
            </a:r>
            <a:endParaRPr/>
          </a:p>
        </p:txBody>
      </p:sp>
      <p:sp>
        <p:nvSpPr>
          <p:cNvPr id="484" name="Google Shape;484;p38"/>
          <p:cNvSpPr/>
          <p:nvPr/>
        </p:nvSpPr>
        <p:spPr>
          <a:xfrm>
            <a:off x="4667707" y="2340000"/>
            <a:ext cx="6912300" cy="2799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p38"/>
          <p:cNvSpPr txBox="1"/>
          <p:nvPr/>
        </p:nvSpPr>
        <p:spPr>
          <a:xfrm>
            <a:off x="4727707" y="2340000"/>
            <a:ext cx="10899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Period</a:t>
            </a:r>
            <a:endParaRPr/>
          </a:p>
        </p:txBody>
      </p:sp>
      <p:sp>
        <p:nvSpPr>
          <p:cNvPr id="486" name="Google Shape;486;p38"/>
          <p:cNvSpPr txBox="1"/>
          <p:nvPr/>
        </p:nvSpPr>
        <p:spPr>
          <a:xfrm>
            <a:off x="5940000" y="2340000"/>
            <a:ext cx="25599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Project</a:t>
            </a:r>
            <a:endParaRPr/>
          </a:p>
        </p:txBody>
      </p:sp>
      <p:sp>
        <p:nvSpPr>
          <p:cNvPr id="487" name="Google Shape;487;p38"/>
          <p:cNvSpPr txBox="1"/>
          <p:nvPr/>
        </p:nvSpPr>
        <p:spPr>
          <a:xfrm>
            <a:off x="8620000" y="2340000"/>
            <a:ext cx="13401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Client</a:t>
            </a:r>
            <a:endParaRPr/>
          </a:p>
        </p:txBody>
      </p:sp>
      <p:sp>
        <p:nvSpPr>
          <p:cNvPr id="488" name="Google Shape;488;p38"/>
          <p:cNvSpPr txBox="1"/>
          <p:nvPr/>
        </p:nvSpPr>
        <p:spPr>
          <a:xfrm>
            <a:off x="10080000" y="2340000"/>
            <a:ext cx="15000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Role · Stack</a:t>
            </a:r>
            <a:endParaRPr/>
          </a:p>
        </p:txBody>
      </p:sp>
      <p:sp>
        <p:nvSpPr>
          <p:cNvPr id="489" name="Google Shape;489;p38"/>
          <p:cNvSpPr txBox="1"/>
          <p:nvPr/>
        </p:nvSpPr>
        <p:spPr>
          <a:xfrm>
            <a:off x="4727707" y="26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2024.06–2025.10</a:t>
            </a:r>
            <a:endParaRPr/>
          </a:p>
        </p:txBody>
      </p:sp>
      <p:sp>
        <p:nvSpPr>
          <p:cNvPr id="490" name="Google Shape;490;p38"/>
          <p:cNvSpPr txBox="1"/>
          <p:nvPr/>
        </p:nvSpPr>
        <p:spPr>
          <a:xfrm>
            <a:off x="5940000" y="26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T world, SWING, AI Layer SDK (3 SKT iOS apps)</a:t>
            </a:r>
            <a:endParaRPr/>
          </a:p>
        </p:txBody>
      </p:sp>
      <p:sp>
        <p:nvSpPr>
          <p:cNvPr id="491" name="Google Shape;491;p38"/>
          <p:cNvSpPr txBox="1"/>
          <p:nvPr/>
        </p:nvSpPr>
        <p:spPr>
          <a:xfrm>
            <a:off x="8620000" y="26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SK AX (SKT)</a:t>
            </a:r>
            <a:endParaRPr/>
          </a:p>
        </p:txBody>
      </p:sp>
      <p:sp>
        <p:nvSpPr>
          <p:cNvPr id="492" name="Google Shape;492;p38"/>
          <p:cNvSpPr txBox="1"/>
          <p:nvPr/>
        </p:nvSpPr>
        <p:spPr>
          <a:xfrm>
            <a:off x="10080000" y="26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iOS dev · Swift Concurrency, Combine</a:t>
            </a:r>
            <a:endParaRPr/>
          </a:p>
        </p:txBody>
      </p:sp>
      <p:sp>
        <p:nvSpPr>
          <p:cNvPr id="493" name="Google Shape;493;p38"/>
          <p:cNvSpPr/>
          <p:nvPr/>
        </p:nvSpPr>
        <p:spPr>
          <a:xfrm>
            <a:off x="4667707" y="30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4" name="Google Shape;494;p38"/>
          <p:cNvSpPr txBox="1"/>
          <p:nvPr/>
        </p:nvSpPr>
        <p:spPr>
          <a:xfrm>
            <a:off x="4727707" y="30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2021.06–2023.10</a:t>
            </a:r>
            <a:endParaRPr/>
          </a:p>
        </p:txBody>
      </p:sp>
      <p:sp>
        <p:nvSpPr>
          <p:cNvPr id="495" name="Google Shape;495;p38"/>
          <p:cNvSpPr txBox="1"/>
          <p:nvPr/>
        </p:nvSpPr>
        <p:spPr>
          <a:xfrm>
            <a:off x="5940000" y="30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Kickgoing shared e-scooter/e-bike app, BLE locks</a:t>
            </a:r>
            <a:endParaRPr/>
          </a:p>
        </p:txBody>
      </p:sp>
      <p:sp>
        <p:nvSpPr>
          <p:cNvPr id="496" name="Google Shape;496;p38"/>
          <p:cNvSpPr txBox="1"/>
          <p:nvPr/>
        </p:nvSpPr>
        <p:spPr>
          <a:xfrm>
            <a:off x="8620000" y="30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Olulo</a:t>
            </a:r>
            <a:endParaRPr/>
          </a:p>
        </p:txBody>
      </p:sp>
      <p:sp>
        <p:nvSpPr>
          <p:cNvPr id="497" name="Google Shape;497;p38"/>
          <p:cNvSpPr txBox="1"/>
          <p:nvPr/>
        </p:nvSpPr>
        <p:spPr>
          <a:xfrm>
            <a:off x="10080000" y="30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Mobile Tech Lead · React Native, BLE</a:t>
            </a:r>
            <a:endParaRPr/>
          </a:p>
        </p:txBody>
      </p:sp>
      <p:sp>
        <p:nvSpPr>
          <p:cNvPr id="498" name="Google Shape;498;p38"/>
          <p:cNvSpPr txBox="1"/>
          <p:nvPr/>
        </p:nvSpPr>
        <p:spPr>
          <a:xfrm>
            <a:off x="4727707" y="34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2018.06–2021.05</a:t>
            </a:r>
            <a:endParaRPr/>
          </a:p>
        </p:txBody>
      </p:sp>
      <p:sp>
        <p:nvSpPr>
          <p:cNvPr id="499" name="Google Shape;499;p38"/>
          <p:cNvSpPr txBox="1"/>
          <p:nvPr/>
        </p:nvSpPr>
        <p:spPr>
          <a:xfrm>
            <a:off x="5940000" y="34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Siwonschool app: lecture download, offline playback</a:t>
            </a:r>
            <a:endParaRPr/>
          </a:p>
        </p:txBody>
      </p:sp>
      <p:sp>
        <p:nvSpPr>
          <p:cNvPr id="500" name="Google Shape;500;p38"/>
          <p:cNvSpPr txBox="1"/>
          <p:nvPr/>
        </p:nvSpPr>
        <p:spPr>
          <a:xfrm>
            <a:off x="8620000" y="34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SJW International</a:t>
            </a:r>
            <a:endParaRPr/>
          </a:p>
        </p:txBody>
      </p:sp>
      <p:sp>
        <p:nvSpPr>
          <p:cNvPr id="501" name="Google Shape;501;p38"/>
          <p:cNvSpPr txBox="1"/>
          <p:nvPr/>
        </p:nvSpPr>
        <p:spPr>
          <a:xfrm>
            <a:off x="10080000" y="34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iOS dev · Swift, MVVM, RxSwift</a:t>
            </a:r>
            <a:endParaRPr/>
          </a:p>
        </p:txBody>
      </p:sp>
      <p:sp>
        <p:nvSpPr>
          <p:cNvPr id="502" name="Google Shape;502;p38"/>
          <p:cNvSpPr/>
          <p:nvPr/>
        </p:nvSpPr>
        <p:spPr>
          <a:xfrm>
            <a:off x="4667707" y="38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3" name="Google Shape;503;p38"/>
          <p:cNvSpPr txBox="1"/>
          <p:nvPr/>
        </p:nvSpPr>
        <p:spPr>
          <a:xfrm>
            <a:off x="4727707" y="38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2017.02–2018.06</a:t>
            </a:r>
            <a:endParaRPr/>
          </a:p>
        </p:txBody>
      </p:sp>
      <p:sp>
        <p:nvSpPr>
          <p:cNvPr id="504" name="Google Shape;504;p38"/>
          <p:cNvSpPr txBox="1"/>
          <p:nvPr/>
        </p:nvSpPr>
        <p:spPr>
          <a:xfrm>
            <a:off x="5940000" y="38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Related Stocks Finder, ShowNote (iPad PDF)</a:t>
            </a:r>
            <a:endParaRPr/>
          </a:p>
        </p:txBody>
      </p:sp>
      <p:sp>
        <p:nvSpPr>
          <p:cNvPr id="505" name="Google Shape;505;p38"/>
          <p:cNvSpPr txBox="1"/>
          <p:nvPr/>
        </p:nvSpPr>
        <p:spPr>
          <a:xfrm>
            <a:off x="8620000" y="38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Independent</a:t>
            </a:r>
            <a:endParaRPr/>
          </a:p>
        </p:txBody>
      </p:sp>
      <p:sp>
        <p:nvSpPr>
          <p:cNvPr id="506" name="Google Shape;506;p38"/>
          <p:cNvSpPr txBox="1"/>
          <p:nvPr/>
        </p:nvSpPr>
        <p:spPr>
          <a:xfrm>
            <a:off x="10080000" y="38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iOS dev · Swift, Firebase</a:t>
            </a:r>
            <a:endParaRPr/>
          </a:p>
        </p:txBody>
      </p:sp>
      <p:sp>
        <p:nvSpPr>
          <p:cNvPr id="507" name="Google Shape;507;p38"/>
          <p:cNvSpPr txBox="1"/>
          <p:nvPr/>
        </p:nvSpPr>
        <p:spPr>
          <a:xfrm>
            <a:off x="4727707" y="42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2009.08–2017.02</a:t>
            </a:r>
            <a:endParaRPr/>
          </a:p>
        </p:txBody>
      </p:sp>
      <p:sp>
        <p:nvSpPr>
          <p:cNvPr id="508" name="Google Shape;508;p38"/>
          <p:cNvSpPr txBox="1"/>
          <p:nvPr/>
        </p:nvSpPr>
        <p:spPr>
          <a:xfrm>
            <a:off x="5940000" y="42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SKT O2O Beacon Android SDK, Wi-Fi indoor positioning</a:t>
            </a:r>
            <a:endParaRPr/>
          </a:p>
        </p:txBody>
      </p:sp>
      <p:sp>
        <p:nvSpPr>
          <p:cNvPr id="509" name="Google Shape;509;p38"/>
          <p:cNvSpPr txBox="1"/>
          <p:nvPr/>
        </p:nvSpPr>
        <p:spPr>
          <a:xfrm>
            <a:off x="8620000" y="42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CREDiF (SKT)</a:t>
            </a:r>
            <a:endParaRPr/>
          </a:p>
        </p:txBody>
      </p:sp>
      <p:sp>
        <p:nvSpPr>
          <p:cNvPr id="510" name="Google Shape;510;p38"/>
          <p:cNvSpPr txBox="1"/>
          <p:nvPr/>
        </p:nvSpPr>
        <p:spPr>
          <a:xfrm>
            <a:off x="10080000" y="42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Developer · Java, AIDL, Beacon</a:t>
            </a:r>
            <a:endParaRPr/>
          </a:p>
        </p:txBody>
      </p:sp>
      <p:sp>
        <p:nvSpPr>
          <p:cNvPr id="511" name="Google Shape;511;p38"/>
          <p:cNvSpPr/>
          <p:nvPr/>
        </p:nvSpPr>
        <p:spPr>
          <a:xfrm>
            <a:off x="4667707" y="46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38"/>
          <p:cNvSpPr txBox="1"/>
          <p:nvPr/>
        </p:nvSpPr>
        <p:spPr>
          <a:xfrm>
            <a:off x="4727707" y="46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2009.08–2017.02</a:t>
            </a:r>
            <a:endParaRPr/>
          </a:p>
        </p:txBody>
      </p:sp>
      <p:sp>
        <p:nvSpPr>
          <p:cNvPr id="513" name="Google Shape;513;p38"/>
          <p:cNvSpPr txBox="1"/>
          <p:nvPr/>
        </p:nvSpPr>
        <p:spPr>
          <a:xfrm>
            <a:off x="5940000" y="46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30+ SI/SM projects, server to mobile clients</a:t>
            </a:r>
            <a:endParaRPr/>
          </a:p>
        </p:txBody>
      </p:sp>
      <p:sp>
        <p:nvSpPr>
          <p:cNvPr id="514" name="Google Shape;514;p38"/>
          <p:cNvSpPr txBox="1"/>
          <p:nvPr/>
        </p:nvSpPr>
        <p:spPr>
          <a:xfrm>
            <a:off x="8620000" y="46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CREDiF</a:t>
            </a:r>
            <a:endParaRPr/>
          </a:p>
        </p:txBody>
      </p:sp>
      <p:sp>
        <p:nvSpPr>
          <p:cNvPr id="515" name="Google Shape;515;p38"/>
          <p:cNvSpPr txBox="1"/>
          <p:nvPr/>
        </p:nvSpPr>
        <p:spPr>
          <a:xfrm>
            <a:off x="10080000" y="46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Full-stack · C, C#, Java</a:t>
            </a:r>
            <a:endParaRPr/>
          </a:p>
        </p:txBody>
      </p:sp>
      <p:sp>
        <p:nvSpPr>
          <p:cNvPr id="516" name="Google Shape;516;p38"/>
          <p:cNvSpPr txBox="1"/>
          <p:nvPr/>
        </p:nvSpPr>
        <p:spPr>
          <a:xfrm>
            <a:off x="4727707" y="50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2023–2026</a:t>
            </a:r>
            <a:endParaRPr/>
          </a:p>
        </p:txBody>
      </p:sp>
      <p:sp>
        <p:nvSpPr>
          <p:cNvPr id="517" name="Google Shape;517;p38"/>
          <p:cNvSpPr txBox="1"/>
          <p:nvPr/>
        </p:nvSpPr>
        <p:spPr>
          <a:xfrm>
            <a:off x="5940000" y="50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SwiftUI migration agent skill, Tuist, Clean Architecture</a:t>
            </a:r>
            <a:endParaRPr/>
          </a:p>
        </p:txBody>
      </p:sp>
      <p:sp>
        <p:nvSpPr>
          <p:cNvPr id="518" name="Google Shape;518;p38"/>
          <p:cNvSpPr txBox="1"/>
          <p:nvPr/>
        </p:nvSpPr>
        <p:spPr>
          <a:xfrm>
            <a:off x="8620000" y="50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Personal apps · OSS</a:t>
            </a:r>
            <a:endParaRPr/>
          </a:p>
        </p:txBody>
      </p:sp>
      <p:sp>
        <p:nvSpPr>
          <p:cNvPr id="519" name="Google Shape;519;p38"/>
          <p:cNvSpPr txBox="1"/>
          <p:nvPr/>
        </p:nvSpPr>
        <p:spPr>
          <a:xfrm>
            <a:off x="10080000" y="50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iOS · SwiftUI, TCA, Tuist</a:t>
            </a:r>
            <a:endParaRPr/>
          </a:p>
        </p:txBody>
      </p:sp>
      <p:sp>
        <p:nvSpPr>
          <p:cNvPr id="520" name="Google Shape;520;p38"/>
          <p:cNvSpPr txBox="1"/>
          <p:nvPr/>
        </p:nvSpPr>
        <p:spPr>
          <a:xfrm>
            <a:off x="4667707" y="5760000"/>
            <a:ext cx="6912300" cy="33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Barlow"/>
              <a:buNone/>
            </a:pPr>
            <a:r>
              <a:rPr lang="en-US" sz="1000">
                <a:solidFill>
                  <a:srgbClr val="5B6B7F"/>
                </a:solidFill>
                <a:latin typeface="Barlow"/>
                <a:ea typeface="Barlow"/>
                <a:cs typeface="Barlow"/>
                <a:sym typeface="Barlow"/>
              </a:rPr>
              <a:t>Contractor via CMC Global Korea · available 12 Oct 2026 · Korean native.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25" name="Shape 525"/>
        <p:cNvGrpSpPr/>
        <p:nvPr/>
      </p:nvGrpSpPr>
      <p:grpSpPr>
        <a:xfrm>
          <a:off x="0" y="0"/>
          <a:ext cx="0" cy="0"/>
          <a:chOff x="0" y="0"/>
          <a:chExt cx="0" cy="0"/>
        </a:xfrm>
      </p:grpSpPr>
      <p:sp>
        <p:nvSpPr>
          <p:cNvPr id="526" name="Google Shape;526;p39"/>
          <p:cNvSpPr txBox="1"/>
          <p:nvPr/>
        </p:nvSpPr>
        <p:spPr>
          <a:xfrm>
            <a:off x="457200" y="323698"/>
            <a:ext cx="6667800" cy="13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개발 인력 제안</a:t>
            </a:r>
            <a:endParaRPr/>
          </a:p>
        </p:txBody>
      </p:sp>
      <p:sp>
        <p:nvSpPr>
          <p:cNvPr id="527" name="Google Shape;527;p39"/>
          <p:cNvSpPr txBox="1"/>
          <p:nvPr/>
        </p:nvSpPr>
        <p:spPr>
          <a:xfrm>
            <a:off x="457200" y="590702"/>
            <a:ext cx="11277600" cy="28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개발자 B — 김진희, 시니어 iOS: iOS 15년, 프로젝트 35건</a:t>
            </a:r>
            <a:endParaRPr/>
          </a:p>
        </p:txBody>
      </p:sp>
      <p:sp>
        <p:nvSpPr>
          <p:cNvPr id="528" name="Google Shape;528;p39"/>
          <p:cNvSpPr/>
          <p:nvPr/>
        </p:nvSpPr>
        <p:spPr>
          <a:xfrm>
            <a:off x="457200" y="1238098"/>
            <a:ext cx="3886200" cy="48582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39"/>
          <p:cNvSpPr/>
          <p:nvPr/>
        </p:nvSpPr>
        <p:spPr>
          <a:xfrm>
            <a:off x="629107" y="1390802"/>
            <a:ext cx="590700" cy="59070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0" name="Google Shape;530;p39"/>
          <p:cNvSpPr txBox="1"/>
          <p:nvPr/>
        </p:nvSpPr>
        <p:spPr>
          <a:xfrm>
            <a:off x="629107" y="1390802"/>
            <a:ext cx="5907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Montserrat"/>
              <a:buNone/>
            </a:pPr>
            <a:r>
              <a:rPr b="1" lang="en-US" sz="1350">
                <a:solidFill>
                  <a:srgbClr val="FFFFFF"/>
                </a:solidFill>
                <a:latin typeface="Montserrat"/>
                <a:ea typeface="Montserrat"/>
                <a:cs typeface="Montserrat"/>
                <a:sym typeface="Montserrat"/>
              </a:rPr>
              <a:t>KJ</a:t>
            </a:r>
            <a:endParaRPr/>
          </a:p>
        </p:txBody>
      </p:sp>
      <p:sp>
        <p:nvSpPr>
          <p:cNvPr id="531" name="Google Shape;531;p39"/>
          <p:cNvSpPr txBox="1"/>
          <p:nvPr/>
        </p:nvSpPr>
        <p:spPr>
          <a:xfrm>
            <a:off x="1320000" y="1400000"/>
            <a:ext cx="29001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125"/>
              <a:buFont typeface="Montserrat"/>
              <a:buNone/>
            </a:pPr>
            <a:r>
              <a:rPr b="1" lang="en-US" sz="1125">
                <a:solidFill>
                  <a:srgbClr val="0B2F5B"/>
                </a:solidFill>
                <a:latin typeface="Montserrat"/>
                <a:ea typeface="Montserrat"/>
                <a:cs typeface="Montserrat"/>
                <a:sym typeface="Montserrat"/>
              </a:rPr>
              <a:t>Candidate B — Kim Jin-hee (김진희)</a:t>
            </a:r>
            <a:endParaRPr/>
          </a:p>
        </p:txBody>
      </p:sp>
      <p:sp>
        <p:nvSpPr>
          <p:cNvPr id="532" name="Google Shape;532;p39"/>
          <p:cNvSpPr txBox="1"/>
          <p:nvPr/>
        </p:nvSpPr>
        <p:spPr>
          <a:xfrm>
            <a:off x="1320000" y="1700000"/>
            <a:ext cx="2900100" cy="26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Barlow"/>
              <a:buNone/>
            </a:pPr>
            <a:r>
              <a:rPr lang="en-US" sz="1000">
                <a:solidFill>
                  <a:srgbClr val="1867DC"/>
                </a:solidFill>
                <a:latin typeface="Barlow"/>
                <a:ea typeface="Barlow"/>
                <a:cs typeface="Barlow"/>
                <a:sym typeface="Barlow"/>
              </a:rPr>
              <a:t>Senior iOS Engineer</a:t>
            </a:r>
            <a:endParaRPr/>
          </a:p>
        </p:txBody>
      </p:sp>
      <p:sp>
        <p:nvSpPr>
          <p:cNvPr id="533" name="Google Shape;533;p39"/>
          <p:cNvSpPr/>
          <p:nvPr/>
        </p:nvSpPr>
        <p:spPr>
          <a:xfrm>
            <a:off x="629107" y="21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4" name="Google Shape;534;p39"/>
          <p:cNvSpPr txBox="1"/>
          <p:nvPr/>
        </p:nvSpPr>
        <p:spPr>
          <a:xfrm>
            <a:off x="700000" y="21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ROLE ON PROJECT</a:t>
            </a:r>
            <a:endParaRPr/>
          </a:p>
        </p:txBody>
      </p:sp>
      <p:sp>
        <p:nvSpPr>
          <p:cNvPr id="535" name="Google Shape;535;p39"/>
          <p:cNvSpPr txBox="1"/>
          <p:nvPr/>
        </p:nvSpPr>
        <p:spPr>
          <a:xfrm>
            <a:off x="1980000" y="21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Senior iOS Engineer · iOS lead</a:t>
            </a:r>
            <a:endParaRPr/>
          </a:p>
        </p:txBody>
      </p:sp>
      <p:sp>
        <p:nvSpPr>
          <p:cNvPr id="536" name="Google Shape;536;p39"/>
          <p:cNvSpPr txBox="1"/>
          <p:nvPr/>
        </p:nvSpPr>
        <p:spPr>
          <a:xfrm>
            <a:off x="700000" y="25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GRADE</a:t>
            </a:r>
            <a:endParaRPr/>
          </a:p>
        </p:txBody>
      </p:sp>
      <p:sp>
        <p:nvSpPr>
          <p:cNvPr id="537" name="Google Shape;537;p39"/>
          <p:cNvSpPr txBox="1"/>
          <p:nvPr/>
        </p:nvSpPr>
        <p:spPr>
          <a:xfrm>
            <a:off x="1980000" y="25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Advanced / Expert (고급/특급)</a:t>
            </a:r>
            <a:endParaRPr/>
          </a:p>
        </p:txBody>
      </p:sp>
      <p:sp>
        <p:nvSpPr>
          <p:cNvPr id="538" name="Google Shape;538;p39"/>
          <p:cNvSpPr/>
          <p:nvPr/>
        </p:nvSpPr>
        <p:spPr>
          <a:xfrm>
            <a:off x="629107" y="29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9" name="Google Shape;539;p39"/>
          <p:cNvSpPr txBox="1"/>
          <p:nvPr/>
        </p:nvSpPr>
        <p:spPr>
          <a:xfrm>
            <a:off x="700000" y="29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CAREER</a:t>
            </a:r>
            <a:endParaRPr/>
          </a:p>
        </p:txBody>
      </p:sp>
      <p:sp>
        <p:nvSpPr>
          <p:cNvPr id="540" name="Google Shape;540;p39"/>
          <p:cNvSpPr txBox="1"/>
          <p:nvPr/>
        </p:nvSpPr>
        <p:spPr>
          <a:xfrm>
            <a:off x="1980000" y="29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1996.03 – 2026.04 · 18 yrs in IT</a:t>
            </a:r>
            <a:endParaRPr/>
          </a:p>
        </p:txBody>
      </p:sp>
      <p:sp>
        <p:nvSpPr>
          <p:cNvPr id="541" name="Google Shape;541;p39"/>
          <p:cNvSpPr txBox="1"/>
          <p:nvPr/>
        </p:nvSpPr>
        <p:spPr>
          <a:xfrm>
            <a:off x="700000" y="33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MOBILE SINCE</a:t>
            </a:r>
            <a:endParaRPr/>
          </a:p>
        </p:txBody>
      </p:sp>
      <p:sp>
        <p:nvSpPr>
          <p:cNvPr id="542" name="Google Shape;542;p39"/>
          <p:cNvSpPr txBox="1"/>
          <p:nvPr/>
        </p:nvSpPr>
        <p:spPr>
          <a:xfrm>
            <a:off x="1980000" y="33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iOS since 2011 (~15 yrs), watchOS</a:t>
            </a:r>
            <a:endParaRPr/>
          </a:p>
        </p:txBody>
      </p:sp>
      <p:sp>
        <p:nvSpPr>
          <p:cNvPr id="543" name="Google Shape;543;p39"/>
          <p:cNvSpPr/>
          <p:nvPr/>
        </p:nvSpPr>
        <p:spPr>
          <a:xfrm>
            <a:off x="629107" y="37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4" name="Google Shape;544;p39"/>
          <p:cNvSpPr txBox="1"/>
          <p:nvPr/>
        </p:nvSpPr>
        <p:spPr>
          <a:xfrm>
            <a:off x="700000" y="37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PROJECTS</a:t>
            </a:r>
            <a:endParaRPr/>
          </a:p>
        </p:txBody>
      </p:sp>
      <p:sp>
        <p:nvSpPr>
          <p:cNvPr id="545" name="Google Shape;545;p39"/>
          <p:cNvSpPr txBox="1"/>
          <p:nvPr/>
        </p:nvSpPr>
        <p:spPr>
          <a:xfrm>
            <a:off x="1980000" y="37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35 · finance, airline, IoT</a:t>
            </a:r>
            <a:endParaRPr/>
          </a:p>
        </p:txBody>
      </p:sp>
      <p:sp>
        <p:nvSpPr>
          <p:cNvPr id="546" name="Google Shape;546;p39"/>
          <p:cNvSpPr txBox="1"/>
          <p:nvPr/>
        </p:nvSpPr>
        <p:spPr>
          <a:xfrm>
            <a:off x="700000" y="41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EDUCATION</a:t>
            </a:r>
            <a:endParaRPr/>
          </a:p>
        </p:txBody>
      </p:sp>
      <p:sp>
        <p:nvSpPr>
          <p:cNvPr id="547" name="Google Shape;547;p39"/>
          <p:cNvSpPr txBox="1"/>
          <p:nvPr/>
        </p:nvSpPr>
        <p:spPr>
          <a:xfrm>
            <a:off x="1980000" y="41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Seokyeong Univ., Computer Science</a:t>
            </a:r>
            <a:endParaRPr/>
          </a:p>
        </p:txBody>
      </p:sp>
      <p:sp>
        <p:nvSpPr>
          <p:cNvPr id="548" name="Google Shape;548;p39"/>
          <p:cNvSpPr/>
          <p:nvPr/>
        </p:nvSpPr>
        <p:spPr>
          <a:xfrm>
            <a:off x="629107" y="45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9" name="Google Shape;549;p39"/>
          <p:cNvSpPr txBox="1"/>
          <p:nvPr/>
        </p:nvSpPr>
        <p:spPr>
          <a:xfrm>
            <a:off x="700000" y="45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BASED IN</a:t>
            </a:r>
            <a:endParaRPr/>
          </a:p>
        </p:txBody>
      </p:sp>
      <p:sp>
        <p:nvSpPr>
          <p:cNvPr id="550" name="Google Shape;550;p39"/>
          <p:cNvSpPr txBox="1"/>
          <p:nvPr/>
        </p:nvSpPr>
        <p:spPr>
          <a:xfrm>
            <a:off x="1980000" y="45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Seoul (Eunpyeong-gu)</a:t>
            </a:r>
            <a:endParaRPr/>
          </a:p>
        </p:txBody>
      </p:sp>
      <p:sp>
        <p:nvSpPr>
          <p:cNvPr id="551" name="Google Shape;551;p39"/>
          <p:cNvSpPr/>
          <p:nvPr/>
        </p:nvSpPr>
        <p:spPr>
          <a:xfrm>
            <a:off x="629107" y="5120000"/>
            <a:ext cx="3542400" cy="80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39"/>
          <p:cNvSpPr txBox="1"/>
          <p:nvPr/>
        </p:nvSpPr>
        <p:spPr>
          <a:xfrm>
            <a:off x="730000" y="5170000"/>
            <a:ext cx="3339900" cy="6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lang="en-US" sz="1050">
                <a:solidFill>
                  <a:srgbClr val="0B2F5B"/>
                </a:solidFill>
                <a:latin typeface="Barlow"/>
                <a:ea typeface="Barlow"/>
                <a:cs typeface="Barlow"/>
                <a:sym typeface="Barlow"/>
              </a:rPr>
              <a:t>Senior iOS Engineer — owns the iOS codebase, architecture (MVVM, Combine) and App Store releases; shares iOS delivery with Candidate A (Team Leader).</a:t>
            </a:r>
            <a:endParaRPr/>
          </a:p>
        </p:txBody>
      </p:sp>
      <p:sp>
        <p:nvSpPr>
          <p:cNvPr id="553" name="Google Shape;553;p39"/>
          <p:cNvSpPr/>
          <p:nvPr/>
        </p:nvSpPr>
        <p:spPr>
          <a:xfrm>
            <a:off x="4495800" y="1238098"/>
            <a:ext cx="7239300" cy="48582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4" name="Google Shape;554;p39"/>
          <p:cNvSpPr txBox="1"/>
          <p:nvPr/>
        </p:nvSpPr>
        <p:spPr>
          <a:xfrm>
            <a:off x="4667707" y="1390802"/>
            <a:ext cx="30000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Skills matching the RFP</a:t>
            </a:r>
            <a:endParaRPr/>
          </a:p>
        </p:txBody>
      </p:sp>
      <p:sp>
        <p:nvSpPr>
          <p:cNvPr id="555" name="Google Shape;555;p39"/>
          <p:cNvSpPr/>
          <p:nvPr/>
        </p:nvSpPr>
        <p:spPr>
          <a:xfrm>
            <a:off x="466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6" name="Google Shape;556;p39"/>
          <p:cNvSpPr txBox="1"/>
          <p:nvPr/>
        </p:nvSpPr>
        <p:spPr>
          <a:xfrm>
            <a:off x="466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Swift</a:t>
            </a:r>
            <a:endParaRPr/>
          </a:p>
        </p:txBody>
      </p:sp>
      <p:sp>
        <p:nvSpPr>
          <p:cNvPr id="557" name="Google Shape;557;p39"/>
          <p:cNvSpPr/>
          <p:nvPr/>
        </p:nvSpPr>
        <p:spPr>
          <a:xfrm>
            <a:off x="582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39"/>
          <p:cNvSpPr txBox="1"/>
          <p:nvPr/>
        </p:nvSpPr>
        <p:spPr>
          <a:xfrm>
            <a:off x="582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Objective-C</a:t>
            </a:r>
            <a:endParaRPr/>
          </a:p>
        </p:txBody>
      </p:sp>
      <p:sp>
        <p:nvSpPr>
          <p:cNvPr id="559" name="Google Shape;559;p39"/>
          <p:cNvSpPr/>
          <p:nvPr/>
        </p:nvSpPr>
        <p:spPr>
          <a:xfrm>
            <a:off x="698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0" name="Google Shape;560;p39"/>
          <p:cNvSpPr txBox="1"/>
          <p:nvPr/>
        </p:nvSpPr>
        <p:spPr>
          <a:xfrm>
            <a:off x="698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SwiftUI</a:t>
            </a:r>
            <a:endParaRPr/>
          </a:p>
        </p:txBody>
      </p:sp>
      <p:sp>
        <p:nvSpPr>
          <p:cNvPr id="561" name="Google Shape;561;p39"/>
          <p:cNvSpPr/>
          <p:nvPr/>
        </p:nvSpPr>
        <p:spPr>
          <a:xfrm>
            <a:off x="814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39"/>
          <p:cNvSpPr txBox="1"/>
          <p:nvPr/>
        </p:nvSpPr>
        <p:spPr>
          <a:xfrm>
            <a:off x="814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RxSwift · Combine</a:t>
            </a:r>
            <a:endParaRPr/>
          </a:p>
        </p:txBody>
      </p:sp>
      <p:sp>
        <p:nvSpPr>
          <p:cNvPr id="563" name="Google Shape;563;p39"/>
          <p:cNvSpPr/>
          <p:nvPr/>
        </p:nvSpPr>
        <p:spPr>
          <a:xfrm>
            <a:off x="930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4" name="Google Shape;564;p39"/>
          <p:cNvSpPr txBox="1"/>
          <p:nvPr/>
        </p:nvSpPr>
        <p:spPr>
          <a:xfrm>
            <a:off x="930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MVVM</a:t>
            </a:r>
            <a:endParaRPr/>
          </a:p>
        </p:txBody>
      </p:sp>
      <p:sp>
        <p:nvSpPr>
          <p:cNvPr id="565" name="Google Shape;565;p39"/>
          <p:cNvSpPr/>
          <p:nvPr/>
        </p:nvSpPr>
        <p:spPr>
          <a:xfrm>
            <a:off x="1046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6" name="Google Shape;566;p39"/>
          <p:cNvSpPr txBox="1"/>
          <p:nvPr/>
        </p:nvSpPr>
        <p:spPr>
          <a:xfrm>
            <a:off x="1046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watchOS</a:t>
            </a:r>
            <a:endParaRPr/>
          </a:p>
        </p:txBody>
      </p:sp>
      <p:sp>
        <p:nvSpPr>
          <p:cNvPr id="567" name="Google Shape;567;p39"/>
          <p:cNvSpPr txBox="1"/>
          <p:nvPr/>
        </p:nvSpPr>
        <p:spPr>
          <a:xfrm>
            <a:off x="4667707" y="2080000"/>
            <a:ext cx="50001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Selected projects (from technical career sheet, latest first)</a:t>
            </a:r>
            <a:endParaRPr/>
          </a:p>
        </p:txBody>
      </p:sp>
      <p:sp>
        <p:nvSpPr>
          <p:cNvPr id="568" name="Google Shape;568;p39"/>
          <p:cNvSpPr/>
          <p:nvPr/>
        </p:nvSpPr>
        <p:spPr>
          <a:xfrm>
            <a:off x="4667707" y="2340000"/>
            <a:ext cx="6912300" cy="2799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9" name="Google Shape;569;p39"/>
          <p:cNvSpPr txBox="1"/>
          <p:nvPr/>
        </p:nvSpPr>
        <p:spPr>
          <a:xfrm>
            <a:off x="4727707" y="2340000"/>
            <a:ext cx="10899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Period</a:t>
            </a:r>
            <a:endParaRPr/>
          </a:p>
        </p:txBody>
      </p:sp>
      <p:sp>
        <p:nvSpPr>
          <p:cNvPr id="570" name="Google Shape;570;p39"/>
          <p:cNvSpPr txBox="1"/>
          <p:nvPr/>
        </p:nvSpPr>
        <p:spPr>
          <a:xfrm>
            <a:off x="5940000" y="2340000"/>
            <a:ext cx="25599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Project</a:t>
            </a:r>
            <a:endParaRPr/>
          </a:p>
        </p:txBody>
      </p:sp>
      <p:sp>
        <p:nvSpPr>
          <p:cNvPr id="571" name="Google Shape;571;p39"/>
          <p:cNvSpPr txBox="1"/>
          <p:nvPr/>
        </p:nvSpPr>
        <p:spPr>
          <a:xfrm>
            <a:off x="8620000" y="2340000"/>
            <a:ext cx="13401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Client</a:t>
            </a:r>
            <a:endParaRPr/>
          </a:p>
        </p:txBody>
      </p:sp>
      <p:sp>
        <p:nvSpPr>
          <p:cNvPr id="572" name="Google Shape;572;p39"/>
          <p:cNvSpPr txBox="1"/>
          <p:nvPr/>
        </p:nvSpPr>
        <p:spPr>
          <a:xfrm>
            <a:off x="10080000" y="2340000"/>
            <a:ext cx="15000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Role · Stack</a:t>
            </a:r>
            <a:endParaRPr/>
          </a:p>
        </p:txBody>
      </p:sp>
      <p:sp>
        <p:nvSpPr>
          <p:cNvPr id="573" name="Google Shape;573;p39"/>
          <p:cNvSpPr txBox="1"/>
          <p:nvPr/>
        </p:nvSpPr>
        <p:spPr>
          <a:xfrm>
            <a:off x="4727707" y="26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2026.02–04</a:t>
            </a:r>
            <a:endParaRPr/>
          </a:p>
        </p:txBody>
      </p:sp>
      <p:sp>
        <p:nvSpPr>
          <p:cNvPr id="574" name="Google Shape;574;p39"/>
          <p:cNvSpPr txBox="1"/>
          <p:nvPr/>
        </p:nvSpPr>
        <p:spPr>
          <a:xfrm>
            <a:off x="5940000" y="26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Senior Living mobile app</a:t>
            </a:r>
            <a:endParaRPr/>
          </a:p>
        </p:txBody>
      </p:sp>
      <p:sp>
        <p:nvSpPr>
          <p:cNvPr id="575" name="Google Shape;575;p39"/>
          <p:cNvSpPr txBox="1"/>
          <p:nvPr/>
        </p:nvSpPr>
        <p:spPr>
          <a:xfrm>
            <a:off x="8620000" y="26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Samsung C&amp;T</a:t>
            </a:r>
            <a:endParaRPr/>
          </a:p>
        </p:txBody>
      </p:sp>
      <p:sp>
        <p:nvSpPr>
          <p:cNvPr id="576" name="Google Shape;576;p39"/>
          <p:cNvSpPr txBox="1"/>
          <p:nvPr/>
        </p:nvSpPr>
        <p:spPr>
          <a:xfrm>
            <a:off x="10080000" y="26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Kotlin</a:t>
            </a:r>
            <a:endParaRPr/>
          </a:p>
        </p:txBody>
      </p:sp>
      <p:sp>
        <p:nvSpPr>
          <p:cNvPr id="577" name="Google Shape;577;p39"/>
          <p:cNvSpPr/>
          <p:nvPr/>
        </p:nvSpPr>
        <p:spPr>
          <a:xfrm>
            <a:off x="4667707" y="30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8" name="Google Shape;578;p39"/>
          <p:cNvSpPr txBox="1"/>
          <p:nvPr/>
        </p:nvSpPr>
        <p:spPr>
          <a:xfrm>
            <a:off x="4727707" y="30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2025.08–10</a:t>
            </a:r>
            <a:endParaRPr/>
          </a:p>
        </p:txBody>
      </p:sp>
      <p:sp>
        <p:nvSpPr>
          <p:cNvPr id="579" name="Google Shape;579;p39"/>
          <p:cNvSpPr txBox="1"/>
          <p:nvPr/>
        </p:nvSpPr>
        <p:spPr>
          <a:xfrm>
            <a:off x="5940000" y="30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MDM removal mobile app</a:t>
            </a:r>
            <a:endParaRPr/>
          </a:p>
        </p:txBody>
      </p:sp>
      <p:sp>
        <p:nvSpPr>
          <p:cNvPr id="580" name="Google Shape;580;p39"/>
          <p:cNvSpPr txBox="1"/>
          <p:nvPr/>
        </p:nvSpPr>
        <p:spPr>
          <a:xfrm>
            <a:off x="8620000" y="30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Jeju Air</a:t>
            </a:r>
            <a:endParaRPr/>
          </a:p>
        </p:txBody>
      </p:sp>
      <p:sp>
        <p:nvSpPr>
          <p:cNvPr id="581" name="Google Shape;581;p39"/>
          <p:cNvSpPr txBox="1"/>
          <p:nvPr/>
        </p:nvSpPr>
        <p:spPr>
          <a:xfrm>
            <a:off x="10080000" y="30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MDM</a:t>
            </a:r>
            <a:endParaRPr/>
          </a:p>
        </p:txBody>
      </p:sp>
      <p:sp>
        <p:nvSpPr>
          <p:cNvPr id="582" name="Google Shape;582;p39"/>
          <p:cNvSpPr txBox="1"/>
          <p:nvPr/>
        </p:nvSpPr>
        <p:spPr>
          <a:xfrm>
            <a:off x="4727707" y="34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2025.04–07</a:t>
            </a:r>
            <a:endParaRPr/>
          </a:p>
        </p:txBody>
      </p:sp>
      <p:sp>
        <p:nvSpPr>
          <p:cNvPr id="583" name="Google Shape;583;p39"/>
          <p:cNvSpPr txBox="1"/>
          <p:nvPr/>
        </p:nvSpPr>
        <p:spPr>
          <a:xfrm>
            <a:off x="5940000" y="34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Korail Talk renewal (iOS)</a:t>
            </a:r>
            <a:endParaRPr/>
          </a:p>
        </p:txBody>
      </p:sp>
      <p:sp>
        <p:nvSpPr>
          <p:cNvPr id="584" name="Google Shape;584;p39"/>
          <p:cNvSpPr txBox="1"/>
          <p:nvPr/>
        </p:nvSpPr>
        <p:spPr>
          <a:xfrm>
            <a:off x="8620000" y="34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Korail</a:t>
            </a:r>
            <a:endParaRPr/>
          </a:p>
        </p:txBody>
      </p:sp>
      <p:sp>
        <p:nvSpPr>
          <p:cNvPr id="585" name="Google Shape;585;p39"/>
          <p:cNvSpPr txBox="1"/>
          <p:nvPr/>
        </p:nvSpPr>
        <p:spPr>
          <a:xfrm>
            <a:off x="10080000" y="34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Combine</a:t>
            </a:r>
            <a:endParaRPr/>
          </a:p>
        </p:txBody>
      </p:sp>
      <p:sp>
        <p:nvSpPr>
          <p:cNvPr id="586" name="Google Shape;586;p39"/>
          <p:cNvSpPr/>
          <p:nvPr/>
        </p:nvSpPr>
        <p:spPr>
          <a:xfrm>
            <a:off x="4667707" y="38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7" name="Google Shape;587;p39"/>
          <p:cNvSpPr txBox="1"/>
          <p:nvPr/>
        </p:nvSpPr>
        <p:spPr>
          <a:xfrm>
            <a:off x="4727707" y="38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2024.11–2025.02</a:t>
            </a:r>
            <a:endParaRPr/>
          </a:p>
        </p:txBody>
      </p:sp>
      <p:sp>
        <p:nvSpPr>
          <p:cNvPr id="588" name="Google Shape;588;p39"/>
          <p:cNvSpPr txBox="1"/>
          <p:nvPr/>
        </p:nvSpPr>
        <p:spPr>
          <a:xfrm>
            <a:off x="5940000" y="38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D2C channel upgrade app</a:t>
            </a:r>
            <a:endParaRPr/>
          </a:p>
        </p:txBody>
      </p:sp>
      <p:sp>
        <p:nvSpPr>
          <p:cNvPr id="589" name="Google Shape;589;p39"/>
          <p:cNvSpPr txBox="1"/>
          <p:nvPr/>
        </p:nvSpPr>
        <p:spPr>
          <a:xfrm>
            <a:off x="8620000" y="38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Jeju Air</a:t>
            </a:r>
            <a:endParaRPr/>
          </a:p>
        </p:txBody>
      </p:sp>
      <p:sp>
        <p:nvSpPr>
          <p:cNvPr id="590" name="Google Shape;590;p39"/>
          <p:cNvSpPr txBox="1"/>
          <p:nvPr/>
        </p:nvSpPr>
        <p:spPr>
          <a:xfrm>
            <a:off x="10080000" y="38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RxSwift</a:t>
            </a:r>
            <a:endParaRPr/>
          </a:p>
        </p:txBody>
      </p:sp>
      <p:sp>
        <p:nvSpPr>
          <p:cNvPr id="591" name="Google Shape;591;p39"/>
          <p:cNvSpPr txBox="1"/>
          <p:nvPr/>
        </p:nvSpPr>
        <p:spPr>
          <a:xfrm>
            <a:off x="4727707" y="42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2024.02–05</a:t>
            </a:r>
            <a:endParaRPr/>
          </a:p>
        </p:txBody>
      </p:sp>
      <p:sp>
        <p:nvSpPr>
          <p:cNvPr id="592" name="Google Shape;592;p39"/>
          <p:cNvSpPr txBox="1"/>
          <p:nvPr/>
        </p:nvSpPr>
        <p:spPr>
          <a:xfrm>
            <a:off x="5940000" y="42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Smart device management app</a:t>
            </a:r>
            <a:endParaRPr/>
          </a:p>
        </p:txBody>
      </p:sp>
      <p:sp>
        <p:nvSpPr>
          <p:cNvPr id="593" name="Google Shape;593;p39"/>
          <p:cNvSpPr txBox="1"/>
          <p:nvPr/>
        </p:nvSpPr>
        <p:spPr>
          <a:xfrm>
            <a:off x="8620000" y="42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Gyeonggi / Seoul Education Office</a:t>
            </a:r>
            <a:endParaRPr/>
          </a:p>
        </p:txBody>
      </p:sp>
      <p:sp>
        <p:nvSpPr>
          <p:cNvPr id="594" name="Google Shape;594;p39"/>
          <p:cNvSpPr txBox="1"/>
          <p:nvPr/>
        </p:nvSpPr>
        <p:spPr>
          <a:xfrm>
            <a:off x="10080000" y="42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SwiftUI, MVVM</a:t>
            </a:r>
            <a:endParaRPr/>
          </a:p>
        </p:txBody>
      </p:sp>
      <p:sp>
        <p:nvSpPr>
          <p:cNvPr id="595" name="Google Shape;595;p39"/>
          <p:cNvSpPr/>
          <p:nvPr/>
        </p:nvSpPr>
        <p:spPr>
          <a:xfrm>
            <a:off x="4667707" y="46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6" name="Google Shape;596;p39"/>
          <p:cNvSpPr txBox="1"/>
          <p:nvPr/>
        </p:nvSpPr>
        <p:spPr>
          <a:xfrm>
            <a:off x="4727707" y="46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2023.05–11</a:t>
            </a:r>
            <a:endParaRPr/>
          </a:p>
        </p:txBody>
      </p:sp>
      <p:sp>
        <p:nvSpPr>
          <p:cNvPr id="597" name="Google Shape;597;p39"/>
          <p:cNvSpPr txBox="1"/>
          <p:nvPr/>
        </p:nvSpPr>
        <p:spPr>
          <a:xfrm>
            <a:off x="5940000" y="46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DIVE app</a:t>
            </a:r>
            <a:endParaRPr/>
          </a:p>
        </p:txBody>
      </p:sp>
      <p:sp>
        <p:nvSpPr>
          <p:cNvPr id="598" name="Google Shape;598;p39"/>
          <p:cNvSpPr txBox="1"/>
          <p:nvPr/>
        </p:nvSpPr>
        <p:spPr>
          <a:xfrm>
            <a:off x="8620000" y="46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Hyundai Card</a:t>
            </a:r>
            <a:endParaRPr/>
          </a:p>
        </p:txBody>
      </p:sp>
      <p:sp>
        <p:nvSpPr>
          <p:cNvPr id="599" name="Google Shape;599;p39"/>
          <p:cNvSpPr txBox="1"/>
          <p:nvPr/>
        </p:nvSpPr>
        <p:spPr>
          <a:xfrm>
            <a:off x="10080000" y="46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Objective-C, Swift</a:t>
            </a:r>
            <a:endParaRPr/>
          </a:p>
        </p:txBody>
      </p:sp>
      <p:sp>
        <p:nvSpPr>
          <p:cNvPr id="600" name="Google Shape;600;p39"/>
          <p:cNvSpPr txBox="1"/>
          <p:nvPr/>
        </p:nvSpPr>
        <p:spPr>
          <a:xfrm>
            <a:off x="4727707" y="50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2019.04–2021.09</a:t>
            </a:r>
            <a:endParaRPr/>
          </a:p>
        </p:txBody>
      </p:sp>
      <p:sp>
        <p:nvSpPr>
          <p:cNvPr id="601" name="Google Shape;601;p39"/>
          <p:cNvSpPr txBox="1"/>
          <p:nvPr/>
        </p:nvSpPr>
        <p:spPr>
          <a:xfrm>
            <a:off x="5940000" y="50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SmartThinQ IoT appliance app (iOS)</a:t>
            </a:r>
            <a:endParaRPr/>
          </a:p>
        </p:txBody>
      </p:sp>
      <p:sp>
        <p:nvSpPr>
          <p:cNvPr id="602" name="Google Shape;602;p39"/>
          <p:cNvSpPr txBox="1"/>
          <p:nvPr/>
        </p:nvSpPr>
        <p:spPr>
          <a:xfrm>
            <a:off x="8620000" y="50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LG Electronics</a:t>
            </a:r>
            <a:endParaRPr/>
          </a:p>
        </p:txBody>
      </p:sp>
      <p:sp>
        <p:nvSpPr>
          <p:cNvPr id="603" name="Google Shape;603;p39"/>
          <p:cNvSpPr txBox="1"/>
          <p:nvPr/>
        </p:nvSpPr>
        <p:spPr>
          <a:xfrm>
            <a:off x="10080000" y="50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Design &amp; dev · Swift, RxSwift, Realm</a:t>
            </a:r>
            <a:endParaRPr/>
          </a:p>
        </p:txBody>
      </p:sp>
      <p:sp>
        <p:nvSpPr>
          <p:cNvPr id="604" name="Google Shape;604;p39"/>
          <p:cNvSpPr txBox="1"/>
          <p:nvPr/>
        </p:nvSpPr>
        <p:spPr>
          <a:xfrm>
            <a:off x="4667707" y="5760000"/>
            <a:ext cx="6912300" cy="33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Barlow"/>
              <a:buNone/>
            </a:pPr>
            <a:r>
              <a:rPr lang="en-US" sz="1000">
                <a:solidFill>
                  <a:srgbClr val="5B6B7F"/>
                </a:solidFill>
                <a:latin typeface="Barlow"/>
                <a:ea typeface="Barlow"/>
                <a:cs typeface="Barlow"/>
                <a:sym typeface="Barlow"/>
              </a:rPr>
              <a:t>Partner company staff via CMC Global Korea · available 12 Oct 2026 · Korean native.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9" name="Shape 609"/>
        <p:cNvGrpSpPr/>
        <p:nvPr/>
      </p:nvGrpSpPr>
      <p:grpSpPr>
        <a:xfrm>
          <a:off x="0" y="0"/>
          <a:ext cx="0" cy="0"/>
          <a:chOff x="0" y="0"/>
          <a:chExt cx="0" cy="0"/>
        </a:xfrm>
      </p:grpSpPr>
      <p:sp>
        <p:nvSpPr>
          <p:cNvPr id="610" name="Google Shape;610;p40"/>
          <p:cNvSpPr txBox="1"/>
          <p:nvPr/>
        </p:nvSpPr>
        <p:spPr>
          <a:xfrm>
            <a:off x="457200" y="323698"/>
            <a:ext cx="6667800" cy="133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개발 인력 제안</a:t>
            </a:r>
            <a:endParaRPr/>
          </a:p>
        </p:txBody>
      </p:sp>
      <p:sp>
        <p:nvSpPr>
          <p:cNvPr id="611" name="Google Shape;611;p40"/>
          <p:cNvSpPr txBox="1"/>
          <p:nvPr/>
        </p:nvSpPr>
        <p:spPr>
          <a:xfrm>
            <a:off x="457200" y="590702"/>
            <a:ext cx="11277600" cy="286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Candidate C — Ahn Jae-hyun, Senior Android: 9 years, Kotlin and Compose, 11 projects</a:t>
            </a:r>
            <a:endParaRPr/>
          </a:p>
        </p:txBody>
      </p:sp>
      <p:sp>
        <p:nvSpPr>
          <p:cNvPr id="612" name="Google Shape;612;p40"/>
          <p:cNvSpPr/>
          <p:nvPr/>
        </p:nvSpPr>
        <p:spPr>
          <a:xfrm>
            <a:off x="457200" y="1238098"/>
            <a:ext cx="3886200" cy="48582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40"/>
          <p:cNvSpPr/>
          <p:nvPr/>
        </p:nvSpPr>
        <p:spPr>
          <a:xfrm>
            <a:off x="629107" y="1390802"/>
            <a:ext cx="590700" cy="590700"/>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40"/>
          <p:cNvSpPr txBox="1"/>
          <p:nvPr/>
        </p:nvSpPr>
        <p:spPr>
          <a:xfrm>
            <a:off x="629107" y="1390802"/>
            <a:ext cx="590700" cy="590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Montserrat"/>
              <a:buNone/>
            </a:pPr>
            <a:r>
              <a:rPr b="1" lang="en-US" sz="1350">
                <a:solidFill>
                  <a:srgbClr val="FFFFFF"/>
                </a:solidFill>
                <a:latin typeface="Montserrat"/>
                <a:ea typeface="Montserrat"/>
                <a:cs typeface="Montserrat"/>
                <a:sym typeface="Montserrat"/>
              </a:rPr>
              <a:t>AJ</a:t>
            </a:r>
            <a:endParaRPr/>
          </a:p>
        </p:txBody>
      </p:sp>
      <p:sp>
        <p:nvSpPr>
          <p:cNvPr id="615" name="Google Shape;615;p40"/>
          <p:cNvSpPr txBox="1"/>
          <p:nvPr/>
        </p:nvSpPr>
        <p:spPr>
          <a:xfrm>
            <a:off x="1320000" y="1400000"/>
            <a:ext cx="29001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125"/>
              <a:buFont typeface="Montserrat"/>
              <a:buNone/>
            </a:pPr>
            <a:r>
              <a:rPr b="1" lang="en-US" sz="1125">
                <a:solidFill>
                  <a:srgbClr val="0B2F5B"/>
                </a:solidFill>
                <a:latin typeface="Montserrat"/>
                <a:ea typeface="Montserrat"/>
                <a:cs typeface="Montserrat"/>
                <a:sym typeface="Montserrat"/>
              </a:rPr>
              <a:t>Candidate C — Ahn Jae-hyun (안재현)</a:t>
            </a:r>
            <a:endParaRPr/>
          </a:p>
        </p:txBody>
      </p:sp>
      <p:sp>
        <p:nvSpPr>
          <p:cNvPr id="616" name="Google Shape;616;p40"/>
          <p:cNvSpPr txBox="1"/>
          <p:nvPr/>
        </p:nvSpPr>
        <p:spPr>
          <a:xfrm>
            <a:off x="1320000" y="1700000"/>
            <a:ext cx="2900100" cy="26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Barlow"/>
              <a:buNone/>
            </a:pPr>
            <a:r>
              <a:rPr lang="en-US" sz="1000">
                <a:solidFill>
                  <a:srgbClr val="1867DC"/>
                </a:solidFill>
                <a:latin typeface="Barlow"/>
                <a:ea typeface="Barlow"/>
                <a:cs typeface="Barlow"/>
                <a:sym typeface="Barlow"/>
              </a:rPr>
              <a:t>Senior Android Engineer</a:t>
            </a:r>
            <a:endParaRPr/>
          </a:p>
        </p:txBody>
      </p:sp>
      <p:sp>
        <p:nvSpPr>
          <p:cNvPr id="617" name="Google Shape;617;p40"/>
          <p:cNvSpPr/>
          <p:nvPr/>
        </p:nvSpPr>
        <p:spPr>
          <a:xfrm>
            <a:off x="629107" y="21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40"/>
          <p:cNvSpPr txBox="1"/>
          <p:nvPr/>
        </p:nvSpPr>
        <p:spPr>
          <a:xfrm>
            <a:off x="700000" y="21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ROLE ON PROJECT</a:t>
            </a:r>
            <a:endParaRPr/>
          </a:p>
        </p:txBody>
      </p:sp>
      <p:sp>
        <p:nvSpPr>
          <p:cNvPr id="619" name="Google Shape;619;p40"/>
          <p:cNvSpPr txBox="1"/>
          <p:nvPr/>
        </p:nvSpPr>
        <p:spPr>
          <a:xfrm>
            <a:off x="1980000" y="21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Senior Android Engineer</a:t>
            </a:r>
            <a:endParaRPr/>
          </a:p>
        </p:txBody>
      </p:sp>
      <p:sp>
        <p:nvSpPr>
          <p:cNvPr id="620" name="Google Shape;620;p40"/>
          <p:cNvSpPr txBox="1"/>
          <p:nvPr/>
        </p:nvSpPr>
        <p:spPr>
          <a:xfrm>
            <a:off x="700000" y="25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GRADE</a:t>
            </a:r>
            <a:endParaRPr/>
          </a:p>
        </p:txBody>
      </p:sp>
      <p:sp>
        <p:nvSpPr>
          <p:cNvPr id="621" name="Google Shape;621;p40"/>
          <p:cNvSpPr txBox="1"/>
          <p:nvPr/>
        </p:nvSpPr>
        <p:spPr>
          <a:xfrm>
            <a:off x="1980000" y="25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Intermediate (중급)</a:t>
            </a:r>
            <a:endParaRPr/>
          </a:p>
        </p:txBody>
      </p:sp>
      <p:sp>
        <p:nvSpPr>
          <p:cNvPr id="622" name="Google Shape;622;p40"/>
          <p:cNvSpPr/>
          <p:nvPr/>
        </p:nvSpPr>
        <p:spPr>
          <a:xfrm>
            <a:off x="629107" y="29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3" name="Google Shape;623;p40"/>
          <p:cNvSpPr txBox="1"/>
          <p:nvPr/>
        </p:nvSpPr>
        <p:spPr>
          <a:xfrm>
            <a:off x="700000" y="29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CAREER</a:t>
            </a:r>
            <a:endParaRPr/>
          </a:p>
        </p:txBody>
      </p:sp>
      <p:sp>
        <p:nvSpPr>
          <p:cNvPr id="624" name="Google Shape;624;p40"/>
          <p:cNvSpPr txBox="1"/>
          <p:nvPr/>
        </p:nvSpPr>
        <p:spPr>
          <a:xfrm>
            <a:off x="1980000" y="29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2017.01 – 2026.02 · 9 yrs</a:t>
            </a:r>
            <a:endParaRPr/>
          </a:p>
        </p:txBody>
      </p:sp>
      <p:sp>
        <p:nvSpPr>
          <p:cNvPr id="625" name="Google Shape;625;p40"/>
          <p:cNvSpPr txBox="1"/>
          <p:nvPr/>
        </p:nvSpPr>
        <p:spPr>
          <a:xfrm>
            <a:off x="700000" y="33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MOBILE SINCE</a:t>
            </a:r>
            <a:endParaRPr/>
          </a:p>
        </p:txBody>
      </p:sp>
      <p:sp>
        <p:nvSpPr>
          <p:cNvPr id="626" name="Google Shape;626;p40"/>
          <p:cNvSpPr txBox="1"/>
          <p:nvPr/>
        </p:nvSpPr>
        <p:spPr>
          <a:xfrm>
            <a:off x="1980000" y="33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Android since 2017 · Kotlin-first</a:t>
            </a:r>
            <a:endParaRPr/>
          </a:p>
        </p:txBody>
      </p:sp>
      <p:sp>
        <p:nvSpPr>
          <p:cNvPr id="627" name="Google Shape;627;p40"/>
          <p:cNvSpPr/>
          <p:nvPr/>
        </p:nvSpPr>
        <p:spPr>
          <a:xfrm>
            <a:off x="629107" y="37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8" name="Google Shape;628;p40"/>
          <p:cNvSpPr txBox="1"/>
          <p:nvPr/>
        </p:nvSpPr>
        <p:spPr>
          <a:xfrm>
            <a:off x="700000" y="37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PROJECTS</a:t>
            </a:r>
            <a:endParaRPr/>
          </a:p>
        </p:txBody>
      </p:sp>
      <p:sp>
        <p:nvSpPr>
          <p:cNvPr id="629" name="Google Shape;629;p40"/>
          <p:cNvSpPr txBox="1"/>
          <p:nvPr/>
        </p:nvSpPr>
        <p:spPr>
          <a:xfrm>
            <a:off x="1980000" y="37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11 · banking, cards, airline</a:t>
            </a:r>
            <a:endParaRPr/>
          </a:p>
        </p:txBody>
      </p:sp>
      <p:sp>
        <p:nvSpPr>
          <p:cNvPr id="630" name="Google Shape;630;p40"/>
          <p:cNvSpPr txBox="1"/>
          <p:nvPr/>
        </p:nvSpPr>
        <p:spPr>
          <a:xfrm>
            <a:off x="700000" y="41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EDUCATION</a:t>
            </a:r>
            <a:endParaRPr/>
          </a:p>
        </p:txBody>
      </p:sp>
      <p:sp>
        <p:nvSpPr>
          <p:cNvPr id="631" name="Google Shape;631;p40"/>
          <p:cNvSpPr txBox="1"/>
          <p:nvPr/>
        </p:nvSpPr>
        <p:spPr>
          <a:xfrm>
            <a:off x="1980000" y="41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B.S. Computer Engineering (Credit Bank)</a:t>
            </a:r>
            <a:endParaRPr/>
          </a:p>
        </p:txBody>
      </p:sp>
      <p:sp>
        <p:nvSpPr>
          <p:cNvPr id="632" name="Google Shape;632;p40"/>
          <p:cNvSpPr/>
          <p:nvPr/>
        </p:nvSpPr>
        <p:spPr>
          <a:xfrm>
            <a:off x="629107" y="45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3" name="Google Shape;633;p40"/>
          <p:cNvSpPr txBox="1"/>
          <p:nvPr/>
        </p:nvSpPr>
        <p:spPr>
          <a:xfrm>
            <a:off x="700000" y="4560000"/>
            <a:ext cx="12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CERTIFICATION</a:t>
            </a:r>
            <a:endParaRPr/>
          </a:p>
        </p:txBody>
      </p:sp>
      <p:sp>
        <p:nvSpPr>
          <p:cNvPr id="634" name="Google Shape;634;p40"/>
          <p:cNvSpPr txBox="1"/>
          <p:nvPr/>
        </p:nvSpPr>
        <p:spPr>
          <a:xfrm>
            <a:off x="1980000" y="4560000"/>
            <a:ext cx="21501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Engineer Information Processing (2018)</a:t>
            </a:r>
            <a:endParaRPr/>
          </a:p>
        </p:txBody>
      </p:sp>
      <p:sp>
        <p:nvSpPr>
          <p:cNvPr id="635" name="Google Shape;635;p40"/>
          <p:cNvSpPr/>
          <p:nvPr/>
        </p:nvSpPr>
        <p:spPr>
          <a:xfrm>
            <a:off x="629107" y="5120000"/>
            <a:ext cx="3542400" cy="80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6" name="Google Shape;636;p40"/>
          <p:cNvSpPr txBox="1"/>
          <p:nvPr/>
        </p:nvSpPr>
        <p:spPr>
          <a:xfrm>
            <a:off x="730000" y="5170000"/>
            <a:ext cx="3339900" cy="6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lang="en-US" sz="1050">
                <a:solidFill>
                  <a:srgbClr val="0B2F5B"/>
                </a:solidFill>
                <a:latin typeface="Barlow"/>
                <a:ea typeface="Barlow"/>
                <a:cs typeface="Barlow"/>
                <a:sym typeface="Barlow"/>
              </a:rPr>
              <a:t>Senior Android Engineer — delivers Android features and maintenance under Candidate A's review; based in Seoul (Gangseo-gu).</a:t>
            </a:r>
            <a:endParaRPr/>
          </a:p>
        </p:txBody>
      </p:sp>
      <p:sp>
        <p:nvSpPr>
          <p:cNvPr id="637" name="Google Shape;637;p40"/>
          <p:cNvSpPr/>
          <p:nvPr/>
        </p:nvSpPr>
        <p:spPr>
          <a:xfrm>
            <a:off x="4495800" y="1238098"/>
            <a:ext cx="7239300" cy="4858200"/>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40"/>
          <p:cNvSpPr txBox="1"/>
          <p:nvPr/>
        </p:nvSpPr>
        <p:spPr>
          <a:xfrm>
            <a:off x="4667707" y="1390802"/>
            <a:ext cx="30000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Skills matching the RFP</a:t>
            </a:r>
            <a:endParaRPr/>
          </a:p>
        </p:txBody>
      </p:sp>
      <p:sp>
        <p:nvSpPr>
          <p:cNvPr id="639" name="Google Shape;639;p40"/>
          <p:cNvSpPr/>
          <p:nvPr/>
        </p:nvSpPr>
        <p:spPr>
          <a:xfrm>
            <a:off x="466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0" name="Google Shape;640;p40"/>
          <p:cNvSpPr txBox="1"/>
          <p:nvPr/>
        </p:nvSpPr>
        <p:spPr>
          <a:xfrm>
            <a:off x="466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Kotlin</a:t>
            </a:r>
            <a:endParaRPr/>
          </a:p>
        </p:txBody>
      </p:sp>
      <p:sp>
        <p:nvSpPr>
          <p:cNvPr id="641" name="Google Shape;641;p40"/>
          <p:cNvSpPr/>
          <p:nvPr/>
        </p:nvSpPr>
        <p:spPr>
          <a:xfrm>
            <a:off x="582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2" name="Google Shape;642;p40"/>
          <p:cNvSpPr txBox="1"/>
          <p:nvPr/>
        </p:nvSpPr>
        <p:spPr>
          <a:xfrm>
            <a:off x="582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Jetpack Compose</a:t>
            </a:r>
            <a:endParaRPr/>
          </a:p>
        </p:txBody>
      </p:sp>
      <p:sp>
        <p:nvSpPr>
          <p:cNvPr id="643" name="Google Shape;643;p40"/>
          <p:cNvSpPr/>
          <p:nvPr/>
        </p:nvSpPr>
        <p:spPr>
          <a:xfrm>
            <a:off x="698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4" name="Google Shape;644;p40"/>
          <p:cNvSpPr txBox="1"/>
          <p:nvPr/>
        </p:nvSpPr>
        <p:spPr>
          <a:xfrm>
            <a:off x="698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Java</a:t>
            </a:r>
            <a:endParaRPr/>
          </a:p>
        </p:txBody>
      </p:sp>
      <p:sp>
        <p:nvSpPr>
          <p:cNvPr id="645" name="Google Shape;645;p40"/>
          <p:cNvSpPr/>
          <p:nvPr/>
        </p:nvSpPr>
        <p:spPr>
          <a:xfrm>
            <a:off x="814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6" name="Google Shape;646;p40"/>
          <p:cNvSpPr txBox="1"/>
          <p:nvPr/>
        </p:nvSpPr>
        <p:spPr>
          <a:xfrm>
            <a:off x="814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MVVM</a:t>
            </a:r>
            <a:endParaRPr/>
          </a:p>
        </p:txBody>
      </p:sp>
      <p:sp>
        <p:nvSpPr>
          <p:cNvPr id="647" name="Google Shape;647;p40"/>
          <p:cNvSpPr/>
          <p:nvPr/>
        </p:nvSpPr>
        <p:spPr>
          <a:xfrm>
            <a:off x="930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8" name="Google Shape;648;p40"/>
          <p:cNvSpPr txBox="1"/>
          <p:nvPr/>
        </p:nvSpPr>
        <p:spPr>
          <a:xfrm>
            <a:off x="930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Android Studio</a:t>
            </a:r>
            <a:endParaRPr/>
          </a:p>
        </p:txBody>
      </p:sp>
      <p:sp>
        <p:nvSpPr>
          <p:cNvPr id="649" name="Google Shape;649;p40"/>
          <p:cNvSpPr/>
          <p:nvPr/>
        </p:nvSpPr>
        <p:spPr>
          <a:xfrm>
            <a:off x="10467707" y="1660000"/>
            <a:ext cx="1100100" cy="2601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0" name="Google Shape;650;p40"/>
          <p:cNvSpPr txBox="1"/>
          <p:nvPr/>
        </p:nvSpPr>
        <p:spPr>
          <a:xfrm>
            <a:off x="10467707" y="1660000"/>
            <a:ext cx="1100100" cy="2601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Git</a:t>
            </a:r>
            <a:endParaRPr/>
          </a:p>
        </p:txBody>
      </p:sp>
      <p:sp>
        <p:nvSpPr>
          <p:cNvPr id="651" name="Google Shape;651;p40"/>
          <p:cNvSpPr txBox="1"/>
          <p:nvPr/>
        </p:nvSpPr>
        <p:spPr>
          <a:xfrm>
            <a:off x="4667707" y="2080000"/>
            <a:ext cx="5000100" cy="21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Selected projects (from technical career sheet, latest first)</a:t>
            </a:r>
            <a:endParaRPr/>
          </a:p>
        </p:txBody>
      </p:sp>
      <p:sp>
        <p:nvSpPr>
          <p:cNvPr id="652" name="Google Shape;652;p40"/>
          <p:cNvSpPr/>
          <p:nvPr/>
        </p:nvSpPr>
        <p:spPr>
          <a:xfrm>
            <a:off x="4667707" y="2340000"/>
            <a:ext cx="6912300" cy="2799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40"/>
          <p:cNvSpPr txBox="1"/>
          <p:nvPr/>
        </p:nvSpPr>
        <p:spPr>
          <a:xfrm>
            <a:off x="4727707" y="2340000"/>
            <a:ext cx="10899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Period</a:t>
            </a:r>
            <a:endParaRPr/>
          </a:p>
        </p:txBody>
      </p:sp>
      <p:sp>
        <p:nvSpPr>
          <p:cNvPr id="654" name="Google Shape;654;p40"/>
          <p:cNvSpPr txBox="1"/>
          <p:nvPr/>
        </p:nvSpPr>
        <p:spPr>
          <a:xfrm>
            <a:off x="5940000" y="2340000"/>
            <a:ext cx="25599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Project</a:t>
            </a:r>
            <a:endParaRPr/>
          </a:p>
        </p:txBody>
      </p:sp>
      <p:sp>
        <p:nvSpPr>
          <p:cNvPr id="655" name="Google Shape;655;p40"/>
          <p:cNvSpPr txBox="1"/>
          <p:nvPr/>
        </p:nvSpPr>
        <p:spPr>
          <a:xfrm>
            <a:off x="8620000" y="2340000"/>
            <a:ext cx="13401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Client</a:t>
            </a:r>
            <a:endParaRPr/>
          </a:p>
        </p:txBody>
      </p:sp>
      <p:sp>
        <p:nvSpPr>
          <p:cNvPr id="656" name="Google Shape;656;p40"/>
          <p:cNvSpPr txBox="1"/>
          <p:nvPr/>
        </p:nvSpPr>
        <p:spPr>
          <a:xfrm>
            <a:off x="10080000" y="2340000"/>
            <a:ext cx="1500000" cy="27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Role · Stack</a:t>
            </a:r>
            <a:endParaRPr/>
          </a:p>
        </p:txBody>
      </p:sp>
      <p:sp>
        <p:nvSpPr>
          <p:cNvPr id="657" name="Google Shape;657;p40"/>
          <p:cNvSpPr txBox="1"/>
          <p:nvPr/>
        </p:nvSpPr>
        <p:spPr>
          <a:xfrm>
            <a:off x="4727707" y="26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2025.11–2026.02</a:t>
            </a:r>
            <a:endParaRPr/>
          </a:p>
        </p:txBody>
      </p:sp>
      <p:sp>
        <p:nvSpPr>
          <p:cNvPr id="658" name="Google Shape;658;p40"/>
          <p:cNvSpPr txBox="1"/>
          <p:nvPr/>
        </p:nvSpPr>
        <p:spPr>
          <a:xfrm>
            <a:off x="5940000" y="26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Corporate banking service (dedicated team)</a:t>
            </a:r>
            <a:endParaRPr/>
          </a:p>
        </p:txBody>
      </p:sp>
      <p:sp>
        <p:nvSpPr>
          <p:cNvPr id="659" name="Google Shape;659;p40"/>
          <p:cNvSpPr txBox="1"/>
          <p:nvPr/>
        </p:nvSpPr>
        <p:spPr>
          <a:xfrm>
            <a:off x="8620000" y="26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Woori Bank</a:t>
            </a:r>
            <a:endParaRPr/>
          </a:p>
        </p:txBody>
      </p:sp>
      <p:sp>
        <p:nvSpPr>
          <p:cNvPr id="660" name="Google Shape;660;p40"/>
          <p:cNvSpPr txBox="1"/>
          <p:nvPr/>
        </p:nvSpPr>
        <p:spPr>
          <a:xfrm>
            <a:off x="10080000" y="26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&amp; maintenance · Kotlin</a:t>
            </a:r>
            <a:endParaRPr/>
          </a:p>
        </p:txBody>
      </p:sp>
      <p:sp>
        <p:nvSpPr>
          <p:cNvPr id="661" name="Google Shape;661;p40"/>
          <p:cNvSpPr/>
          <p:nvPr/>
        </p:nvSpPr>
        <p:spPr>
          <a:xfrm>
            <a:off x="4667707" y="30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2" name="Google Shape;662;p40"/>
          <p:cNvSpPr txBox="1"/>
          <p:nvPr/>
        </p:nvSpPr>
        <p:spPr>
          <a:xfrm>
            <a:off x="4727707" y="30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2025.05–10</a:t>
            </a:r>
            <a:endParaRPr/>
          </a:p>
        </p:txBody>
      </p:sp>
      <p:sp>
        <p:nvSpPr>
          <p:cNvPr id="663" name="Google Shape;663;p40"/>
          <p:cNvSpPr txBox="1"/>
          <p:nvPr/>
        </p:nvSpPr>
        <p:spPr>
          <a:xfrm>
            <a:off x="5940000" y="30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Native app rebuild</a:t>
            </a:r>
            <a:endParaRPr/>
          </a:p>
        </p:txBody>
      </p:sp>
      <p:sp>
        <p:nvSpPr>
          <p:cNvPr id="664" name="Google Shape;664;p40"/>
          <p:cNvSpPr txBox="1"/>
          <p:nvPr/>
        </p:nvSpPr>
        <p:spPr>
          <a:xfrm>
            <a:off x="8620000" y="30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Kbank</a:t>
            </a:r>
            <a:endParaRPr/>
          </a:p>
        </p:txBody>
      </p:sp>
      <p:sp>
        <p:nvSpPr>
          <p:cNvPr id="665" name="Google Shape;665;p40"/>
          <p:cNvSpPr txBox="1"/>
          <p:nvPr/>
        </p:nvSpPr>
        <p:spPr>
          <a:xfrm>
            <a:off x="10080000" y="30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 Compose</a:t>
            </a:r>
            <a:endParaRPr/>
          </a:p>
        </p:txBody>
      </p:sp>
      <p:sp>
        <p:nvSpPr>
          <p:cNvPr id="666" name="Google Shape;666;p40"/>
          <p:cNvSpPr txBox="1"/>
          <p:nvPr/>
        </p:nvSpPr>
        <p:spPr>
          <a:xfrm>
            <a:off x="4727707" y="34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2024.02–12</a:t>
            </a:r>
            <a:endParaRPr/>
          </a:p>
        </p:txBody>
      </p:sp>
      <p:sp>
        <p:nvSpPr>
          <p:cNvPr id="667" name="Google Shape;667;p40"/>
          <p:cNvSpPr txBox="1"/>
          <p:nvPr/>
        </p:nvSpPr>
        <p:spPr>
          <a:xfrm>
            <a:off x="5940000" y="34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Integrated digital platform</a:t>
            </a:r>
            <a:endParaRPr/>
          </a:p>
        </p:txBody>
      </p:sp>
      <p:sp>
        <p:nvSpPr>
          <p:cNvPr id="668" name="Google Shape;668;p40"/>
          <p:cNvSpPr txBox="1"/>
          <p:nvPr/>
        </p:nvSpPr>
        <p:spPr>
          <a:xfrm>
            <a:off x="8620000" y="34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NH Card</a:t>
            </a:r>
            <a:endParaRPr/>
          </a:p>
        </p:txBody>
      </p:sp>
      <p:sp>
        <p:nvSpPr>
          <p:cNvPr id="669" name="Google Shape;669;p40"/>
          <p:cNvSpPr txBox="1"/>
          <p:nvPr/>
        </p:nvSpPr>
        <p:spPr>
          <a:xfrm>
            <a:off x="10080000" y="34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 Compose</a:t>
            </a:r>
            <a:endParaRPr/>
          </a:p>
        </p:txBody>
      </p:sp>
      <p:sp>
        <p:nvSpPr>
          <p:cNvPr id="670" name="Google Shape;670;p40"/>
          <p:cNvSpPr/>
          <p:nvPr/>
        </p:nvSpPr>
        <p:spPr>
          <a:xfrm>
            <a:off x="4667707" y="38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71" name="Google Shape;671;p40"/>
          <p:cNvSpPr txBox="1"/>
          <p:nvPr/>
        </p:nvSpPr>
        <p:spPr>
          <a:xfrm>
            <a:off x="4727707" y="38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2023.01–03</a:t>
            </a:r>
            <a:endParaRPr/>
          </a:p>
        </p:txBody>
      </p:sp>
      <p:sp>
        <p:nvSpPr>
          <p:cNvPr id="672" name="Google Shape;672;p40"/>
          <p:cNvSpPr txBox="1"/>
          <p:nvPr/>
        </p:nvSpPr>
        <p:spPr>
          <a:xfrm>
            <a:off x="5940000" y="38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Liiv Mobile app (new build)</a:t>
            </a:r>
            <a:endParaRPr/>
          </a:p>
        </p:txBody>
      </p:sp>
      <p:sp>
        <p:nvSpPr>
          <p:cNvPr id="673" name="Google Shape;673;p40"/>
          <p:cNvSpPr txBox="1"/>
          <p:nvPr/>
        </p:nvSpPr>
        <p:spPr>
          <a:xfrm>
            <a:off x="8620000" y="38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KB Kookmin Bank</a:t>
            </a:r>
            <a:endParaRPr/>
          </a:p>
        </p:txBody>
      </p:sp>
      <p:sp>
        <p:nvSpPr>
          <p:cNvPr id="674" name="Google Shape;674;p40"/>
          <p:cNvSpPr txBox="1"/>
          <p:nvPr/>
        </p:nvSpPr>
        <p:spPr>
          <a:xfrm>
            <a:off x="10080000" y="38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a:t>
            </a:r>
            <a:endParaRPr/>
          </a:p>
        </p:txBody>
      </p:sp>
      <p:sp>
        <p:nvSpPr>
          <p:cNvPr id="675" name="Google Shape;675;p40"/>
          <p:cNvSpPr txBox="1"/>
          <p:nvPr/>
        </p:nvSpPr>
        <p:spPr>
          <a:xfrm>
            <a:off x="4727707" y="42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2022.07–12</a:t>
            </a:r>
            <a:endParaRPr/>
          </a:p>
        </p:txBody>
      </p:sp>
      <p:sp>
        <p:nvSpPr>
          <p:cNvPr id="676" name="Google Shape;676;p40"/>
          <p:cNvSpPr txBox="1"/>
          <p:nvPr/>
        </p:nvSpPr>
        <p:spPr>
          <a:xfrm>
            <a:off x="5940000" y="42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KB Pay One-Platform service</a:t>
            </a:r>
            <a:endParaRPr/>
          </a:p>
        </p:txBody>
      </p:sp>
      <p:sp>
        <p:nvSpPr>
          <p:cNvPr id="677" name="Google Shape;677;p40"/>
          <p:cNvSpPr txBox="1"/>
          <p:nvPr/>
        </p:nvSpPr>
        <p:spPr>
          <a:xfrm>
            <a:off x="8620000" y="42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KB Card</a:t>
            </a:r>
            <a:endParaRPr/>
          </a:p>
        </p:txBody>
      </p:sp>
      <p:sp>
        <p:nvSpPr>
          <p:cNvPr id="678" name="Google Shape;678;p40"/>
          <p:cNvSpPr txBox="1"/>
          <p:nvPr/>
        </p:nvSpPr>
        <p:spPr>
          <a:xfrm>
            <a:off x="10080000" y="42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&amp; integration · Kotlin, Java</a:t>
            </a:r>
            <a:endParaRPr/>
          </a:p>
        </p:txBody>
      </p:sp>
      <p:sp>
        <p:nvSpPr>
          <p:cNvPr id="679" name="Google Shape;679;p40"/>
          <p:cNvSpPr/>
          <p:nvPr/>
        </p:nvSpPr>
        <p:spPr>
          <a:xfrm>
            <a:off x="4667707" y="4620000"/>
            <a:ext cx="6912300" cy="3999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80" name="Google Shape;680;p40"/>
          <p:cNvSpPr txBox="1"/>
          <p:nvPr/>
        </p:nvSpPr>
        <p:spPr>
          <a:xfrm>
            <a:off x="4727707" y="46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2022.01–06</a:t>
            </a:r>
            <a:endParaRPr/>
          </a:p>
        </p:txBody>
      </p:sp>
      <p:sp>
        <p:nvSpPr>
          <p:cNvPr id="681" name="Google Shape;681;p40"/>
          <p:cNvSpPr txBox="1"/>
          <p:nvPr/>
        </p:nvSpPr>
        <p:spPr>
          <a:xfrm>
            <a:off x="5940000" y="46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New Star Banking response team</a:t>
            </a:r>
            <a:endParaRPr/>
          </a:p>
        </p:txBody>
      </p:sp>
      <p:sp>
        <p:nvSpPr>
          <p:cNvPr id="682" name="Google Shape;682;p40"/>
          <p:cNvSpPr txBox="1"/>
          <p:nvPr/>
        </p:nvSpPr>
        <p:spPr>
          <a:xfrm>
            <a:off x="8620000" y="46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KB Kookmin Bank</a:t>
            </a:r>
            <a:endParaRPr/>
          </a:p>
        </p:txBody>
      </p:sp>
      <p:sp>
        <p:nvSpPr>
          <p:cNvPr id="683" name="Google Shape;683;p40"/>
          <p:cNvSpPr txBox="1"/>
          <p:nvPr/>
        </p:nvSpPr>
        <p:spPr>
          <a:xfrm>
            <a:off x="10080000" y="46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Maintenance · Kotlin</a:t>
            </a:r>
            <a:endParaRPr/>
          </a:p>
        </p:txBody>
      </p:sp>
      <p:sp>
        <p:nvSpPr>
          <p:cNvPr id="684" name="Google Shape;684;p40"/>
          <p:cNvSpPr txBox="1"/>
          <p:nvPr/>
        </p:nvSpPr>
        <p:spPr>
          <a:xfrm>
            <a:off x="4727707" y="5020000"/>
            <a:ext cx="105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2020.02–2021.12</a:t>
            </a:r>
            <a:endParaRPr/>
          </a:p>
        </p:txBody>
      </p:sp>
      <p:sp>
        <p:nvSpPr>
          <p:cNvPr id="685" name="Google Shape;685;p40"/>
          <p:cNvSpPr txBox="1"/>
          <p:nvPr/>
        </p:nvSpPr>
        <p:spPr>
          <a:xfrm>
            <a:off x="5940000" y="5020000"/>
            <a:ext cx="25299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Website renewal, service stabilisation</a:t>
            </a:r>
            <a:endParaRPr/>
          </a:p>
        </p:txBody>
      </p:sp>
      <p:sp>
        <p:nvSpPr>
          <p:cNvPr id="686" name="Google Shape;686;p40"/>
          <p:cNvSpPr txBox="1"/>
          <p:nvPr/>
        </p:nvSpPr>
        <p:spPr>
          <a:xfrm>
            <a:off x="8620000" y="5020000"/>
            <a:ext cx="13101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Korean Air</a:t>
            </a:r>
            <a:endParaRPr/>
          </a:p>
        </p:txBody>
      </p:sp>
      <p:sp>
        <p:nvSpPr>
          <p:cNvPr id="687" name="Google Shape;687;p40"/>
          <p:cNvSpPr txBox="1"/>
          <p:nvPr/>
        </p:nvSpPr>
        <p:spPr>
          <a:xfrm>
            <a:off x="10080000" y="5020000"/>
            <a:ext cx="1470000" cy="3999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&amp; maintenance · Kotlin</a:t>
            </a:r>
            <a:endParaRPr/>
          </a:p>
        </p:txBody>
      </p:sp>
      <p:sp>
        <p:nvSpPr>
          <p:cNvPr id="688" name="Google Shape;688;p40"/>
          <p:cNvSpPr txBox="1"/>
          <p:nvPr/>
        </p:nvSpPr>
        <p:spPr>
          <a:xfrm>
            <a:off x="4667707" y="5760000"/>
            <a:ext cx="6912300" cy="33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Barlow"/>
              <a:buNone/>
            </a:pPr>
            <a:r>
              <a:rPr lang="en-US" sz="1000">
                <a:solidFill>
                  <a:srgbClr val="5B6B7F"/>
                </a:solidFill>
                <a:latin typeface="Barlow"/>
                <a:ea typeface="Barlow"/>
                <a:cs typeface="Barlow"/>
                <a:sym typeface="Barlow"/>
              </a:rPr>
              <a:t>Partner company staff via CMC Global Korea · available 12 Oct 2026 · Korean native.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93" name="Shape 693"/>
        <p:cNvGrpSpPr/>
        <p:nvPr/>
      </p:nvGrpSpPr>
      <p:grpSpPr>
        <a:xfrm>
          <a:off x="0" y="0"/>
          <a:ext cx="0" cy="0"/>
          <a:chOff x="0" y="0"/>
          <a:chExt cx="0" cy="0"/>
        </a:xfrm>
      </p:grpSpPr>
      <p:sp>
        <p:nvSpPr>
          <p:cNvPr id="694" name="Google Shape;694;p41"/>
          <p:cNvSpPr txBox="1"/>
          <p:nvPr/>
        </p:nvSpPr>
        <p:spPr>
          <a:xfrm>
            <a:off x="457200" y="323698"/>
            <a:ext cx="6667805" cy="13350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Montserrat"/>
              <a:buNone/>
            </a:pPr>
            <a:r>
              <a:rPr b="1" lang="en-US" sz="1000">
                <a:solidFill>
                  <a:srgbClr val="1867DC"/>
                </a:solidFill>
                <a:latin typeface="Montserrat"/>
                <a:ea typeface="Montserrat"/>
                <a:cs typeface="Montserrat"/>
                <a:sym typeface="Montserrat"/>
              </a:rPr>
              <a:t>개발 인력 제안</a:t>
            </a:r>
            <a:endParaRPr/>
          </a:p>
        </p:txBody>
      </p:sp>
      <p:sp>
        <p:nvSpPr>
          <p:cNvPr id="695" name="Google Shape;695;p41"/>
          <p:cNvSpPr txBox="1"/>
          <p:nvPr/>
        </p:nvSpPr>
        <p:spPr>
          <a:xfrm>
            <a:off x="457200" y="590702"/>
            <a:ext cx="11277600" cy="286207"/>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950"/>
              <a:buFont typeface="Montserrat"/>
              <a:buNone/>
            </a:pPr>
            <a:r>
              <a:rPr b="1" lang="en-US" sz="1950">
                <a:solidFill>
                  <a:srgbClr val="0B2F5B"/>
                </a:solidFill>
                <a:latin typeface="Montserrat"/>
                <a:ea typeface="Montserrat"/>
                <a:cs typeface="Montserrat"/>
                <a:sym typeface="Montserrat"/>
              </a:rPr>
              <a:t>Candidate D — Lim Ji-young, Mid-Senior Android: 6 years, AAOS and connected car</a:t>
            </a:r>
            <a:endParaRPr/>
          </a:p>
        </p:txBody>
      </p:sp>
      <p:sp>
        <p:nvSpPr>
          <p:cNvPr id="696" name="Google Shape;696;p41"/>
          <p:cNvSpPr/>
          <p:nvPr/>
        </p:nvSpPr>
        <p:spPr>
          <a:xfrm>
            <a:off x="457200" y="1238098"/>
            <a:ext cx="3886200"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7" name="Google Shape;697;p41"/>
          <p:cNvSpPr/>
          <p:nvPr/>
        </p:nvSpPr>
        <p:spPr>
          <a:xfrm>
            <a:off x="629107" y="1390802"/>
            <a:ext cx="590702" cy="590702"/>
          </a:xfrm>
          <a:prstGeom prst="rect">
            <a:avLst/>
          </a:prstGeom>
          <a:solidFill>
            <a:srgbClr val="1565C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98" name="Google Shape;698;p41"/>
          <p:cNvSpPr txBox="1"/>
          <p:nvPr/>
        </p:nvSpPr>
        <p:spPr>
          <a:xfrm>
            <a:off x="629107" y="1390802"/>
            <a:ext cx="590702" cy="59070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50"/>
              <a:buFont typeface="Montserrat"/>
              <a:buNone/>
            </a:pPr>
            <a:r>
              <a:rPr b="1" lang="en-US" sz="1350">
                <a:solidFill>
                  <a:srgbClr val="FFFFFF"/>
                </a:solidFill>
                <a:latin typeface="Montserrat"/>
                <a:ea typeface="Montserrat"/>
                <a:cs typeface="Montserrat"/>
                <a:sym typeface="Montserrat"/>
              </a:rPr>
              <a:t>JL</a:t>
            </a:r>
            <a:endParaRPr/>
          </a:p>
        </p:txBody>
      </p:sp>
      <p:sp>
        <p:nvSpPr>
          <p:cNvPr id="699" name="Google Shape;699;p41"/>
          <p:cNvSpPr txBox="1"/>
          <p:nvPr/>
        </p:nvSpPr>
        <p:spPr>
          <a:xfrm>
            <a:off x="1320000" y="1400000"/>
            <a:ext cx="2900000" cy="3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125"/>
              <a:buFont typeface="Montserrat"/>
              <a:buNone/>
            </a:pPr>
            <a:r>
              <a:rPr b="1" lang="en-US" sz="1125">
                <a:solidFill>
                  <a:srgbClr val="0B2F5B"/>
                </a:solidFill>
                <a:latin typeface="Montserrat"/>
                <a:ea typeface="Montserrat"/>
                <a:cs typeface="Montserrat"/>
                <a:sym typeface="Montserrat"/>
              </a:rPr>
              <a:t>Candidate D — Lim Ji-young (Laura Lim)</a:t>
            </a:r>
            <a:endParaRPr/>
          </a:p>
        </p:txBody>
      </p:sp>
      <p:sp>
        <p:nvSpPr>
          <p:cNvPr id="700" name="Google Shape;700;p41"/>
          <p:cNvSpPr txBox="1"/>
          <p:nvPr/>
        </p:nvSpPr>
        <p:spPr>
          <a:xfrm>
            <a:off x="1320000" y="1700000"/>
            <a:ext cx="2900000" cy="2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867DC"/>
              </a:buClr>
              <a:buSzPts val="1000"/>
              <a:buFont typeface="Barlow"/>
              <a:buNone/>
            </a:pPr>
            <a:r>
              <a:rPr lang="en-US" sz="1000">
                <a:solidFill>
                  <a:srgbClr val="1867DC"/>
                </a:solidFill>
                <a:latin typeface="Barlow"/>
                <a:ea typeface="Barlow"/>
                <a:cs typeface="Barlow"/>
                <a:sym typeface="Barlow"/>
              </a:rPr>
              <a:t>Mid-Senior Android Engineer</a:t>
            </a:r>
            <a:endParaRPr/>
          </a:p>
        </p:txBody>
      </p:sp>
      <p:sp>
        <p:nvSpPr>
          <p:cNvPr id="701" name="Google Shape;701;p41"/>
          <p:cNvSpPr/>
          <p:nvPr/>
        </p:nvSpPr>
        <p:spPr>
          <a:xfrm>
            <a:off x="629107" y="21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2" name="Google Shape;702;p41"/>
          <p:cNvSpPr txBox="1"/>
          <p:nvPr/>
        </p:nvSpPr>
        <p:spPr>
          <a:xfrm>
            <a:off x="700000" y="2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ROLE ON PROJECT</a:t>
            </a:r>
            <a:endParaRPr/>
          </a:p>
        </p:txBody>
      </p:sp>
      <p:sp>
        <p:nvSpPr>
          <p:cNvPr id="703" name="Google Shape;703;p41"/>
          <p:cNvSpPr txBox="1"/>
          <p:nvPr/>
        </p:nvSpPr>
        <p:spPr>
          <a:xfrm>
            <a:off x="1980000" y="2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Mid-Senior Android · provisioning</a:t>
            </a:r>
            <a:endParaRPr/>
          </a:p>
        </p:txBody>
      </p:sp>
      <p:sp>
        <p:nvSpPr>
          <p:cNvPr id="704" name="Google Shape;704;p41"/>
          <p:cNvSpPr txBox="1"/>
          <p:nvPr/>
        </p:nvSpPr>
        <p:spPr>
          <a:xfrm>
            <a:off x="700000" y="2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GRADE</a:t>
            </a:r>
            <a:endParaRPr/>
          </a:p>
        </p:txBody>
      </p:sp>
      <p:sp>
        <p:nvSpPr>
          <p:cNvPr id="705" name="Google Shape;705;p41"/>
          <p:cNvSpPr txBox="1"/>
          <p:nvPr/>
        </p:nvSpPr>
        <p:spPr>
          <a:xfrm>
            <a:off x="1980000" y="2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Mid-Senior · Senior Engineer at FPT</a:t>
            </a:r>
            <a:endParaRPr/>
          </a:p>
        </p:txBody>
      </p:sp>
      <p:sp>
        <p:nvSpPr>
          <p:cNvPr id="706" name="Google Shape;706;p41"/>
          <p:cNvSpPr/>
          <p:nvPr/>
        </p:nvSpPr>
        <p:spPr>
          <a:xfrm>
            <a:off x="629107" y="29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07" name="Google Shape;707;p41"/>
          <p:cNvSpPr txBox="1"/>
          <p:nvPr/>
        </p:nvSpPr>
        <p:spPr>
          <a:xfrm>
            <a:off x="700000" y="29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CAREER</a:t>
            </a:r>
            <a:endParaRPr/>
          </a:p>
        </p:txBody>
      </p:sp>
      <p:sp>
        <p:nvSpPr>
          <p:cNvPr id="708" name="Google Shape;708;p41"/>
          <p:cNvSpPr txBox="1"/>
          <p:nvPr/>
        </p:nvSpPr>
        <p:spPr>
          <a:xfrm>
            <a:off x="1980000" y="29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2020.08 – 2026.08 · 6 yrs</a:t>
            </a:r>
            <a:endParaRPr/>
          </a:p>
        </p:txBody>
      </p:sp>
      <p:sp>
        <p:nvSpPr>
          <p:cNvPr id="709" name="Google Shape;709;p41"/>
          <p:cNvSpPr txBox="1"/>
          <p:nvPr/>
        </p:nvSpPr>
        <p:spPr>
          <a:xfrm>
            <a:off x="700000" y="33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MOBILE SINCE</a:t>
            </a:r>
            <a:endParaRPr/>
          </a:p>
        </p:txBody>
      </p:sp>
      <p:sp>
        <p:nvSpPr>
          <p:cNvPr id="710" name="Google Shape;710;p41"/>
          <p:cNvSpPr txBox="1"/>
          <p:nvPr/>
        </p:nvSpPr>
        <p:spPr>
          <a:xfrm>
            <a:off x="1980000" y="33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Android since 2021 · AAOS</a:t>
            </a:r>
            <a:endParaRPr/>
          </a:p>
        </p:txBody>
      </p:sp>
      <p:sp>
        <p:nvSpPr>
          <p:cNvPr id="711" name="Google Shape;711;p41"/>
          <p:cNvSpPr/>
          <p:nvPr/>
        </p:nvSpPr>
        <p:spPr>
          <a:xfrm>
            <a:off x="629107" y="37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2" name="Google Shape;712;p41"/>
          <p:cNvSpPr txBox="1"/>
          <p:nvPr/>
        </p:nvSpPr>
        <p:spPr>
          <a:xfrm>
            <a:off x="700000" y="37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PROJECTS</a:t>
            </a:r>
            <a:endParaRPr/>
          </a:p>
        </p:txBody>
      </p:sp>
      <p:sp>
        <p:nvSpPr>
          <p:cNvPr id="713" name="Google Shape;713;p41"/>
          <p:cNvSpPr txBox="1"/>
          <p:nvPr/>
        </p:nvSpPr>
        <p:spPr>
          <a:xfrm>
            <a:off x="1980000" y="37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8 · automotive, connected car, web</a:t>
            </a:r>
            <a:endParaRPr/>
          </a:p>
        </p:txBody>
      </p:sp>
      <p:sp>
        <p:nvSpPr>
          <p:cNvPr id="714" name="Google Shape;714;p41"/>
          <p:cNvSpPr txBox="1"/>
          <p:nvPr/>
        </p:nvSpPr>
        <p:spPr>
          <a:xfrm>
            <a:off x="700000" y="41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EDUCATION</a:t>
            </a:r>
            <a:endParaRPr/>
          </a:p>
        </p:txBody>
      </p:sp>
      <p:sp>
        <p:nvSpPr>
          <p:cNvPr id="715" name="Google Shape;715;p41"/>
          <p:cNvSpPr txBox="1"/>
          <p:nvPr/>
        </p:nvSpPr>
        <p:spPr>
          <a:xfrm>
            <a:off x="1980000" y="41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QUT (Australia), B. IT Computer Science</a:t>
            </a:r>
            <a:endParaRPr/>
          </a:p>
        </p:txBody>
      </p:sp>
      <p:sp>
        <p:nvSpPr>
          <p:cNvPr id="716" name="Google Shape;716;p41"/>
          <p:cNvSpPr/>
          <p:nvPr/>
        </p:nvSpPr>
        <p:spPr>
          <a:xfrm>
            <a:off x="629107" y="4560000"/>
            <a:ext cx="3542400" cy="36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17" name="Google Shape;717;p41"/>
          <p:cNvSpPr txBox="1"/>
          <p:nvPr/>
        </p:nvSpPr>
        <p:spPr>
          <a:xfrm>
            <a:off x="700000" y="4560000"/>
            <a:ext cx="12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7A90"/>
              </a:buClr>
              <a:buSzPts val="1000"/>
              <a:buFont typeface="Barlow"/>
              <a:buNone/>
            </a:pPr>
            <a:r>
              <a:rPr b="1" lang="en-US" sz="1000">
                <a:solidFill>
                  <a:srgbClr val="6B7A90"/>
                </a:solidFill>
                <a:latin typeface="Barlow"/>
                <a:ea typeface="Barlow"/>
                <a:cs typeface="Barlow"/>
                <a:sym typeface="Barlow"/>
              </a:rPr>
              <a:t>BASED IN</a:t>
            </a:r>
            <a:endParaRPr/>
          </a:p>
        </p:txBody>
      </p:sp>
      <p:sp>
        <p:nvSpPr>
          <p:cNvPr id="718" name="Google Shape;718;p41"/>
          <p:cNvSpPr txBox="1"/>
          <p:nvPr/>
        </p:nvSpPr>
        <p:spPr>
          <a:xfrm>
            <a:off x="1980000" y="4560000"/>
            <a:ext cx="2150000" cy="36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50"/>
              <a:buFont typeface="Barlow"/>
              <a:buNone/>
            </a:pPr>
            <a:r>
              <a:rPr lang="en-US" sz="1050">
                <a:solidFill>
                  <a:srgbClr val="1F2A37"/>
                </a:solidFill>
                <a:latin typeface="Barlow"/>
                <a:ea typeface="Barlow"/>
                <a:cs typeface="Barlow"/>
                <a:sym typeface="Barlow"/>
              </a:rPr>
              <a:t>Seoul</a:t>
            </a:r>
            <a:endParaRPr/>
          </a:p>
        </p:txBody>
      </p:sp>
      <p:sp>
        <p:nvSpPr>
          <p:cNvPr id="719" name="Google Shape;719;p41"/>
          <p:cNvSpPr/>
          <p:nvPr/>
        </p:nvSpPr>
        <p:spPr>
          <a:xfrm>
            <a:off x="629107" y="5120000"/>
            <a:ext cx="3542400" cy="80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0" name="Google Shape;720;p41"/>
          <p:cNvSpPr txBox="1"/>
          <p:nvPr/>
        </p:nvSpPr>
        <p:spPr>
          <a:xfrm>
            <a:off x="730000" y="5170000"/>
            <a:ext cx="3340000" cy="7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lang="en-US" sz="1050">
                <a:solidFill>
                  <a:srgbClr val="0B2F5B"/>
                </a:solidFill>
                <a:latin typeface="Barlow"/>
                <a:ea typeface="Barlow"/>
                <a:cs typeface="Barlow"/>
                <a:sym typeface="Barlow"/>
              </a:rPr>
              <a:t>Mid-Senior Android Engineer — delivers Android provisioning, device and diagnostics features under </a:t>
            </a:r>
            <a:r>
              <a:rPr lang="en-US" sz="1050">
                <a:solidFill>
                  <a:srgbClr val="0B2F5B"/>
                </a:solidFill>
                <a:latin typeface="Barlow"/>
                <a:ea typeface="Barlow"/>
                <a:cs typeface="Barlow"/>
                <a:sym typeface="Barlow"/>
              </a:rPr>
              <a:t>Candidate A's review; Korean native, professional English.</a:t>
            </a:r>
            <a:endParaRPr/>
          </a:p>
        </p:txBody>
      </p:sp>
      <p:sp>
        <p:nvSpPr>
          <p:cNvPr id="721" name="Google Shape;721;p41"/>
          <p:cNvSpPr/>
          <p:nvPr/>
        </p:nvSpPr>
        <p:spPr>
          <a:xfrm>
            <a:off x="4495800" y="1238098"/>
            <a:ext cx="7239195" cy="4858207"/>
          </a:xfrm>
          <a:prstGeom prst="rect">
            <a:avLst/>
          </a:prstGeom>
          <a:solidFill>
            <a:srgbClr val="FFFFFF"/>
          </a:solidFill>
          <a:ln cap="flat" cmpd="sng" w="12700">
            <a:solidFill>
              <a:srgbClr val="D5DEE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2" name="Google Shape;722;p41"/>
          <p:cNvSpPr txBox="1"/>
          <p:nvPr/>
        </p:nvSpPr>
        <p:spPr>
          <a:xfrm>
            <a:off x="4667707" y="1390802"/>
            <a:ext cx="3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Skills matching the RFP</a:t>
            </a:r>
            <a:endParaRPr/>
          </a:p>
        </p:txBody>
      </p:sp>
      <p:sp>
        <p:nvSpPr>
          <p:cNvPr id="723" name="Google Shape;723;p41"/>
          <p:cNvSpPr/>
          <p:nvPr/>
        </p:nvSpPr>
        <p:spPr>
          <a:xfrm>
            <a:off x="46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4" name="Google Shape;724;p41"/>
          <p:cNvSpPr txBox="1"/>
          <p:nvPr/>
        </p:nvSpPr>
        <p:spPr>
          <a:xfrm>
            <a:off x="46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Kotlin · Java</a:t>
            </a:r>
            <a:endParaRPr/>
          </a:p>
        </p:txBody>
      </p:sp>
      <p:sp>
        <p:nvSpPr>
          <p:cNvPr id="725" name="Google Shape;725;p41"/>
          <p:cNvSpPr/>
          <p:nvPr/>
        </p:nvSpPr>
        <p:spPr>
          <a:xfrm>
            <a:off x="582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6" name="Google Shape;726;p41"/>
          <p:cNvSpPr txBox="1"/>
          <p:nvPr/>
        </p:nvSpPr>
        <p:spPr>
          <a:xfrm>
            <a:off x="582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Android · AAOS</a:t>
            </a:r>
            <a:endParaRPr/>
          </a:p>
        </p:txBody>
      </p:sp>
      <p:sp>
        <p:nvSpPr>
          <p:cNvPr id="727" name="Google Shape;727;p41"/>
          <p:cNvSpPr/>
          <p:nvPr/>
        </p:nvSpPr>
        <p:spPr>
          <a:xfrm>
            <a:off x="698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28" name="Google Shape;728;p41"/>
          <p:cNvSpPr txBox="1"/>
          <p:nvPr/>
        </p:nvSpPr>
        <p:spPr>
          <a:xfrm>
            <a:off x="698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REST API · JSON</a:t>
            </a:r>
            <a:endParaRPr/>
          </a:p>
        </p:txBody>
      </p:sp>
      <p:sp>
        <p:nvSpPr>
          <p:cNvPr id="729" name="Google Shape;729;p41"/>
          <p:cNvSpPr/>
          <p:nvPr/>
        </p:nvSpPr>
        <p:spPr>
          <a:xfrm>
            <a:off x="814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0" name="Google Shape;730;p41"/>
          <p:cNvSpPr txBox="1"/>
          <p:nvPr/>
        </p:nvSpPr>
        <p:spPr>
          <a:xfrm>
            <a:off x="814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Device protocols</a:t>
            </a:r>
            <a:endParaRPr/>
          </a:p>
        </p:txBody>
      </p:sp>
      <p:sp>
        <p:nvSpPr>
          <p:cNvPr id="731" name="Google Shape;731;p41"/>
          <p:cNvSpPr/>
          <p:nvPr/>
        </p:nvSpPr>
        <p:spPr>
          <a:xfrm>
            <a:off x="930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2" name="Google Shape;732;p41"/>
          <p:cNvSpPr txBox="1"/>
          <p:nvPr/>
        </p:nvSpPr>
        <p:spPr>
          <a:xfrm>
            <a:off x="930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Static analysis</a:t>
            </a:r>
            <a:endParaRPr/>
          </a:p>
        </p:txBody>
      </p:sp>
      <p:sp>
        <p:nvSpPr>
          <p:cNvPr id="733" name="Google Shape;733;p41"/>
          <p:cNvSpPr/>
          <p:nvPr/>
        </p:nvSpPr>
        <p:spPr>
          <a:xfrm>
            <a:off x="10467707" y="1660000"/>
            <a:ext cx="1100000" cy="260000"/>
          </a:xfrm>
          <a:prstGeom prst="rect">
            <a:avLst/>
          </a:prstGeom>
          <a:solidFill>
            <a:srgbClr val="EAF2F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4" name="Google Shape;734;p41"/>
          <p:cNvSpPr txBox="1"/>
          <p:nvPr/>
        </p:nvSpPr>
        <p:spPr>
          <a:xfrm>
            <a:off x="10467707" y="1660000"/>
            <a:ext cx="1100000" cy="260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Jenkins · Git</a:t>
            </a:r>
            <a:endParaRPr/>
          </a:p>
        </p:txBody>
      </p:sp>
      <p:sp>
        <p:nvSpPr>
          <p:cNvPr id="735" name="Google Shape;735;p41"/>
          <p:cNvSpPr txBox="1"/>
          <p:nvPr/>
        </p:nvSpPr>
        <p:spPr>
          <a:xfrm>
            <a:off x="4667707" y="2080000"/>
            <a:ext cx="5000000" cy="22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50"/>
              <a:buFont typeface="Barlow"/>
              <a:buNone/>
            </a:pPr>
            <a:r>
              <a:rPr b="1" lang="en-US" sz="1050">
                <a:solidFill>
                  <a:srgbClr val="0B2F5B"/>
                </a:solidFill>
                <a:latin typeface="Barlow"/>
                <a:ea typeface="Barlow"/>
                <a:cs typeface="Barlow"/>
                <a:sym typeface="Barlow"/>
              </a:rPr>
              <a:t>Selected projects (from technical career sheet, latest first)</a:t>
            </a:r>
            <a:endParaRPr/>
          </a:p>
        </p:txBody>
      </p:sp>
      <p:sp>
        <p:nvSpPr>
          <p:cNvPr id="736" name="Google Shape;736;p41"/>
          <p:cNvSpPr/>
          <p:nvPr/>
        </p:nvSpPr>
        <p:spPr>
          <a:xfrm>
            <a:off x="4667707" y="2340000"/>
            <a:ext cx="6912293" cy="280000"/>
          </a:xfrm>
          <a:prstGeom prst="rect">
            <a:avLst/>
          </a:prstGeom>
          <a:solidFill>
            <a:srgbClr val="0B2F5B"/>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37" name="Google Shape;737;p41"/>
          <p:cNvSpPr txBox="1"/>
          <p:nvPr/>
        </p:nvSpPr>
        <p:spPr>
          <a:xfrm>
            <a:off x="4727707" y="2340000"/>
            <a:ext cx="109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Period</a:t>
            </a:r>
            <a:endParaRPr/>
          </a:p>
        </p:txBody>
      </p:sp>
      <p:sp>
        <p:nvSpPr>
          <p:cNvPr id="738" name="Google Shape;738;p41"/>
          <p:cNvSpPr txBox="1"/>
          <p:nvPr/>
        </p:nvSpPr>
        <p:spPr>
          <a:xfrm>
            <a:off x="5940000" y="2340000"/>
            <a:ext cx="256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Project</a:t>
            </a:r>
            <a:endParaRPr/>
          </a:p>
        </p:txBody>
      </p:sp>
      <p:sp>
        <p:nvSpPr>
          <p:cNvPr id="739" name="Google Shape;739;p41"/>
          <p:cNvSpPr txBox="1"/>
          <p:nvPr/>
        </p:nvSpPr>
        <p:spPr>
          <a:xfrm>
            <a:off x="8620000" y="2340000"/>
            <a:ext cx="134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Client</a:t>
            </a:r>
            <a:endParaRPr/>
          </a:p>
        </p:txBody>
      </p:sp>
      <p:sp>
        <p:nvSpPr>
          <p:cNvPr id="740" name="Google Shape;740;p41"/>
          <p:cNvSpPr txBox="1"/>
          <p:nvPr/>
        </p:nvSpPr>
        <p:spPr>
          <a:xfrm>
            <a:off x="10080000" y="2340000"/>
            <a:ext cx="1500000" cy="28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00"/>
              <a:buFont typeface="Barlow"/>
              <a:buNone/>
            </a:pPr>
            <a:r>
              <a:rPr b="1" lang="en-US" sz="1000">
                <a:solidFill>
                  <a:srgbClr val="FFFFFF"/>
                </a:solidFill>
                <a:latin typeface="Barlow"/>
                <a:ea typeface="Barlow"/>
                <a:cs typeface="Barlow"/>
                <a:sym typeface="Barlow"/>
              </a:rPr>
              <a:t>Role · Stack</a:t>
            </a:r>
            <a:endParaRPr/>
          </a:p>
        </p:txBody>
      </p:sp>
      <p:sp>
        <p:nvSpPr>
          <p:cNvPr id="741" name="Google Shape;741;p41"/>
          <p:cNvSpPr txBox="1"/>
          <p:nvPr/>
        </p:nvSpPr>
        <p:spPr>
          <a:xfrm>
            <a:off x="4727707" y="2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2026.04–2026.07</a:t>
            </a:r>
            <a:endParaRPr/>
          </a:p>
        </p:txBody>
      </p:sp>
      <p:sp>
        <p:nvSpPr>
          <p:cNvPr id="742" name="Google Shape;742;p41"/>
          <p:cNvSpPr txBox="1"/>
          <p:nvPr/>
        </p:nvSpPr>
        <p:spPr>
          <a:xfrm>
            <a:off x="5940000" y="2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SDV solution bridge, test-automation PoC scoping</a:t>
            </a:r>
            <a:endParaRPr/>
          </a:p>
        </p:txBody>
      </p:sp>
      <p:sp>
        <p:nvSpPr>
          <p:cNvPr id="743" name="Google Shape;743;p41"/>
          <p:cNvSpPr txBox="1"/>
          <p:nvPr/>
        </p:nvSpPr>
        <p:spPr>
          <a:xfrm>
            <a:off x="8620000" y="2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FPT Software Korea</a:t>
            </a:r>
            <a:endParaRPr/>
          </a:p>
        </p:txBody>
      </p:sp>
      <p:sp>
        <p:nvSpPr>
          <p:cNvPr id="744" name="Google Shape;744;p41"/>
          <p:cNvSpPr txBox="1"/>
          <p:nvPr/>
        </p:nvSpPr>
        <p:spPr>
          <a:xfrm>
            <a:off x="10080000" y="2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Solution bridge · virtual ECU</a:t>
            </a:r>
            <a:endParaRPr/>
          </a:p>
        </p:txBody>
      </p:sp>
      <p:sp>
        <p:nvSpPr>
          <p:cNvPr id="745" name="Google Shape;745;p41"/>
          <p:cNvSpPr/>
          <p:nvPr/>
        </p:nvSpPr>
        <p:spPr>
          <a:xfrm>
            <a:off x="4667707" y="30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46" name="Google Shape;746;p41"/>
          <p:cNvSpPr txBox="1"/>
          <p:nvPr/>
        </p:nvSpPr>
        <p:spPr>
          <a:xfrm>
            <a:off x="4727707" y="3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2024.11–2026.01</a:t>
            </a:r>
            <a:endParaRPr/>
          </a:p>
        </p:txBody>
      </p:sp>
      <p:sp>
        <p:nvSpPr>
          <p:cNvPr id="747" name="Google Shape;747;p41"/>
          <p:cNvSpPr txBox="1"/>
          <p:nvPr/>
        </p:nvSpPr>
        <p:spPr>
          <a:xfrm>
            <a:off x="5940000" y="3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Connected car provisioning service (Java to Kotlin refactor)</a:t>
            </a:r>
            <a:endParaRPr/>
          </a:p>
        </p:txBody>
      </p:sp>
      <p:sp>
        <p:nvSpPr>
          <p:cNvPr id="748" name="Google Shape;748;p41"/>
          <p:cNvSpPr txBox="1"/>
          <p:nvPr/>
        </p:nvSpPr>
        <p:spPr>
          <a:xfrm>
            <a:off x="8620000" y="3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FPT Software Korea</a:t>
            </a:r>
            <a:endParaRPr/>
          </a:p>
        </p:txBody>
      </p:sp>
      <p:sp>
        <p:nvSpPr>
          <p:cNvPr id="749" name="Google Shape;749;p41"/>
          <p:cNvSpPr txBox="1"/>
          <p:nvPr/>
        </p:nvSpPr>
        <p:spPr>
          <a:xfrm>
            <a:off x="10080000" y="3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 Java, REST</a:t>
            </a:r>
            <a:endParaRPr/>
          </a:p>
        </p:txBody>
      </p:sp>
      <p:sp>
        <p:nvSpPr>
          <p:cNvPr id="750" name="Google Shape;750;p41"/>
          <p:cNvSpPr txBox="1"/>
          <p:nvPr/>
        </p:nvSpPr>
        <p:spPr>
          <a:xfrm>
            <a:off x="4727707" y="34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2025.03–2025.06</a:t>
            </a:r>
            <a:endParaRPr/>
          </a:p>
        </p:txBody>
      </p:sp>
      <p:sp>
        <p:nvSpPr>
          <p:cNvPr id="751" name="Google Shape;751;p41"/>
          <p:cNvSpPr txBox="1"/>
          <p:nvPr/>
        </p:nvSpPr>
        <p:spPr>
          <a:xfrm>
            <a:off x="5940000" y="34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Genesis AVN split-screen app</a:t>
            </a:r>
            <a:endParaRPr/>
          </a:p>
        </p:txBody>
      </p:sp>
      <p:sp>
        <p:nvSpPr>
          <p:cNvPr id="752" name="Google Shape;752;p41"/>
          <p:cNvSpPr txBox="1"/>
          <p:nvPr/>
        </p:nvSpPr>
        <p:spPr>
          <a:xfrm>
            <a:off x="8620000" y="34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FPT Software Korea</a:t>
            </a:r>
            <a:endParaRPr/>
          </a:p>
        </p:txBody>
      </p:sp>
      <p:sp>
        <p:nvSpPr>
          <p:cNvPr id="753" name="Google Shape;753;p41"/>
          <p:cNvSpPr txBox="1"/>
          <p:nvPr/>
        </p:nvSpPr>
        <p:spPr>
          <a:xfrm>
            <a:off x="10080000" y="34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PM · Kotlin, Android</a:t>
            </a:r>
            <a:endParaRPr/>
          </a:p>
        </p:txBody>
      </p:sp>
      <p:sp>
        <p:nvSpPr>
          <p:cNvPr id="754" name="Google Shape;754;p41"/>
          <p:cNvSpPr/>
          <p:nvPr/>
        </p:nvSpPr>
        <p:spPr>
          <a:xfrm>
            <a:off x="4667707" y="38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55" name="Google Shape;755;p41"/>
          <p:cNvSpPr txBox="1"/>
          <p:nvPr/>
        </p:nvSpPr>
        <p:spPr>
          <a:xfrm>
            <a:off x="4727707" y="38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2025.03–2025.06</a:t>
            </a:r>
            <a:endParaRPr/>
          </a:p>
        </p:txBody>
      </p:sp>
      <p:sp>
        <p:nvSpPr>
          <p:cNvPr id="756" name="Google Shape;756;p41"/>
          <p:cNvSpPr txBox="1"/>
          <p:nvPr/>
        </p:nvSpPr>
        <p:spPr>
          <a:xfrm>
            <a:off x="5940000" y="38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Car service demo on Telechips evaluation board</a:t>
            </a:r>
            <a:endParaRPr/>
          </a:p>
        </p:txBody>
      </p:sp>
      <p:sp>
        <p:nvSpPr>
          <p:cNvPr id="757" name="Google Shape;757;p41"/>
          <p:cNvSpPr txBox="1"/>
          <p:nvPr/>
        </p:nvSpPr>
        <p:spPr>
          <a:xfrm>
            <a:off x="8620000" y="38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FPT Software Korea</a:t>
            </a:r>
            <a:endParaRPr/>
          </a:p>
        </p:txBody>
      </p:sp>
      <p:sp>
        <p:nvSpPr>
          <p:cNvPr id="758" name="Google Shape;758;p41"/>
          <p:cNvSpPr txBox="1"/>
          <p:nvPr/>
        </p:nvSpPr>
        <p:spPr>
          <a:xfrm>
            <a:off x="10080000" y="38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Java, C/C++, AAOS, Yocto</a:t>
            </a:r>
            <a:endParaRPr/>
          </a:p>
        </p:txBody>
      </p:sp>
      <p:sp>
        <p:nvSpPr>
          <p:cNvPr id="759" name="Google Shape;759;p41"/>
          <p:cNvSpPr txBox="1"/>
          <p:nvPr/>
        </p:nvSpPr>
        <p:spPr>
          <a:xfrm>
            <a:off x="4727707" y="42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2024.01–2024.11</a:t>
            </a:r>
            <a:endParaRPr/>
          </a:p>
        </p:txBody>
      </p:sp>
      <p:sp>
        <p:nvSpPr>
          <p:cNvPr id="760" name="Google Shape;760;p41"/>
          <p:cNvSpPr txBox="1"/>
          <p:nvPr/>
        </p:nvSpPr>
        <p:spPr>
          <a:xfrm>
            <a:off x="5940000" y="42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PBV connected car: notifications, device monitoring, diagnostics</a:t>
            </a:r>
            <a:endParaRPr/>
          </a:p>
        </p:txBody>
      </p:sp>
      <p:sp>
        <p:nvSpPr>
          <p:cNvPr id="761" name="Google Shape;761;p41"/>
          <p:cNvSpPr txBox="1"/>
          <p:nvPr/>
        </p:nvSpPr>
        <p:spPr>
          <a:xfrm>
            <a:off x="8620000" y="42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WiseThen</a:t>
            </a:r>
            <a:endParaRPr/>
          </a:p>
        </p:txBody>
      </p:sp>
      <p:sp>
        <p:nvSpPr>
          <p:cNvPr id="762" name="Google Shape;762;p41"/>
          <p:cNvSpPr txBox="1"/>
          <p:nvPr/>
        </p:nvSpPr>
        <p:spPr>
          <a:xfrm>
            <a:off x="10080000" y="42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Kotlin, Java, Android</a:t>
            </a:r>
            <a:endParaRPr/>
          </a:p>
        </p:txBody>
      </p:sp>
      <p:sp>
        <p:nvSpPr>
          <p:cNvPr id="763" name="Google Shape;763;p41"/>
          <p:cNvSpPr/>
          <p:nvPr/>
        </p:nvSpPr>
        <p:spPr>
          <a:xfrm>
            <a:off x="4667707" y="4620000"/>
            <a:ext cx="6912293" cy="400000"/>
          </a:xfrm>
          <a:prstGeom prst="rect">
            <a:avLst/>
          </a:prstGeom>
          <a:solidFill>
            <a:srgbClr val="F5F8F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64" name="Google Shape;764;p41"/>
          <p:cNvSpPr txBox="1"/>
          <p:nvPr/>
        </p:nvSpPr>
        <p:spPr>
          <a:xfrm>
            <a:off x="4727707" y="46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2021.08–2024.11</a:t>
            </a:r>
            <a:endParaRPr/>
          </a:p>
        </p:txBody>
      </p:sp>
      <p:sp>
        <p:nvSpPr>
          <p:cNvPr id="765" name="Google Shape;765;p41"/>
          <p:cNvSpPr txBox="1"/>
          <p:nvPr/>
        </p:nvSpPr>
        <p:spPr>
          <a:xfrm>
            <a:off x="5940000" y="46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User profile, location sharing, GIS (Bluelink, Kia Connect)</a:t>
            </a:r>
            <a:endParaRPr/>
          </a:p>
        </p:txBody>
      </p:sp>
      <p:sp>
        <p:nvSpPr>
          <p:cNvPr id="766" name="Google Shape;766;p41"/>
          <p:cNvSpPr txBox="1"/>
          <p:nvPr/>
        </p:nvSpPr>
        <p:spPr>
          <a:xfrm>
            <a:off x="8620000" y="46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WiseThen</a:t>
            </a:r>
            <a:endParaRPr/>
          </a:p>
        </p:txBody>
      </p:sp>
      <p:sp>
        <p:nvSpPr>
          <p:cNvPr id="767" name="Google Shape;767;p41"/>
          <p:cNvSpPr txBox="1"/>
          <p:nvPr/>
        </p:nvSpPr>
        <p:spPr>
          <a:xfrm>
            <a:off x="10080000" y="46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Dev · Java, Android, REST</a:t>
            </a:r>
            <a:endParaRPr/>
          </a:p>
        </p:txBody>
      </p:sp>
      <p:sp>
        <p:nvSpPr>
          <p:cNvPr id="768" name="Google Shape;768;p41"/>
          <p:cNvSpPr txBox="1"/>
          <p:nvPr/>
        </p:nvSpPr>
        <p:spPr>
          <a:xfrm>
            <a:off x="4727707" y="5020000"/>
            <a:ext cx="106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2020.08–2021.05</a:t>
            </a:r>
            <a:endParaRPr/>
          </a:p>
        </p:txBody>
      </p:sp>
      <p:sp>
        <p:nvSpPr>
          <p:cNvPr id="769" name="Google Shape;769;p41"/>
          <p:cNvSpPr txBox="1"/>
          <p:nvPr/>
        </p:nvSpPr>
        <p:spPr>
          <a:xfrm>
            <a:off x="5940000" y="5020000"/>
            <a:ext cx="253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2F5B"/>
              </a:buClr>
              <a:buSzPts val="1000"/>
              <a:buFont typeface="Barlow"/>
              <a:buNone/>
            </a:pPr>
            <a:r>
              <a:rPr b="1" lang="en-US" sz="1000">
                <a:solidFill>
                  <a:srgbClr val="0B2F5B"/>
                </a:solidFill>
                <a:latin typeface="Barlow"/>
                <a:ea typeface="Barlow"/>
                <a:cs typeface="Barlow"/>
                <a:sym typeface="Barlow"/>
              </a:rPr>
              <a:t>HR platform admin and responsive web services</a:t>
            </a:r>
            <a:endParaRPr/>
          </a:p>
        </p:txBody>
      </p:sp>
      <p:sp>
        <p:nvSpPr>
          <p:cNvPr id="770" name="Google Shape;770;p41"/>
          <p:cNvSpPr txBox="1"/>
          <p:nvPr/>
        </p:nvSpPr>
        <p:spPr>
          <a:xfrm>
            <a:off x="8620000" y="5020000"/>
            <a:ext cx="131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JinK, Sillion</a:t>
            </a:r>
            <a:endParaRPr/>
          </a:p>
        </p:txBody>
      </p:sp>
      <p:sp>
        <p:nvSpPr>
          <p:cNvPr id="771" name="Google Shape;771;p41"/>
          <p:cNvSpPr txBox="1"/>
          <p:nvPr/>
        </p:nvSpPr>
        <p:spPr>
          <a:xfrm>
            <a:off x="10080000" y="5020000"/>
            <a:ext cx="1470000" cy="40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A37"/>
              </a:buClr>
              <a:buSzPts val="1000"/>
              <a:buFont typeface="Barlow"/>
              <a:buNone/>
            </a:pPr>
            <a:r>
              <a:rPr lang="en-US" sz="1000">
                <a:solidFill>
                  <a:srgbClr val="1F2A37"/>
                </a:solidFill>
                <a:latin typeface="Barlow"/>
                <a:ea typeface="Barlow"/>
                <a:cs typeface="Barlow"/>
                <a:sym typeface="Barlow"/>
              </a:rPr>
              <a:t>Contract web dev · PHP, Spring</a:t>
            </a:r>
            <a:endParaRPr/>
          </a:p>
        </p:txBody>
      </p:sp>
      <p:sp>
        <p:nvSpPr>
          <p:cNvPr id="772" name="Google Shape;772;p41"/>
          <p:cNvSpPr txBox="1"/>
          <p:nvPr/>
        </p:nvSpPr>
        <p:spPr>
          <a:xfrm>
            <a:off x="4667707" y="5760000"/>
            <a:ext cx="6912293" cy="330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7F"/>
              </a:buClr>
              <a:buSzPts val="1000"/>
              <a:buFont typeface="Barlow"/>
              <a:buNone/>
            </a:pPr>
            <a:r>
              <a:rPr lang="en-US" sz="1000">
                <a:solidFill>
                  <a:srgbClr val="5B6B7F"/>
                </a:solidFill>
                <a:latin typeface="Barlow"/>
                <a:ea typeface="Barlow"/>
                <a:cs typeface="Barlow"/>
                <a:sym typeface="Barlow"/>
              </a:rPr>
              <a:t>Contractor via CMC Global Korea · available 2 Nov 2026 · Korean native, professional English.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7" name="Shape 777"/>
        <p:cNvGrpSpPr/>
        <p:nvPr/>
      </p:nvGrpSpPr>
      <p:grpSpPr>
        <a:xfrm>
          <a:off x="0" y="0"/>
          <a:ext cx="0" cy="0"/>
          <a:chOff x="0" y="0"/>
          <a:chExt cx="0" cy="0"/>
        </a:xfrm>
      </p:grpSpPr>
      <p:sp>
        <p:nvSpPr>
          <p:cNvPr id="778" name="Google Shape;778;p42"/>
          <p:cNvSpPr txBox="1"/>
          <p:nvPr>
            <p:ph type="ctrTitle"/>
          </p:nvPr>
        </p:nvSpPr>
        <p:spPr>
          <a:xfrm>
            <a:off x="629107" y="3364992"/>
            <a:ext cx="10881360" cy="1298448"/>
          </a:xfrm>
          <a:prstGeom prst="rect">
            <a:avLst/>
          </a:prstGeom>
          <a:noFill/>
          <a:ln>
            <a:noFill/>
          </a:ln>
        </p:spPr>
        <p:txBody>
          <a:bodyPr anchorCtr="0" anchor="t" bIns="0" lIns="0" spcFirstLastPara="1" rIns="0" wrap="square" tIns="0">
            <a:noAutofit/>
          </a:bodyPr>
          <a:lstStyle/>
          <a:p>
            <a:pPr indent="0" lvl="0" marL="0" rtl="0" algn="l">
              <a:lnSpc>
                <a:spcPct val="103000"/>
              </a:lnSpc>
              <a:spcBef>
                <a:spcPts val="0"/>
              </a:spcBef>
              <a:spcAft>
                <a:spcPts val="0"/>
              </a:spcAft>
              <a:buClr>
                <a:srgbClr val="FFFFFF"/>
              </a:buClr>
              <a:buSzPts val="4000"/>
              <a:buFont typeface="Montserrat"/>
              <a:buNone/>
            </a:pPr>
            <a:r>
              <a:rPr lang="en-US"/>
              <a:t>큐셀 CORE Pro 설치 기사</a:t>
            </a:r>
            <a:r>
              <a:rPr lang="en-US"/>
              <a:t>용</a:t>
            </a:r>
            <a:r>
              <a:rPr lang="en-US"/>
              <a:t> 앱</a:t>
            </a:r>
            <a:endParaRPr/>
          </a:p>
          <a:p>
            <a:pPr indent="0" lvl="0" marL="0" rtl="0" algn="l">
              <a:lnSpc>
                <a:spcPct val="103000"/>
              </a:lnSpc>
              <a:spcBef>
                <a:spcPts val="0"/>
              </a:spcBef>
              <a:spcAft>
                <a:spcPts val="0"/>
              </a:spcAft>
              <a:buClr>
                <a:srgbClr val="8FBDF8"/>
              </a:buClr>
              <a:buSzPts val="4000"/>
              <a:buFont typeface="Montserrat"/>
              <a:buNone/>
            </a:pPr>
            <a:r>
              <a:rPr lang="en-US">
                <a:solidFill>
                  <a:srgbClr val="8FBDF8"/>
                </a:solidFill>
              </a:rPr>
              <a:t>iOS 설계안</a:t>
            </a:r>
            <a:endParaRPr>
              <a:solidFill>
                <a:srgbClr val="8FBDF8"/>
              </a:solidFill>
            </a:endParaRPr>
          </a:p>
        </p:txBody>
      </p:sp>
      <p:sp>
        <p:nvSpPr>
          <p:cNvPr id="779" name="Google Shape;779;p42"/>
          <p:cNvSpPr txBox="1"/>
          <p:nvPr>
            <p:ph idx="2" type="subTitle"/>
          </p:nvPr>
        </p:nvSpPr>
        <p:spPr>
          <a:xfrm>
            <a:off x="629107" y="4743907"/>
            <a:ext cx="9601200" cy="246888"/>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DCE8F7"/>
              </a:buClr>
              <a:buSzPts val="1350"/>
              <a:buNone/>
            </a:pPr>
            <a:r>
              <a:rPr lang="en-US"/>
              <a:t>BLE, 로컬 Wi-Fi, 펌웨어, 클라우드 동기화를 아우르는 안정적인 </a:t>
            </a:r>
            <a:r>
              <a:rPr lang="en-US"/>
              <a:t>설비 연동</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Google Shape;785;p43"/>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설치 워크플로우</a:t>
            </a:r>
            <a:endParaRPr/>
          </a:p>
        </p:txBody>
      </p:sp>
      <p:sp>
        <p:nvSpPr>
          <p:cNvPr id="786" name="Google Shape;786;p43"/>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설치</a:t>
            </a:r>
            <a:r>
              <a:rPr lang="en-US"/>
              <a:t>를 위한</a:t>
            </a:r>
            <a:r>
              <a:rPr lang="en-US"/>
              <a:t> 3단계 </a:t>
            </a:r>
            <a:r>
              <a:rPr lang="en-US"/>
              <a:t>과정</a:t>
            </a:r>
            <a:r>
              <a:rPr lang="en-US"/>
              <a:t>, 현장</a:t>
            </a:r>
            <a:r>
              <a:rPr lang="en-US"/>
              <a:t>에서</a:t>
            </a:r>
            <a:r>
              <a:rPr lang="en-US"/>
              <a:t> 인터넷 </a:t>
            </a:r>
            <a:r>
              <a:rPr lang="en-US"/>
              <a:t>불필요</a:t>
            </a:r>
            <a:endParaRPr/>
          </a:p>
        </p:txBody>
      </p:sp>
      <p:sp>
        <p:nvSpPr>
          <p:cNvPr id="787" name="Google Shape;787;p43"/>
          <p:cNvSpPr/>
          <p:nvPr/>
        </p:nvSpPr>
        <p:spPr>
          <a:xfrm>
            <a:off x="457200" y="1234440"/>
            <a:ext cx="1737360" cy="477316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8" name="Google Shape;788;p43"/>
          <p:cNvSpPr/>
          <p:nvPr/>
        </p:nvSpPr>
        <p:spPr>
          <a:xfrm>
            <a:off x="457200" y="1234440"/>
            <a:ext cx="1737360" cy="566928"/>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27425" lIns="137150" spcFirstLastPara="1" rIns="91425" wrap="square" tIns="27425">
            <a:noAutofit/>
          </a:bodyPr>
          <a:lstStyle/>
          <a:p>
            <a:pPr indent="0" lvl="0" marL="0" marR="0" rtl="0" algn="l">
              <a:lnSpc>
                <a:spcPct val="100000"/>
              </a:lnSpc>
              <a:spcBef>
                <a:spcPts val="0"/>
              </a:spcBef>
              <a:spcAft>
                <a:spcPts val="0"/>
              </a:spcAft>
              <a:buNone/>
            </a:pPr>
            <a:r>
              <a:rPr b="1" lang="en-US" sz="800">
                <a:solidFill>
                  <a:srgbClr val="1867DC"/>
                </a:solidFill>
                <a:latin typeface="Montserrat"/>
                <a:ea typeface="Montserrat"/>
                <a:cs typeface="Montserrat"/>
                <a:sym typeface="Montserrat"/>
              </a:rPr>
              <a:t>1단계</a:t>
            </a:r>
            <a:endParaRPr/>
          </a:p>
          <a:p>
            <a:pPr indent="0" lvl="0" marL="0" marR="0" rtl="0" algn="l">
              <a:lnSpc>
                <a:spcPct val="100000"/>
              </a:lnSpc>
              <a:spcBef>
                <a:spcPts val="100"/>
              </a:spcBef>
              <a:spcAft>
                <a:spcPts val="0"/>
              </a:spcAft>
              <a:buNone/>
            </a:pPr>
            <a:r>
              <a:rPr b="1" lang="en-US" sz="1050">
                <a:solidFill>
                  <a:srgbClr val="0B2F5B"/>
                </a:solidFill>
                <a:latin typeface="Montserrat"/>
                <a:ea typeface="Montserrat"/>
                <a:cs typeface="Montserrat"/>
                <a:sym typeface="Montserrat"/>
              </a:rPr>
              <a:t>사전 동기화</a:t>
            </a:r>
            <a:endParaRPr/>
          </a:p>
        </p:txBody>
      </p:sp>
      <p:sp>
        <p:nvSpPr>
          <p:cNvPr id="789" name="Google Shape;789;p43"/>
          <p:cNvSpPr/>
          <p:nvPr/>
        </p:nvSpPr>
        <p:spPr>
          <a:xfrm>
            <a:off x="2423160" y="1234440"/>
            <a:ext cx="6675120" cy="477316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0" name="Google Shape;790;p43"/>
          <p:cNvSpPr/>
          <p:nvPr/>
        </p:nvSpPr>
        <p:spPr>
          <a:xfrm>
            <a:off x="2423160" y="1234440"/>
            <a:ext cx="6675120" cy="566928"/>
          </a:xfrm>
          <a:prstGeom prst="rect">
            <a:avLst/>
          </a:prstGeom>
          <a:solidFill>
            <a:srgbClr val="0B2F5B"/>
          </a:solidFill>
          <a:ln>
            <a:noFill/>
          </a:ln>
        </p:spPr>
        <p:txBody>
          <a:bodyPr anchorCtr="0" anchor="ctr" bIns="27425" lIns="137150" spcFirstLastPara="1" rIns="91425" wrap="square" tIns="27425">
            <a:noAutofit/>
          </a:bodyPr>
          <a:lstStyle/>
          <a:p>
            <a:pPr indent="0" lvl="0" marL="0" marR="0" rtl="0" algn="l">
              <a:lnSpc>
                <a:spcPct val="100000"/>
              </a:lnSpc>
              <a:spcBef>
                <a:spcPts val="0"/>
              </a:spcBef>
              <a:spcAft>
                <a:spcPts val="0"/>
              </a:spcAft>
              <a:buNone/>
            </a:pPr>
            <a:r>
              <a:rPr b="1" lang="en-US" sz="800">
                <a:solidFill>
                  <a:srgbClr val="A9C7EA"/>
                </a:solidFill>
                <a:latin typeface="Montserrat"/>
                <a:ea typeface="Montserrat"/>
                <a:cs typeface="Montserrat"/>
                <a:sym typeface="Montserrat"/>
              </a:rPr>
              <a:t>2단계</a:t>
            </a:r>
            <a:endParaRPr/>
          </a:p>
          <a:p>
            <a:pPr indent="0" lvl="0" marL="0" marR="0" rtl="0" algn="l">
              <a:lnSpc>
                <a:spcPct val="100000"/>
              </a:lnSpc>
              <a:spcBef>
                <a:spcPts val="100"/>
              </a:spcBef>
              <a:spcAft>
                <a:spcPts val="0"/>
              </a:spcAft>
              <a:buNone/>
            </a:pPr>
            <a:r>
              <a:rPr b="1" lang="en-US" sz="1150">
                <a:solidFill>
                  <a:srgbClr val="FFFFFF"/>
                </a:solidFill>
                <a:latin typeface="Montserrat"/>
                <a:ea typeface="Montserrat"/>
                <a:cs typeface="Montserrat"/>
                <a:sym typeface="Montserrat"/>
              </a:rPr>
              <a:t>오프라인 우선 시운전</a:t>
            </a:r>
            <a:endParaRPr/>
          </a:p>
        </p:txBody>
      </p:sp>
      <p:sp>
        <p:nvSpPr>
          <p:cNvPr id="791" name="Google Shape;791;p43"/>
          <p:cNvSpPr/>
          <p:nvPr/>
        </p:nvSpPr>
        <p:spPr>
          <a:xfrm>
            <a:off x="9326880" y="1234440"/>
            <a:ext cx="2103120" cy="477316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2" name="Google Shape;792;p43"/>
          <p:cNvSpPr/>
          <p:nvPr/>
        </p:nvSpPr>
        <p:spPr>
          <a:xfrm>
            <a:off x="9326880" y="1234440"/>
            <a:ext cx="2103120" cy="566928"/>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27425" lIns="137150" spcFirstLastPara="1" rIns="91425" wrap="square" tIns="27425">
            <a:noAutofit/>
          </a:bodyPr>
          <a:lstStyle/>
          <a:p>
            <a:pPr indent="0" lvl="0" marL="0" marR="0" rtl="0" algn="l">
              <a:lnSpc>
                <a:spcPct val="100000"/>
              </a:lnSpc>
              <a:spcBef>
                <a:spcPts val="0"/>
              </a:spcBef>
              <a:spcAft>
                <a:spcPts val="0"/>
              </a:spcAft>
              <a:buNone/>
            </a:pPr>
            <a:r>
              <a:rPr b="1" lang="en-US" sz="800">
                <a:solidFill>
                  <a:srgbClr val="1867DC"/>
                </a:solidFill>
                <a:latin typeface="Montserrat"/>
                <a:ea typeface="Montserrat"/>
                <a:cs typeface="Montserrat"/>
                <a:sym typeface="Montserrat"/>
              </a:rPr>
              <a:t>3단계</a:t>
            </a:r>
            <a:endParaRPr/>
          </a:p>
          <a:p>
            <a:pPr indent="0" lvl="0" marL="0" marR="0" rtl="0" algn="l">
              <a:lnSpc>
                <a:spcPct val="100000"/>
              </a:lnSpc>
              <a:spcBef>
                <a:spcPts val="100"/>
              </a:spcBef>
              <a:spcAft>
                <a:spcPts val="0"/>
              </a:spcAft>
              <a:buNone/>
            </a:pPr>
            <a:r>
              <a:rPr b="1" lang="en-US" sz="1050">
                <a:solidFill>
                  <a:srgbClr val="0B2F5B"/>
                </a:solidFill>
                <a:latin typeface="Montserrat"/>
                <a:ea typeface="Montserrat"/>
                <a:cs typeface="Montserrat"/>
                <a:sym typeface="Montserrat"/>
              </a:rPr>
              <a:t>완료 및 클라우드 동기화</a:t>
            </a:r>
            <a:endParaRPr/>
          </a:p>
        </p:txBody>
      </p:sp>
      <p:sp>
        <p:nvSpPr>
          <p:cNvPr id="793" name="Google Shape;793;p43"/>
          <p:cNvSpPr/>
          <p:nvPr/>
        </p:nvSpPr>
        <p:spPr>
          <a:xfrm>
            <a:off x="594360" y="1920240"/>
            <a:ext cx="930643" cy="200025"/>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온라인 · HTTPS</a:t>
            </a:r>
            <a:endParaRPr/>
          </a:p>
        </p:txBody>
      </p:sp>
      <p:sp>
        <p:nvSpPr>
          <p:cNvPr id="794" name="Google Shape;794;p43"/>
          <p:cNvSpPr/>
          <p:nvPr/>
        </p:nvSpPr>
        <p:spPr>
          <a:xfrm>
            <a:off x="9464040" y="1920240"/>
            <a:ext cx="1229421" cy="200025"/>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다시 온라인 · HTTPS</a:t>
            </a:r>
            <a:endParaRPr/>
          </a:p>
        </p:txBody>
      </p:sp>
      <p:sp>
        <p:nvSpPr>
          <p:cNvPr id="795" name="Google Shape;795;p43"/>
          <p:cNvSpPr/>
          <p:nvPr/>
        </p:nvSpPr>
        <p:spPr>
          <a:xfrm>
            <a:off x="7333025" y="1389888"/>
            <a:ext cx="1628094" cy="188912"/>
          </a:xfrm>
          <a:prstGeom prst="roundRect">
            <a:avLst>
              <a:gd fmla="val 50000" name="adj"/>
            </a:avLst>
          </a:prstGeom>
          <a:solidFill>
            <a:srgbClr val="E6F4EA"/>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1E7B4F"/>
                </a:solidFill>
                <a:latin typeface="Montserrat"/>
                <a:ea typeface="Montserrat"/>
                <a:cs typeface="Montserrat"/>
                <a:sym typeface="Montserrat"/>
              </a:rPr>
              <a:t>인터넷 불필요</a:t>
            </a:r>
            <a:endParaRPr/>
          </a:p>
        </p:txBody>
      </p:sp>
      <p:sp>
        <p:nvSpPr>
          <p:cNvPr id="796" name="Google Shape;796;p43"/>
          <p:cNvSpPr/>
          <p:nvPr/>
        </p:nvSpPr>
        <p:spPr>
          <a:xfrm>
            <a:off x="594360" y="3044952"/>
            <a:ext cx="1463039" cy="603504"/>
          </a:xfrm>
          <a:prstGeom prst="roundRect">
            <a:avLst>
              <a:gd fmla="val 9090" name="adj"/>
            </a:avLst>
          </a:prstGeom>
          <a:solidFill>
            <a:srgbClr val="FFFFFF"/>
          </a:solidFill>
          <a:ln cap="flat" cmpd="sng" w="12700">
            <a:solidFill>
              <a:srgbClr val="0B2F5B"/>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작업 </a:t>
            </a:r>
            <a:r>
              <a:rPr b="1" lang="en-US" sz="1050">
                <a:solidFill>
                  <a:srgbClr val="0B2F5B"/>
                </a:solidFill>
                <a:latin typeface="Montserrat"/>
                <a:ea typeface="Montserrat"/>
                <a:cs typeface="Montserrat"/>
                <a:sym typeface="Montserrat"/>
              </a:rPr>
              <a:t>지시</a:t>
            </a:r>
            <a:r>
              <a:rPr b="1" lang="en-US" sz="1050">
                <a:solidFill>
                  <a:srgbClr val="0B2F5B"/>
                </a:solidFill>
                <a:latin typeface="Montserrat"/>
                <a:ea typeface="Montserrat"/>
                <a:cs typeface="Montserrat"/>
                <a:sym typeface="Montserrat"/>
              </a:rPr>
              <a:t> 동기화</a:t>
            </a:r>
            <a:endParaRPr/>
          </a:p>
          <a:p>
            <a:pPr indent="0" lvl="0" marL="0" marR="0" rtl="0" algn="ctr">
              <a:lnSpc>
                <a:spcPct val="100000"/>
              </a:lnSpc>
              <a:spcBef>
                <a:spcPts val="150"/>
              </a:spcBef>
              <a:spcAft>
                <a:spcPts val="0"/>
              </a:spcAft>
              <a:buNone/>
            </a:pPr>
            <a:r>
              <a:rPr lang="en-US" sz="950">
                <a:solidFill>
                  <a:srgbClr val="5F6B7A"/>
                </a:solidFill>
                <a:latin typeface="Barlow"/>
                <a:ea typeface="Barlow"/>
                <a:cs typeface="Barlow"/>
                <a:sym typeface="Barlow"/>
              </a:rPr>
              <a:t>오늘의 작업 다운로드</a:t>
            </a:r>
            <a:endParaRPr/>
          </a:p>
        </p:txBody>
      </p:sp>
      <p:sp>
        <p:nvSpPr>
          <p:cNvPr id="797" name="Google Shape;797;p43"/>
          <p:cNvSpPr/>
          <p:nvPr/>
        </p:nvSpPr>
        <p:spPr>
          <a:xfrm>
            <a:off x="594360" y="3886200"/>
            <a:ext cx="1463039" cy="868680"/>
          </a:xfrm>
          <a:prstGeom prst="roundRect">
            <a:avLst>
              <a:gd fmla="val 6315" name="adj"/>
            </a:avLst>
          </a:prstGeom>
          <a:solidFill>
            <a:srgbClr val="FFFFFF"/>
          </a:solidFill>
          <a:ln cap="flat" cmpd="sng" w="12700">
            <a:solidFill>
              <a:srgbClr val="0B2F5B"/>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대시보드</a:t>
            </a:r>
            <a:endParaRPr/>
          </a:p>
          <a:p>
            <a:pPr indent="0" lvl="0" marL="0" marR="0" rtl="0" algn="ctr">
              <a:lnSpc>
                <a:spcPct val="100000"/>
              </a:lnSpc>
              <a:spcBef>
                <a:spcPts val="150"/>
              </a:spcBef>
              <a:spcAft>
                <a:spcPts val="0"/>
              </a:spcAft>
              <a:buNone/>
            </a:pPr>
            <a:r>
              <a:rPr lang="en-US" sz="950">
                <a:solidFill>
                  <a:srgbClr val="5F6B7A"/>
                </a:solidFill>
                <a:latin typeface="Barlow"/>
                <a:ea typeface="Barlow"/>
                <a:cs typeface="Barlow"/>
                <a:sym typeface="Barlow"/>
              </a:rPr>
              <a:t>로컬 저장소에 저장한 오늘의 작업 목록</a:t>
            </a:r>
            <a:endParaRPr/>
          </a:p>
        </p:txBody>
      </p:sp>
      <p:cxnSp>
        <p:nvCxnSpPr>
          <p:cNvPr id="798" name="Google Shape;798;p43"/>
          <p:cNvCxnSpPr>
            <a:stCxn id="799" idx="2"/>
            <a:endCxn id="796" idx="0"/>
          </p:cNvCxnSpPr>
          <p:nvPr/>
        </p:nvCxnSpPr>
        <p:spPr>
          <a:xfrm>
            <a:off x="1325880" y="2834640"/>
            <a:ext cx="0" cy="210300"/>
          </a:xfrm>
          <a:prstGeom prst="straightConnector1">
            <a:avLst/>
          </a:prstGeom>
          <a:noFill/>
          <a:ln cap="flat" cmpd="sng" w="15875">
            <a:solidFill>
              <a:srgbClr val="0B2F5B"/>
            </a:solidFill>
            <a:prstDash val="solid"/>
            <a:round/>
            <a:headEnd len="sm" w="sm" type="none"/>
            <a:tailEnd len="med" w="med" type="triangle"/>
          </a:ln>
        </p:spPr>
      </p:cxnSp>
      <p:cxnSp>
        <p:nvCxnSpPr>
          <p:cNvPr id="800" name="Google Shape;800;p43"/>
          <p:cNvCxnSpPr>
            <a:stCxn id="796" idx="2"/>
            <a:endCxn id="797" idx="0"/>
          </p:cNvCxnSpPr>
          <p:nvPr/>
        </p:nvCxnSpPr>
        <p:spPr>
          <a:xfrm>
            <a:off x="1325880" y="3648456"/>
            <a:ext cx="0" cy="237600"/>
          </a:xfrm>
          <a:prstGeom prst="straightConnector1">
            <a:avLst/>
          </a:prstGeom>
          <a:noFill/>
          <a:ln cap="flat" cmpd="sng" w="15875">
            <a:solidFill>
              <a:srgbClr val="0B2F5B"/>
            </a:solidFill>
            <a:prstDash val="solid"/>
            <a:round/>
            <a:headEnd len="sm" w="sm" type="none"/>
            <a:tailEnd len="med" w="med" type="triangle"/>
          </a:ln>
        </p:spPr>
      </p:cxnSp>
      <p:sp>
        <p:nvSpPr>
          <p:cNvPr id="801" name="Google Shape;801;p43"/>
          <p:cNvSpPr txBox="1"/>
          <p:nvPr/>
        </p:nvSpPr>
        <p:spPr>
          <a:xfrm>
            <a:off x="594360" y="4956048"/>
            <a:ext cx="1463100" cy="183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5F6B7A"/>
                </a:solidFill>
                <a:latin typeface="Montserrat"/>
                <a:ea typeface="Montserrat"/>
                <a:cs typeface="Montserrat"/>
                <a:sym typeface="Montserrat"/>
              </a:rPr>
              <a:t>앱에 저장</a:t>
            </a:r>
            <a:endParaRPr/>
          </a:p>
        </p:txBody>
      </p:sp>
      <p:sp>
        <p:nvSpPr>
          <p:cNvPr id="802" name="Google Shape;802;p43"/>
          <p:cNvSpPr/>
          <p:nvPr/>
        </p:nvSpPr>
        <p:spPr>
          <a:xfrm>
            <a:off x="594360" y="5193792"/>
            <a:ext cx="567089"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Serial No</a:t>
            </a:r>
            <a:endParaRPr/>
          </a:p>
        </p:txBody>
      </p:sp>
      <p:sp>
        <p:nvSpPr>
          <p:cNvPr id="803" name="Google Shape;803;p43"/>
          <p:cNvSpPr/>
          <p:nvPr/>
        </p:nvSpPr>
        <p:spPr>
          <a:xfrm>
            <a:off x="1216313" y="5193792"/>
            <a:ext cx="477820"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0B2F5B"/>
                </a:solidFill>
                <a:latin typeface="Barlow"/>
                <a:ea typeface="Barlow"/>
                <a:cs typeface="Barlow"/>
                <a:sym typeface="Barlow"/>
              </a:rPr>
              <a:t>NMI No</a:t>
            </a:r>
            <a:endParaRPr/>
          </a:p>
        </p:txBody>
      </p:sp>
      <p:sp>
        <p:nvSpPr>
          <p:cNvPr id="804" name="Google Shape;804;p43"/>
          <p:cNvSpPr/>
          <p:nvPr/>
        </p:nvSpPr>
        <p:spPr>
          <a:xfrm>
            <a:off x="594360" y="5431536"/>
            <a:ext cx="623114"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모델 정보</a:t>
            </a:r>
            <a:endParaRPr/>
          </a:p>
        </p:txBody>
      </p:sp>
      <p:sp>
        <p:nvSpPr>
          <p:cNvPr id="805" name="Google Shape;805;p43"/>
          <p:cNvSpPr/>
          <p:nvPr/>
        </p:nvSpPr>
        <p:spPr>
          <a:xfrm>
            <a:off x="594360" y="5669279"/>
            <a:ext cx="904323"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펌웨어 바이너리</a:t>
            </a:r>
            <a:endParaRPr/>
          </a:p>
        </p:txBody>
      </p:sp>
      <p:sp>
        <p:nvSpPr>
          <p:cNvPr id="806" name="Google Shape;806;p43"/>
          <p:cNvSpPr/>
          <p:nvPr/>
        </p:nvSpPr>
        <p:spPr>
          <a:xfrm>
            <a:off x="2560320" y="3886200"/>
            <a:ext cx="1371600" cy="868680"/>
          </a:xfrm>
          <a:prstGeom prst="roundRect">
            <a:avLst>
              <a:gd fmla="val 6315" name="adj"/>
            </a:avLst>
          </a:prstGeom>
          <a:solidFill>
            <a:srgbClr val="FFFFFF"/>
          </a:solidFill>
          <a:ln cap="flat" cmpd="sng" w="12700">
            <a:solidFill>
              <a:srgbClr val="1565C0"/>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ESS 선택</a:t>
            </a:r>
            <a:endParaRPr/>
          </a:p>
          <a:p>
            <a:pPr indent="0" lvl="0" marL="0" marR="0" rtl="0" algn="ctr">
              <a:lnSpc>
                <a:spcPct val="100000"/>
              </a:lnSpc>
              <a:spcBef>
                <a:spcPts val="150"/>
              </a:spcBef>
              <a:spcAft>
                <a:spcPts val="0"/>
              </a:spcAft>
              <a:buNone/>
            </a:pPr>
            <a:r>
              <a:rPr lang="en-US" sz="950">
                <a:solidFill>
                  <a:srgbClr val="5F6B7A"/>
                </a:solidFill>
                <a:latin typeface="Barlow"/>
                <a:ea typeface="Barlow"/>
                <a:cs typeface="Barlow"/>
                <a:sym typeface="Barlow"/>
              </a:rPr>
              <a:t>일반 경로: 다운로드한 목록에서</a:t>
            </a:r>
            <a:endParaRPr/>
          </a:p>
        </p:txBody>
      </p:sp>
      <p:sp>
        <p:nvSpPr>
          <p:cNvPr id="807" name="Google Shape;807;p43"/>
          <p:cNvSpPr/>
          <p:nvPr/>
        </p:nvSpPr>
        <p:spPr>
          <a:xfrm>
            <a:off x="2560320" y="4956048"/>
            <a:ext cx="1371600" cy="868680"/>
          </a:xfrm>
          <a:prstGeom prst="roundRect">
            <a:avLst>
              <a:gd fmla="val 6315" name="adj"/>
            </a:avLst>
          </a:prstGeom>
          <a:solidFill>
            <a:srgbClr val="FFF4E0"/>
          </a:solidFill>
          <a:ln cap="flat" cmpd="sng" w="12700">
            <a:solidFill>
              <a:srgbClr val="F0A93B"/>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9A5B00"/>
                </a:solidFill>
                <a:latin typeface="Montserrat"/>
                <a:ea typeface="Montserrat"/>
                <a:cs typeface="Montserrat"/>
                <a:sym typeface="Montserrat"/>
              </a:rPr>
              <a:t>설치 마법사 (+)</a:t>
            </a:r>
            <a:endParaRPr/>
          </a:p>
          <a:p>
            <a:pPr indent="0" lvl="0" marL="0" marR="0" rtl="0" algn="ctr">
              <a:lnSpc>
                <a:spcPct val="100000"/>
              </a:lnSpc>
              <a:spcBef>
                <a:spcPts val="150"/>
              </a:spcBef>
              <a:spcAft>
                <a:spcPts val="0"/>
              </a:spcAft>
              <a:buNone/>
            </a:pPr>
            <a:r>
              <a:rPr lang="en-US" sz="950">
                <a:solidFill>
                  <a:srgbClr val="9A5B00"/>
                </a:solidFill>
                <a:latin typeface="Barlow"/>
                <a:ea typeface="Barlow"/>
                <a:cs typeface="Barlow"/>
                <a:sym typeface="Barlow"/>
              </a:rPr>
              <a:t>예외 경로: Serial No 수동 입력 또는 바코드 스캔</a:t>
            </a:r>
            <a:endParaRPr/>
          </a:p>
        </p:txBody>
      </p:sp>
      <p:sp>
        <p:nvSpPr>
          <p:cNvPr id="808" name="Google Shape;808;p43"/>
          <p:cNvSpPr/>
          <p:nvPr/>
        </p:nvSpPr>
        <p:spPr>
          <a:xfrm>
            <a:off x="4160520" y="3886200"/>
            <a:ext cx="1371600" cy="868680"/>
          </a:xfrm>
          <a:prstGeom prst="roundRect">
            <a:avLst>
              <a:gd fmla="val 6315" name="adj"/>
            </a:avLst>
          </a:prstGeom>
          <a:solidFill>
            <a:srgbClr val="FFFFFF"/>
          </a:solidFill>
          <a:ln cap="flat" cmpd="sng" w="12700">
            <a:solidFill>
              <a:srgbClr val="1565C0"/>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BLE 1:1 연결 </a:t>
            </a:r>
            <a:endParaRPr b="1" sz="1050">
              <a:solidFill>
                <a:srgbClr val="0B2F5B"/>
              </a:solidFill>
              <a:latin typeface="Montserrat"/>
              <a:ea typeface="Montserrat"/>
              <a:cs typeface="Montserrat"/>
              <a:sym typeface="Montserrat"/>
            </a:endParaRPr>
          </a:p>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 모든 상태 읽기</a:t>
            </a:r>
            <a:endParaRPr/>
          </a:p>
          <a:p>
            <a:pPr indent="0" lvl="0" marL="0" marR="0" rtl="0" algn="ctr">
              <a:lnSpc>
                <a:spcPct val="100000"/>
              </a:lnSpc>
              <a:spcBef>
                <a:spcPts val="150"/>
              </a:spcBef>
              <a:spcAft>
                <a:spcPts val="0"/>
              </a:spcAft>
              <a:buNone/>
            </a:pPr>
            <a:r>
              <a:rPr lang="en-US" sz="950">
                <a:solidFill>
                  <a:srgbClr val="5F6B7A"/>
                </a:solidFill>
                <a:latin typeface="Barlow"/>
                <a:ea typeface="Barlow"/>
                <a:cs typeface="Barlow"/>
                <a:sym typeface="Barlow"/>
              </a:rPr>
              <a:t>UI 잠금 (모달 차단)</a:t>
            </a:r>
            <a:endParaRPr/>
          </a:p>
        </p:txBody>
      </p:sp>
      <p:sp>
        <p:nvSpPr>
          <p:cNvPr id="809" name="Google Shape;809;p43"/>
          <p:cNvSpPr/>
          <p:nvPr/>
        </p:nvSpPr>
        <p:spPr>
          <a:xfrm>
            <a:off x="5760720" y="3886200"/>
            <a:ext cx="1920240" cy="868680"/>
          </a:xfrm>
          <a:prstGeom prst="roundRect">
            <a:avLst>
              <a:gd fmla="val 6315" name="adj"/>
            </a:avLst>
          </a:prstGeom>
          <a:solidFill>
            <a:srgbClr val="FFFFFF"/>
          </a:solidFill>
          <a:ln cap="flat" cmpd="sng" w="12700">
            <a:solidFill>
              <a:srgbClr val="1565C0"/>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기기 설정</a:t>
            </a:r>
            <a:endParaRPr/>
          </a:p>
          <a:p>
            <a:pPr indent="0" lvl="0" marL="0" marR="0" rtl="0" algn="ctr">
              <a:lnSpc>
                <a:spcPct val="100000"/>
              </a:lnSpc>
              <a:spcBef>
                <a:spcPts val="0"/>
              </a:spcBef>
              <a:spcAft>
                <a:spcPts val="0"/>
              </a:spcAft>
              <a:buNone/>
            </a:pPr>
            <a:r>
              <a:rPr lang="en-US" sz="925">
                <a:solidFill>
                  <a:srgbClr val="5F6B7A"/>
                </a:solidFill>
                <a:latin typeface="Barlow"/>
                <a:ea typeface="Barlow"/>
                <a:cs typeface="Barlow"/>
                <a:sym typeface="Barlow"/>
              </a:rPr>
              <a:t>Off-Grid · Test Site · 에너지 정책 · 요금 · NMI No</a:t>
            </a:r>
            <a:endParaRPr/>
          </a:p>
        </p:txBody>
      </p:sp>
      <p:sp>
        <p:nvSpPr>
          <p:cNvPr id="810" name="Google Shape;810;p43"/>
          <p:cNvSpPr/>
          <p:nvPr/>
        </p:nvSpPr>
        <p:spPr>
          <a:xfrm>
            <a:off x="7909560" y="3886200"/>
            <a:ext cx="1051560" cy="868680"/>
          </a:xfrm>
          <a:prstGeom prst="roundRect">
            <a:avLst>
              <a:gd fmla="val 6315" name="adj"/>
            </a:avLst>
          </a:prstGeom>
          <a:solidFill>
            <a:srgbClr val="E6F4EA"/>
          </a:solidFill>
          <a:ln cap="flat" cmpd="sng" w="12700">
            <a:solidFill>
              <a:srgbClr val="8CC9A6"/>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1E7B4F"/>
                </a:solidFill>
                <a:latin typeface="Montserrat"/>
                <a:ea typeface="Montserrat"/>
                <a:cs typeface="Montserrat"/>
                <a:sym typeface="Montserrat"/>
              </a:rPr>
              <a:t>적용 → 운행</a:t>
            </a:r>
            <a:endParaRPr/>
          </a:p>
          <a:p>
            <a:pPr indent="0" lvl="0" marL="0" marR="0" rtl="0" algn="ctr">
              <a:lnSpc>
                <a:spcPct val="100000"/>
              </a:lnSpc>
              <a:spcBef>
                <a:spcPts val="150"/>
              </a:spcBef>
              <a:spcAft>
                <a:spcPts val="0"/>
              </a:spcAft>
              <a:buNone/>
            </a:pPr>
            <a:r>
              <a:rPr lang="en-US" sz="950">
                <a:solidFill>
                  <a:srgbClr val="1E7B4F"/>
                </a:solidFill>
                <a:latin typeface="Barlow"/>
                <a:ea typeface="Barlow"/>
                <a:cs typeface="Barlow"/>
                <a:sym typeface="Barlow"/>
              </a:rPr>
              <a:t>보안 잠금</a:t>
            </a:r>
            <a:endParaRPr/>
          </a:p>
        </p:txBody>
      </p:sp>
      <p:cxnSp>
        <p:nvCxnSpPr>
          <p:cNvPr id="811" name="Google Shape;811;p43"/>
          <p:cNvCxnSpPr>
            <a:stCxn id="797" idx="3"/>
            <a:endCxn id="806" idx="1"/>
          </p:cNvCxnSpPr>
          <p:nvPr/>
        </p:nvCxnSpPr>
        <p:spPr>
          <a:xfrm>
            <a:off x="2057399" y="4320540"/>
            <a:ext cx="502800" cy="0"/>
          </a:xfrm>
          <a:prstGeom prst="straightConnector1">
            <a:avLst/>
          </a:prstGeom>
          <a:noFill/>
          <a:ln cap="flat" cmpd="sng" w="15875">
            <a:solidFill>
              <a:srgbClr val="0B2F5B"/>
            </a:solidFill>
            <a:prstDash val="solid"/>
            <a:round/>
            <a:headEnd len="sm" w="sm" type="none"/>
            <a:tailEnd len="med" w="med" type="triangle"/>
          </a:ln>
        </p:spPr>
      </p:cxnSp>
      <p:sp>
        <p:nvSpPr>
          <p:cNvPr id="812" name="Google Shape;812;p43"/>
          <p:cNvSpPr/>
          <p:nvPr/>
        </p:nvSpPr>
        <p:spPr>
          <a:xfrm>
            <a:off x="2363724" y="4320540"/>
            <a:ext cx="196596" cy="1069848"/>
          </a:xfrm>
          <a:custGeom>
            <a:rect b="b" l="l" r="r" t="t"/>
            <a:pathLst>
              <a:path extrusionOk="0" h="1069848" w="196596">
                <a:moveTo>
                  <a:pt x="0" y="0"/>
                </a:moveTo>
                <a:lnTo>
                  <a:pt x="0" y="1069848"/>
                </a:lnTo>
                <a:lnTo>
                  <a:pt x="196596" y="1069848"/>
                </a:lnTo>
              </a:path>
            </a:pathLst>
          </a:custGeom>
          <a:noFill/>
          <a:ln cap="flat" cmpd="sng" w="15875">
            <a:solidFill>
              <a:srgbClr val="F0A93B"/>
            </a:solidFill>
            <a:prstDash val="dash"/>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13" name="Google Shape;813;p43"/>
          <p:cNvCxnSpPr>
            <a:stCxn id="806" idx="3"/>
            <a:endCxn id="808" idx="1"/>
          </p:cNvCxnSpPr>
          <p:nvPr/>
        </p:nvCxnSpPr>
        <p:spPr>
          <a:xfrm>
            <a:off x="3931920" y="4320540"/>
            <a:ext cx="228600" cy="0"/>
          </a:xfrm>
          <a:prstGeom prst="straightConnector1">
            <a:avLst/>
          </a:prstGeom>
          <a:noFill/>
          <a:ln cap="flat" cmpd="sng" w="15875">
            <a:solidFill>
              <a:srgbClr val="1565C0"/>
            </a:solidFill>
            <a:prstDash val="solid"/>
            <a:round/>
            <a:headEnd len="sm" w="sm" type="none"/>
            <a:tailEnd len="med" w="med" type="triangle"/>
          </a:ln>
        </p:spPr>
      </p:cxnSp>
      <p:sp>
        <p:nvSpPr>
          <p:cNvPr id="814" name="Google Shape;814;p43"/>
          <p:cNvSpPr/>
          <p:nvPr/>
        </p:nvSpPr>
        <p:spPr>
          <a:xfrm>
            <a:off x="3931920" y="4754880"/>
            <a:ext cx="914400" cy="635508"/>
          </a:xfrm>
          <a:custGeom>
            <a:rect b="b" l="l" r="r" t="t"/>
            <a:pathLst>
              <a:path extrusionOk="0" h="635508" w="914400">
                <a:moveTo>
                  <a:pt x="0" y="635508"/>
                </a:moveTo>
                <a:lnTo>
                  <a:pt x="914400" y="635508"/>
                </a:lnTo>
                <a:lnTo>
                  <a:pt x="914400" y="0"/>
                </a:lnTo>
              </a:path>
            </a:pathLst>
          </a:custGeom>
          <a:noFill/>
          <a:ln cap="flat" cmpd="sng" w="15875">
            <a:solidFill>
              <a:srgbClr val="F0A93B"/>
            </a:solidFill>
            <a:prstDash val="dash"/>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15" name="Google Shape;815;p43"/>
          <p:cNvCxnSpPr>
            <a:stCxn id="808" idx="3"/>
            <a:endCxn id="809" idx="1"/>
          </p:cNvCxnSpPr>
          <p:nvPr/>
        </p:nvCxnSpPr>
        <p:spPr>
          <a:xfrm>
            <a:off x="5532120" y="4320540"/>
            <a:ext cx="228600" cy="0"/>
          </a:xfrm>
          <a:prstGeom prst="straightConnector1">
            <a:avLst/>
          </a:prstGeom>
          <a:noFill/>
          <a:ln cap="flat" cmpd="sng" w="15875">
            <a:solidFill>
              <a:srgbClr val="1565C0"/>
            </a:solidFill>
            <a:prstDash val="solid"/>
            <a:round/>
            <a:headEnd len="sm" w="sm" type="none"/>
            <a:tailEnd len="med" w="med" type="triangle"/>
          </a:ln>
        </p:spPr>
      </p:cxnSp>
      <p:cxnSp>
        <p:nvCxnSpPr>
          <p:cNvPr id="816" name="Google Shape;816;p43"/>
          <p:cNvCxnSpPr>
            <a:stCxn id="809" idx="3"/>
            <a:endCxn id="810" idx="1"/>
          </p:cNvCxnSpPr>
          <p:nvPr/>
        </p:nvCxnSpPr>
        <p:spPr>
          <a:xfrm>
            <a:off x="7680960" y="4320540"/>
            <a:ext cx="228600" cy="0"/>
          </a:xfrm>
          <a:prstGeom prst="straightConnector1">
            <a:avLst/>
          </a:prstGeom>
          <a:noFill/>
          <a:ln cap="flat" cmpd="sng" w="15875">
            <a:solidFill>
              <a:srgbClr val="1565C0"/>
            </a:solidFill>
            <a:prstDash val="solid"/>
            <a:round/>
            <a:headEnd len="sm" w="sm" type="none"/>
            <a:tailEnd len="med" w="med" type="triangle"/>
          </a:ln>
        </p:spPr>
      </p:cxnSp>
      <p:cxnSp>
        <p:nvCxnSpPr>
          <p:cNvPr id="817" name="Google Shape;817;p43"/>
          <p:cNvCxnSpPr/>
          <p:nvPr/>
        </p:nvCxnSpPr>
        <p:spPr>
          <a:xfrm>
            <a:off x="5806440" y="5230368"/>
            <a:ext cx="457200" cy="0"/>
          </a:xfrm>
          <a:prstGeom prst="straightConnector1">
            <a:avLst/>
          </a:prstGeom>
          <a:noFill/>
          <a:ln cap="flat" cmpd="sng" w="15875">
            <a:solidFill>
              <a:srgbClr val="1565C0"/>
            </a:solidFill>
            <a:prstDash val="solid"/>
            <a:round/>
            <a:headEnd len="sm" w="sm" type="none"/>
            <a:tailEnd len="med" w="med" type="triangle"/>
          </a:ln>
        </p:spPr>
      </p:cxnSp>
      <p:sp>
        <p:nvSpPr>
          <p:cNvPr id="818" name="Google Shape;818;p43"/>
          <p:cNvSpPr txBox="1"/>
          <p:nvPr/>
        </p:nvSpPr>
        <p:spPr>
          <a:xfrm>
            <a:off x="6355080" y="5138928"/>
            <a:ext cx="14630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일반 경로</a:t>
            </a:r>
            <a:endParaRPr/>
          </a:p>
        </p:txBody>
      </p:sp>
      <p:cxnSp>
        <p:nvCxnSpPr>
          <p:cNvPr id="819" name="Google Shape;819;p43"/>
          <p:cNvCxnSpPr/>
          <p:nvPr/>
        </p:nvCxnSpPr>
        <p:spPr>
          <a:xfrm>
            <a:off x="5806440" y="5504688"/>
            <a:ext cx="457200" cy="0"/>
          </a:xfrm>
          <a:prstGeom prst="straightConnector1">
            <a:avLst/>
          </a:prstGeom>
          <a:noFill/>
          <a:ln cap="flat" cmpd="sng" w="15875">
            <a:solidFill>
              <a:srgbClr val="F0A93B"/>
            </a:solidFill>
            <a:prstDash val="dash"/>
            <a:round/>
            <a:headEnd len="sm" w="sm" type="none"/>
            <a:tailEnd len="med" w="med" type="triangle"/>
          </a:ln>
        </p:spPr>
      </p:cxnSp>
      <p:sp>
        <p:nvSpPr>
          <p:cNvPr id="820" name="Google Shape;820;p43"/>
          <p:cNvSpPr txBox="1"/>
          <p:nvPr/>
        </p:nvSpPr>
        <p:spPr>
          <a:xfrm>
            <a:off x="6355080" y="5413248"/>
            <a:ext cx="24688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예외 경로 (다운로드에 없는 기기)</a:t>
            </a:r>
            <a:endParaRPr/>
          </a:p>
        </p:txBody>
      </p:sp>
      <p:sp>
        <p:nvSpPr>
          <p:cNvPr id="821" name="Google Shape;821;p43"/>
          <p:cNvSpPr/>
          <p:nvPr/>
        </p:nvSpPr>
        <p:spPr>
          <a:xfrm>
            <a:off x="2880360" y="2212848"/>
            <a:ext cx="566928" cy="566928"/>
          </a:xfrm>
          <a:prstGeom prst="roundRect">
            <a:avLst>
              <a:gd fmla="val 8064"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nstaller app on the phone" id="822" name="Google Shape;822;p43"/>
          <p:cNvPicPr preferRelativeResize="0"/>
          <p:nvPr/>
        </p:nvPicPr>
        <p:blipFill rotWithShape="1">
          <a:blip r:embed="rId3">
            <a:alphaModFix/>
          </a:blip>
          <a:srcRect b="0" l="0" r="0" t="0"/>
          <a:stretch/>
        </p:blipFill>
        <p:spPr>
          <a:xfrm>
            <a:off x="3005084" y="2337572"/>
            <a:ext cx="317479" cy="317479"/>
          </a:xfrm>
          <a:prstGeom prst="rect">
            <a:avLst/>
          </a:prstGeom>
          <a:noFill/>
          <a:ln>
            <a:noFill/>
          </a:ln>
        </p:spPr>
      </p:pic>
      <p:sp>
        <p:nvSpPr>
          <p:cNvPr id="823" name="Google Shape;823;p43"/>
          <p:cNvSpPr/>
          <p:nvPr/>
        </p:nvSpPr>
        <p:spPr>
          <a:xfrm>
            <a:off x="8092440" y="2212848"/>
            <a:ext cx="566928" cy="566928"/>
          </a:xfrm>
          <a:prstGeom prst="roundRect">
            <a:avLst>
              <a:gd fmla="val 8064"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CORE Pro ESS" id="824" name="Google Shape;824;p43"/>
          <p:cNvPicPr preferRelativeResize="0"/>
          <p:nvPr/>
        </p:nvPicPr>
        <p:blipFill rotWithShape="1">
          <a:blip r:embed="rId4">
            <a:alphaModFix/>
          </a:blip>
          <a:srcRect b="0" l="0" r="0" t="0"/>
          <a:stretch/>
        </p:blipFill>
        <p:spPr>
          <a:xfrm>
            <a:off x="8217164" y="2337572"/>
            <a:ext cx="317479" cy="317479"/>
          </a:xfrm>
          <a:prstGeom prst="rect">
            <a:avLst/>
          </a:prstGeom>
          <a:noFill/>
          <a:ln>
            <a:noFill/>
          </a:ln>
        </p:spPr>
      </p:pic>
      <p:sp>
        <p:nvSpPr>
          <p:cNvPr id="825" name="Google Shape;825;p43"/>
          <p:cNvSpPr txBox="1"/>
          <p:nvPr/>
        </p:nvSpPr>
        <p:spPr>
          <a:xfrm>
            <a:off x="2423160" y="2825496"/>
            <a:ext cx="1481328"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설치 기사 앱</a:t>
            </a:r>
            <a:endParaRPr/>
          </a:p>
        </p:txBody>
      </p:sp>
      <p:sp>
        <p:nvSpPr>
          <p:cNvPr id="826" name="Google Shape;826;p43"/>
          <p:cNvSpPr txBox="1"/>
          <p:nvPr/>
        </p:nvSpPr>
        <p:spPr>
          <a:xfrm>
            <a:off x="7635240" y="2825496"/>
            <a:ext cx="1481328"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CORE Pro ESS</a:t>
            </a:r>
            <a:endParaRPr/>
          </a:p>
        </p:txBody>
      </p:sp>
      <p:cxnSp>
        <p:nvCxnSpPr>
          <p:cNvPr id="827" name="Google Shape;827;p43"/>
          <p:cNvCxnSpPr/>
          <p:nvPr/>
        </p:nvCxnSpPr>
        <p:spPr>
          <a:xfrm>
            <a:off x="3557016" y="2395728"/>
            <a:ext cx="4425696" cy="0"/>
          </a:xfrm>
          <a:prstGeom prst="straightConnector1">
            <a:avLst/>
          </a:prstGeom>
          <a:noFill/>
          <a:ln cap="flat" cmpd="sng" w="22225">
            <a:solidFill>
              <a:srgbClr val="1565C0"/>
            </a:solidFill>
            <a:prstDash val="solid"/>
            <a:round/>
            <a:headEnd len="med" w="med" type="triangle"/>
            <a:tailEnd len="med" w="med" type="triangle"/>
          </a:ln>
        </p:spPr>
      </p:cxnSp>
      <p:cxnSp>
        <p:nvCxnSpPr>
          <p:cNvPr id="828" name="Google Shape;828;p43"/>
          <p:cNvCxnSpPr/>
          <p:nvPr/>
        </p:nvCxnSpPr>
        <p:spPr>
          <a:xfrm>
            <a:off x="3557016" y="2633472"/>
            <a:ext cx="4425600" cy="0"/>
          </a:xfrm>
          <a:prstGeom prst="straightConnector1">
            <a:avLst/>
          </a:prstGeom>
          <a:noFill/>
          <a:ln cap="flat" cmpd="sng" w="22225">
            <a:solidFill>
              <a:srgbClr val="1565C0"/>
            </a:solidFill>
            <a:prstDash val="dash"/>
            <a:round/>
            <a:headEnd len="sm" w="sm" type="none"/>
            <a:tailEnd len="med" w="med" type="triangle"/>
          </a:ln>
        </p:spPr>
      </p:cxnSp>
      <p:sp>
        <p:nvSpPr>
          <p:cNvPr id="829" name="Google Shape;829;p43"/>
          <p:cNvSpPr txBox="1"/>
          <p:nvPr/>
        </p:nvSpPr>
        <p:spPr>
          <a:xfrm>
            <a:off x="3941063" y="2121408"/>
            <a:ext cx="36576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00">
                <a:solidFill>
                  <a:srgbClr val="0B2F5B"/>
                </a:solidFill>
                <a:latin typeface="Barlow"/>
                <a:ea typeface="Barlow"/>
                <a:cs typeface="Barlow"/>
                <a:sym typeface="Barlow"/>
              </a:rPr>
              <a:t>BLE 1:1 직접 연결 · 모든 설정 입출력</a:t>
            </a:r>
            <a:endParaRPr/>
          </a:p>
        </p:txBody>
      </p:sp>
      <p:sp>
        <p:nvSpPr>
          <p:cNvPr id="830" name="Google Shape;830;p43"/>
          <p:cNvSpPr txBox="1"/>
          <p:nvPr/>
        </p:nvSpPr>
        <p:spPr>
          <a:xfrm>
            <a:off x="3941063" y="2697480"/>
            <a:ext cx="36576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00">
                <a:solidFill>
                  <a:srgbClr val="0B2F5B"/>
                </a:solidFill>
                <a:latin typeface="Barlow"/>
                <a:ea typeface="Barlow"/>
                <a:cs typeface="Barlow"/>
                <a:sym typeface="Barlow"/>
              </a:rPr>
              <a:t>ESS 내장 Wi-Fi 1:1 · 펌웨어 업데이트</a:t>
            </a:r>
            <a:endParaRPr/>
          </a:p>
        </p:txBody>
      </p:sp>
      <p:sp>
        <p:nvSpPr>
          <p:cNvPr id="831" name="Google Shape;831;p43"/>
          <p:cNvSpPr txBox="1"/>
          <p:nvPr/>
        </p:nvSpPr>
        <p:spPr>
          <a:xfrm>
            <a:off x="3392423" y="3108960"/>
            <a:ext cx="475488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i="1" lang="en-US" sz="950">
                <a:solidFill>
                  <a:srgbClr val="5F6B7A"/>
                </a:solidFill>
                <a:latin typeface="Barlow"/>
                <a:ea typeface="Barlow"/>
                <a:cs typeface="Barlow"/>
                <a:sym typeface="Barlow"/>
              </a:rPr>
              <a:t>서버 왕복 없이 기기 자체 데이터로 동작</a:t>
            </a:r>
            <a:endParaRPr/>
          </a:p>
        </p:txBody>
      </p:sp>
      <p:sp>
        <p:nvSpPr>
          <p:cNvPr id="832" name="Google Shape;832;p43"/>
          <p:cNvSpPr/>
          <p:nvPr/>
        </p:nvSpPr>
        <p:spPr>
          <a:xfrm>
            <a:off x="9464040" y="3886200"/>
            <a:ext cx="1828799" cy="868680"/>
          </a:xfrm>
          <a:prstGeom prst="roundRect">
            <a:avLst>
              <a:gd fmla="val 6315" name="adj"/>
            </a:avLst>
          </a:prstGeom>
          <a:solidFill>
            <a:srgbClr val="FFFFFF"/>
          </a:solidFill>
          <a:ln cap="flat" cmpd="sng" w="12700">
            <a:solidFill>
              <a:srgbClr val="0B2F5B"/>
            </a:solidFill>
            <a:prstDash val="solid"/>
            <a:round/>
            <a:headEnd len="sm" w="sm" type="none"/>
            <a:tailEnd len="sm" w="sm" type="none"/>
          </a:ln>
        </p:spPr>
        <p:txBody>
          <a:bodyPr anchorCtr="0" anchor="ctr" bIns="36575" lIns="54850" spcFirstLastPara="1" rIns="548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로컬 데이터베이스</a:t>
            </a:r>
            <a:endParaRPr/>
          </a:p>
          <a:p>
            <a:pPr indent="0" lvl="0" marL="0" marR="0" rtl="0" algn="ctr">
              <a:lnSpc>
                <a:spcPct val="100000"/>
              </a:lnSpc>
              <a:spcBef>
                <a:spcPts val="150"/>
              </a:spcBef>
              <a:spcAft>
                <a:spcPts val="0"/>
              </a:spcAft>
              <a:buNone/>
            </a:pPr>
            <a:r>
              <a:rPr lang="en-US" sz="950">
                <a:solidFill>
                  <a:srgbClr val="5F6B7A"/>
                </a:solidFill>
                <a:latin typeface="Barlow"/>
                <a:ea typeface="Barlow"/>
                <a:cs typeface="Barlow"/>
                <a:sym typeface="Barlow"/>
              </a:rPr>
              <a:t>변경 이력, 변경마다 고유 ID 1개</a:t>
            </a:r>
            <a:endParaRPr/>
          </a:p>
        </p:txBody>
      </p:sp>
      <p:sp>
        <p:nvSpPr>
          <p:cNvPr id="833" name="Google Shape;833;p43"/>
          <p:cNvSpPr/>
          <p:nvPr/>
        </p:nvSpPr>
        <p:spPr>
          <a:xfrm>
            <a:off x="9464040" y="2286000"/>
            <a:ext cx="1828799" cy="868680"/>
          </a:xfrm>
          <a:prstGeom prst="roundRect">
            <a:avLst>
              <a:gd fmla="val 6315" name="adj"/>
            </a:avLst>
          </a:prstGeom>
          <a:solidFill>
            <a:srgbClr val="0B2F5B"/>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클라우드 동기화</a:t>
            </a:r>
            <a:endParaRPr/>
          </a:p>
          <a:p>
            <a:pPr indent="0" lvl="0" marL="0" marR="0" rtl="0" algn="ctr">
              <a:lnSpc>
                <a:spcPct val="100000"/>
              </a:lnSpc>
              <a:spcBef>
                <a:spcPts val="150"/>
              </a:spcBef>
              <a:spcAft>
                <a:spcPts val="0"/>
              </a:spcAft>
              <a:buNone/>
            </a:pPr>
            <a:r>
              <a:rPr lang="en-US" sz="950">
                <a:solidFill>
                  <a:srgbClr val="A9C7EA"/>
                </a:solidFill>
                <a:latin typeface="Barlow"/>
                <a:ea typeface="Barlow"/>
                <a:cs typeface="Barlow"/>
                <a:sym typeface="Barlow"/>
              </a:rPr>
              <a:t>중복 없이 반영</a:t>
            </a:r>
            <a:endParaRPr/>
          </a:p>
        </p:txBody>
      </p:sp>
      <p:cxnSp>
        <p:nvCxnSpPr>
          <p:cNvPr id="834" name="Google Shape;834;p43"/>
          <p:cNvCxnSpPr>
            <a:stCxn id="810" idx="3"/>
            <a:endCxn id="832" idx="1"/>
          </p:cNvCxnSpPr>
          <p:nvPr/>
        </p:nvCxnSpPr>
        <p:spPr>
          <a:xfrm>
            <a:off x="8961120" y="4320540"/>
            <a:ext cx="502800" cy="0"/>
          </a:xfrm>
          <a:prstGeom prst="straightConnector1">
            <a:avLst/>
          </a:prstGeom>
          <a:noFill/>
          <a:ln cap="flat" cmpd="sng" w="15875">
            <a:solidFill>
              <a:srgbClr val="0B2F5B"/>
            </a:solidFill>
            <a:prstDash val="solid"/>
            <a:round/>
            <a:headEnd len="sm" w="sm" type="none"/>
            <a:tailEnd len="med" w="med" type="triangle"/>
          </a:ln>
        </p:spPr>
      </p:cxnSp>
      <p:cxnSp>
        <p:nvCxnSpPr>
          <p:cNvPr id="835" name="Google Shape;835;p43"/>
          <p:cNvCxnSpPr>
            <a:stCxn id="832" idx="0"/>
            <a:endCxn id="833" idx="2"/>
          </p:cNvCxnSpPr>
          <p:nvPr/>
        </p:nvCxnSpPr>
        <p:spPr>
          <a:xfrm rot="10800000">
            <a:off x="10378440" y="3154800"/>
            <a:ext cx="0" cy="731400"/>
          </a:xfrm>
          <a:prstGeom prst="straightConnector1">
            <a:avLst/>
          </a:prstGeom>
          <a:noFill/>
          <a:ln cap="flat" cmpd="sng" w="15875">
            <a:solidFill>
              <a:srgbClr val="0B2F5B"/>
            </a:solidFill>
            <a:prstDash val="solid"/>
            <a:round/>
            <a:headEnd len="sm" w="sm" type="none"/>
            <a:tailEnd len="med" w="med" type="triangle"/>
          </a:ln>
        </p:spPr>
      </p:cxnSp>
      <p:sp>
        <p:nvSpPr>
          <p:cNvPr id="836" name="Google Shape;836;p43"/>
          <p:cNvSpPr/>
          <p:nvPr/>
        </p:nvSpPr>
        <p:spPr>
          <a:xfrm>
            <a:off x="9829800" y="3410712"/>
            <a:ext cx="1097280" cy="201168"/>
          </a:xfrm>
          <a:prstGeom prst="rect">
            <a:avLst/>
          </a:prstGeom>
          <a:solidFill>
            <a:srgbClr val="F5F8FC"/>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900">
                <a:solidFill>
                  <a:srgbClr val="0B2F5B"/>
                </a:solidFill>
                <a:latin typeface="Barlow"/>
                <a:ea typeface="Barlow"/>
                <a:cs typeface="Barlow"/>
                <a:sym typeface="Barlow"/>
              </a:rPr>
              <a:t>네트워크 복구</a:t>
            </a:r>
            <a:endParaRPr/>
          </a:p>
        </p:txBody>
      </p:sp>
      <p:sp>
        <p:nvSpPr>
          <p:cNvPr id="837" name="Google Shape;837;p43"/>
          <p:cNvSpPr txBox="1"/>
          <p:nvPr/>
        </p:nvSpPr>
        <p:spPr>
          <a:xfrm>
            <a:off x="9464040" y="4956048"/>
            <a:ext cx="1828799" cy="8686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750">
                <a:solidFill>
                  <a:srgbClr val="5F6B7A"/>
                </a:solidFill>
                <a:latin typeface="Montserrat"/>
                <a:ea typeface="Montserrat"/>
                <a:cs typeface="Montserrat"/>
                <a:sym typeface="Montserrat"/>
              </a:rPr>
              <a:t>적용 시점</a:t>
            </a:r>
            <a:endParaRPr/>
          </a:p>
          <a:p>
            <a:pPr indent="0" lvl="0" marL="0" marR="0" rtl="0" algn="l">
              <a:lnSpc>
                <a:spcPct val="100000"/>
              </a:lnSpc>
              <a:spcBef>
                <a:spcPts val="300"/>
              </a:spcBef>
              <a:spcAft>
                <a:spcPts val="0"/>
              </a:spcAft>
              <a:buNone/>
            </a:pPr>
            <a:r>
              <a:rPr lang="en-US" sz="950">
                <a:solidFill>
                  <a:srgbClr val="1F2A37"/>
                </a:solidFill>
                <a:latin typeface="Barlow"/>
                <a:ea typeface="Barlow"/>
                <a:cs typeface="Barlow"/>
                <a:sym typeface="Barlow"/>
              </a:rPr>
              <a:t>기기 상태가 미완료 → 운행으로 확정</a:t>
            </a:r>
            <a:endParaRPr/>
          </a:p>
        </p:txBody>
      </p:sp>
      <p:sp>
        <p:nvSpPr>
          <p:cNvPr id="799" name="Google Shape;799;p43"/>
          <p:cNvSpPr/>
          <p:nvPr/>
        </p:nvSpPr>
        <p:spPr>
          <a:xfrm>
            <a:off x="594360" y="2286000"/>
            <a:ext cx="1463039" cy="548640"/>
          </a:xfrm>
          <a:prstGeom prst="roundRect">
            <a:avLst>
              <a:gd fmla="val 10000"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로그인</a:t>
            </a:r>
            <a:endParaRPr/>
          </a:p>
          <a:p>
            <a:pPr indent="0" lvl="0" marL="0" marR="0" rtl="0" algn="ctr">
              <a:lnSpc>
                <a:spcPct val="100000"/>
              </a:lnSpc>
              <a:spcBef>
                <a:spcPts val="150"/>
              </a:spcBef>
              <a:spcAft>
                <a:spcPts val="0"/>
              </a:spcAft>
              <a:buNone/>
            </a:pPr>
            <a:r>
              <a:rPr lang="en-US" sz="950">
                <a:solidFill>
                  <a:srgbClr val="5F6B7A"/>
                </a:solidFill>
                <a:latin typeface="Barlow"/>
                <a:ea typeface="Barlow"/>
                <a:cs typeface="Barlow"/>
                <a:sym typeface="Barlow"/>
              </a:rPr>
              <a:t>설치 기사 ID</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p44"/>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주요 상태 및 권한</a:t>
            </a:r>
            <a:endParaRPr/>
          </a:p>
        </p:txBody>
      </p:sp>
      <p:sp>
        <p:nvSpPr>
          <p:cNvPr id="844" name="Google Shape;844;p44"/>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기기 상태 4가지가 </a:t>
            </a:r>
            <a:r>
              <a:rPr lang="en-US"/>
              <a:t>설치 기사가 보고 바꿀 수 있는 </a:t>
            </a:r>
            <a:r>
              <a:rPr lang="en-US"/>
              <a:t>범위를 결정합니다</a:t>
            </a:r>
            <a:endParaRPr/>
          </a:p>
        </p:txBody>
      </p:sp>
      <p:sp>
        <p:nvSpPr>
          <p:cNvPr id="845" name="Google Shape;845;p44"/>
          <p:cNvSpPr txBox="1"/>
          <p:nvPr/>
        </p:nvSpPr>
        <p:spPr>
          <a:xfrm>
            <a:off x="457200" y="1216152"/>
            <a:ext cx="5486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ESS 상태 전이</a:t>
            </a:r>
            <a:endParaRPr/>
          </a:p>
        </p:txBody>
      </p:sp>
      <p:sp>
        <p:nvSpPr>
          <p:cNvPr id="846" name="Google Shape;846;p44"/>
          <p:cNvSpPr/>
          <p:nvPr/>
        </p:nvSpPr>
        <p:spPr>
          <a:xfrm>
            <a:off x="731520" y="2606040"/>
            <a:ext cx="1600200" cy="822960"/>
          </a:xfrm>
          <a:prstGeom prst="roundRect">
            <a:avLst>
              <a:gd fmla="val 6666" name="adj"/>
            </a:avLst>
          </a:prstGeom>
          <a:solidFill>
            <a:srgbClr val="F5F8FC"/>
          </a:solidFill>
          <a:ln cap="flat" cmpd="sng" w="12700">
            <a:solidFill>
              <a:srgbClr val="5F6B7A"/>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1F2A37"/>
                </a:solidFill>
                <a:latin typeface="Montserrat"/>
                <a:ea typeface="Montserrat"/>
                <a:cs typeface="Montserrat"/>
                <a:sym typeface="Montserrat"/>
              </a:rPr>
              <a:t>미완료</a:t>
            </a:r>
            <a:endParaRPr/>
          </a:p>
          <a:p>
            <a:pPr indent="0" lvl="0" marL="0" marR="0" rtl="0" algn="ctr">
              <a:lnSpc>
                <a:spcPct val="100000"/>
              </a:lnSpc>
              <a:spcBef>
                <a:spcPts val="150"/>
              </a:spcBef>
              <a:spcAft>
                <a:spcPts val="0"/>
              </a:spcAft>
              <a:buNone/>
            </a:pPr>
            <a:r>
              <a:rPr lang="en-US" sz="950">
                <a:solidFill>
                  <a:srgbClr val="5F6B7A"/>
                </a:solidFill>
                <a:latin typeface="Barlow"/>
                <a:ea typeface="Barlow"/>
                <a:cs typeface="Barlow"/>
                <a:sym typeface="Barlow"/>
              </a:rPr>
              <a:t>공장 초기화</a:t>
            </a:r>
            <a:endParaRPr/>
          </a:p>
          <a:p>
            <a:pPr indent="0" lvl="0" marL="0" marR="0" rtl="0" algn="ctr">
              <a:lnSpc>
                <a:spcPct val="100000"/>
              </a:lnSpc>
              <a:spcBef>
                <a:spcPts val="0"/>
              </a:spcBef>
              <a:spcAft>
                <a:spcPts val="0"/>
              </a:spcAft>
              <a:buNone/>
            </a:pPr>
            <a:r>
              <a:rPr lang="en-US" sz="950">
                <a:solidFill>
                  <a:srgbClr val="5F6B7A"/>
                </a:solidFill>
                <a:latin typeface="Barlow"/>
                <a:ea typeface="Barlow"/>
                <a:cs typeface="Barlow"/>
                <a:sym typeface="Barlow"/>
              </a:rPr>
              <a:t>비밀번호 생략</a:t>
            </a:r>
            <a:endParaRPr/>
          </a:p>
        </p:txBody>
      </p:sp>
      <p:sp>
        <p:nvSpPr>
          <p:cNvPr id="847" name="Google Shape;847;p44"/>
          <p:cNvSpPr/>
          <p:nvPr/>
        </p:nvSpPr>
        <p:spPr>
          <a:xfrm>
            <a:off x="3429000" y="2606040"/>
            <a:ext cx="1600200" cy="822960"/>
          </a:xfrm>
          <a:prstGeom prst="roundRect">
            <a:avLst>
              <a:gd fmla="val 6666" name="adj"/>
            </a:avLst>
          </a:prstGeom>
          <a:solidFill>
            <a:srgbClr val="E6F4EA"/>
          </a:solidFill>
          <a:ln cap="flat" cmpd="sng" w="19050">
            <a:solidFill>
              <a:srgbClr val="1E7B4F"/>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1E7B4F"/>
                </a:solidFill>
                <a:latin typeface="Montserrat"/>
                <a:ea typeface="Montserrat"/>
                <a:cs typeface="Montserrat"/>
                <a:sym typeface="Montserrat"/>
              </a:rPr>
              <a:t>운행</a:t>
            </a:r>
            <a:endParaRPr/>
          </a:p>
          <a:p>
            <a:pPr indent="0" lvl="0" marL="0" marR="0" rtl="0" algn="ctr">
              <a:lnSpc>
                <a:spcPct val="100000"/>
              </a:lnSpc>
              <a:spcBef>
                <a:spcPts val="150"/>
              </a:spcBef>
              <a:spcAft>
                <a:spcPts val="0"/>
              </a:spcAft>
              <a:buNone/>
            </a:pPr>
            <a:r>
              <a:rPr lang="en-US" sz="950">
                <a:solidFill>
                  <a:srgbClr val="1E7B4F"/>
                </a:solidFill>
                <a:latin typeface="Barlow"/>
                <a:ea typeface="Barlow"/>
                <a:cs typeface="Barlow"/>
                <a:sym typeface="Barlow"/>
              </a:rPr>
              <a:t>상업 운전</a:t>
            </a:r>
            <a:endParaRPr/>
          </a:p>
          <a:p>
            <a:pPr indent="0" lvl="0" marL="0" marR="0" rtl="0" algn="ctr">
              <a:lnSpc>
                <a:spcPct val="100000"/>
              </a:lnSpc>
              <a:spcBef>
                <a:spcPts val="0"/>
              </a:spcBef>
              <a:spcAft>
                <a:spcPts val="0"/>
              </a:spcAft>
              <a:buNone/>
            </a:pPr>
            <a:r>
              <a:rPr lang="en-US" sz="950">
                <a:solidFill>
                  <a:srgbClr val="1E7B4F"/>
                </a:solidFill>
                <a:latin typeface="Barlow"/>
                <a:ea typeface="Barlow"/>
                <a:cs typeface="Barlow"/>
                <a:sym typeface="Barlow"/>
              </a:rPr>
              <a:t>쓰기 시 1회용 OTP</a:t>
            </a:r>
            <a:endParaRPr/>
          </a:p>
        </p:txBody>
      </p:sp>
      <p:sp>
        <p:nvSpPr>
          <p:cNvPr id="848" name="Google Shape;848;p44"/>
          <p:cNvSpPr/>
          <p:nvPr/>
        </p:nvSpPr>
        <p:spPr>
          <a:xfrm>
            <a:off x="5806440" y="1554480"/>
            <a:ext cx="1600200" cy="822960"/>
          </a:xfrm>
          <a:prstGeom prst="roundRect">
            <a:avLst>
              <a:gd fmla="val 6666" name="adj"/>
            </a:avLst>
          </a:prstGeom>
          <a:solidFill>
            <a:srgbClr val="FFF4E0"/>
          </a:solidFill>
          <a:ln cap="flat" cmpd="sng" w="12700">
            <a:solidFill>
              <a:srgbClr val="F0A93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9A5B00"/>
                </a:solidFill>
                <a:latin typeface="Montserrat"/>
                <a:ea typeface="Montserrat"/>
                <a:cs typeface="Montserrat"/>
                <a:sym typeface="Montserrat"/>
              </a:rPr>
              <a:t>경고</a:t>
            </a:r>
            <a:endParaRPr/>
          </a:p>
          <a:p>
            <a:pPr indent="0" lvl="0" marL="0" marR="0" rtl="0" algn="ctr">
              <a:lnSpc>
                <a:spcPct val="100000"/>
              </a:lnSpc>
              <a:spcBef>
                <a:spcPts val="150"/>
              </a:spcBef>
              <a:spcAft>
                <a:spcPts val="0"/>
              </a:spcAft>
              <a:buNone/>
            </a:pPr>
            <a:r>
              <a:rPr lang="en-US" sz="950">
                <a:solidFill>
                  <a:srgbClr val="9A5B00"/>
                </a:solidFill>
                <a:latin typeface="Barlow"/>
                <a:ea typeface="Barlow"/>
                <a:cs typeface="Barlow"/>
                <a:sym typeface="Barlow"/>
              </a:rPr>
              <a:t>자가 진단 경고</a:t>
            </a:r>
            <a:endParaRPr/>
          </a:p>
          <a:p>
            <a:pPr indent="0" lvl="0" marL="0" marR="0" rtl="0" algn="ctr">
              <a:lnSpc>
                <a:spcPct val="100000"/>
              </a:lnSpc>
              <a:spcBef>
                <a:spcPts val="0"/>
              </a:spcBef>
              <a:spcAft>
                <a:spcPts val="0"/>
              </a:spcAft>
              <a:buNone/>
            </a:pPr>
            <a:r>
              <a:rPr lang="en-US" sz="950">
                <a:solidFill>
                  <a:srgbClr val="9A5B00"/>
                </a:solidFill>
                <a:latin typeface="Barlow"/>
                <a:ea typeface="Barlow"/>
                <a:cs typeface="Barlow"/>
                <a:sym typeface="Barlow"/>
              </a:rPr>
              <a:t>계속 운전</a:t>
            </a:r>
            <a:endParaRPr/>
          </a:p>
        </p:txBody>
      </p:sp>
      <p:sp>
        <p:nvSpPr>
          <p:cNvPr id="849" name="Google Shape;849;p44"/>
          <p:cNvSpPr/>
          <p:nvPr/>
        </p:nvSpPr>
        <p:spPr>
          <a:xfrm>
            <a:off x="5806440" y="3657600"/>
            <a:ext cx="1600200" cy="822960"/>
          </a:xfrm>
          <a:prstGeom prst="roundRect">
            <a:avLst>
              <a:gd fmla="val 6666" name="adj"/>
            </a:avLst>
          </a:prstGeom>
          <a:solidFill>
            <a:srgbClr val="FDECEA"/>
          </a:solidFill>
          <a:ln cap="flat" cmpd="sng" w="12700">
            <a:solidFill>
              <a:srgbClr val="E9A39D"/>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B3261E"/>
                </a:solidFill>
                <a:latin typeface="Montserrat"/>
                <a:ea typeface="Montserrat"/>
                <a:cs typeface="Montserrat"/>
                <a:sym typeface="Montserrat"/>
              </a:rPr>
              <a:t>오류</a:t>
            </a:r>
            <a:endParaRPr/>
          </a:p>
          <a:p>
            <a:pPr indent="0" lvl="0" marL="0" marR="0" rtl="0" algn="ctr">
              <a:lnSpc>
                <a:spcPct val="100000"/>
              </a:lnSpc>
              <a:spcBef>
                <a:spcPts val="150"/>
              </a:spcBef>
              <a:spcAft>
                <a:spcPts val="0"/>
              </a:spcAft>
              <a:buNone/>
            </a:pPr>
            <a:r>
              <a:rPr lang="en-US" sz="950">
                <a:solidFill>
                  <a:srgbClr val="B3261E"/>
                </a:solidFill>
                <a:latin typeface="Barlow"/>
                <a:ea typeface="Barlow"/>
                <a:cs typeface="Barlow"/>
                <a:sym typeface="Barlow"/>
              </a:rPr>
              <a:t>정지 (예: 계통 정전,</a:t>
            </a:r>
            <a:endParaRPr/>
          </a:p>
          <a:p>
            <a:pPr indent="0" lvl="0" marL="0" marR="0" rtl="0" algn="ctr">
              <a:lnSpc>
                <a:spcPct val="100000"/>
              </a:lnSpc>
              <a:spcBef>
                <a:spcPts val="0"/>
              </a:spcBef>
              <a:spcAft>
                <a:spcPts val="0"/>
              </a:spcAft>
              <a:buNone/>
            </a:pPr>
            <a:r>
              <a:rPr lang="en-US" sz="950">
                <a:solidFill>
                  <a:srgbClr val="B3261E"/>
                </a:solidFill>
                <a:latin typeface="Barlow"/>
                <a:ea typeface="Barlow"/>
                <a:cs typeface="Barlow"/>
                <a:sym typeface="Barlow"/>
              </a:rPr>
              <a:t>Off-Grid OFF)</a:t>
            </a:r>
            <a:endParaRPr/>
          </a:p>
        </p:txBody>
      </p:sp>
      <p:sp>
        <p:nvSpPr>
          <p:cNvPr id="850" name="Google Shape;850;p44"/>
          <p:cNvSpPr/>
          <p:nvPr/>
        </p:nvSpPr>
        <p:spPr>
          <a:xfrm>
            <a:off x="3429000" y="4572000"/>
            <a:ext cx="1600200" cy="822960"/>
          </a:xfrm>
          <a:prstGeom prst="roundRect">
            <a:avLst>
              <a:gd fmla="val 6666" name="adj"/>
            </a:avLst>
          </a:prstGeom>
          <a:solidFill>
            <a:srgbClr val="FFFFFF"/>
          </a:solidFill>
          <a:ln cap="flat" cmpd="sng" w="12700">
            <a:solidFill>
              <a:srgbClr val="1565C0"/>
            </a:solidFill>
            <a:prstDash val="dash"/>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150">
                <a:solidFill>
                  <a:srgbClr val="1565C0"/>
                </a:solidFill>
                <a:latin typeface="Montserrat"/>
                <a:ea typeface="Montserrat"/>
                <a:cs typeface="Montserrat"/>
                <a:sym typeface="Montserrat"/>
              </a:rPr>
              <a:t>FW 업데이트 중</a:t>
            </a:r>
            <a:endParaRPr/>
          </a:p>
          <a:p>
            <a:pPr indent="0" lvl="0" marL="0" marR="0" rtl="0" algn="ctr">
              <a:lnSpc>
                <a:spcPct val="100000"/>
              </a:lnSpc>
              <a:spcBef>
                <a:spcPts val="150"/>
              </a:spcBef>
              <a:spcAft>
                <a:spcPts val="0"/>
              </a:spcAft>
              <a:buNone/>
            </a:pPr>
            <a:r>
              <a:rPr lang="en-US" sz="950">
                <a:solidFill>
                  <a:srgbClr val="5F6B7A"/>
                </a:solidFill>
                <a:latin typeface="Barlow"/>
                <a:ea typeface="Barlow"/>
                <a:cs typeface="Barlow"/>
                <a:sym typeface="Barlow"/>
              </a:rPr>
              <a:t>앱 세션 상태</a:t>
            </a:r>
            <a:endParaRPr/>
          </a:p>
          <a:p>
            <a:pPr indent="0" lvl="0" marL="0" marR="0" rtl="0" algn="ctr">
              <a:lnSpc>
                <a:spcPct val="100000"/>
              </a:lnSpc>
              <a:spcBef>
                <a:spcPts val="0"/>
              </a:spcBef>
              <a:spcAft>
                <a:spcPts val="0"/>
              </a:spcAft>
              <a:buNone/>
            </a:pPr>
            <a:r>
              <a:rPr lang="en-US" sz="950">
                <a:solidFill>
                  <a:srgbClr val="5F6B7A"/>
                </a:solidFill>
                <a:latin typeface="Barlow"/>
                <a:ea typeface="Barlow"/>
                <a:cs typeface="Barlow"/>
                <a:sym typeface="Barlow"/>
              </a:rPr>
              <a:t>(일시적)</a:t>
            </a:r>
            <a:endParaRPr/>
          </a:p>
        </p:txBody>
      </p:sp>
      <p:sp>
        <p:nvSpPr>
          <p:cNvPr id="851" name="Google Shape;851;p44"/>
          <p:cNvSpPr/>
          <p:nvPr/>
        </p:nvSpPr>
        <p:spPr>
          <a:xfrm>
            <a:off x="384048" y="2953512"/>
            <a:ext cx="128016" cy="128016"/>
          </a:xfrm>
          <a:prstGeom prst="ellipse">
            <a:avLst/>
          </a:prstGeom>
          <a:solidFill>
            <a:srgbClr val="1F2A37"/>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cxnSp>
        <p:nvCxnSpPr>
          <p:cNvPr id="852" name="Google Shape;852;p44"/>
          <p:cNvCxnSpPr/>
          <p:nvPr/>
        </p:nvCxnSpPr>
        <p:spPr>
          <a:xfrm>
            <a:off x="512064" y="3017520"/>
            <a:ext cx="219456" cy="0"/>
          </a:xfrm>
          <a:prstGeom prst="straightConnector1">
            <a:avLst/>
          </a:prstGeom>
          <a:noFill/>
          <a:ln cap="flat" cmpd="sng" w="15875">
            <a:solidFill>
              <a:srgbClr val="1F2A37"/>
            </a:solidFill>
            <a:prstDash val="solid"/>
            <a:round/>
            <a:headEnd len="sm" w="sm" type="none"/>
            <a:tailEnd len="med" w="med" type="triangle"/>
          </a:ln>
        </p:spPr>
      </p:cxnSp>
      <p:cxnSp>
        <p:nvCxnSpPr>
          <p:cNvPr id="853" name="Google Shape;853;p44"/>
          <p:cNvCxnSpPr>
            <a:stCxn id="846" idx="3"/>
            <a:endCxn id="847" idx="1"/>
          </p:cNvCxnSpPr>
          <p:nvPr/>
        </p:nvCxnSpPr>
        <p:spPr>
          <a:xfrm>
            <a:off x="2331720" y="3017520"/>
            <a:ext cx="1097400" cy="0"/>
          </a:xfrm>
          <a:prstGeom prst="straightConnector1">
            <a:avLst/>
          </a:prstGeom>
          <a:noFill/>
          <a:ln cap="flat" cmpd="sng" w="19050">
            <a:solidFill>
              <a:srgbClr val="1F2A37"/>
            </a:solidFill>
            <a:prstDash val="solid"/>
            <a:round/>
            <a:headEnd len="sm" w="sm" type="none"/>
            <a:tailEnd len="med" w="med" type="triangle"/>
          </a:ln>
        </p:spPr>
      </p:cxnSp>
      <p:sp>
        <p:nvSpPr>
          <p:cNvPr id="854" name="Google Shape;854;p44"/>
          <p:cNvSpPr txBox="1"/>
          <p:nvPr/>
        </p:nvSpPr>
        <p:spPr>
          <a:xfrm>
            <a:off x="2350008" y="2587752"/>
            <a:ext cx="1060704"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00">
                <a:solidFill>
                  <a:srgbClr val="0B2F5B"/>
                </a:solidFill>
                <a:latin typeface="Barlow"/>
                <a:ea typeface="Barlow"/>
                <a:cs typeface="Barlow"/>
                <a:sym typeface="Barlow"/>
              </a:rPr>
              <a:t>적용</a:t>
            </a:r>
            <a:endParaRPr/>
          </a:p>
        </p:txBody>
      </p:sp>
      <p:sp>
        <p:nvSpPr>
          <p:cNvPr id="855" name="Google Shape;855;p44"/>
          <p:cNvSpPr txBox="1"/>
          <p:nvPr/>
        </p:nvSpPr>
        <p:spPr>
          <a:xfrm>
            <a:off x="2350008" y="3072384"/>
            <a:ext cx="1060704"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0" lang="en-US" sz="900">
                <a:solidFill>
                  <a:srgbClr val="5F6B7A"/>
                </a:solidFill>
                <a:latin typeface="Barlow"/>
                <a:ea typeface="Barlow"/>
                <a:cs typeface="Barlow"/>
                <a:sym typeface="Barlow"/>
              </a:rPr>
              <a:t>Off-Grid + NMI No</a:t>
            </a:r>
            <a:endParaRPr/>
          </a:p>
        </p:txBody>
      </p:sp>
      <p:sp>
        <p:nvSpPr>
          <p:cNvPr id="856" name="Google Shape;856;p44"/>
          <p:cNvSpPr/>
          <p:nvPr/>
        </p:nvSpPr>
        <p:spPr>
          <a:xfrm>
            <a:off x="3886200" y="2194560"/>
            <a:ext cx="685800" cy="411480"/>
          </a:xfrm>
          <a:custGeom>
            <a:rect b="b" l="l" r="r" t="t"/>
            <a:pathLst>
              <a:path extrusionOk="0" h="411480" w="685800">
                <a:moveTo>
                  <a:pt x="0" y="411480"/>
                </a:moveTo>
                <a:lnTo>
                  <a:pt x="0" y="0"/>
                </a:lnTo>
                <a:lnTo>
                  <a:pt x="685800" y="0"/>
                </a:lnTo>
                <a:lnTo>
                  <a:pt x="685800" y="411480"/>
                </a:lnTo>
              </a:path>
            </a:pathLst>
          </a:custGeom>
          <a:noFill/>
          <a:ln cap="flat" cmpd="sng" w="15875">
            <a:solidFill>
              <a:srgbClr val="1E7B4F"/>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7" name="Google Shape;857;p44"/>
          <p:cNvSpPr txBox="1"/>
          <p:nvPr/>
        </p:nvSpPr>
        <p:spPr>
          <a:xfrm>
            <a:off x="3246120" y="1956816"/>
            <a:ext cx="196596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1E7B4F"/>
                </a:solidFill>
                <a:latin typeface="Barlow"/>
                <a:ea typeface="Barlow"/>
                <a:cs typeface="Barlow"/>
                <a:sym typeface="Barlow"/>
              </a:rPr>
              <a:t>1회성 쓰기 (OTP)</a:t>
            </a:r>
            <a:endParaRPr/>
          </a:p>
        </p:txBody>
      </p:sp>
      <p:sp>
        <p:nvSpPr>
          <p:cNvPr id="858" name="Google Shape;858;p44"/>
          <p:cNvSpPr/>
          <p:nvPr/>
        </p:nvSpPr>
        <p:spPr>
          <a:xfrm>
            <a:off x="4846320" y="1783080"/>
            <a:ext cx="960120" cy="822960"/>
          </a:xfrm>
          <a:custGeom>
            <a:rect b="b" l="l" r="r" t="t"/>
            <a:pathLst>
              <a:path extrusionOk="0" h="822960" w="960120">
                <a:moveTo>
                  <a:pt x="0" y="822960"/>
                </a:moveTo>
                <a:lnTo>
                  <a:pt x="0" y="0"/>
                </a:lnTo>
                <a:lnTo>
                  <a:pt x="960120" y="0"/>
                </a:lnTo>
              </a:path>
            </a:pathLst>
          </a:custGeom>
          <a:noFill/>
          <a:ln cap="flat" cmpd="sng" w="15875">
            <a:solidFill>
              <a:srgbClr val="F0A93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59" name="Google Shape;859;p44"/>
          <p:cNvSpPr txBox="1"/>
          <p:nvPr/>
        </p:nvSpPr>
        <p:spPr>
          <a:xfrm>
            <a:off x="4901184" y="1572768"/>
            <a:ext cx="896112"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900">
                <a:solidFill>
                  <a:srgbClr val="9A5B00"/>
                </a:solidFill>
                <a:latin typeface="Barlow"/>
                <a:ea typeface="Barlow"/>
                <a:cs typeface="Barlow"/>
                <a:sym typeface="Barlow"/>
              </a:rPr>
              <a:t>경고 발생</a:t>
            </a:r>
            <a:endParaRPr/>
          </a:p>
        </p:txBody>
      </p:sp>
      <p:sp>
        <p:nvSpPr>
          <p:cNvPr id="860" name="Google Shape;860;p44"/>
          <p:cNvSpPr/>
          <p:nvPr/>
        </p:nvSpPr>
        <p:spPr>
          <a:xfrm>
            <a:off x="5029200" y="2148840"/>
            <a:ext cx="777240" cy="685800"/>
          </a:xfrm>
          <a:custGeom>
            <a:rect b="b" l="l" r="r" t="t"/>
            <a:pathLst>
              <a:path extrusionOk="0" h="685800" w="777240">
                <a:moveTo>
                  <a:pt x="777240" y="0"/>
                </a:moveTo>
                <a:lnTo>
                  <a:pt x="320040" y="0"/>
                </a:lnTo>
                <a:lnTo>
                  <a:pt x="320040" y="685800"/>
                </a:lnTo>
                <a:lnTo>
                  <a:pt x="0" y="685800"/>
                </a:lnTo>
              </a:path>
            </a:pathLst>
          </a:custGeom>
          <a:noFill/>
          <a:ln cap="flat" cmpd="sng" w="15875">
            <a:solidFill>
              <a:srgbClr val="F0A93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1" name="Google Shape;861;p44"/>
          <p:cNvSpPr txBox="1"/>
          <p:nvPr/>
        </p:nvSpPr>
        <p:spPr>
          <a:xfrm>
            <a:off x="5413248" y="2468880"/>
            <a:ext cx="54864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9A5B00"/>
                </a:solidFill>
                <a:latin typeface="Barlow"/>
                <a:ea typeface="Barlow"/>
                <a:cs typeface="Barlow"/>
                <a:sym typeface="Barlow"/>
              </a:rPr>
              <a:t>해제</a:t>
            </a:r>
            <a:endParaRPr/>
          </a:p>
        </p:txBody>
      </p:sp>
      <p:cxnSp>
        <p:nvCxnSpPr>
          <p:cNvPr id="862" name="Google Shape;862;p44"/>
          <p:cNvCxnSpPr/>
          <p:nvPr/>
        </p:nvCxnSpPr>
        <p:spPr>
          <a:xfrm>
            <a:off x="6949440" y="2377440"/>
            <a:ext cx="0" cy="1280160"/>
          </a:xfrm>
          <a:prstGeom prst="straightConnector1">
            <a:avLst/>
          </a:prstGeom>
          <a:noFill/>
          <a:ln cap="flat" cmpd="sng" w="15875">
            <a:solidFill>
              <a:srgbClr val="B3261E"/>
            </a:solidFill>
            <a:prstDash val="solid"/>
            <a:round/>
            <a:headEnd len="sm" w="sm" type="none"/>
            <a:tailEnd len="med" w="med" type="triangle"/>
          </a:ln>
        </p:spPr>
      </p:cxnSp>
      <p:sp>
        <p:nvSpPr>
          <p:cNvPr id="863" name="Google Shape;863;p44"/>
          <p:cNvSpPr txBox="1"/>
          <p:nvPr/>
        </p:nvSpPr>
        <p:spPr>
          <a:xfrm>
            <a:off x="7004304" y="2926080"/>
            <a:ext cx="6400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B3261E"/>
                </a:solidFill>
                <a:latin typeface="Barlow"/>
                <a:ea typeface="Barlow"/>
                <a:cs typeface="Barlow"/>
                <a:sym typeface="Barlow"/>
              </a:rPr>
              <a:t>악화</a:t>
            </a:r>
            <a:endParaRPr/>
          </a:p>
        </p:txBody>
      </p:sp>
      <p:sp>
        <p:nvSpPr>
          <p:cNvPr id="864" name="Google Shape;864;p44"/>
          <p:cNvSpPr/>
          <p:nvPr/>
        </p:nvSpPr>
        <p:spPr>
          <a:xfrm>
            <a:off x="5029200" y="3200400"/>
            <a:ext cx="777240" cy="685800"/>
          </a:xfrm>
          <a:custGeom>
            <a:rect b="b" l="l" r="r" t="t"/>
            <a:pathLst>
              <a:path extrusionOk="0" h="685800" w="777240">
                <a:moveTo>
                  <a:pt x="0" y="0"/>
                </a:moveTo>
                <a:lnTo>
                  <a:pt x="640080" y="0"/>
                </a:lnTo>
                <a:lnTo>
                  <a:pt x="640080" y="685800"/>
                </a:lnTo>
                <a:lnTo>
                  <a:pt x="777240" y="685800"/>
                </a:lnTo>
              </a:path>
            </a:pathLst>
          </a:custGeom>
          <a:noFill/>
          <a:ln cap="flat" cmpd="sng" w="15875">
            <a:solidFill>
              <a:srgbClr val="B3261E"/>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5" name="Google Shape;865;p44"/>
          <p:cNvSpPr txBox="1"/>
          <p:nvPr/>
        </p:nvSpPr>
        <p:spPr>
          <a:xfrm>
            <a:off x="5733288" y="3310128"/>
            <a:ext cx="731520" cy="1645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B3261E"/>
                </a:solidFill>
                <a:latin typeface="Barlow"/>
                <a:ea typeface="Barlow"/>
                <a:cs typeface="Barlow"/>
                <a:sym typeface="Barlow"/>
              </a:rPr>
              <a:t>고장 정지</a:t>
            </a:r>
            <a:endParaRPr/>
          </a:p>
        </p:txBody>
      </p:sp>
      <p:sp>
        <p:nvSpPr>
          <p:cNvPr id="866" name="Google Shape;866;p44"/>
          <p:cNvSpPr/>
          <p:nvPr/>
        </p:nvSpPr>
        <p:spPr>
          <a:xfrm>
            <a:off x="4846320" y="3429000"/>
            <a:ext cx="960120" cy="822960"/>
          </a:xfrm>
          <a:custGeom>
            <a:rect b="b" l="l" r="r" t="t"/>
            <a:pathLst>
              <a:path extrusionOk="0" h="822960" w="960120">
                <a:moveTo>
                  <a:pt x="960120" y="822960"/>
                </a:moveTo>
                <a:lnTo>
                  <a:pt x="0" y="822960"/>
                </a:lnTo>
                <a:lnTo>
                  <a:pt x="0" y="0"/>
                </a:lnTo>
              </a:path>
            </a:pathLst>
          </a:custGeom>
          <a:noFill/>
          <a:ln cap="flat" cmpd="sng" w="15875">
            <a:solidFill>
              <a:srgbClr val="B3261E"/>
            </a:solidFill>
            <a:prstDash val="dash"/>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867" name="Google Shape;867;p44"/>
          <p:cNvSpPr txBox="1"/>
          <p:nvPr/>
        </p:nvSpPr>
        <p:spPr>
          <a:xfrm>
            <a:off x="4910328" y="3904487"/>
            <a:ext cx="7315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B3261E"/>
                </a:solidFill>
                <a:latin typeface="Barlow"/>
                <a:ea typeface="Barlow"/>
                <a:cs typeface="Barlow"/>
                <a:sym typeface="Barlow"/>
              </a:rPr>
              <a:t>고장 해제 ·</a:t>
            </a:r>
            <a:endParaRPr/>
          </a:p>
        </p:txBody>
      </p:sp>
      <p:sp>
        <p:nvSpPr>
          <p:cNvPr id="868" name="Google Shape;868;p44"/>
          <p:cNvSpPr txBox="1"/>
          <p:nvPr/>
        </p:nvSpPr>
        <p:spPr>
          <a:xfrm>
            <a:off x="4910328" y="4050791"/>
            <a:ext cx="73152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B3261E"/>
                </a:solidFill>
                <a:latin typeface="Barlow"/>
                <a:ea typeface="Barlow"/>
                <a:cs typeface="Barlow"/>
                <a:sym typeface="Barlow"/>
              </a:rPr>
              <a:t>재시작</a:t>
            </a:r>
            <a:endParaRPr/>
          </a:p>
        </p:txBody>
      </p:sp>
      <p:cxnSp>
        <p:nvCxnSpPr>
          <p:cNvPr id="869" name="Google Shape;869;p44"/>
          <p:cNvCxnSpPr/>
          <p:nvPr/>
        </p:nvCxnSpPr>
        <p:spPr>
          <a:xfrm>
            <a:off x="3703320" y="3429000"/>
            <a:ext cx="0" cy="1143000"/>
          </a:xfrm>
          <a:prstGeom prst="straightConnector1">
            <a:avLst/>
          </a:prstGeom>
          <a:noFill/>
          <a:ln cap="flat" cmpd="sng" w="15875">
            <a:solidFill>
              <a:srgbClr val="1565C0"/>
            </a:solidFill>
            <a:prstDash val="solid"/>
            <a:round/>
            <a:headEnd len="sm" w="sm" type="none"/>
            <a:tailEnd len="med" w="med" type="triangle"/>
          </a:ln>
        </p:spPr>
      </p:cxnSp>
      <p:cxnSp>
        <p:nvCxnSpPr>
          <p:cNvPr id="870" name="Google Shape;870;p44"/>
          <p:cNvCxnSpPr/>
          <p:nvPr/>
        </p:nvCxnSpPr>
        <p:spPr>
          <a:xfrm rot="10800000">
            <a:off x="4114800" y="3429000"/>
            <a:ext cx="0" cy="1143000"/>
          </a:xfrm>
          <a:prstGeom prst="straightConnector1">
            <a:avLst/>
          </a:prstGeom>
          <a:noFill/>
          <a:ln cap="flat" cmpd="sng" w="15875">
            <a:solidFill>
              <a:srgbClr val="1565C0"/>
            </a:solidFill>
            <a:prstDash val="solid"/>
            <a:round/>
            <a:headEnd len="sm" w="sm" type="none"/>
            <a:tailEnd len="med" w="med" type="triangle"/>
          </a:ln>
        </p:spPr>
      </p:cxnSp>
      <p:sp>
        <p:nvSpPr>
          <p:cNvPr id="871" name="Google Shape;871;p44"/>
          <p:cNvSpPr txBox="1"/>
          <p:nvPr/>
        </p:nvSpPr>
        <p:spPr>
          <a:xfrm>
            <a:off x="2514600" y="3840480"/>
            <a:ext cx="1133856"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lang="en-US" sz="900">
                <a:solidFill>
                  <a:srgbClr val="1565C0"/>
                </a:solidFill>
                <a:latin typeface="Barlow"/>
                <a:ea typeface="Barlow"/>
                <a:cs typeface="Barlow"/>
                <a:sym typeface="Barlow"/>
              </a:rPr>
              <a:t>깨우기,</a:t>
            </a:r>
            <a:endParaRPr/>
          </a:p>
        </p:txBody>
      </p:sp>
      <p:sp>
        <p:nvSpPr>
          <p:cNvPr id="872" name="Google Shape;872;p44"/>
          <p:cNvSpPr txBox="1"/>
          <p:nvPr/>
        </p:nvSpPr>
        <p:spPr>
          <a:xfrm>
            <a:off x="2514600" y="3986784"/>
            <a:ext cx="1133856" cy="15544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lang="en-US" sz="900">
                <a:solidFill>
                  <a:srgbClr val="1565C0"/>
                </a:solidFill>
                <a:latin typeface="Barlow"/>
                <a:ea typeface="Barlow"/>
                <a:cs typeface="Barlow"/>
                <a:sym typeface="Barlow"/>
              </a:rPr>
              <a:t>전송 시작</a:t>
            </a:r>
            <a:endParaRPr/>
          </a:p>
        </p:txBody>
      </p:sp>
      <p:sp>
        <p:nvSpPr>
          <p:cNvPr id="873" name="Google Shape;873;p44"/>
          <p:cNvSpPr txBox="1"/>
          <p:nvPr/>
        </p:nvSpPr>
        <p:spPr>
          <a:xfrm>
            <a:off x="4169663" y="3840480"/>
            <a:ext cx="64008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1565C0"/>
                </a:solidFill>
                <a:latin typeface="Barlow"/>
                <a:ea typeface="Barlow"/>
                <a:cs typeface="Barlow"/>
                <a:sym typeface="Barlow"/>
              </a:rPr>
              <a:t>커밋 또는</a:t>
            </a:r>
            <a:endParaRPr/>
          </a:p>
        </p:txBody>
      </p:sp>
      <p:sp>
        <p:nvSpPr>
          <p:cNvPr id="874" name="Google Shape;874;p44"/>
          <p:cNvSpPr txBox="1"/>
          <p:nvPr/>
        </p:nvSpPr>
        <p:spPr>
          <a:xfrm>
            <a:off x="4169663" y="3986784"/>
            <a:ext cx="640080" cy="15544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1565C0"/>
                </a:solidFill>
                <a:latin typeface="Barlow"/>
                <a:ea typeface="Barlow"/>
                <a:cs typeface="Barlow"/>
                <a:sym typeface="Barlow"/>
              </a:rPr>
              <a:t>롤백</a:t>
            </a:r>
            <a:endParaRPr/>
          </a:p>
        </p:txBody>
      </p:sp>
      <p:sp>
        <p:nvSpPr>
          <p:cNvPr id="875" name="Google Shape;875;p44"/>
          <p:cNvSpPr/>
          <p:nvPr/>
        </p:nvSpPr>
        <p:spPr>
          <a:xfrm>
            <a:off x="457200" y="4343400"/>
            <a:ext cx="2514600" cy="1051560"/>
          </a:xfrm>
          <a:prstGeom prst="roundRect">
            <a:avLst>
              <a:gd fmla="val 5217" name="adj"/>
            </a:avLst>
          </a:prstGeom>
          <a:noFill/>
          <a:ln cap="flat" cmpd="sng" w="9525">
            <a:solidFill>
              <a:srgbClr val="5F6B7A"/>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6" name="Google Shape;876;p44"/>
          <p:cNvSpPr txBox="1"/>
          <p:nvPr/>
        </p:nvSpPr>
        <p:spPr>
          <a:xfrm>
            <a:off x="566928" y="4416552"/>
            <a:ext cx="22860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5F6B7A"/>
                </a:solidFill>
                <a:latin typeface="Montserrat"/>
                <a:ea typeface="Montserrat"/>
                <a:cs typeface="Montserrat"/>
                <a:sym typeface="Montserrat"/>
              </a:rPr>
              <a:t>연결 상태 축 (독립)</a:t>
            </a:r>
            <a:endParaRPr/>
          </a:p>
        </p:txBody>
      </p:sp>
      <p:sp>
        <p:nvSpPr>
          <p:cNvPr id="877" name="Google Shape;877;p44"/>
          <p:cNvSpPr/>
          <p:nvPr/>
        </p:nvSpPr>
        <p:spPr>
          <a:xfrm>
            <a:off x="658368" y="4709160"/>
            <a:ext cx="868680" cy="384048"/>
          </a:xfrm>
          <a:prstGeom prst="roundRect">
            <a:avLst>
              <a:gd fmla="val 14285"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Wifi</a:t>
            </a:r>
            <a:endParaRPr/>
          </a:p>
        </p:txBody>
      </p:sp>
      <p:sp>
        <p:nvSpPr>
          <p:cNvPr id="878" name="Google Shape;878;p44"/>
          <p:cNvSpPr/>
          <p:nvPr/>
        </p:nvSpPr>
        <p:spPr>
          <a:xfrm>
            <a:off x="1901952" y="4709160"/>
            <a:ext cx="868680" cy="384048"/>
          </a:xfrm>
          <a:prstGeom prst="roundRect">
            <a:avLst>
              <a:gd fmla="val 14285"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non-Wifi</a:t>
            </a:r>
            <a:endParaRPr/>
          </a:p>
        </p:txBody>
      </p:sp>
      <p:cxnSp>
        <p:nvCxnSpPr>
          <p:cNvPr id="879" name="Google Shape;879;p44"/>
          <p:cNvCxnSpPr/>
          <p:nvPr/>
        </p:nvCxnSpPr>
        <p:spPr>
          <a:xfrm>
            <a:off x="1527048" y="4901184"/>
            <a:ext cx="374904" cy="0"/>
          </a:xfrm>
          <a:prstGeom prst="straightConnector1">
            <a:avLst/>
          </a:prstGeom>
          <a:noFill/>
          <a:ln cap="flat" cmpd="sng" w="12700">
            <a:solidFill>
              <a:srgbClr val="0B2F5B"/>
            </a:solidFill>
            <a:prstDash val="solid"/>
            <a:round/>
            <a:headEnd len="med" w="med" type="triangle"/>
            <a:tailEnd len="med" w="med" type="triangle"/>
          </a:ln>
        </p:spPr>
      </p:cxnSp>
      <p:sp>
        <p:nvSpPr>
          <p:cNvPr id="880" name="Google Shape;880;p44"/>
          <p:cNvSpPr txBox="1"/>
          <p:nvPr/>
        </p:nvSpPr>
        <p:spPr>
          <a:xfrm>
            <a:off x="566928" y="5138928"/>
            <a:ext cx="233172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i="1" lang="en-US" sz="850">
                <a:solidFill>
                  <a:srgbClr val="5F6B7A"/>
                </a:solidFill>
                <a:latin typeface="Barlow"/>
                <a:ea typeface="Barlow"/>
                <a:cs typeface="Barlow"/>
                <a:sym typeface="Barlow"/>
              </a:rPr>
              <a:t>위의 모든 상태와 조합됨</a:t>
            </a:r>
            <a:endParaRPr/>
          </a:p>
        </p:txBody>
      </p:sp>
      <p:sp>
        <p:nvSpPr>
          <p:cNvPr id="881" name="Google Shape;881;p44"/>
          <p:cNvSpPr txBox="1"/>
          <p:nvPr/>
        </p:nvSpPr>
        <p:spPr>
          <a:xfrm>
            <a:off x="457200" y="5532120"/>
            <a:ext cx="7223760" cy="4572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b="1" lang="en-US" sz="950">
                <a:solidFill>
                  <a:srgbClr val="0B2F5B"/>
                </a:solidFill>
                <a:latin typeface="Barlow"/>
                <a:ea typeface="Barlow"/>
                <a:cs typeface="Barlow"/>
                <a:sym typeface="Barlow"/>
              </a:rPr>
              <a:t>Run + non-Wifi</a:t>
            </a:r>
            <a:r>
              <a:rPr lang="en-US" sz="950">
                <a:solidFill>
                  <a:srgbClr val="0B2F5B"/>
                </a:solidFill>
                <a:latin typeface="Barlow"/>
                <a:ea typeface="Barlow"/>
                <a:cs typeface="Barlow"/>
                <a:sym typeface="Barlow"/>
              </a:rPr>
              <a:t> = 정상 동작하지만 클라우드로 보고하지 않음.  </a:t>
            </a:r>
            <a:r>
              <a:rPr b="1" lang="en-US" sz="950">
                <a:solidFill>
                  <a:srgbClr val="0B2F5B"/>
                </a:solidFill>
                <a:latin typeface="Barlow"/>
                <a:ea typeface="Barlow"/>
                <a:cs typeface="Barlow"/>
                <a:sym typeface="Barlow"/>
              </a:rPr>
              <a:t>FW 업데이트 중</a:t>
            </a:r>
            <a:r>
              <a:rPr lang="en-US" sz="950">
                <a:solidFill>
                  <a:srgbClr val="0B2F5B"/>
                </a:solidFill>
                <a:latin typeface="Barlow"/>
                <a:ea typeface="Barlow"/>
                <a:cs typeface="Barlow"/>
                <a:sym typeface="Barlow"/>
              </a:rPr>
              <a:t> 상태는 커밋 시 새 버전으로, 롤백 시 이전 버전으로 운행 상태에 복귀합니다.</a:t>
            </a:r>
            <a:endParaRPr>
              <a:latin typeface="Barlow"/>
              <a:ea typeface="Barlow"/>
              <a:cs typeface="Barlow"/>
              <a:sym typeface="Barlow"/>
            </a:endParaRPr>
          </a:p>
        </p:txBody>
      </p:sp>
      <p:sp>
        <p:nvSpPr>
          <p:cNvPr id="882" name="Google Shape;882;p44"/>
          <p:cNvSpPr txBox="1"/>
          <p:nvPr/>
        </p:nvSpPr>
        <p:spPr>
          <a:xfrm>
            <a:off x="8001000" y="1216152"/>
            <a:ext cx="3429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앱에서 허용하는 동작</a:t>
            </a:r>
            <a:endParaRPr/>
          </a:p>
        </p:txBody>
      </p:sp>
      <p:sp>
        <p:nvSpPr>
          <p:cNvPr id="883" name="Google Shape;883;p44"/>
          <p:cNvSpPr/>
          <p:nvPr/>
        </p:nvSpPr>
        <p:spPr>
          <a:xfrm>
            <a:off x="8001000" y="1508760"/>
            <a:ext cx="3429000" cy="98755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4" name="Google Shape;884;p44"/>
          <p:cNvSpPr/>
          <p:nvPr/>
        </p:nvSpPr>
        <p:spPr>
          <a:xfrm>
            <a:off x="8129016" y="1618488"/>
            <a:ext cx="922890" cy="211137"/>
          </a:xfrm>
          <a:prstGeom prst="roundRect">
            <a:avLst>
              <a:gd fmla="val 50000" name="adj"/>
            </a:avLst>
          </a:prstGeom>
          <a:solidFill>
            <a:srgbClr val="F5F8FC"/>
          </a:solidFill>
          <a:ln cap="flat" cmpd="sng" w="9525">
            <a:solidFill>
              <a:srgbClr val="5F6B7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1F2A37"/>
                </a:solidFill>
                <a:latin typeface="Montserrat"/>
                <a:ea typeface="Montserrat"/>
                <a:cs typeface="Montserrat"/>
                <a:sym typeface="Montserrat"/>
              </a:rPr>
              <a:t>미완료</a:t>
            </a:r>
            <a:endParaRPr/>
          </a:p>
        </p:txBody>
      </p:sp>
      <p:sp>
        <p:nvSpPr>
          <p:cNvPr id="885" name="Google Shape;885;p44"/>
          <p:cNvSpPr txBox="1"/>
          <p:nvPr/>
        </p:nvSpPr>
        <p:spPr>
          <a:xfrm>
            <a:off x="8129016" y="1874519"/>
            <a:ext cx="31729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5F6B7A"/>
                </a:solidFill>
                <a:latin typeface="Barlow"/>
                <a:ea typeface="Barlow"/>
                <a:cs typeface="Barlow"/>
                <a:sym typeface="Barlow"/>
              </a:rPr>
              <a:t>신규 설치 대상</a:t>
            </a:r>
            <a:endParaRPr/>
          </a:p>
        </p:txBody>
      </p:sp>
      <p:sp>
        <p:nvSpPr>
          <p:cNvPr id="886" name="Google Shape;886;p44"/>
          <p:cNvSpPr txBox="1"/>
          <p:nvPr/>
        </p:nvSpPr>
        <p:spPr>
          <a:xfrm>
            <a:off x="8129016" y="2057400"/>
            <a:ext cx="317296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1F2A37"/>
                </a:solidFill>
                <a:latin typeface="Barlow"/>
                <a:ea typeface="Barlow"/>
                <a:cs typeface="Barlow"/>
                <a:sym typeface="Barlow"/>
              </a:rPr>
              <a:t>비밀번호 단계 없음. 전체 설정 편집 가능.</a:t>
            </a:r>
            <a:endParaRPr/>
          </a:p>
        </p:txBody>
      </p:sp>
      <p:sp>
        <p:nvSpPr>
          <p:cNvPr id="887" name="Google Shape;887;p44"/>
          <p:cNvSpPr/>
          <p:nvPr/>
        </p:nvSpPr>
        <p:spPr>
          <a:xfrm>
            <a:off x="8001000" y="2606039"/>
            <a:ext cx="3429000" cy="98755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8" name="Google Shape;888;p44"/>
          <p:cNvSpPr/>
          <p:nvPr/>
        </p:nvSpPr>
        <p:spPr>
          <a:xfrm>
            <a:off x="8129016" y="2715768"/>
            <a:ext cx="456107" cy="211137"/>
          </a:xfrm>
          <a:prstGeom prst="roundRect">
            <a:avLst>
              <a:gd fmla="val 500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1E7B4F"/>
                </a:solidFill>
                <a:latin typeface="Montserrat"/>
                <a:ea typeface="Montserrat"/>
                <a:cs typeface="Montserrat"/>
                <a:sym typeface="Montserrat"/>
              </a:rPr>
              <a:t>운행</a:t>
            </a:r>
            <a:endParaRPr/>
          </a:p>
        </p:txBody>
      </p:sp>
      <p:sp>
        <p:nvSpPr>
          <p:cNvPr id="889" name="Google Shape;889;p44"/>
          <p:cNvSpPr txBox="1"/>
          <p:nvPr/>
        </p:nvSpPr>
        <p:spPr>
          <a:xfrm>
            <a:off x="8129016" y="2971799"/>
            <a:ext cx="31729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5F6B7A"/>
                </a:solidFill>
                <a:latin typeface="Barlow"/>
                <a:ea typeface="Barlow"/>
                <a:cs typeface="Barlow"/>
                <a:sym typeface="Barlow"/>
              </a:rPr>
              <a:t>유지보수 또는 재설정 대상</a:t>
            </a:r>
            <a:endParaRPr/>
          </a:p>
        </p:txBody>
      </p:sp>
      <p:sp>
        <p:nvSpPr>
          <p:cNvPr id="890" name="Google Shape;890;p44"/>
          <p:cNvSpPr txBox="1"/>
          <p:nvPr/>
        </p:nvSpPr>
        <p:spPr>
          <a:xfrm>
            <a:off x="8129016" y="3154679"/>
            <a:ext cx="317296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1F2A37"/>
                </a:solidFill>
                <a:latin typeface="Barlow"/>
                <a:ea typeface="Barlow"/>
                <a:cs typeface="Barlow"/>
                <a:sym typeface="Barlow"/>
              </a:rPr>
              <a:t>상태 조회만 가능. 설정 변경 시 임시 비밀번호 필요.</a:t>
            </a:r>
            <a:endParaRPr/>
          </a:p>
        </p:txBody>
      </p:sp>
      <p:sp>
        <p:nvSpPr>
          <p:cNvPr id="891" name="Google Shape;891;p44"/>
          <p:cNvSpPr/>
          <p:nvPr/>
        </p:nvSpPr>
        <p:spPr>
          <a:xfrm>
            <a:off x="8001000" y="3703320"/>
            <a:ext cx="3429000" cy="98755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2" name="Google Shape;892;p44"/>
          <p:cNvSpPr/>
          <p:nvPr/>
        </p:nvSpPr>
        <p:spPr>
          <a:xfrm>
            <a:off x="8129016" y="3813048"/>
            <a:ext cx="1178810" cy="211137"/>
          </a:xfrm>
          <a:prstGeom prst="roundRect">
            <a:avLst>
              <a:gd fmla="val 50000" name="adj"/>
            </a:avLst>
          </a:prstGeom>
          <a:solidFill>
            <a:srgbClr val="FDECEA"/>
          </a:solidFill>
          <a:ln cap="flat" cmpd="sng" w="9525">
            <a:solidFill>
              <a:srgbClr val="E9A39D"/>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B3261E"/>
                </a:solidFill>
                <a:latin typeface="Montserrat"/>
                <a:ea typeface="Montserrat"/>
                <a:cs typeface="Montserrat"/>
                <a:sym typeface="Montserrat"/>
              </a:rPr>
              <a:t>경고 / 오류</a:t>
            </a:r>
            <a:endParaRPr/>
          </a:p>
        </p:txBody>
      </p:sp>
      <p:sp>
        <p:nvSpPr>
          <p:cNvPr id="893" name="Google Shape;893;p44"/>
          <p:cNvSpPr txBox="1"/>
          <p:nvPr/>
        </p:nvSpPr>
        <p:spPr>
          <a:xfrm>
            <a:off x="8129016" y="4069080"/>
            <a:ext cx="31729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5F6B7A"/>
                </a:solidFill>
                <a:latin typeface="Barlow"/>
                <a:ea typeface="Barlow"/>
                <a:cs typeface="Barlow"/>
                <a:sym typeface="Barlow"/>
              </a:rPr>
              <a:t>현장 문제 해결 대상</a:t>
            </a:r>
            <a:endParaRPr/>
          </a:p>
        </p:txBody>
      </p:sp>
      <p:sp>
        <p:nvSpPr>
          <p:cNvPr id="894" name="Google Shape;894;p44"/>
          <p:cNvSpPr txBox="1"/>
          <p:nvPr/>
        </p:nvSpPr>
        <p:spPr>
          <a:xfrm>
            <a:off x="8129016" y="4251959"/>
            <a:ext cx="317296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1F2A37"/>
                </a:solidFill>
                <a:latin typeface="Barlow"/>
                <a:ea typeface="Barlow"/>
                <a:cs typeface="Barlow"/>
                <a:sym typeface="Barlow"/>
              </a:rPr>
              <a:t>진단 데이터 우선. 변경은 운영 정책을 따름.</a:t>
            </a:r>
            <a:endParaRPr/>
          </a:p>
        </p:txBody>
      </p:sp>
      <p:sp>
        <p:nvSpPr>
          <p:cNvPr id="895" name="Google Shape;895;p44"/>
          <p:cNvSpPr/>
          <p:nvPr/>
        </p:nvSpPr>
        <p:spPr>
          <a:xfrm>
            <a:off x="8001000" y="4800600"/>
            <a:ext cx="3429000" cy="98755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96" name="Google Shape;896;p44"/>
          <p:cNvSpPr/>
          <p:nvPr/>
        </p:nvSpPr>
        <p:spPr>
          <a:xfrm>
            <a:off x="8129016" y="4910328"/>
            <a:ext cx="1125224" cy="211137"/>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Montserrat"/>
                <a:ea typeface="Montserrat"/>
                <a:cs typeface="Montserrat"/>
                <a:sym typeface="Montserrat"/>
              </a:rPr>
              <a:t>Wifi / non-Wifi</a:t>
            </a:r>
            <a:endParaRPr/>
          </a:p>
        </p:txBody>
      </p:sp>
      <p:sp>
        <p:nvSpPr>
          <p:cNvPr id="897" name="Google Shape;897;p44"/>
          <p:cNvSpPr txBox="1"/>
          <p:nvPr/>
        </p:nvSpPr>
        <p:spPr>
          <a:xfrm>
            <a:off x="8129016" y="5166360"/>
            <a:ext cx="3172968"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5F6B7A"/>
                </a:solidFill>
                <a:latin typeface="Barlow"/>
                <a:ea typeface="Barlow"/>
                <a:cs typeface="Barlow"/>
                <a:sym typeface="Barlow"/>
              </a:rPr>
              <a:t>클라우드 원격 모니터링 가능 여부</a:t>
            </a:r>
            <a:endParaRPr/>
          </a:p>
        </p:txBody>
      </p:sp>
      <p:sp>
        <p:nvSpPr>
          <p:cNvPr id="898" name="Google Shape;898;p44"/>
          <p:cNvSpPr txBox="1"/>
          <p:nvPr/>
        </p:nvSpPr>
        <p:spPr>
          <a:xfrm>
            <a:off x="8129016" y="5349240"/>
            <a:ext cx="3172968"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1F2A37"/>
                </a:solidFill>
                <a:latin typeface="Barlow"/>
                <a:ea typeface="Barlow"/>
                <a:cs typeface="Barlow"/>
                <a:sym typeface="Barlow"/>
              </a:rPr>
              <a:t>non-Wifi는 “로컬 저장소 동기화 대기 중”으로 표시.</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3" name="Shape 903"/>
        <p:cNvGrpSpPr/>
        <p:nvPr/>
      </p:nvGrpSpPr>
      <p:grpSpPr>
        <a:xfrm>
          <a:off x="0" y="0"/>
          <a:ext cx="0" cy="0"/>
          <a:chOff x="0" y="0"/>
          <a:chExt cx="0" cy="0"/>
        </a:xfrm>
      </p:grpSpPr>
      <p:sp>
        <p:nvSpPr>
          <p:cNvPr id="904" name="Google Shape;904;p45"/>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확인된 동작 및 설계 대응</a:t>
            </a:r>
            <a:endParaRPr/>
          </a:p>
        </p:txBody>
      </p:sp>
      <p:sp>
        <p:nvSpPr>
          <p:cNvPr id="905" name="Google Shape;905;p45"/>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확인된 동작 7가지, 각각이 하나의 설계 결정을 이끕니다</a:t>
            </a:r>
            <a:endParaRPr/>
          </a:p>
        </p:txBody>
      </p:sp>
      <p:sp>
        <p:nvSpPr>
          <p:cNvPr id="906" name="Google Shape;906;p45"/>
          <p:cNvSpPr/>
          <p:nvPr/>
        </p:nvSpPr>
        <p:spPr>
          <a:xfrm>
            <a:off x="457200" y="1234440"/>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1" sz="750">
              <a:solidFill>
                <a:srgbClr val="A9C7EA"/>
              </a:solidFill>
              <a:latin typeface="Montserrat"/>
              <a:ea typeface="Montserrat"/>
              <a:cs typeface="Montserrat"/>
              <a:sym typeface="Montserrat"/>
            </a:endParaRPr>
          </a:p>
        </p:txBody>
      </p:sp>
      <p:sp>
        <p:nvSpPr>
          <p:cNvPr id="907" name="Google Shape;907;p45"/>
          <p:cNvSpPr/>
          <p:nvPr/>
        </p:nvSpPr>
        <p:spPr>
          <a:xfrm>
            <a:off x="585216" y="1344168"/>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1</a:t>
            </a:r>
            <a:endParaRPr/>
          </a:p>
        </p:txBody>
      </p:sp>
      <p:sp>
        <p:nvSpPr>
          <p:cNvPr id="908" name="Google Shape;908;p45"/>
          <p:cNvSpPr txBox="1"/>
          <p:nvPr/>
        </p:nvSpPr>
        <p:spPr>
          <a:xfrm>
            <a:off x="987552" y="1325880"/>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대시보드 목록</a:t>
            </a:r>
            <a:endParaRPr/>
          </a:p>
        </p:txBody>
      </p:sp>
      <p:pic>
        <p:nvPicPr>
          <p:cNvPr id="909" name="Google Shape;909;p45"/>
          <p:cNvPicPr preferRelativeResize="0"/>
          <p:nvPr/>
        </p:nvPicPr>
        <p:blipFill rotWithShape="1">
          <a:blip r:embed="rId3">
            <a:alphaModFix/>
          </a:blip>
          <a:srcRect b="0" l="0" r="0" t="0"/>
          <a:stretch/>
        </p:blipFill>
        <p:spPr>
          <a:xfrm>
            <a:off x="2679192" y="1380744"/>
            <a:ext cx="237744" cy="237744"/>
          </a:xfrm>
          <a:prstGeom prst="rect">
            <a:avLst/>
          </a:prstGeom>
          <a:noFill/>
          <a:ln>
            <a:noFill/>
          </a:ln>
        </p:spPr>
      </p:pic>
      <p:sp>
        <p:nvSpPr>
          <p:cNvPr id="910" name="Google Shape;910;p45"/>
          <p:cNvSpPr/>
          <p:nvPr/>
        </p:nvSpPr>
        <p:spPr>
          <a:xfrm>
            <a:off x="566928" y="1764792"/>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확인된 동작</a:t>
            </a:r>
            <a:endParaRPr b="1" sz="750">
              <a:solidFill>
                <a:srgbClr val="1867DC"/>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설치 기사 ID로 동기화된 작업 대상 목록, 실시간 BLE 스캔 결과가 아님.</a:t>
            </a:r>
            <a:endParaRPr sz="975">
              <a:solidFill>
                <a:srgbClr val="1F2A37"/>
              </a:solidFill>
              <a:latin typeface="Barlow"/>
              <a:ea typeface="Barlow"/>
              <a:cs typeface="Barlow"/>
              <a:sym typeface="Barlow"/>
            </a:endParaRPr>
          </a:p>
        </p:txBody>
      </p:sp>
      <p:cxnSp>
        <p:nvCxnSpPr>
          <p:cNvPr id="911" name="Google Shape;911;p45"/>
          <p:cNvCxnSpPr/>
          <p:nvPr/>
        </p:nvCxnSpPr>
        <p:spPr>
          <a:xfrm>
            <a:off x="1760220" y="2551176"/>
            <a:ext cx="0" cy="128016"/>
          </a:xfrm>
          <a:prstGeom prst="straightConnector1">
            <a:avLst/>
          </a:prstGeom>
          <a:noFill/>
          <a:ln cap="flat" cmpd="sng" w="15875">
            <a:solidFill>
              <a:srgbClr val="0B2F5B"/>
            </a:solidFill>
            <a:prstDash val="solid"/>
            <a:round/>
            <a:headEnd len="sm" w="sm" type="none"/>
            <a:tailEnd len="med" w="med" type="triangle"/>
          </a:ln>
        </p:spPr>
      </p:cxnSp>
      <p:sp>
        <p:nvSpPr>
          <p:cNvPr id="912" name="Google Shape;912;p45"/>
          <p:cNvSpPr/>
          <p:nvPr/>
        </p:nvSpPr>
        <p:spPr>
          <a:xfrm>
            <a:off x="566928" y="2679192"/>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설계 결정</a:t>
            </a:r>
            <a:endParaRPr b="1" sz="750">
              <a:solidFill>
                <a:srgbClr val="A9C7EA"/>
              </a:solidFill>
              <a:latin typeface="Montserrat"/>
              <a:ea typeface="Montserrat"/>
              <a:cs typeface="Montserrat"/>
              <a:sym typeface="Montserrat"/>
            </a:endParaRPr>
          </a:p>
          <a:p>
            <a:pPr indent="0" lvl="0" marL="0" marR="0" rtl="0" algn="l">
              <a:lnSpc>
                <a:spcPct val="100000"/>
              </a:lnSpc>
              <a:spcBef>
                <a:spcPts val="0"/>
              </a:spcBef>
              <a:spcAft>
                <a:spcPts val="0"/>
              </a:spcAft>
              <a:buNone/>
            </a:pPr>
            <a:r>
              <a:rPr lang="en-US" sz="975">
                <a:solidFill>
                  <a:srgbClr val="FFFFFF"/>
                </a:solidFill>
                <a:latin typeface="Barlow"/>
                <a:ea typeface="Barlow"/>
                <a:cs typeface="Barlow"/>
                <a:sym typeface="Barlow"/>
              </a:rPr>
              <a:t>대시보드는 BLE 상태와 분리되어 로컬 저장소 기반, 오프라인에서 동작 가능.</a:t>
            </a:r>
            <a:endParaRPr b="1" sz="750">
              <a:solidFill>
                <a:srgbClr val="A9C7EA"/>
              </a:solidFill>
              <a:latin typeface="Montserrat"/>
              <a:ea typeface="Montserrat"/>
              <a:cs typeface="Montserrat"/>
              <a:sym typeface="Montserrat"/>
            </a:endParaRPr>
          </a:p>
        </p:txBody>
      </p:sp>
      <p:sp>
        <p:nvSpPr>
          <p:cNvPr id="913" name="Google Shape;913;p45"/>
          <p:cNvSpPr/>
          <p:nvPr/>
        </p:nvSpPr>
        <p:spPr>
          <a:xfrm>
            <a:off x="3246120" y="1234440"/>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1" sz="750">
              <a:solidFill>
                <a:srgbClr val="1867DC"/>
              </a:solidFill>
              <a:latin typeface="Montserrat"/>
              <a:ea typeface="Montserrat"/>
              <a:cs typeface="Montserrat"/>
              <a:sym typeface="Montserrat"/>
            </a:endParaRPr>
          </a:p>
        </p:txBody>
      </p:sp>
      <p:sp>
        <p:nvSpPr>
          <p:cNvPr id="914" name="Google Shape;914;p45"/>
          <p:cNvSpPr/>
          <p:nvPr/>
        </p:nvSpPr>
        <p:spPr>
          <a:xfrm>
            <a:off x="3374136" y="1344168"/>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2</a:t>
            </a:r>
            <a:endParaRPr/>
          </a:p>
        </p:txBody>
      </p:sp>
      <p:sp>
        <p:nvSpPr>
          <p:cNvPr id="915" name="Google Shape;915;p45"/>
          <p:cNvSpPr txBox="1"/>
          <p:nvPr/>
        </p:nvSpPr>
        <p:spPr>
          <a:xfrm>
            <a:off x="3776472" y="1325880"/>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설치 마법사 (+)</a:t>
            </a:r>
            <a:endParaRPr/>
          </a:p>
        </p:txBody>
      </p:sp>
      <p:pic>
        <p:nvPicPr>
          <p:cNvPr id="916" name="Google Shape;916;p45"/>
          <p:cNvPicPr preferRelativeResize="0"/>
          <p:nvPr/>
        </p:nvPicPr>
        <p:blipFill rotWithShape="1">
          <a:blip r:embed="rId4">
            <a:alphaModFix/>
          </a:blip>
          <a:srcRect b="0" l="0" r="0" t="0"/>
          <a:stretch/>
        </p:blipFill>
        <p:spPr>
          <a:xfrm>
            <a:off x="5468112" y="1380744"/>
            <a:ext cx="237744" cy="237744"/>
          </a:xfrm>
          <a:prstGeom prst="rect">
            <a:avLst/>
          </a:prstGeom>
          <a:noFill/>
          <a:ln>
            <a:noFill/>
          </a:ln>
        </p:spPr>
      </p:pic>
      <p:cxnSp>
        <p:nvCxnSpPr>
          <p:cNvPr id="917" name="Google Shape;917;p45"/>
          <p:cNvCxnSpPr/>
          <p:nvPr/>
        </p:nvCxnSpPr>
        <p:spPr>
          <a:xfrm>
            <a:off x="4549140" y="2551176"/>
            <a:ext cx="0" cy="128016"/>
          </a:xfrm>
          <a:prstGeom prst="straightConnector1">
            <a:avLst/>
          </a:prstGeom>
          <a:noFill/>
          <a:ln cap="flat" cmpd="sng" w="15875">
            <a:solidFill>
              <a:srgbClr val="0B2F5B"/>
            </a:solidFill>
            <a:prstDash val="solid"/>
            <a:round/>
            <a:headEnd len="sm" w="sm" type="none"/>
            <a:tailEnd len="med" w="med" type="triangle"/>
          </a:ln>
        </p:spPr>
      </p:cxnSp>
      <p:sp>
        <p:nvSpPr>
          <p:cNvPr id="918" name="Google Shape;918;p45"/>
          <p:cNvSpPr/>
          <p:nvPr/>
        </p:nvSpPr>
        <p:spPr>
          <a:xfrm>
            <a:off x="3355848" y="2679192"/>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설계 결정</a:t>
            </a:r>
            <a:endParaRPr/>
          </a:p>
          <a:p>
            <a:pPr indent="0" lvl="0" marL="0" marR="0" rtl="0" algn="l">
              <a:lnSpc>
                <a:spcPct val="100000"/>
              </a:lnSpc>
              <a:spcBef>
                <a:spcPts val="200"/>
              </a:spcBef>
              <a:spcAft>
                <a:spcPts val="0"/>
              </a:spcAft>
              <a:buNone/>
            </a:pPr>
            <a:r>
              <a:rPr lang="en-US" sz="975">
                <a:solidFill>
                  <a:srgbClr val="FFFFFF"/>
                </a:solidFill>
                <a:latin typeface="Barlow"/>
                <a:ea typeface="Barlow"/>
                <a:cs typeface="Barlow"/>
                <a:sym typeface="Barlow"/>
              </a:rPr>
              <a:t>Serial No는 BLE Local Name 매칭 키이며, 모든 입력은 서버에 기록됩니다.</a:t>
            </a:r>
            <a:endParaRPr/>
          </a:p>
        </p:txBody>
      </p:sp>
      <p:sp>
        <p:nvSpPr>
          <p:cNvPr id="919" name="Google Shape;919;p45"/>
          <p:cNvSpPr/>
          <p:nvPr/>
        </p:nvSpPr>
        <p:spPr>
          <a:xfrm>
            <a:off x="6035040" y="1234440"/>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0" name="Google Shape;920;p45"/>
          <p:cNvSpPr/>
          <p:nvPr/>
        </p:nvSpPr>
        <p:spPr>
          <a:xfrm>
            <a:off x="6163056" y="1344168"/>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3</a:t>
            </a:r>
            <a:endParaRPr/>
          </a:p>
        </p:txBody>
      </p:sp>
      <p:sp>
        <p:nvSpPr>
          <p:cNvPr id="921" name="Google Shape;921;p45"/>
          <p:cNvSpPr txBox="1"/>
          <p:nvPr/>
        </p:nvSpPr>
        <p:spPr>
          <a:xfrm>
            <a:off x="6565392" y="1325880"/>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진입·새로고침 시 UI 잠금</a:t>
            </a:r>
            <a:endParaRPr/>
          </a:p>
        </p:txBody>
      </p:sp>
      <p:pic>
        <p:nvPicPr>
          <p:cNvPr id="922" name="Google Shape;922;p45"/>
          <p:cNvPicPr preferRelativeResize="0"/>
          <p:nvPr/>
        </p:nvPicPr>
        <p:blipFill rotWithShape="1">
          <a:blip r:embed="rId5">
            <a:alphaModFix/>
          </a:blip>
          <a:srcRect b="0" l="0" r="0" t="0"/>
          <a:stretch/>
        </p:blipFill>
        <p:spPr>
          <a:xfrm>
            <a:off x="8257032" y="1380744"/>
            <a:ext cx="237744" cy="237744"/>
          </a:xfrm>
          <a:prstGeom prst="rect">
            <a:avLst/>
          </a:prstGeom>
          <a:noFill/>
          <a:ln>
            <a:noFill/>
          </a:ln>
        </p:spPr>
      </p:pic>
      <p:sp>
        <p:nvSpPr>
          <p:cNvPr id="923" name="Google Shape;923;p45"/>
          <p:cNvSpPr/>
          <p:nvPr/>
        </p:nvSpPr>
        <p:spPr>
          <a:xfrm>
            <a:off x="6144768" y="1764792"/>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확인된 동작</a:t>
            </a:r>
            <a:endParaRPr/>
          </a:p>
          <a:p>
            <a:pPr indent="0" lvl="0" marL="0" marR="0" rtl="0" algn="l">
              <a:lnSpc>
                <a:spcPct val="100000"/>
              </a:lnSpc>
              <a:spcBef>
                <a:spcPts val="200"/>
              </a:spcBef>
              <a:spcAft>
                <a:spcPts val="0"/>
              </a:spcAft>
              <a:buNone/>
            </a:pPr>
            <a:r>
              <a:rPr lang="en-US" sz="975">
                <a:solidFill>
                  <a:srgbClr val="1F2A37"/>
                </a:solidFill>
                <a:latin typeface="Barlow"/>
                <a:ea typeface="Barlow"/>
                <a:cs typeface="Barlow"/>
                <a:sym typeface="Barlow"/>
              </a:rPr>
              <a:t>행을 탭하면 BLE 1:1 연결과 일괄 읽기가 시작됩니다. 새로고침 중에는 모달이 모든 입력을 차단합니다.</a:t>
            </a:r>
            <a:endParaRPr/>
          </a:p>
        </p:txBody>
      </p:sp>
      <p:cxnSp>
        <p:nvCxnSpPr>
          <p:cNvPr id="924" name="Google Shape;924;p45"/>
          <p:cNvCxnSpPr/>
          <p:nvPr/>
        </p:nvCxnSpPr>
        <p:spPr>
          <a:xfrm>
            <a:off x="7338060" y="2551176"/>
            <a:ext cx="0" cy="128016"/>
          </a:xfrm>
          <a:prstGeom prst="straightConnector1">
            <a:avLst/>
          </a:prstGeom>
          <a:noFill/>
          <a:ln cap="flat" cmpd="sng" w="15875">
            <a:solidFill>
              <a:srgbClr val="0B2F5B"/>
            </a:solidFill>
            <a:prstDash val="solid"/>
            <a:round/>
            <a:headEnd len="sm" w="sm" type="none"/>
            <a:tailEnd len="med" w="med" type="triangle"/>
          </a:ln>
        </p:spPr>
      </p:cxnSp>
      <p:sp>
        <p:nvSpPr>
          <p:cNvPr id="925" name="Google Shape;925;p45"/>
          <p:cNvSpPr/>
          <p:nvPr/>
        </p:nvSpPr>
        <p:spPr>
          <a:xfrm>
            <a:off x="6144768" y="2679192"/>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설계 결정</a:t>
            </a:r>
            <a:endParaRPr/>
          </a:p>
          <a:p>
            <a:pPr indent="0" lvl="0" marL="0" marR="0" rtl="0" algn="l">
              <a:lnSpc>
                <a:spcPct val="100000"/>
              </a:lnSpc>
              <a:spcBef>
                <a:spcPts val="200"/>
              </a:spcBef>
              <a:spcAft>
                <a:spcPts val="0"/>
              </a:spcAft>
              <a:buNone/>
            </a:pPr>
            <a:r>
              <a:rPr lang="en-US" sz="975">
                <a:solidFill>
                  <a:srgbClr val="FFFFFF"/>
                </a:solidFill>
                <a:latin typeface="Barlow"/>
                <a:ea typeface="Barlow"/>
                <a:cs typeface="Barlow"/>
                <a:sym typeface="Barlow"/>
              </a:rPr>
              <a:t>세션당 명령 큐 1개와 모달 잠금 가드를 사용합니다.</a:t>
            </a:r>
            <a:endParaRPr/>
          </a:p>
        </p:txBody>
      </p:sp>
      <p:sp>
        <p:nvSpPr>
          <p:cNvPr id="926" name="Google Shape;926;p45"/>
          <p:cNvSpPr/>
          <p:nvPr/>
        </p:nvSpPr>
        <p:spPr>
          <a:xfrm>
            <a:off x="8823960" y="1234440"/>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27" name="Google Shape;927;p45"/>
          <p:cNvSpPr/>
          <p:nvPr/>
        </p:nvSpPr>
        <p:spPr>
          <a:xfrm>
            <a:off x="8951976" y="1344168"/>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4</a:t>
            </a:r>
            <a:endParaRPr/>
          </a:p>
        </p:txBody>
      </p:sp>
      <p:sp>
        <p:nvSpPr>
          <p:cNvPr id="928" name="Google Shape;928;p45"/>
          <p:cNvSpPr txBox="1"/>
          <p:nvPr/>
        </p:nvSpPr>
        <p:spPr>
          <a:xfrm>
            <a:off x="9354312" y="1325880"/>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미완료 상태</a:t>
            </a:r>
            <a:endParaRPr/>
          </a:p>
        </p:txBody>
      </p:sp>
      <p:pic>
        <p:nvPicPr>
          <p:cNvPr id="929" name="Google Shape;929;p45"/>
          <p:cNvPicPr preferRelativeResize="0"/>
          <p:nvPr/>
        </p:nvPicPr>
        <p:blipFill rotWithShape="1">
          <a:blip r:embed="rId6">
            <a:alphaModFix/>
          </a:blip>
          <a:srcRect b="0" l="0" r="0" t="0"/>
          <a:stretch/>
        </p:blipFill>
        <p:spPr>
          <a:xfrm>
            <a:off x="11045952" y="1380744"/>
            <a:ext cx="237744" cy="237744"/>
          </a:xfrm>
          <a:prstGeom prst="rect">
            <a:avLst/>
          </a:prstGeom>
          <a:noFill/>
          <a:ln>
            <a:noFill/>
          </a:ln>
        </p:spPr>
      </p:pic>
      <p:sp>
        <p:nvSpPr>
          <p:cNvPr id="930" name="Google Shape;930;p45"/>
          <p:cNvSpPr/>
          <p:nvPr/>
        </p:nvSpPr>
        <p:spPr>
          <a:xfrm>
            <a:off x="8933688" y="1764792"/>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확인된 동작</a:t>
            </a:r>
            <a:endParaRPr/>
          </a:p>
          <a:p>
            <a:pPr indent="0" lvl="0" marL="0" marR="0" rtl="0" algn="l">
              <a:lnSpc>
                <a:spcPct val="100000"/>
              </a:lnSpc>
              <a:spcBef>
                <a:spcPts val="200"/>
              </a:spcBef>
              <a:spcAft>
                <a:spcPts val="0"/>
              </a:spcAft>
              <a:buNone/>
            </a:pPr>
            <a:r>
              <a:rPr lang="en-US" sz="975">
                <a:solidFill>
                  <a:srgbClr val="1F2A37"/>
                </a:solidFill>
                <a:latin typeface="Barlow"/>
                <a:ea typeface="Barlow"/>
                <a:cs typeface="Barlow"/>
                <a:sym typeface="Barlow"/>
              </a:rPr>
              <a:t>비밀번호 단계 없음. Off-Grid 먼저, NMI No 마지막, 이후 적용: 운행 전환 + 보안 잠금.</a:t>
            </a:r>
            <a:endParaRPr/>
          </a:p>
        </p:txBody>
      </p:sp>
      <p:cxnSp>
        <p:nvCxnSpPr>
          <p:cNvPr id="931" name="Google Shape;931;p45"/>
          <p:cNvCxnSpPr/>
          <p:nvPr/>
        </p:nvCxnSpPr>
        <p:spPr>
          <a:xfrm>
            <a:off x="10126980" y="2551176"/>
            <a:ext cx="0" cy="128016"/>
          </a:xfrm>
          <a:prstGeom prst="straightConnector1">
            <a:avLst/>
          </a:prstGeom>
          <a:noFill/>
          <a:ln cap="flat" cmpd="sng" w="15875">
            <a:solidFill>
              <a:srgbClr val="0B2F5B"/>
            </a:solidFill>
            <a:prstDash val="solid"/>
            <a:round/>
            <a:headEnd len="sm" w="sm" type="none"/>
            <a:tailEnd len="med" w="med" type="triangle"/>
          </a:ln>
        </p:spPr>
      </p:cxnSp>
      <p:sp>
        <p:nvSpPr>
          <p:cNvPr id="932" name="Google Shape;932;p45"/>
          <p:cNvSpPr/>
          <p:nvPr/>
        </p:nvSpPr>
        <p:spPr>
          <a:xfrm>
            <a:off x="8933688" y="2679192"/>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설계 결정</a:t>
            </a:r>
            <a:endParaRPr/>
          </a:p>
          <a:p>
            <a:pPr indent="0" lvl="0" marL="0" marR="0" rtl="0" algn="l">
              <a:lnSpc>
                <a:spcPct val="100000"/>
              </a:lnSpc>
              <a:spcBef>
                <a:spcPts val="200"/>
              </a:spcBef>
              <a:spcAft>
                <a:spcPts val="0"/>
              </a:spcAft>
              <a:buNone/>
            </a:pPr>
            <a:r>
              <a:rPr lang="en-US" sz="975">
                <a:solidFill>
                  <a:srgbClr val="FFFFFF"/>
                </a:solidFill>
                <a:latin typeface="Barlow"/>
                <a:ea typeface="Barlow"/>
                <a:cs typeface="Barlow"/>
                <a:sym typeface="Barlow"/>
              </a:rPr>
              <a:t>적용은 되돌릴 수 없으므로 확인 대화상자와 설정 요약을 먼저 표시합니다.</a:t>
            </a:r>
            <a:endParaRPr/>
          </a:p>
        </p:txBody>
      </p:sp>
      <p:sp>
        <p:nvSpPr>
          <p:cNvPr id="933" name="Google Shape;933;p45"/>
          <p:cNvSpPr/>
          <p:nvPr/>
        </p:nvSpPr>
        <p:spPr>
          <a:xfrm>
            <a:off x="457200" y="3758184"/>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34" name="Google Shape;934;p45"/>
          <p:cNvSpPr/>
          <p:nvPr/>
        </p:nvSpPr>
        <p:spPr>
          <a:xfrm>
            <a:off x="585216" y="3867912"/>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5</a:t>
            </a:r>
            <a:endParaRPr/>
          </a:p>
        </p:txBody>
      </p:sp>
      <p:sp>
        <p:nvSpPr>
          <p:cNvPr id="935" name="Google Shape;935;p45"/>
          <p:cNvSpPr txBox="1"/>
          <p:nvPr/>
        </p:nvSpPr>
        <p:spPr>
          <a:xfrm>
            <a:off x="987552" y="3849624"/>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NMI No</a:t>
            </a:r>
            <a:endParaRPr/>
          </a:p>
        </p:txBody>
      </p:sp>
      <p:pic>
        <p:nvPicPr>
          <p:cNvPr id="936" name="Google Shape;936;p45"/>
          <p:cNvPicPr preferRelativeResize="0"/>
          <p:nvPr/>
        </p:nvPicPr>
        <p:blipFill rotWithShape="1">
          <a:blip r:embed="rId7">
            <a:alphaModFix/>
          </a:blip>
          <a:srcRect b="0" l="0" r="0" t="0"/>
          <a:stretch/>
        </p:blipFill>
        <p:spPr>
          <a:xfrm>
            <a:off x="2679192" y="3904488"/>
            <a:ext cx="237744" cy="237744"/>
          </a:xfrm>
          <a:prstGeom prst="rect">
            <a:avLst/>
          </a:prstGeom>
          <a:noFill/>
          <a:ln>
            <a:noFill/>
          </a:ln>
        </p:spPr>
      </p:pic>
      <p:sp>
        <p:nvSpPr>
          <p:cNvPr id="937" name="Google Shape;937;p45"/>
          <p:cNvSpPr/>
          <p:nvPr/>
        </p:nvSpPr>
        <p:spPr>
          <a:xfrm>
            <a:off x="566928" y="4288536"/>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확인된 동작</a:t>
            </a:r>
            <a:endParaRPr/>
          </a:p>
          <a:p>
            <a:pPr indent="0" lvl="0" marL="0" marR="0" rtl="0" algn="l">
              <a:lnSpc>
                <a:spcPct val="100000"/>
              </a:lnSpc>
              <a:spcBef>
                <a:spcPts val="200"/>
              </a:spcBef>
              <a:spcAft>
                <a:spcPts val="0"/>
              </a:spcAft>
              <a:buNone/>
            </a:pPr>
            <a:r>
              <a:rPr lang="en-US" sz="975">
                <a:solidFill>
                  <a:srgbClr val="1F2A37"/>
                </a:solidFill>
                <a:latin typeface="Barlow"/>
                <a:ea typeface="Barlow"/>
                <a:cs typeface="Barlow"/>
                <a:sym typeface="Barlow"/>
              </a:rPr>
              <a:t>미설치 기기의 편집 화면에서 NMI No를 삭제하면 수동 재입력이 막히는 문제가 있습니다.</a:t>
            </a:r>
            <a:endParaRPr/>
          </a:p>
        </p:txBody>
      </p:sp>
      <p:cxnSp>
        <p:nvCxnSpPr>
          <p:cNvPr id="938" name="Google Shape;938;p45"/>
          <p:cNvCxnSpPr/>
          <p:nvPr/>
        </p:nvCxnSpPr>
        <p:spPr>
          <a:xfrm>
            <a:off x="1760220" y="5074920"/>
            <a:ext cx="0" cy="128016"/>
          </a:xfrm>
          <a:prstGeom prst="straightConnector1">
            <a:avLst/>
          </a:prstGeom>
          <a:noFill/>
          <a:ln cap="flat" cmpd="sng" w="15875">
            <a:solidFill>
              <a:srgbClr val="0B2F5B"/>
            </a:solidFill>
            <a:prstDash val="solid"/>
            <a:round/>
            <a:headEnd len="sm" w="sm" type="none"/>
            <a:tailEnd len="med" w="med" type="triangle"/>
          </a:ln>
        </p:spPr>
      </p:cxnSp>
      <p:sp>
        <p:nvSpPr>
          <p:cNvPr id="939" name="Google Shape;939;p45"/>
          <p:cNvSpPr/>
          <p:nvPr/>
        </p:nvSpPr>
        <p:spPr>
          <a:xfrm>
            <a:off x="566928" y="5202936"/>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설계 결정</a:t>
            </a:r>
            <a:endParaRPr/>
          </a:p>
          <a:p>
            <a:pPr indent="0" lvl="0" marL="0" marR="0" rtl="0" algn="l">
              <a:lnSpc>
                <a:spcPct val="100000"/>
              </a:lnSpc>
              <a:spcBef>
                <a:spcPts val="200"/>
              </a:spcBef>
              <a:spcAft>
                <a:spcPts val="0"/>
              </a:spcAft>
              <a:buNone/>
            </a:pPr>
            <a:r>
              <a:rPr lang="en-US" sz="975">
                <a:solidFill>
                  <a:srgbClr val="FFFFFF"/>
                </a:solidFill>
                <a:latin typeface="Barlow"/>
                <a:ea typeface="Barlow"/>
                <a:cs typeface="Barlow"/>
                <a:sym typeface="Barlow"/>
              </a:rPr>
              <a:t>NMI No는 서버 발급 자산으로 취급: 재조회가 가능한 조회 선택기, 사전 동기화 시 미리 로드.</a:t>
            </a:r>
            <a:endParaRPr/>
          </a:p>
        </p:txBody>
      </p:sp>
      <p:sp>
        <p:nvSpPr>
          <p:cNvPr id="940" name="Google Shape;940;p45"/>
          <p:cNvSpPr/>
          <p:nvPr/>
        </p:nvSpPr>
        <p:spPr>
          <a:xfrm>
            <a:off x="3246120" y="3758184"/>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1" name="Google Shape;941;p45"/>
          <p:cNvSpPr/>
          <p:nvPr/>
        </p:nvSpPr>
        <p:spPr>
          <a:xfrm>
            <a:off x="3374136" y="3867912"/>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6</a:t>
            </a:r>
            <a:endParaRPr/>
          </a:p>
        </p:txBody>
      </p:sp>
      <p:sp>
        <p:nvSpPr>
          <p:cNvPr id="942" name="Google Shape;942;p45"/>
          <p:cNvSpPr txBox="1"/>
          <p:nvPr/>
        </p:nvSpPr>
        <p:spPr>
          <a:xfrm>
            <a:off x="3776472" y="3849624"/>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에너지 정책 및 요금</a:t>
            </a:r>
            <a:endParaRPr/>
          </a:p>
        </p:txBody>
      </p:sp>
      <p:pic>
        <p:nvPicPr>
          <p:cNvPr id="943" name="Google Shape;943;p45"/>
          <p:cNvPicPr preferRelativeResize="0"/>
          <p:nvPr/>
        </p:nvPicPr>
        <p:blipFill rotWithShape="1">
          <a:blip r:embed="rId8">
            <a:alphaModFix/>
          </a:blip>
          <a:srcRect b="0" l="0" r="0" t="0"/>
          <a:stretch/>
        </p:blipFill>
        <p:spPr>
          <a:xfrm>
            <a:off x="5468112" y="3904488"/>
            <a:ext cx="237744" cy="237744"/>
          </a:xfrm>
          <a:prstGeom prst="rect">
            <a:avLst/>
          </a:prstGeom>
          <a:noFill/>
          <a:ln>
            <a:noFill/>
          </a:ln>
        </p:spPr>
      </p:pic>
      <p:sp>
        <p:nvSpPr>
          <p:cNvPr id="944" name="Google Shape;944;p45"/>
          <p:cNvSpPr/>
          <p:nvPr/>
        </p:nvSpPr>
        <p:spPr>
          <a:xfrm>
            <a:off x="3355848" y="4288536"/>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확인된 동작</a:t>
            </a:r>
            <a:endParaRPr/>
          </a:p>
          <a:p>
            <a:pPr indent="0" lvl="0" marL="0" marR="0" rtl="0" algn="l">
              <a:lnSpc>
                <a:spcPct val="100000"/>
              </a:lnSpc>
              <a:spcBef>
                <a:spcPts val="200"/>
              </a:spcBef>
              <a:spcAft>
                <a:spcPts val="0"/>
              </a:spcAft>
              <a:buNone/>
            </a:pPr>
            <a:r>
              <a:rPr lang="en-US" sz="975">
                <a:solidFill>
                  <a:srgbClr val="1F2A37"/>
                </a:solidFill>
                <a:latin typeface="Barlow"/>
                <a:ea typeface="Barlow"/>
                <a:cs typeface="Barlow"/>
                <a:sym typeface="Barlow"/>
              </a:rPr>
              <a:t>대기(Standby)에서는 요금 설정이 차단됩니다. kWh당 요금 입력은 시간대별 모드에서만 열립니다.</a:t>
            </a:r>
            <a:endParaRPr/>
          </a:p>
        </p:txBody>
      </p:sp>
      <p:cxnSp>
        <p:nvCxnSpPr>
          <p:cNvPr id="945" name="Google Shape;945;p45"/>
          <p:cNvCxnSpPr/>
          <p:nvPr/>
        </p:nvCxnSpPr>
        <p:spPr>
          <a:xfrm>
            <a:off x="4549140" y="5074920"/>
            <a:ext cx="0" cy="128016"/>
          </a:xfrm>
          <a:prstGeom prst="straightConnector1">
            <a:avLst/>
          </a:prstGeom>
          <a:noFill/>
          <a:ln cap="flat" cmpd="sng" w="15875">
            <a:solidFill>
              <a:srgbClr val="0B2F5B"/>
            </a:solidFill>
            <a:prstDash val="solid"/>
            <a:round/>
            <a:headEnd len="sm" w="sm" type="none"/>
            <a:tailEnd len="med" w="med" type="triangle"/>
          </a:ln>
        </p:spPr>
      </p:cxnSp>
      <p:sp>
        <p:nvSpPr>
          <p:cNvPr id="946" name="Google Shape;946;p45"/>
          <p:cNvSpPr/>
          <p:nvPr/>
        </p:nvSpPr>
        <p:spPr>
          <a:xfrm>
            <a:off x="3355848" y="5202936"/>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설계 결정</a:t>
            </a:r>
            <a:endParaRPr/>
          </a:p>
          <a:p>
            <a:pPr indent="0" lvl="0" marL="0" marR="0" rtl="0" algn="l">
              <a:lnSpc>
                <a:spcPct val="100000"/>
              </a:lnSpc>
              <a:spcBef>
                <a:spcPts val="200"/>
              </a:spcBef>
              <a:spcAft>
                <a:spcPts val="0"/>
              </a:spcAft>
              <a:buNone/>
            </a:pPr>
            <a:r>
              <a:rPr lang="en-US" sz="975">
                <a:solidFill>
                  <a:srgbClr val="FFFFFF"/>
                </a:solidFill>
                <a:latin typeface="Barlow"/>
                <a:ea typeface="Barlow"/>
                <a:cs typeface="Barlow"/>
                <a:sym typeface="Barlow"/>
              </a:rPr>
              <a:t>요금 설정 가능 여부는 로컬 UI 상태가 아닌 기기 데이터에서 읽습니다.</a:t>
            </a:r>
            <a:endParaRPr/>
          </a:p>
        </p:txBody>
      </p:sp>
      <p:sp>
        <p:nvSpPr>
          <p:cNvPr id="947" name="Google Shape;947;p45"/>
          <p:cNvSpPr/>
          <p:nvPr/>
        </p:nvSpPr>
        <p:spPr>
          <a:xfrm>
            <a:off x="6035040" y="3758184"/>
            <a:ext cx="2606040" cy="2340864"/>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48" name="Google Shape;948;p45"/>
          <p:cNvSpPr/>
          <p:nvPr/>
        </p:nvSpPr>
        <p:spPr>
          <a:xfrm>
            <a:off x="6163056" y="3867912"/>
            <a:ext cx="310896" cy="31089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7</a:t>
            </a:r>
            <a:endParaRPr/>
          </a:p>
        </p:txBody>
      </p:sp>
      <p:sp>
        <p:nvSpPr>
          <p:cNvPr id="949" name="Google Shape;949;p45"/>
          <p:cNvSpPr txBox="1"/>
          <p:nvPr/>
        </p:nvSpPr>
        <p:spPr>
          <a:xfrm>
            <a:off x="6565392" y="3849624"/>
            <a:ext cx="1600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마스터 스위치</a:t>
            </a:r>
            <a:endParaRPr/>
          </a:p>
        </p:txBody>
      </p:sp>
      <p:pic>
        <p:nvPicPr>
          <p:cNvPr id="950" name="Google Shape;950;p45"/>
          <p:cNvPicPr preferRelativeResize="0"/>
          <p:nvPr/>
        </p:nvPicPr>
        <p:blipFill rotWithShape="1">
          <a:blip r:embed="rId9">
            <a:alphaModFix/>
          </a:blip>
          <a:srcRect b="0" l="0" r="0" t="0"/>
          <a:stretch/>
        </p:blipFill>
        <p:spPr>
          <a:xfrm>
            <a:off x="8257032" y="3904488"/>
            <a:ext cx="237744" cy="237744"/>
          </a:xfrm>
          <a:prstGeom prst="rect">
            <a:avLst/>
          </a:prstGeom>
          <a:noFill/>
          <a:ln>
            <a:noFill/>
          </a:ln>
        </p:spPr>
      </p:pic>
      <p:sp>
        <p:nvSpPr>
          <p:cNvPr id="951" name="Google Shape;951;p45"/>
          <p:cNvSpPr/>
          <p:nvPr/>
        </p:nvSpPr>
        <p:spPr>
          <a:xfrm>
            <a:off x="6144768" y="4288536"/>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확인된 동작</a:t>
            </a:r>
            <a:endParaRPr/>
          </a:p>
          <a:p>
            <a:pPr indent="0" lvl="0" marL="0" marR="0" rtl="0" algn="l">
              <a:lnSpc>
                <a:spcPct val="100000"/>
              </a:lnSpc>
              <a:spcBef>
                <a:spcPts val="200"/>
              </a:spcBef>
              <a:spcAft>
                <a:spcPts val="0"/>
              </a:spcAft>
              <a:buNone/>
            </a:pPr>
            <a:r>
              <a:rPr lang="en-US" sz="975">
                <a:solidFill>
                  <a:srgbClr val="1F2A37"/>
                </a:solidFill>
                <a:latin typeface="Barlow"/>
                <a:ea typeface="Barlow"/>
                <a:cs typeface="Barlow"/>
                <a:sym typeface="Barlow"/>
              </a:rPr>
              <a:t>Off-Grid: 계통 정전 시 태양광과 배터리로 독립 운전. Test Site: 상용화 전 테스트 기기.</a:t>
            </a:r>
            <a:endParaRPr/>
          </a:p>
        </p:txBody>
      </p:sp>
      <p:cxnSp>
        <p:nvCxnSpPr>
          <p:cNvPr id="952" name="Google Shape;952;p45"/>
          <p:cNvCxnSpPr/>
          <p:nvPr/>
        </p:nvCxnSpPr>
        <p:spPr>
          <a:xfrm>
            <a:off x="7338060" y="5074920"/>
            <a:ext cx="0" cy="128016"/>
          </a:xfrm>
          <a:prstGeom prst="straightConnector1">
            <a:avLst/>
          </a:prstGeom>
          <a:noFill/>
          <a:ln cap="flat" cmpd="sng" w="15875">
            <a:solidFill>
              <a:srgbClr val="0B2F5B"/>
            </a:solidFill>
            <a:prstDash val="solid"/>
            <a:round/>
            <a:headEnd len="sm" w="sm" type="none"/>
            <a:tailEnd len="med" w="med" type="triangle"/>
          </a:ln>
        </p:spPr>
      </p:cxnSp>
      <p:sp>
        <p:nvSpPr>
          <p:cNvPr id="953" name="Google Shape;953;p45"/>
          <p:cNvSpPr/>
          <p:nvPr/>
        </p:nvSpPr>
        <p:spPr>
          <a:xfrm>
            <a:off x="6144768" y="5202936"/>
            <a:ext cx="2386584" cy="786384"/>
          </a:xfrm>
          <a:prstGeom prst="rect">
            <a:avLst/>
          </a:prstGeom>
          <a:solidFill>
            <a:srgbClr val="0B2F5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A9C7EA"/>
                </a:solidFill>
                <a:latin typeface="Montserrat"/>
                <a:ea typeface="Montserrat"/>
                <a:cs typeface="Montserrat"/>
                <a:sym typeface="Montserrat"/>
              </a:rPr>
              <a:t>설계 결정</a:t>
            </a:r>
            <a:endParaRPr/>
          </a:p>
          <a:p>
            <a:pPr indent="0" lvl="0" marL="0" marR="0" rtl="0" algn="l">
              <a:lnSpc>
                <a:spcPct val="100000"/>
              </a:lnSpc>
              <a:spcBef>
                <a:spcPts val="200"/>
              </a:spcBef>
              <a:spcAft>
                <a:spcPts val="0"/>
              </a:spcAft>
              <a:buNone/>
            </a:pPr>
            <a:r>
              <a:rPr lang="en-US" sz="975">
                <a:solidFill>
                  <a:srgbClr val="FFFFFF"/>
                </a:solidFill>
                <a:latin typeface="Barlow"/>
                <a:ea typeface="Barlow"/>
                <a:cs typeface="Barlow"/>
                <a:sym typeface="Barlow"/>
              </a:rPr>
              <a:t>Off-Grid는 2단계 확인, Test Site는 운행 전 경고 배너를 표시합니다.</a:t>
            </a:r>
            <a:endParaRPr/>
          </a:p>
        </p:txBody>
      </p:sp>
      <p:sp>
        <p:nvSpPr>
          <p:cNvPr id="954" name="Google Shape;954;p45"/>
          <p:cNvSpPr/>
          <p:nvPr/>
        </p:nvSpPr>
        <p:spPr>
          <a:xfrm>
            <a:off x="8823960" y="3758184"/>
            <a:ext cx="2606040" cy="234086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5" name="Google Shape;955;p45"/>
          <p:cNvSpPr txBox="1"/>
          <p:nvPr/>
        </p:nvSpPr>
        <p:spPr>
          <a:xfrm>
            <a:off x="8970264" y="3886200"/>
            <a:ext cx="23317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이 페이지 보는 법</a:t>
            </a:r>
            <a:endParaRPr b="1" sz="800">
              <a:solidFill>
                <a:srgbClr val="5F6B7A"/>
              </a:solidFill>
              <a:latin typeface="Montserrat"/>
              <a:ea typeface="Montserrat"/>
              <a:cs typeface="Montserrat"/>
              <a:sym typeface="Montserrat"/>
            </a:endParaRPr>
          </a:p>
        </p:txBody>
      </p:sp>
      <p:sp>
        <p:nvSpPr>
          <p:cNvPr id="956" name="Google Shape;956;p45"/>
          <p:cNvSpPr/>
          <p:nvPr/>
        </p:nvSpPr>
        <p:spPr>
          <a:xfrm>
            <a:off x="8970264" y="4178808"/>
            <a:ext cx="1564374" cy="166687"/>
          </a:xfrm>
          <a:prstGeom prst="roundRect">
            <a:avLst>
              <a:gd fmla="val 50000" name="adj"/>
            </a:avLst>
          </a:prstGeom>
          <a:solidFill>
            <a:srgbClr val="EAF2FB"/>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750">
                <a:solidFill>
                  <a:srgbClr val="1867DC"/>
                </a:solidFill>
                <a:latin typeface="Montserrat"/>
                <a:ea typeface="Montserrat"/>
                <a:cs typeface="Montserrat"/>
                <a:sym typeface="Montserrat"/>
              </a:rPr>
              <a:t>확인된 동작</a:t>
            </a:r>
            <a:endParaRPr/>
          </a:p>
        </p:txBody>
      </p:sp>
      <p:sp>
        <p:nvSpPr>
          <p:cNvPr id="957" name="Google Shape;957;p45"/>
          <p:cNvSpPr txBox="1"/>
          <p:nvPr/>
        </p:nvSpPr>
        <p:spPr>
          <a:xfrm>
            <a:off x="8970264" y="4407408"/>
            <a:ext cx="2331720"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앱 UX에서 팀이 확인한 내용.</a:t>
            </a:r>
            <a:endParaRPr/>
          </a:p>
        </p:txBody>
      </p:sp>
      <p:sp>
        <p:nvSpPr>
          <p:cNvPr id="958" name="Google Shape;958;p45"/>
          <p:cNvSpPr/>
          <p:nvPr/>
        </p:nvSpPr>
        <p:spPr>
          <a:xfrm>
            <a:off x="8970264" y="4764024"/>
            <a:ext cx="1257661" cy="166687"/>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750">
                <a:solidFill>
                  <a:srgbClr val="FFFFFF"/>
                </a:solidFill>
                <a:latin typeface="Montserrat"/>
                <a:ea typeface="Montserrat"/>
                <a:cs typeface="Montserrat"/>
                <a:sym typeface="Montserrat"/>
              </a:rPr>
              <a:t>설계 결정</a:t>
            </a:r>
            <a:endParaRPr/>
          </a:p>
        </p:txBody>
      </p:sp>
      <p:sp>
        <p:nvSpPr>
          <p:cNvPr id="959" name="Google Shape;959;p45"/>
          <p:cNvSpPr txBox="1"/>
          <p:nvPr/>
        </p:nvSpPr>
        <p:spPr>
          <a:xfrm>
            <a:off x="8970264" y="4992624"/>
            <a:ext cx="2331720"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이에 대응해 구축할 내용. Qcells 확인 전까지는 가정입니다.</a:t>
            </a:r>
            <a:endParaRPr/>
          </a:p>
        </p:txBody>
      </p:sp>
      <p:sp>
        <p:nvSpPr>
          <p:cNvPr id="960" name="Google Shape;960;p45"/>
          <p:cNvSpPr/>
          <p:nvPr/>
        </p:nvSpPr>
        <p:spPr>
          <a:xfrm>
            <a:off x="3355848" y="1764792"/>
            <a:ext cx="2386584" cy="786384"/>
          </a:xfrm>
          <a:prstGeom prst="rect">
            <a:avLst/>
          </a:prstGeom>
          <a:solidFill>
            <a:srgbClr val="EAF2FB"/>
          </a:solidFill>
          <a:ln>
            <a:noFill/>
          </a:ln>
        </p:spPr>
        <p:txBody>
          <a:bodyPr anchorCtr="0" anchor="t" bIns="27425" lIns="91425" spcFirstLastPara="1" rIns="73150" wrap="square" tIns="5485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확인된 동작</a:t>
            </a:r>
            <a:endParaRPr b="1" sz="750">
              <a:solidFill>
                <a:srgbClr val="1867DC"/>
              </a:solidFill>
              <a:latin typeface="Montserrat"/>
              <a:ea typeface="Montserrat"/>
              <a:cs typeface="Montserrat"/>
              <a:sym typeface="Montserrat"/>
            </a:endParaRPr>
          </a:p>
          <a:p>
            <a:pPr indent="0" lvl="0" marL="0" marR="0" rtl="0" algn="l">
              <a:lnSpc>
                <a:spcPct val="100000"/>
              </a:lnSpc>
              <a:spcBef>
                <a:spcPts val="200"/>
              </a:spcBef>
              <a:spcAft>
                <a:spcPts val="0"/>
              </a:spcAft>
              <a:buNone/>
            </a:pPr>
            <a:r>
              <a:rPr lang="en-US" sz="975">
                <a:solidFill>
                  <a:srgbClr val="1F2A37"/>
                </a:solidFill>
                <a:latin typeface="Barlow"/>
                <a:ea typeface="Barlow"/>
                <a:cs typeface="Barlow"/>
                <a:sym typeface="Barlow"/>
              </a:rPr>
              <a:t>다운로드에서 누락된 기기는 수동 입력: Serial No 직접 입력 또는 바코드 스캔.</a:t>
            </a:r>
            <a:endParaRPr b="1" sz="750">
              <a:solidFill>
                <a:srgbClr val="1867DC"/>
              </a:solidFill>
              <a:latin typeface="Montserrat"/>
              <a:ea typeface="Montserrat"/>
              <a:cs typeface="Montserrat"/>
              <a:sym typeface="Montserra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46"/>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오류 및 복구 경로 · 제안 처리 방식</a:t>
            </a:r>
            <a:endParaRPr/>
          </a:p>
        </p:txBody>
      </p:sp>
      <p:sp>
        <p:nvSpPr>
          <p:cNvPr id="967" name="Google Shape;967;p46"/>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설비에서 조회된 값이 </a:t>
            </a:r>
            <a:r>
              <a:rPr lang="en-US"/>
              <a:t>기준 정보이므로 앱과 기기는 항상 동기화됩니다</a:t>
            </a:r>
            <a:endParaRPr/>
          </a:p>
        </p:txBody>
      </p:sp>
      <p:sp>
        <p:nvSpPr>
          <p:cNvPr id="968" name="Google Shape;968;p46"/>
          <p:cNvSpPr txBox="1"/>
          <p:nvPr/>
        </p:nvSpPr>
        <p:spPr>
          <a:xfrm>
            <a:off x="457200" y="1216152"/>
            <a:ext cx="3657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원칙</a:t>
            </a:r>
            <a:endParaRPr/>
          </a:p>
        </p:txBody>
      </p:sp>
      <p:sp>
        <p:nvSpPr>
          <p:cNvPr id="969" name="Google Shape;969;p46"/>
          <p:cNvSpPr/>
          <p:nvPr/>
        </p:nvSpPr>
        <p:spPr>
          <a:xfrm>
            <a:off x="457200" y="1481328"/>
            <a:ext cx="3520440" cy="658368"/>
          </a:xfrm>
          <a:prstGeom prst="roundRect">
            <a:avLst>
              <a:gd fmla="val 8333" name="adj"/>
            </a:avLst>
          </a:prstGeom>
          <a:solidFill>
            <a:srgbClr val="0B2F5B"/>
          </a:solidFill>
          <a:ln>
            <a:noFill/>
          </a:ln>
        </p:spPr>
        <p:txBody>
          <a:bodyPr anchorCtr="0" anchor="ctr" bIns="36575" lIns="566925" spcFirstLastPara="1" rIns="73150" wrap="square" tIns="36575">
            <a:noAutofit/>
          </a:bodyPr>
          <a:lstStyle/>
          <a:p>
            <a:pPr indent="0" lvl="0" marL="0" marR="0" rtl="0" algn="l">
              <a:lnSpc>
                <a:spcPct val="100000"/>
              </a:lnSpc>
              <a:spcBef>
                <a:spcPts val="0"/>
              </a:spcBef>
              <a:spcAft>
                <a:spcPts val="0"/>
              </a:spcAft>
              <a:buNone/>
            </a:pPr>
            <a:r>
              <a:rPr b="1" lang="en-US" sz="1050">
                <a:solidFill>
                  <a:srgbClr val="FFFFFF"/>
                </a:solidFill>
                <a:latin typeface="Montserrat"/>
                <a:ea typeface="Montserrat"/>
                <a:cs typeface="Montserrat"/>
                <a:sym typeface="Montserrat"/>
              </a:rPr>
              <a:t>설비에서 읽은 결과가 최종 기준 정보입니다</a:t>
            </a:r>
            <a:endParaRPr b="1" sz="1050">
              <a:solidFill>
                <a:srgbClr val="FFFFFF"/>
              </a:solidFill>
              <a:latin typeface="Montserrat"/>
              <a:ea typeface="Montserrat"/>
              <a:cs typeface="Montserrat"/>
              <a:sym typeface="Montserrat"/>
            </a:endParaRPr>
          </a:p>
          <a:p>
            <a:pPr indent="0" lvl="0" marL="0" marR="0" rtl="0" algn="l">
              <a:lnSpc>
                <a:spcPct val="100000"/>
              </a:lnSpc>
              <a:spcBef>
                <a:spcPts val="150"/>
              </a:spcBef>
              <a:spcAft>
                <a:spcPts val="0"/>
              </a:spcAft>
              <a:buNone/>
            </a:pPr>
            <a:r>
              <a:rPr lang="en-US" sz="850">
                <a:solidFill>
                  <a:srgbClr val="FFFFFF"/>
                </a:solidFill>
                <a:latin typeface="Montserrat"/>
                <a:ea typeface="Montserrat"/>
                <a:cs typeface="Montserrat"/>
                <a:sym typeface="Montserrat"/>
              </a:rPr>
              <a:t>앱과 설비가 불일치한 채 끝나는 작업 없음</a:t>
            </a:r>
            <a:endParaRPr sz="850"/>
          </a:p>
        </p:txBody>
      </p:sp>
      <p:pic>
        <p:nvPicPr>
          <p:cNvPr id="970" name="Google Shape;970;p46"/>
          <p:cNvPicPr preferRelativeResize="0"/>
          <p:nvPr/>
        </p:nvPicPr>
        <p:blipFill rotWithShape="1">
          <a:blip r:embed="rId3">
            <a:alphaModFix/>
          </a:blip>
          <a:srcRect b="0" l="0" r="0" t="0"/>
          <a:stretch/>
        </p:blipFill>
        <p:spPr>
          <a:xfrm>
            <a:off x="603504" y="1664208"/>
            <a:ext cx="292608" cy="292608"/>
          </a:xfrm>
          <a:prstGeom prst="rect">
            <a:avLst/>
          </a:prstGeom>
          <a:noFill/>
          <a:ln>
            <a:noFill/>
          </a:ln>
        </p:spPr>
      </p:pic>
      <p:sp>
        <p:nvSpPr>
          <p:cNvPr id="971" name="Google Shape;971;p46"/>
          <p:cNvSpPr txBox="1"/>
          <p:nvPr/>
        </p:nvSpPr>
        <p:spPr>
          <a:xfrm>
            <a:off x="4343400" y="1216152"/>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쓰기, 적용, 플래시 상황에 적용</a:t>
            </a:r>
            <a:endParaRPr/>
          </a:p>
        </p:txBody>
      </p:sp>
      <p:sp>
        <p:nvSpPr>
          <p:cNvPr id="972" name="Google Shape;972;p46"/>
          <p:cNvSpPr/>
          <p:nvPr/>
        </p:nvSpPr>
        <p:spPr>
          <a:xfrm>
            <a:off x="4343400" y="1481328"/>
            <a:ext cx="2057400" cy="658368"/>
          </a:xfrm>
          <a:prstGeom prst="roundRect">
            <a:avLst>
              <a:gd fmla="val 8333" name="adj"/>
            </a:avLst>
          </a:prstGeom>
          <a:solidFill>
            <a:srgbClr val="FFFFFF"/>
          </a:solidFill>
          <a:ln cap="flat" cmpd="sng" w="12700">
            <a:solidFill>
              <a:srgbClr val="0B2F5B"/>
            </a:solidFill>
            <a:prstDash val="solid"/>
            <a:round/>
            <a:headEnd len="sm" w="sm" type="none"/>
            <a:tailEnd len="sm" w="sm" type="none"/>
          </a:ln>
        </p:spPr>
        <p:txBody>
          <a:bodyPr anchorCtr="0" anchor="ctr" bIns="36575" lIns="457200" spcFirstLastPara="1" rIns="36575" wrap="square" tIns="3657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설비 값 읽기</a:t>
            </a:r>
            <a:endParaRPr sz="950">
              <a:solidFill>
                <a:srgbClr val="5F6B7A"/>
              </a:solidFill>
              <a:latin typeface="Barlow"/>
              <a:ea typeface="Barlow"/>
              <a:cs typeface="Barlow"/>
              <a:sym typeface="Barlow"/>
            </a:endParaRPr>
          </a:p>
          <a:p>
            <a:pPr indent="0" lvl="0" marL="0" marR="0" rtl="0" algn="l">
              <a:lnSpc>
                <a:spcPct val="100000"/>
              </a:lnSpc>
              <a:spcBef>
                <a:spcPts val="100"/>
              </a:spcBef>
              <a:spcAft>
                <a:spcPts val="0"/>
              </a:spcAft>
              <a:buNone/>
            </a:pPr>
            <a:r>
              <a:rPr lang="en-US" sz="950">
                <a:solidFill>
                  <a:srgbClr val="5F6B7A"/>
                </a:solidFill>
                <a:latin typeface="Barlow"/>
                <a:ea typeface="Barlow"/>
                <a:cs typeface="Barlow"/>
                <a:sym typeface="Barlow"/>
              </a:rPr>
              <a:t>상태, 레지스터 또는 버전</a:t>
            </a:r>
            <a:endParaRPr sz="950">
              <a:solidFill>
                <a:srgbClr val="5F6B7A"/>
              </a:solidFill>
              <a:latin typeface="Barlow"/>
              <a:ea typeface="Barlow"/>
              <a:cs typeface="Barlow"/>
              <a:sym typeface="Barlow"/>
            </a:endParaRPr>
          </a:p>
        </p:txBody>
      </p:sp>
      <p:sp>
        <p:nvSpPr>
          <p:cNvPr id="973" name="Google Shape;973;p46"/>
          <p:cNvSpPr/>
          <p:nvPr/>
        </p:nvSpPr>
        <p:spPr>
          <a:xfrm>
            <a:off x="4434840" y="1673352"/>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1</a:t>
            </a:r>
            <a:endParaRPr/>
          </a:p>
        </p:txBody>
      </p:sp>
      <p:sp>
        <p:nvSpPr>
          <p:cNvPr id="974" name="Google Shape;974;p46"/>
          <p:cNvSpPr/>
          <p:nvPr/>
        </p:nvSpPr>
        <p:spPr>
          <a:xfrm>
            <a:off x="6656832" y="1481328"/>
            <a:ext cx="2697480" cy="658368"/>
          </a:xfrm>
          <a:prstGeom prst="roundRect">
            <a:avLst>
              <a:gd fmla="val 8333" name="adj"/>
            </a:avLst>
          </a:prstGeom>
          <a:solidFill>
            <a:srgbClr val="FFFFFF"/>
          </a:solidFill>
          <a:ln cap="flat" cmpd="sng" w="12700">
            <a:solidFill>
              <a:srgbClr val="0B2F5B"/>
            </a:solidFill>
            <a:prstDash val="solid"/>
            <a:round/>
            <a:headEnd len="sm" w="sm" type="none"/>
            <a:tailEnd len="sm" w="sm" type="none"/>
          </a:ln>
        </p:spPr>
        <p:txBody>
          <a:bodyPr anchorCtr="0" anchor="ctr" bIns="36575" lIns="457200" spcFirstLastPara="1" rIns="36575" wrap="square" tIns="3657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의도한 변경과 비교</a:t>
            </a:r>
            <a:endParaRPr b="1" sz="1050">
              <a:solidFill>
                <a:srgbClr val="0B2F5B"/>
              </a:solidFill>
              <a:latin typeface="Montserrat"/>
              <a:ea typeface="Montserrat"/>
              <a:cs typeface="Montserrat"/>
              <a:sym typeface="Montserrat"/>
            </a:endParaRPr>
          </a:p>
          <a:p>
            <a:pPr indent="0" lvl="0" marL="0" marR="0" rtl="0" algn="l">
              <a:lnSpc>
                <a:spcPct val="100000"/>
              </a:lnSpc>
              <a:spcBef>
                <a:spcPts val="100"/>
              </a:spcBef>
              <a:spcAft>
                <a:spcPts val="0"/>
              </a:spcAft>
              <a:buNone/>
            </a:pPr>
            <a:r>
              <a:rPr lang="en-US" sz="950">
                <a:solidFill>
                  <a:srgbClr val="5F6B7A"/>
                </a:solidFill>
                <a:latin typeface="Barlow"/>
                <a:ea typeface="Barlow"/>
                <a:cs typeface="Barlow"/>
                <a:sym typeface="Barlow"/>
              </a:rPr>
              <a:t>적용되었는가?</a:t>
            </a:r>
            <a:endParaRPr sz="950">
              <a:solidFill>
                <a:srgbClr val="5F6B7A"/>
              </a:solidFill>
              <a:latin typeface="Barlow"/>
              <a:ea typeface="Barlow"/>
              <a:cs typeface="Barlow"/>
              <a:sym typeface="Barlow"/>
            </a:endParaRPr>
          </a:p>
        </p:txBody>
      </p:sp>
      <p:sp>
        <p:nvSpPr>
          <p:cNvPr id="975" name="Google Shape;975;p46"/>
          <p:cNvSpPr/>
          <p:nvPr/>
        </p:nvSpPr>
        <p:spPr>
          <a:xfrm>
            <a:off x="6748272" y="1673352"/>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2</a:t>
            </a:r>
            <a:endParaRPr/>
          </a:p>
        </p:txBody>
      </p:sp>
      <p:cxnSp>
        <p:nvCxnSpPr>
          <p:cNvPr id="976" name="Google Shape;976;p46"/>
          <p:cNvCxnSpPr>
            <a:stCxn id="972" idx="3"/>
            <a:endCxn id="974" idx="1"/>
          </p:cNvCxnSpPr>
          <p:nvPr/>
        </p:nvCxnSpPr>
        <p:spPr>
          <a:xfrm>
            <a:off x="6400800" y="1810512"/>
            <a:ext cx="255900" cy="0"/>
          </a:xfrm>
          <a:prstGeom prst="straightConnector1">
            <a:avLst/>
          </a:prstGeom>
          <a:noFill/>
          <a:ln cap="flat" cmpd="sng" w="15875">
            <a:solidFill>
              <a:srgbClr val="0B2F5B"/>
            </a:solidFill>
            <a:prstDash val="solid"/>
            <a:round/>
            <a:headEnd len="sm" w="sm" type="none"/>
            <a:tailEnd len="med" w="med" type="triangle"/>
          </a:ln>
        </p:spPr>
      </p:cxnSp>
      <p:sp>
        <p:nvSpPr>
          <p:cNvPr id="977" name="Google Shape;977;p46"/>
          <p:cNvSpPr/>
          <p:nvPr/>
        </p:nvSpPr>
        <p:spPr>
          <a:xfrm>
            <a:off x="9701784" y="1481328"/>
            <a:ext cx="1728215" cy="301752"/>
          </a:xfrm>
          <a:prstGeom prst="roundRect">
            <a:avLst>
              <a:gd fmla="val 18181" name="adj"/>
            </a:avLst>
          </a:prstGeom>
          <a:solidFill>
            <a:srgbClr val="E6F4EA"/>
          </a:solidFill>
          <a:ln cap="flat" cmpd="sng" w="9525">
            <a:solidFill>
              <a:srgbClr val="8CC9A6"/>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50">
                <a:solidFill>
                  <a:srgbClr val="1E7B4F"/>
                </a:solidFill>
                <a:latin typeface="Barlow"/>
                <a:ea typeface="Barlow"/>
                <a:cs typeface="Barlow"/>
                <a:sym typeface="Barlow"/>
              </a:rPr>
              <a:t>적용됨</a:t>
            </a:r>
            <a:r>
              <a:rPr lang="en-US" sz="950">
                <a:solidFill>
                  <a:srgbClr val="1E7B4F"/>
                </a:solidFill>
                <a:latin typeface="Barlow"/>
                <a:ea typeface="Barlow"/>
                <a:cs typeface="Barlow"/>
                <a:sym typeface="Barlow"/>
              </a:rPr>
              <a:t> → 완료</a:t>
            </a:r>
            <a:endParaRPr>
              <a:latin typeface="Barlow"/>
              <a:ea typeface="Barlow"/>
              <a:cs typeface="Barlow"/>
              <a:sym typeface="Barlow"/>
            </a:endParaRPr>
          </a:p>
        </p:txBody>
      </p:sp>
      <p:sp>
        <p:nvSpPr>
          <p:cNvPr id="978" name="Google Shape;978;p46"/>
          <p:cNvSpPr/>
          <p:nvPr/>
        </p:nvSpPr>
        <p:spPr>
          <a:xfrm>
            <a:off x="9701784" y="1837943"/>
            <a:ext cx="1728215" cy="301752"/>
          </a:xfrm>
          <a:prstGeom prst="roundRect">
            <a:avLst>
              <a:gd fmla="val 18181" name="adj"/>
            </a:avLst>
          </a:prstGeom>
          <a:solidFill>
            <a:srgbClr val="FFF4E0"/>
          </a:solidFill>
          <a:ln cap="flat" cmpd="sng" w="9525">
            <a:solidFill>
              <a:srgbClr val="F0A93B"/>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50">
                <a:solidFill>
                  <a:srgbClr val="9A5B00"/>
                </a:solidFill>
                <a:latin typeface="Barlow"/>
                <a:ea typeface="Barlow"/>
                <a:cs typeface="Barlow"/>
                <a:sym typeface="Barlow"/>
              </a:rPr>
              <a:t>미적용</a:t>
            </a:r>
            <a:r>
              <a:rPr lang="en-US" sz="950">
                <a:solidFill>
                  <a:srgbClr val="9A5B00"/>
                </a:solidFill>
                <a:latin typeface="Barlow"/>
                <a:ea typeface="Barlow"/>
                <a:cs typeface="Barlow"/>
                <a:sym typeface="Barlow"/>
              </a:rPr>
              <a:t> → 재시도</a:t>
            </a:r>
            <a:endParaRPr>
              <a:latin typeface="Barlow"/>
              <a:ea typeface="Barlow"/>
              <a:cs typeface="Barlow"/>
              <a:sym typeface="Barlow"/>
            </a:endParaRPr>
          </a:p>
        </p:txBody>
      </p:sp>
      <p:sp>
        <p:nvSpPr>
          <p:cNvPr id="979" name="Google Shape;979;p46"/>
          <p:cNvSpPr/>
          <p:nvPr/>
        </p:nvSpPr>
        <p:spPr>
          <a:xfrm>
            <a:off x="9354312" y="1632204"/>
            <a:ext cx="347472" cy="178308"/>
          </a:xfrm>
          <a:custGeom>
            <a:rect b="b" l="l" r="r" t="t"/>
            <a:pathLst>
              <a:path extrusionOk="0" h="178308" w="347472">
                <a:moveTo>
                  <a:pt x="0" y="178308"/>
                </a:moveTo>
                <a:lnTo>
                  <a:pt x="173736" y="178308"/>
                </a:lnTo>
                <a:lnTo>
                  <a:pt x="173736" y="0"/>
                </a:lnTo>
                <a:lnTo>
                  <a:pt x="347472" y="0"/>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0" name="Google Shape;980;p46"/>
          <p:cNvSpPr/>
          <p:nvPr/>
        </p:nvSpPr>
        <p:spPr>
          <a:xfrm>
            <a:off x="9354312" y="1810512"/>
            <a:ext cx="347472" cy="178307"/>
          </a:xfrm>
          <a:custGeom>
            <a:rect b="b" l="l" r="r" t="t"/>
            <a:pathLst>
              <a:path extrusionOk="0" h="178307" w="347472">
                <a:moveTo>
                  <a:pt x="0" y="0"/>
                </a:moveTo>
                <a:lnTo>
                  <a:pt x="173736" y="0"/>
                </a:lnTo>
                <a:lnTo>
                  <a:pt x="173736" y="178307"/>
                </a:lnTo>
                <a:lnTo>
                  <a:pt x="347472" y="178307"/>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981" name="Google Shape;981;p46"/>
          <p:cNvSpPr txBox="1"/>
          <p:nvPr/>
        </p:nvSpPr>
        <p:spPr>
          <a:xfrm>
            <a:off x="457200" y="2359152"/>
            <a:ext cx="73152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실패 경로 8가지</a:t>
            </a:r>
            <a:endParaRPr/>
          </a:p>
        </p:txBody>
      </p:sp>
      <p:sp>
        <p:nvSpPr>
          <p:cNvPr id="982" name="Google Shape;982;p46"/>
          <p:cNvSpPr/>
          <p:nvPr/>
        </p:nvSpPr>
        <p:spPr>
          <a:xfrm>
            <a:off x="457200" y="2633472"/>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83" name="Google Shape;983;p46"/>
          <p:cNvSpPr/>
          <p:nvPr/>
        </p:nvSpPr>
        <p:spPr>
          <a:xfrm>
            <a:off x="585216" y="2761488"/>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84" name="Google Shape;984;p46"/>
          <p:cNvPicPr preferRelativeResize="0"/>
          <p:nvPr/>
        </p:nvPicPr>
        <p:blipFill rotWithShape="1">
          <a:blip r:embed="rId4">
            <a:alphaModFix/>
          </a:blip>
          <a:srcRect b="0" l="0" r="0" t="0"/>
          <a:stretch/>
        </p:blipFill>
        <p:spPr>
          <a:xfrm>
            <a:off x="665683" y="2841955"/>
            <a:ext cx="204825" cy="204825"/>
          </a:xfrm>
          <a:prstGeom prst="rect">
            <a:avLst/>
          </a:prstGeom>
          <a:noFill/>
          <a:ln>
            <a:noFill/>
          </a:ln>
        </p:spPr>
      </p:pic>
      <p:sp>
        <p:nvSpPr>
          <p:cNvPr id="985" name="Google Shape;985;p46"/>
          <p:cNvSpPr txBox="1"/>
          <p:nvPr/>
        </p:nvSpPr>
        <p:spPr>
          <a:xfrm>
            <a:off x="1042416" y="2743200"/>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연결</a:t>
            </a:r>
            <a:endParaRPr/>
          </a:p>
        </p:txBody>
      </p:sp>
      <p:sp>
        <p:nvSpPr>
          <p:cNvPr id="986" name="Google Shape;986;p46"/>
          <p:cNvSpPr txBox="1"/>
          <p:nvPr/>
        </p:nvSpPr>
        <p:spPr>
          <a:xfrm>
            <a:off x="1042416" y="2898648"/>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설치 마법사 스캔 실패</a:t>
            </a:r>
            <a:endParaRPr/>
          </a:p>
        </p:txBody>
      </p:sp>
      <p:sp>
        <p:nvSpPr>
          <p:cNvPr id="987" name="Google Shape;987;p46"/>
          <p:cNvSpPr txBox="1"/>
          <p:nvPr/>
        </p:nvSpPr>
        <p:spPr>
          <a:xfrm>
            <a:off x="585216" y="3310128"/>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Serial No를 다시 확인하고, 기기에 가까이 이동(RSSI 표시)한 뒤 바코드를 다시 스캔합니다.</a:t>
            </a:r>
            <a:endParaRPr/>
          </a:p>
        </p:txBody>
      </p:sp>
      <p:cxnSp>
        <p:nvCxnSpPr>
          <p:cNvPr id="988" name="Google Shape;988;p46"/>
          <p:cNvCxnSpPr/>
          <p:nvPr/>
        </p:nvCxnSpPr>
        <p:spPr>
          <a:xfrm>
            <a:off x="585216" y="3858768"/>
            <a:ext cx="2350008" cy="0"/>
          </a:xfrm>
          <a:prstGeom prst="straightConnector1">
            <a:avLst/>
          </a:prstGeom>
          <a:noFill/>
          <a:ln cap="flat" cmpd="sng" w="9525">
            <a:solidFill>
              <a:srgbClr val="C7D7EA"/>
            </a:solidFill>
            <a:prstDash val="solid"/>
            <a:round/>
            <a:headEnd len="sm" w="sm" type="none"/>
            <a:tailEnd len="sm" w="sm" type="none"/>
          </a:ln>
        </p:spPr>
      </p:cxnSp>
      <p:sp>
        <p:nvSpPr>
          <p:cNvPr id="989" name="Google Shape;989;p46"/>
          <p:cNvSpPr txBox="1"/>
          <p:nvPr/>
        </p:nvSpPr>
        <p:spPr>
          <a:xfrm>
            <a:off x="585216" y="3886200"/>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감지 방식</a:t>
            </a:r>
            <a:r>
              <a:rPr lang="en-US" sz="700">
                <a:solidFill>
                  <a:srgbClr val="5F6B7A"/>
                </a:solidFill>
                <a:latin typeface="Montserrat"/>
                <a:ea typeface="Montserrat"/>
                <a:cs typeface="Montserrat"/>
                <a:sym typeface="Montserrat"/>
              </a:rPr>
              <a:t>  제한 시간 내 Local Name 일치 없음</a:t>
            </a:r>
            <a:endParaRPr>
              <a:latin typeface="Montserrat"/>
              <a:ea typeface="Montserrat"/>
              <a:cs typeface="Montserrat"/>
              <a:sym typeface="Montserrat"/>
            </a:endParaRPr>
          </a:p>
        </p:txBody>
      </p:sp>
      <p:sp>
        <p:nvSpPr>
          <p:cNvPr id="990" name="Google Shape;990;p46"/>
          <p:cNvSpPr/>
          <p:nvPr/>
        </p:nvSpPr>
        <p:spPr>
          <a:xfrm>
            <a:off x="3246120" y="2633472"/>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1" name="Google Shape;991;p46"/>
          <p:cNvSpPr/>
          <p:nvPr/>
        </p:nvSpPr>
        <p:spPr>
          <a:xfrm>
            <a:off x="3374136" y="2761488"/>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92" name="Google Shape;992;p46"/>
          <p:cNvPicPr preferRelativeResize="0"/>
          <p:nvPr/>
        </p:nvPicPr>
        <p:blipFill rotWithShape="1">
          <a:blip r:embed="rId5">
            <a:alphaModFix/>
          </a:blip>
          <a:srcRect b="0" l="0" r="0" t="0"/>
          <a:stretch/>
        </p:blipFill>
        <p:spPr>
          <a:xfrm>
            <a:off x="3454603" y="2841955"/>
            <a:ext cx="204825" cy="204825"/>
          </a:xfrm>
          <a:prstGeom prst="rect">
            <a:avLst/>
          </a:prstGeom>
          <a:noFill/>
          <a:ln>
            <a:noFill/>
          </a:ln>
        </p:spPr>
      </p:pic>
      <p:sp>
        <p:nvSpPr>
          <p:cNvPr id="993" name="Google Shape;993;p46"/>
          <p:cNvSpPr txBox="1"/>
          <p:nvPr/>
        </p:nvSpPr>
        <p:spPr>
          <a:xfrm>
            <a:off x="3831336" y="2743200"/>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읽기</a:t>
            </a:r>
            <a:endParaRPr/>
          </a:p>
        </p:txBody>
      </p:sp>
      <p:sp>
        <p:nvSpPr>
          <p:cNvPr id="994" name="Google Shape;994;p46"/>
          <p:cNvSpPr txBox="1"/>
          <p:nvPr/>
        </p:nvSpPr>
        <p:spPr>
          <a:xfrm>
            <a:off x="3831336" y="2898648"/>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일괄 읽기 중 BLE 끊김</a:t>
            </a:r>
            <a:endParaRPr/>
          </a:p>
        </p:txBody>
      </p:sp>
      <p:sp>
        <p:nvSpPr>
          <p:cNvPr id="995" name="Google Shape;995;p46"/>
          <p:cNvSpPr txBox="1"/>
          <p:nvPr/>
        </p:nvSpPr>
        <p:spPr>
          <a:xfrm>
            <a:off x="3374136" y="3310128"/>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UI 잠금을 해제하고 1회 자동 재연결한 뒤 재시도를 안내합니다.</a:t>
            </a:r>
            <a:endParaRPr sz="975">
              <a:solidFill>
                <a:srgbClr val="1F2A37"/>
              </a:solidFill>
              <a:latin typeface="Barlow"/>
              <a:ea typeface="Barlow"/>
              <a:cs typeface="Barlow"/>
              <a:sym typeface="Barlow"/>
            </a:endParaRPr>
          </a:p>
        </p:txBody>
      </p:sp>
      <p:cxnSp>
        <p:nvCxnSpPr>
          <p:cNvPr id="996" name="Google Shape;996;p46"/>
          <p:cNvCxnSpPr/>
          <p:nvPr/>
        </p:nvCxnSpPr>
        <p:spPr>
          <a:xfrm>
            <a:off x="3374136" y="3858768"/>
            <a:ext cx="2350008" cy="0"/>
          </a:xfrm>
          <a:prstGeom prst="straightConnector1">
            <a:avLst/>
          </a:prstGeom>
          <a:noFill/>
          <a:ln cap="flat" cmpd="sng" w="9525">
            <a:solidFill>
              <a:srgbClr val="C7D7EA"/>
            </a:solidFill>
            <a:prstDash val="solid"/>
            <a:round/>
            <a:headEnd len="sm" w="sm" type="none"/>
            <a:tailEnd len="sm" w="sm" type="none"/>
          </a:ln>
        </p:spPr>
      </p:cxnSp>
      <p:sp>
        <p:nvSpPr>
          <p:cNvPr id="997" name="Google Shape;997;p46"/>
          <p:cNvSpPr txBox="1"/>
          <p:nvPr/>
        </p:nvSpPr>
        <p:spPr>
          <a:xfrm>
            <a:off x="3374136" y="3886200"/>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감지 방식</a:t>
            </a:r>
            <a:r>
              <a:rPr lang="en-US" sz="700">
                <a:solidFill>
                  <a:srgbClr val="5F6B7A"/>
                </a:solidFill>
                <a:latin typeface="Montserrat"/>
                <a:ea typeface="Montserrat"/>
                <a:cs typeface="Montserrat"/>
                <a:sym typeface="Montserrat"/>
              </a:rPr>
              <a:t>  didDisconnectPeripheral; 대기 중 continuation 오류 처리</a:t>
            </a:r>
            <a:endParaRPr>
              <a:latin typeface="Montserrat"/>
              <a:ea typeface="Montserrat"/>
              <a:cs typeface="Montserrat"/>
              <a:sym typeface="Montserrat"/>
            </a:endParaRPr>
          </a:p>
        </p:txBody>
      </p:sp>
      <p:sp>
        <p:nvSpPr>
          <p:cNvPr id="998" name="Google Shape;998;p46"/>
          <p:cNvSpPr/>
          <p:nvPr/>
        </p:nvSpPr>
        <p:spPr>
          <a:xfrm>
            <a:off x="6035040" y="2633472"/>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9" name="Google Shape;999;p46"/>
          <p:cNvSpPr/>
          <p:nvPr/>
        </p:nvSpPr>
        <p:spPr>
          <a:xfrm>
            <a:off x="6163056" y="2761488"/>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00" name="Google Shape;1000;p46"/>
          <p:cNvPicPr preferRelativeResize="0"/>
          <p:nvPr/>
        </p:nvPicPr>
        <p:blipFill rotWithShape="1">
          <a:blip r:embed="rId6">
            <a:alphaModFix/>
          </a:blip>
          <a:srcRect b="0" l="0" r="0" t="0"/>
          <a:stretch/>
        </p:blipFill>
        <p:spPr>
          <a:xfrm>
            <a:off x="6243523" y="2841955"/>
            <a:ext cx="204825" cy="204825"/>
          </a:xfrm>
          <a:prstGeom prst="rect">
            <a:avLst/>
          </a:prstGeom>
          <a:noFill/>
          <a:ln>
            <a:noFill/>
          </a:ln>
        </p:spPr>
      </p:pic>
      <p:sp>
        <p:nvSpPr>
          <p:cNvPr id="1001" name="Google Shape;1001;p46"/>
          <p:cNvSpPr txBox="1"/>
          <p:nvPr/>
        </p:nvSpPr>
        <p:spPr>
          <a:xfrm>
            <a:off x="6620256" y="2743200"/>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쓰기</a:t>
            </a:r>
            <a:endParaRPr/>
          </a:p>
        </p:txBody>
      </p:sp>
      <p:sp>
        <p:nvSpPr>
          <p:cNvPr id="1002" name="Google Shape;1002;p46"/>
          <p:cNvSpPr txBox="1"/>
          <p:nvPr/>
        </p:nvSpPr>
        <p:spPr>
          <a:xfrm>
            <a:off x="6620256" y="2898648"/>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쓰기 응답 시간 초과</a:t>
            </a:r>
            <a:endParaRPr/>
          </a:p>
        </p:txBody>
      </p:sp>
      <p:sp>
        <p:nvSpPr>
          <p:cNvPr id="1003" name="Google Shape;1003;p46"/>
          <p:cNvSpPr txBox="1"/>
          <p:nvPr/>
        </p:nvSpPr>
        <p:spPr>
          <a:xfrm>
            <a:off x="6163056" y="3310128"/>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자동 재전송 없음. 재연결 후 읽기 결과를 비교하고, 미적용일 때만 새 OTP로 재전송합니다.</a:t>
            </a:r>
            <a:endParaRPr/>
          </a:p>
        </p:txBody>
      </p:sp>
      <p:cxnSp>
        <p:nvCxnSpPr>
          <p:cNvPr id="1004" name="Google Shape;1004;p46"/>
          <p:cNvCxnSpPr/>
          <p:nvPr/>
        </p:nvCxnSpPr>
        <p:spPr>
          <a:xfrm>
            <a:off x="6163056" y="3858768"/>
            <a:ext cx="2350008" cy="0"/>
          </a:xfrm>
          <a:prstGeom prst="straightConnector1">
            <a:avLst/>
          </a:prstGeom>
          <a:noFill/>
          <a:ln cap="flat" cmpd="sng" w="9525">
            <a:solidFill>
              <a:srgbClr val="C7D7EA"/>
            </a:solidFill>
            <a:prstDash val="solid"/>
            <a:round/>
            <a:headEnd len="sm" w="sm" type="none"/>
            <a:tailEnd len="sm" w="sm" type="none"/>
          </a:ln>
        </p:spPr>
      </p:cxnSp>
      <p:sp>
        <p:nvSpPr>
          <p:cNvPr id="1005" name="Google Shape;1005;p46"/>
          <p:cNvSpPr txBox="1"/>
          <p:nvPr/>
        </p:nvSpPr>
        <p:spPr>
          <a:xfrm>
            <a:off x="6163056" y="3886200"/>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감지 방식</a:t>
            </a:r>
            <a:r>
              <a:rPr lang="en-US" sz="700">
                <a:solidFill>
                  <a:srgbClr val="5F6B7A"/>
                </a:solidFill>
                <a:latin typeface="Montserrat"/>
                <a:ea typeface="Montserrat"/>
                <a:cs typeface="Montserrat"/>
                <a:sym typeface="Montserrat"/>
              </a:rPr>
              <a:t>  Write With Response 응답 없음</a:t>
            </a:r>
            <a:endParaRPr>
              <a:latin typeface="Montserrat"/>
              <a:ea typeface="Montserrat"/>
              <a:cs typeface="Montserrat"/>
              <a:sym typeface="Montserrat"/>
            </a:endParaRPr>
          </a:p>
        </p:txBody>
      </p:sp>
      <p:sp>
        <p:nvSpPr>
          <p:cNvPr id="1006" name="Google Shape;1006;p46"/>
          <p:cNvSpPr/>
          <p:nvPr/>
        </p:nvSpPr>
        <p:spPr>
          <a:xfrm>
            <a:off x="8823960" y="2633472"/>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7" name="Google Shape;1007;p46"/>
          <p:cNvSpPr/>
          <p:nvPr/>
        </p:nvSpPr>
        <p:spPr>
          <a:xfrm>
            <a:off x="8951976" y="2761488"/>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8" name="Google Shape;1008;p46"/>
          <p:cNvSpPr txBox="1"/>
          <p:nvPr/>
        </p:nvSpPr>
        <p:spPr>
          <a:xfrm>
            <a:off x="9409176" y="2743200"/>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인증</a:t>
            </a:r>
            <a:endParaRPr/>
          </a:p>
        </p:txBody>
      </p:sp>
      <p:sp>
        <p:nvSpPr>
          <p:cNvPr id="1009" name="Google Shape;1009;p46"/>
          <p:cNvSpPr txBox="1"/>
          <p:nvPr/>
        </p:nvSpPr>
        <p:spPr>
          <a:xfrm>
            <a:off x="9409176" y="2898648"/>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OTP 검증 실패</a:t>
            </a:r>
            <a:endParaRPr/>
          </a:p>
        </p:txBody>
      </p:sp>
      <p:sp>
        <p:nvSpPr>
          <p:cNvPr id="1010" name="Google Shape;1010;p46"/>
          <p:cNvSpPr txBox="1"/>
          <p:nvPr/>
        </p:nvSpPr>
        <p:spPr>
          <a:xfrm>
            <a:off x="8951976" y="3310128"/>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설비의 시간을 확인하고 재입력을 안내합니다. 연속 실패 시 남은 잠금 시간을 표시합니다.</a:t>
            </a:r>
            <a:endParaRPr/>
          </a:p>
        </p:txBody>
      </p:sp>
      <p:cxnSp>
        <p:nvCxnSpPr>
          <p:cNvPr id="1011" name="Google Shape;1011;p46"/>
          <p:cNvCxnSpPr/>
          <p:nvPr/>
        </p:nvCxnSpPr>
        <p:spPr>
          <a:xfrm>
            <a:off x="8951976" y="3858768"/>
            <a:ext cx="2350008" cy="0"/>
          </a:xfrm>
          <a:prstGeom prst="straightConnector1">
            <a:avLst/>
          </a:prstGeom>
          <a:noFill/>
          <a:ln cap="flat" cmpd="sng" w="9525">
            <a:solidFill>
              <a:srgbClr val="C7D7EA"/>
            </a:solidFill>
            <a:prstDash val="solid"/>
            <a:round/>
            <a:headEnd len="sm" w="sm" type="none"/>
            <a:tailEnd len="sm" w="sm" type="none"/>
          </a:ln>
        </p:spPr>
      </p:cxnSp>
      <p:sp>
        <p:nvSpPr>
          <p:cNvPr id="1012" name="Google Shape;1012;p46"/>
          <p:cNvSpPr txBox="1"/>
          <p:nvPr/>
        </p:nvSpPr>
        <p:spPr>
          <a:xfrm>
            <a:off x="8951976" y="3886200"/>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감지 방식</a:t>
            </a:r>
            <a:r>
              <a:rPr lang="en-US" sz="700">
                <a:solidFill>
                  <a:srgbClr val="5F6B7A"/>
                </a:solidFill>
                <a:latin typeface="Montserrat"/>
                <a:ea typeface="Montserrat"/>
                <a:cs typeface="Montserrat"/>
                <a:sym typeface="Montserrat"/>
              </a:rPr>
              <a:t>  기기 오류 코드</a:t>
            </a:r>
            <a:endParaRPr>
              <a:latin typeface="Montserrat"/>
              <a:ea typeface="Montserrat"/>
              <a:cs typeface="Montserrat"/>
              <a:sym typeface="Montserrat"/>
            </a:endParaRPr>
          </a:p>
        </p:txBody>
      </p:sp>
      <p:sp>
        <p:nvSpPr>
          <p:cNvPr id="1013" name="Google Shape;1013;p46"/>
          <p:cNvSpPr/>
          <p:nvPr/>
        </p:nvSpPr>
        <p:spPr>
          <a:xfrm>
            <a:off x="457200" y="4407408"/>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4" name="Google Shape;1014;p46"/>
          <p:cNvSpPr/>
          <p:nvPr/>
        </p:nvSpPr>
        <p:spPr>
          <a:xfrm>
            <a:off x="585216" y="4535424"/>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15" name="Google Shape;1015;p46"/>
          <p:cNvPicPr preferRelativeResize="0"/>
          <p:nvPr/>
        </p:nvPicPr>
        <p:blipFill rotWithShape="1">
          <a:blip r:embed="rId7">
            <a:alphaModFix/>
          </a:blip>
          <a:srcRect b="0" l="0" r="0" t="0"/>
          <a:stretch/>
        </p:blipFill>
        <p:spPr>
          <a:xfrm>
            <a:off x="665683" y="4615891"/>
            <a:ext cx="204825" cy="204825"/>
          </a:xfrm>
          <a:prstGeom prst="rect">
            <a:avLst/>
          </a:prstGeom>
          <a:noFill/>
          <a:ln>
            <a:noFill/>
          </a:ln>
        </p:spPr>
      </p:pic>
      <p:sp>
        <p:nvSpPr>
          <p:cNvPr id="1016" name="Google Shape;1016;p46"/>
          <p:cNvSpPr txBox="1"/>
          <p:nvPr/>
        </p:nvSpPr>
        <p:spPr>
          <a:xfrm>
            <a:off x="1042416" y="4517136"/>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적용</a:t>
            </a:r>
            <a:endParaRPr/>
          </a:p>
        </p:txBody>
      </p:sp>
      <p:sp>
        <p:nvSpPr>
          <p:cNvPr id="1017" name="Google Shape;1017;p46"/>
          <p:cNvSpPr txBox="1"/>
          <p:nvPr/>
        </p:nvSpPr>
        <p:spPr>
          <a:xfrm>
            <a:off x="1042416" y="4672584"/>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적용 중단</a:t>
            </a:r>
            <a:endParaRPr/>
          </a:p>
        </p:txBody>
      </p:sp>
      <p:sp>
        <p:nvSpPr>
          <p:cNvPr id="1018" name="Google Shape;1018;p46"/>
          <p:cNvSpPr txBox="1"/>
          <p:nvPr/>
        </p:nvSpPr>
        <p:spPr>
          <a:xfrm>
            <a:off x="585216" y="5084064"/>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재진입 시 설비 상태를 읽습니다. 운행: 완료 처리. 미완료: 설정 요약 후 다시 적용합니다.</a:t>
            </a:r>
            <a:endParaRPr/>
          </a:p>
        </p:txBody>
      </p:sp>
      <p:cxnSp>
        <p:nvCxnSpPr>
          <p:cNvPr id="1019" name="Google Shape;1019;p46"/>
          <p:cNvCxnSpPr/>
          <p:nvPr/>
        </p:nvCxnSpPr>
        <p:spPr>
          <a:xfrm>
            <a:off x="585216" y="5632704"/>
            <a:ext cx="2350008" cy="0"/>
          </a:xfrm>
          <a:prstGeom prst="straightConnector1">
            <a:avLst/>
          </a:prstGeom>
          <a:noFill/>
          <a:ln cap="flat" cmpd="sng" w="9525">
            <a:solidFill>
              <a:srgbClr val="C7D7EA"/>
            </a:solidFill>
            <a:prstDash val="solid"/>
            <a:round/>
            <a:headEnd len="sm" w="sm" type="none"/>
            <a:tailEnd len="sm" w="sm" type="none"/>
          </a:ln>
        </p:spPr>
      </p:cxnSp>
      <p:sp>
        <p:nvSpPr>
          <p:cNvPr id="1020" name="Google Shape;1020;p46"/>
          <p:cNvSpPr txBox="1"/>
          <p:nvPr/>
        </p:nvSpPr>
        <p:spPr>
          <a:xfrm>
            <a:off x="585216" y="5660136"/>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감지 방식</a:t>
            </a:r>
            <a:r>
              <a:rPr lang="en-US" sz="700">
                <a:solidFill>
                  <a:srgbClr val="5F6B7A"/>
                </a:solidFill>
                <a:latin typeface="Montserrat"/>
                <a:ea typeface="Montserrat"/>
                <a:cs typeface="Montserrat"/>
                <a:sym typeface="Montserrat"/>
              </a:rPr>
              <a:t>  적용 전에 저장한 로컬 미완료 표시</a:t>
            </a:r>
            <a:endParaRPr>
              <a:latin typeface="Montserrat"/>
              <a:ea typeface="Montserrat"/>
              <a:cs typeface="Montserrat"/>
              <a:sym typeface="Montserrat"/>
            </a:endParaRPr>
          </a:p>
        </p:txBody>
      </p:sp>
      <p:sp>
        <p:nvSpPr>
          <p:cNvPr id="1021" name="Google Shape;1021;p46"/>
          <p:cNvSpPr/>
          <p:nvPr/>
        </p:nvSpPr>
        <p:spPr>
          <a:xfrm>
            <a:off x="3246120" y="4407408"/>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2" name="Google Shape;1022;p46"/>
          <p:cNvSpPr/>
          <p:nvPr/>
        </p:nvSpPr>
        <p:spPr>
          <a:xfrm>
            <a:off x="3374136" y="4535424"/>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23" name="Google Shape;1023;p46"/>
          <p:cNvPicPr preferRelativeResize="0"/>
          <p:nvPr/>
        </p:nvPicPr>
        <p:blipFill rotWithShape="1">
          <a:blip r:embed="rId8">
            <a:alphaModFix/>
          </a:blip>
          <a:srcRect b="0" l="0" r="0" t="0"/>
          <a:stretch/>
        </p:blipFill>
        <p:spPr>
          <a:xfrm>
            <a:off x="3454603" y="4615891"/>
            <a:ext cx="204825" cy="204825"/>
          </a:xfrm>
          <a:prstGeom prst="rect">
            <a:avLst/>
          </a:prstGeom>
          <a:noFill/>
          <a:ln>
            <a:noFill/>
          </a:ln>
        </p:spPr>
      </p:pic>
      <p:sp>
        <p:nvSpPr>
          <p:cNvPr id="1024" name="Google Shape;1024;p46"/>
          <p:cNvSpPr txBox="1"/>
          <p:nvPr/>
        </p:nvSpPr>
        <p:spPr>
          <a:xfrm>
            <a:off x="3831336" y="4517136"/>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WI-FI</a:t>
            </a:r>
            <a:endParaRPr/>
          </a:p>
        </p:txBody>
      </p:sp>
      <p:sp>
        <p:nvSpPr>
          <p:cNvPr id="1025" name="Google Shape;1025;p46"/>
          <p:cNvSpPr txBox="1"/>
          <p:nvPr/>
        </p:nvSpPr>
        <p:spPr>
          <a:xfrm>
            <a:off x="3831336" y="4672584"/>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SoftAP 연결 실패</a:t>
            </a:r>
            <a:endParaRPr/>
          </a:p>
        </p:txBody>
      </p:sp>
      <p:sp>
        <p:nvSpPr>
          <p:cNvPr id="1026" name="Google Shape;1026;p46"/>
          <p:cNvSpPr txBox="1"/>
          <p:nvPr/>
        </p:nvSpPr>
        <p:spPr>
          <a:xfrm>
            <a:off x="3374136" y="5084064"/>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1회 재시도 후 BLE 깨우기를 다시 요청하고 SSID를 재발급합니다.</a:t>
            </a:r>
            <a:endParaRPr/>
          </a:p>
        </p:txBody>
      </p:sp>
      <p:cxnSp>
        <p:nvCxnSpPr>
          <p:cNvPr id="1027" name="Google Shape;1027;p46"/>
          <p:cNvCxnSpPr/>
          <p:nvPr/>
        </p:nvCxnSpPr>
        <p:spPr>
          <a:xfrm>
            <a:off x="3374136" y="5632704"/>
            <a:ext cx="2350008" cy="0"/>
          </a:xfrm>
          <a:prstGeom prst="straightConnector1">
            <a:avLst/>
          </a:prstGeom>
          <a:noFill/>
          <a:ln cap="flat" cmpd="sng" w="9525">
            <a:solidFill>
              <a:srgbClr val="C7D7EA"/>
            </a:solidFill>
            <a:prstDash val="solid"/>
            <a:round/>
            <a:headEnd len="sm" w="sm" type="none"/>
            <a:tailEnd len="sm" w="sm" type="none"/>
          </a:ln>
        </p:spPr>
      </p:cxnSp>
      <p:sp>
        <p:nvSpPr>
          <p:cNvPr id="1028" name="Google Shape;1028;p46"/>
          <p:cNvSpPr txBox="1"/>
          <p:nvPr/>
        </p:nvSpPr>
        <p:spPr>
          <a:xfrm>
            <a:off x="3374136" y="5660136"/>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감지 방식</a:t>
            </a:r>
            <a:r>
              <a:rPr lang="en-US" sz="700">
                <a:solidFill>
                  <a:srgbClr val="5F6B7A"/>
                </a:solidFill>
                <a:latin typeface="Montserrat"/>
                <a:ea typeface="Montserrat"/>
                <a:cs typeface="Montserrat"/>
                <a:sym typeface="Montserrat"/>
              </a:rPr>
              <a:t>  NEHotspotConfiguration 오류</a:t>
            </a:r>
            <a:endParaRPr>
              <a:latin typeface="Montserrat"/>
              <a:ea typeface="Montserrat"/>
              <a:cs typeface="Montserrat"/>
              <a:sym typeface="Montserrat"/>
            </a:endParaRPr>
          </a:p>
        </p:txBody>
      </p:sp>
      <p:sp>
        <p:nvSpPr>
          <p:cNvPr id="1029" name="Google Shape;1029;p46"/>
          <p:cNvSpPr/>
          <p:nvPr/>
        </p:nvSpPr>
        <p:spPr>
          <a:xfrm>
            <a:off x="6035040" y="4407408"/>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0" name="Google Shape;1030;p46"/>
          <p:cNvSpPr/>
          <p:nvPr/>
        </p:nvSpPr>
        <p:spPr>
          <a:xfrm>
            <a:off x="6163056" y="4535424"/>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31" name="Google Shape;1031;p46"/>
          <p:cNvPicPr preferRelativeResize="0"/>
          <p:nvPr/>
        </p:nvPicPr>
        <p:blipFill rotWithShape="1">
          <a:blip r:embed="rId9">
            <a:alphaModFix/>
          </a:blip>
          <a:srcRect b="0" l="0" r="0" t="0"/>
          <a:stretch/>
        </p:blipFill>
        <p:spPr>
          <a:xfrm>
            <a:off x="6243523" y="4615891"/>
            <a:ext cx="204825" cy="204825"/>
          </a:xfrm>
          <a:prstGeom prst="rect">
            <a:avLst/>
          </a:prstGeom>
          <a:noFill/>
          <a:ln>
            <a:noFill/>
          </a:ln>
        </p:spPr>
      </p:pic>
      <p:sp>
        <p:nvSpPr>
          <p:cNvPr id="1032" name="Google Shape;1032;p46"/>
          <p:cNvSpPr txBox="1"/>
          <p:nvPr/>
        </p:nvSpPr>
        <p:spPr>
          <a:xfrm>
            <a:off x="6620256" y="4517136"/>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플래시</a:t>
            </a:r>
            <a:endParaRPr/>
          </a:p>
        </p:txBody>
      </p:sp>
      <p:sp>
        <p:nvSpPr>
          <p:cNvPr id="1033" name="Google Shape;1033;p46"/>
          <p:cNvSpPr txBox="1"/>
          <p:nvPr/>
        </p:nvSpPr>
        <p:spPr>
          <a:xfrm>
            <a:off x="6620256" y="4672584"/>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플래시 중 앱 종료 또는 전원 손실</a:t>
            </a:r>
            <a:endParaRPr/>
          </a:p>
        </p:txBody>
      </p:sp>
      <p:sp>
        <p:nvSpPr>
          <p:cNvPr id="1034" name="Google Shape;1034;p46"/>
          <p:cNvSpPr txBox="1"/>
          <p:nvPr/>
        </p:nvSpPr>
        <p:spPr>
          <a:xfrm>
            <a:off x="6163056" y="5084064"/>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설비 버전을 읽습니다. 신규: 커밋. 이전: 롤백을 확인하고 재시도합니다.</a:t>
            </a:r>
            <a:endParaRPr/>
          </a:p>
        </p:txBody>
      </p:sp>
      <p:cxnSp>
        <p:nvCxnSpPr>
          <p:cNvPr id="1035" name="Google Shape;1035;p46"/>
          <p:cNvCxnSpPr/>
          <p:nvPr/>
        </p:nvCxnSpPr>
        <p:spPr>
          <a:xfrm>
            <a:off x="6163056" y="5632704"/>
            <a:ext cx="2350008" cy="0"/>
          </a:xfrm>
          <a:prstGeom prst="straightConnector1">
            <a:avLst/>
          </a:prstGeom>
          <a:noFill/>
          <a:ln cap="flat" cmpd="sng" w="9525">
            <a:solidFill>
              <a:srgbClr val="C7D7EA"/>
            </a:solidFill>
            <a:prstDash val="solid"/>
            <a:round/>
            <a:headEnd len="sm" w="sm" type="none"/>
            <a:tailEnd len="sm" w="sm" type="none"/>
          </a:ln>
        </p:spPr>
      </p:cxnSp>
      <p:sp>
        <p:nvSpPr>
          <p:cNvPr id="1036" name="Google Shape;1036;p46"/>
          <p:cNvSpPr txBox="1"/>
          <p:nvPr/>
        </p:nvSpPr>
        <p:spPr>
          <a:xfrm>
            <a:off x="6163056" y="5660136"/>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감지 방식</a:t>
            </a:r>
            <a:r>
              <a:rPr lang="en-US" sz="700">
                <a:solidFill>
                  <a:srgbClr val="5F6B7A"/>
                </a:solidFill>
                <a:latin typeface="Montserrat"/>
                <a:ea typeface="Montserrat"/>
                <a:cs typeface="Montserrat"/>
                <a:sym typeface="Montserrat"/>
              </a:rPr>
              <a:t>  재실행 시 FW 세션 마커 발견</a:t>
            </a:r>
            <a:endParaRPr>
              <a:latin typeface="Montserrat"/>
              <a:ea typeface="Montserrat"/>
              <a:cs typeface="Montserrat"/>
              <a:sym typeface="Montserrat"/>
            </a:endParaRPr>
          </a:p>
        </p:txBody>
      </p:sp>
      <p:sp>
        <p:nvSpPr>
          <p:cNvPr id="1037" name="Google Shape;1037;p46"/>
          <p:cNvSpPr/>
          <p:nvPr/>
        </p:nvSpPr>
        <p:spPr>
          <a:xfrm>
            <a:off x="8823960" y="4407408"/>
            <a:ext cx="2606040" cy="162763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38" name="Google Shape;1038;p46"/>
          <p:cNvSpPr/>
          <p:nvPr/>
        </p:nvSpPr>
        <p:spPr>
          <a:xfrm>
            <a:off x="8951976" y="4535424"/>
            <a:ext cx="365760" cy="365760"/>
          </a:xfrm>
          <a:prstGeom prst="roundRect">
            <a:avLst>
              <a:gd fmla="val 12500"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39" name="Google Shape;1039;p46"/>
          <p:cNvPicPr preferRelativeResize="0"/>
          <p:nvPr/>
        </p:nvPicPr>
        <p:blipFill rotWithShape="1">
          <a:blip r:embed="rId10">
            <a:alphaModFix/>
          </a:blip>
          <a:srcRect b="0" l="0" r="0" t="0"/>
          <a:stretch/>
        </p:blipFill>
        <p:spPr>
          <a:xfrm>
            <a:off x="9032443" y="4615891"/>
            <a:ext cx="204825" cy="204825"/>
          </a:xfrm>
          <a:prstGeom prst="rect">
            <a:avLst/>
          </a:prstGeom>
          <a:noFill/>
          <a:ln>
            <a:noFill/>
          </a:ln>
        </p:spPr>
      </p:pic>
      <p:sp>
        <p:nvSpPr>
          <p:cNvPr id="1040" name="Google Shape;1040;p46"/>
          <p:cNvSpPr txBox="1"/>
          <p:nvPr/>
        </p:nvSpPr>
        <p:spPr>
          <a:xfrm>
            <a:off x="9409176" y="4517136"/>
            <a:ext cx="1892808" cy="14630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1867DC"/>
                </a:solidFill>
                <a:latin typeface="Montserrat"/>
                <a:ea typeface="Montserrat"/>
                <a:cs typeface="Montserrat"/>
                <a:sym typeface="Montserrat"/>
              </a:rPr>
              <a:t>동기화</a:t>
            </a:r>
            <a:endParaRPr/>
          </a:p>
        </p:txBody>
      </p:sp>
      <p:sp>
        <p:nvSpPr>
          <p:cNvPr id="1041" name="Google Shape;1041;p46"/>
          <p:cNvSpPr txBox="1"/>
          <p:nvPr/>
        </p:nvSpPr>
        <p:spPr>
          <a:xfrm>
            <a:off x="9409176" y="4672584"/>
            <a:ext cx="1929384" cy="3291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클라우드 동기화 실패</a:t>
            </a:r>
            <a:endParaRPr/>
          </a:p>
        </p:txBody>
      </p:sp>
      <p:sp>
        <p:nvSpPr>
          <p:cNvPr id="1042" name="Google Shape;1042;p46"/>
          <p:cNvSpPr txBox="1"/>
          <p:nvPr/>
        </p:nvSpPr>
        <p:spPr>
          <a:xfrm>
            <a:off x="8951976" y="5084064"/>
            <a:ext cx="2350008"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제한 시간을 늘려가며 재시도합니다. 409 중복은 성공으로 처리합니다.</a:t>
            </a:r>
            <a:endParaRPr/>
          </a:p>
        </p:txBody>
      </p:sp>
      <p:cxnSp>
        <p:nvCxnSpPr>
          <p:cNvPr id="1043" name="Google Shape;1043;p46"/>
          <p:cNvCxnSpPr/>
          <p:nvPr/>
        </p:nvCxnSpPr>
        <p:spPr>
          <a:xfrm>
            <a:off x="8951976" y="5632704"/>
            <a:ext cx="2350008" cy="0"/>
          </a:xfrm>
          <a:prstGeom prst="straightConnector1">
            <a:avLst/>
          </a:prstGeom>
          <a:noFill/>
          <a:ln cap="flat" cmpd="sng" w="9525">
            <a:solidFill>
              <a:srgbClr val="C7D7EA"/>
            </a:solidFill>
            <a:prstDash val="solid"/>
            <a:round/>
            <a:headEnd len="sm" w="sm" type="none"/>
            <a:tailEnd len="sm" w="sm" type="none"/>
          </a:ln>
        </p:spPr>
      </p:cxnSp>
      <p:sp>
        <p:nvSpPr>
          <p:cNvPr id="1044" name="Google Shape;1044;p46"/>
          <p:cNvSpPr txBox="1"/>
          <p:nvPr/>
        </p:nvSpPr>
        <p:spPr>
          <a:xfrm>
            <a:off x="8951976" y="5660136"/>
            <a:ext cx="2350008"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00">
                <a:solidFill>
                  <a:srgbClr val="5F6B7A"/>
                </a:solidFill>
                <a:latin typeface="Montserrat"/>
                <a:ea typeface="Montserrat"/>
                <a:cs typeface="Montserrat"/>
                <a:sym typeface="Montserrat"/>
              </a:rPr>
              <a:t>감지 방식</a:t>
            </a:r>
            <a:r>
              <a:rPr lang="en-US" sz="700">
                <a:solidFill>
                  <a:srgbClr val="5F6B7A"/>
                </a:solidFill>
                <a:latin typeface="Montserrat"/>
                <a:ea typeface="Montserrat"/>
                <a:cs typeface="Montserrat"/>
                <a:sym typeface="Montserrat"/>
              </a:rPr>
              <a:t>  HTTP 5xx 또는 네트워크 오류</a:t>
            </a:r>
            <a:endParaRPr>
              <a:latin typeface="Montserrat"/>
              <a:ea typeface="Montserrat"/>
              <a:cs typeface="Montserrat"/>
              <a:sym typeface="Montserrat"/>
            </a:endParaRPr>
          </a:p>
        </p:txBody>
      </p:sp>
      <p:pic>
        <p:nvPicPr>
          <p:cNvPr id="1045" name="Google Shape;1045;p46"/>
          <p:cNvPicPr preferRelativeResize="0"/>
          <p:nvPr/>
        </p:nvPicPr>
        <p:blipFill rotWithShape="1">
          <a:blip r:embed="rId11">
            <a:alphaModFix/>
          </a:blip>
          <a:srcRect b="0" l="0" r="0" t="0"/>
          <a:stretch/>
        </p:blipFill>
        <p:spPr>
          <a:xfrm>
            <a:off x="9032443" y="2841955"/>
            <a:ext cx="204825" cy="204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47"/>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시스템 구성 및 모바일 아키텍처 · 제안 설계</a:t>
            </a:r>
            <a:endParaRPr/>
          </a:p>
        </p:txBody>
      </p:sp>
      <p:sp>
        <p:nvSpPr>
          <p:cNvPr id="1052" name="Google Shape;1052;p47"/>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3개 계층이 하드웨어 변경을 UI와 분리합니다</a:t>
            </a:r>
            <a:endParaRPr/>
          </a:p>
        </p:txBody>
      </p:sp>
      <p:sp>
        <p:nvSpPr>
          <p:cNvPr id="1053" name="Google Shape;1053;p47"/>
          <p:cNvSpPr/>
          <p:nvPr/>
        </p:nvSpPr>
        <p:spPr>
          <a:xfrm>
            <a:off x="548640" y="2971800"/>
            <a:ext cx="640080" cy="640080"/>
          </a:xfrm>
          <a:prstGeom prst="roundRect">
            <a:avLst>
              <a:gd fmla="val 7142" name="adj"/>
            </a:avLst>
          </a:prstGeom>
          <a:solidFill>
            <a:srgbClr val="5DA9E9"/>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nstaller" id="1054" name="Google Shape;1054;p47"/>
          <p:cNvPicPr preferRelativeResize="0"/>
          <p:nvPr/>
        </p:nvPicPr>
        <p:blipFill rotWithShape="1">
          <a:blip r:embed="rId3">
            <a:alphaModFix/>
          </a:blip>
          <a:srcRect b="0" l="0" r="0" t="0"/>
          <a:stretch/>
        </p:blipFill>
        <p:spPr>
          <a:xfrm>
            <a:off x="689457" y="3112617"/>
            <a:ext cx="358444" cy="358444"/>
          </a:xfrm>
          <a:prstGeom prst="rect">
            <a:avLst/>
          </a:prstGeom>
          <a:noFill/>
          <a:ln>
            <a:noFill/>
          </a:ln>
        </p:spPr>
      </p:pic>
      <p:sp>
        <p:nvSpPr>
          <p:cNvPr id="1055" name="Google Shape;1055;p47"/>
          <p:cNvSpPr txBox="1"/>
          <p:nvPr/>
        </p:nvSpPr>
        <p:spPr>
          <a:xfrm>
            <a:off x="320040" y="3657600"/>
            <a:ext cx="10972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000">
                <a:solidFill>
                  <a:srgbClr val="0B2F5B"/>
                </a:solidFill>
                <a:latin typeface="Barlow"/>
                <a:ea typeface="Barlow"/>
                <a:cs typeface="Barlow"/>
                <a:sym typeface="Barlow"/>
              </a:rPr>
              <a:t>설치 기사</a:t>
            </a:r>
            <a:endParaRPr/>
          </a:p>
        </p:txBody>
      </p:sp>
      <p:cxnSp>
        <p:nvCxnSpPr>
          <p:cNvPr id="1056" name="Google Shape;1056;p47"/>
          <p:cNvCxnSpPr/>
          <p:nvPr/>
        </p:nvCxnSpPr>
        <p:spPr>
          <a:xfrm>
            <a:off x="1243584" y="3291840"/>
            <a:ext cx="329184" cy="0"/>
          </a:xfrm>
          <a:prstGeom prst="straightConnector1">
            <a:avLst/>
          </a:prstGeom>
          <a:noFill/>
          <a:ln cap="flat" cmpd="sng" w="15875">
            <a:solidFill>
              <a:srgbClr val="0B2F5B"/>
            </a:solidFill>
            <a:prstDash val="solid"/>
            <a:round/>
            <a:headEnd len="med" w="med" type="triangle"/>
            <a:tailEnd len="med" w="med" type="triangle"/>
          </a:ln>
        </p:spPr>
      </p:cxnSp>
      <p:sp>
        <p:nvSpPr>
          <p:cNvPr id="1057" name="Google Shape;1057;p47"/>
          <p:cNvSpPr/>
          <p:nvPr/>
        </p:nvSpPr>
        <p:spPr>
          <a:xfrm>
            <a:off x="1586450" y="1270947"/>
            <a:ext cx="4892100" cy="4316100"/>
          </a:xfrm>
          <a:prstGeom prst="rect">
            <a:avLst/>
          </a:prstGeom>
          <a:solidFill>
            <a:srgbClr val="F5F8FC"/>
          </a:solidFill>
          <a:ln cap="flat" cmpd="sng" w="15875">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58" name="Google Shape;1058;p47"/>
          <p:cNvSpPr/>
          <p:nvPr/>
        </p:nvSpPr>
        <p:spPr>
          <a:xfrm>
            <a:off x="1737360" y="1380743"/>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59" name="Google Shape;1059;p47"/>
          <p:cNvPicPr preferRelativeResize="0"/>
          <p:nvPr/>
        </p:nvPicPr>
        <p:blipFill rotWithShape="1">
          <a:blip r:embed="rId4">
            <a:alphaModFix/>
          </a:blip>
          <a:srcRect b="0" l="0" r="0" t="0"/>
          <a:stretch/>
        </p:blipFill>
        <p:spPr>
          <a:xfrm>
            <a:off x="1809780" y="1453164"/>
            <a:ext cx="184343" cy="184343"/>
          </a:xfrm>
          <a:prstGeom prst="rect">
            <a:avLst/>
          </a:prstGeom>
          <a:noFill/>
          <a:ln>
            <a:noFill/>
          </a:ln>
        </p:spPr>
      </p:pic>
      <p:sp>
        <p:nvSpPr>
          <p:cNvPr id="1060" name="Google Shape;1060;p47"/>
          <p:cNvSpPr txBox="1"/>
          <p:nvPr/>
        </p:nvSpPr>
        <p:spPr>
          <a:xfrm>
            <a:off x="2148840" y="1380743"/>
            <a:ext cx="274320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iOS 설치 기사 앱</a:t>
            </a:r>
            <a:endParaRPr/>
          </a:p>
        </p:txBody>
      </p:sp>
      <p:sp>
        <p:nvSpPr>
          <p:cNvPr id="1061" name="Google Shape;1061;p47"/>
          <p:cNvSpPr/>
          <p:nvPr/>
        </p:nvSpPr>
        <p:spPr>
          <a:xfrm>
            <a:off x="5268502" y="1444751"/>
            <a:ext cx="1086577"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클린 아키텍처</a:t>
            </a:r>
            <a:endParaRPr/>
          </a:p>
        </p:txBody>
      </p:sp>
      <p:cxnSp>
        <p:nvCxnSpPr>
          <p:cNvPr id="1062" name="Google Shape;1062;p47"/>
          <p:cNvCxnSpPr/>
          <p:nvPr/>
        </p:nvCxnSpPr>
        <p:spPr>
          <a:xfrm>
            <a:off x="4046220" y="2523744"/>
            <a:ext cx="0" cy="201168"/>
          </a:xfrm>
          <a:prstGeom prst="straightConnector1">
            <a:avLst/>
          </a:prstGeom>
          <a:noFill/>
          <a:ln cap="flat" cmpd="sng" w="19050">
            <a:solidFill>
              <a:srgbClr val="0B2F5B"/>
            </a:solidFill>
            <a:prstDash val="solid"/>
            <a:round/>
            <a:headEnd len="sm" w="sm" type="none"/>
            <a:tailEnd len="med" w="med" type="triangle"/>
          </a:ln>
        </p:spPr>
      </p:cxnSp>
      <p:cxnSp>
        <p:nvCxnSpPr>
          <p:cNvPr id="1063" name="Google Shape;1063;p47"/>
          <p:cNvCxnSpPr/>
          <p:nvPr/>
        </p:nvCxnSpPr>
        <p:spPr>
          <a:xfrm rot="10800000">
            <a:off x="4046220" y="3456432"/>
            <a:ext cx="0" cy="201168"/>
          </a:xfrm>
          <a:prstGeom prst="straightConnector1">
            <a:avLst/>
          </a:prstGeom>
          <a:noFill/>
          <a:ln cap="flat" cmpd="sng" w="19050">
            <a:solidFill>
              <a:srgbClr val="0B2F5B"/>
            </a:solidFill>
            <a:prstDash val="solid"/>
            <a:round/>
            <a:headEnd len="sm" w="sm" type="none"/>
            <a:tailEnd len="med" w="med" type="triangle"/>
          </a:ln>
        </p:spPr>
      </p:cxnSp>
      <p:sp>
        <p:nvSpPr>
          <p:cNvPr id="1064" name="Google Shape;1064;p47"/>
          <p:cNvSpPr txBox="1"/>
          <p:nvPr/>
        </p:nvSpPr>
        <p:spPr>
          <a:xfrm>
            <a:off x="4137659" y="2532887"/>
            <a:ext cx="12801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i="1" lang="en-US" sz="850">
                <a:solidFill>
                  <a:srgbClr val="5F6B7A"/>
                </a:solidFill>
                <a:latin typeface="Barlow"/>
                <a:ea typeface="Barlow"/>
                <a:cs typeface="Barlow"/>
                <a:sym typeface="Barlow"/>
              </a:rPr>
              <a:t>의존</a:t>
            </a:r>
            <a:endParaRPr/>
          </a:p>
        </p:txBody>
      </p:sp>
      <p:sp>
        <p:nvSpPr>
          <p:cNvPr id="1065" name="Google Shape;1065;p47"/>
          <p:cNvSpPr txBox="1"/>
          <p:nvPr/>
        </p:nvSpPr>
        <p:spPr>
          <a:xfrm>
            <a:off x="4137659" y="3465576"/>
            <a:ext cx="128016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i="1" lang="en-US" sz="850">
                <a:solidFill>
                  <a:srgbClr val="5F6B7A"/>
                </a:solidFill>
                <a:latin typeface="Barlow"/>
                <a:ea typeface="Barlow"/>
                <a:cs typeface="Barlow"/>
                <a:sym typeface="Barlow"/>
              </a:rPr>
              <a:t>의존</a:t>
            </a:r>
            <a:endParaRPr/>
          </a:p>
        </p:txBody>
      </p:sp>
      <p:cxnSp>
        <p:nvCxnSpPr>
          <p:cNvPr id="1066" name="Google Shape;1066;p47"/>
          <p:cNvCxnSpPr/>
          <p:nvPr/>
        </p:nvCxnSpPr>
        <p:spPr>
          <a:xfrm>
            <a:off x="2491740" y="4389120"/>
            <a:ext cx="0" cy="164592"/>
          </a:xfrm>
          <a:prstGeom prst="straightConnector1">
            <a:avLst/>
          </a:prstGeom>
          <a:noFill/>
          <a:ln cap="flat" cmpd="sng" w="12700">
            <a:solidFill>
              <a:srgbClr val="1565C0"/>
            </a:solidFill>
            <a:prstDash val="solid"/>
            <a:round/>
            <a:headEnd len="sm" w="sm" type="none"/>
            <a:tailEnd len="med" w="med" type="triangle"/>
          </a:ln>
        </p:spPr>
      </p:cxnSp>
      <p:cxnSp>
        <p:nvCxnSpPr>
          <p:cNvPr id="1067" name="Google Shape;1067;p47"/>
          <p:cNvCxnSpPr/>
          <p:nvPr/>
        </p:nvCxnSpPr>
        <p:spPr>
          <a:xfrm>
            <a:off x="4046220" y="4389120"/>
            <a:ext cx="0" cy="164592"/>
          </a:xfrm>
          <a:prstGeom prst="straightConnector1">
            <a:avLst/>
          </a:prstGeom>
          <a:noFill/>
          <a:ln cap="flat" cmpd="sng" w="12700">
            <a:solidFill>
              <a:srgbClr val="1565C0"/>
            </a:solidFill>
            <a:prstDash val="solid"/>
            <a:round/>
            <a:headEnd len="sm" w="sm" type="none"/>
            <a:tailEnd len="med" w="med" type="triangle"/>
          </a:ln>
        </p:spPr>
      </p:cxnSp>
      <p:sp>
        <p:nvSpPr>
          <p:cNvPr id="1068" name="Google Shape;1068;p47"/>
          <p:cNvSpPr/>
          <p:nvPr/>
        </p:nvSpPr>
        <p:spPr>
          <a:xfrm>
            <a:off x="8092440" y="1261872"/>
            <a:ext cx="3337560" cy="1691640"/>
          </a:xfrm>
          <a:prstGeom prst="rect">
            <a:avLst/>
          </a:prstGeom>
          <a:solidFill>
            <a:srgbClr val="FFFFFF"/>
          </a:solidFill>
          <a:ln cap="flat" cmpd="sng" w="15875">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9" name="Google Shape;1069;p47"/>
          <p:cNvSpPr/>
          <p:nvPr/>
        </p:nvSpPr>
        <p:spPr>
          <a:xfrm>
            <a:off x="8229600" y="1380744"/>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70" name="Google Shape;1070;p47"/>
          <p:cNvPicPr preferRelativeResize="0"/>
          <p:nvPr/>
        </p:nvPicPr>
        <p:blipFill rotWithShape="1">
          <a:blip r:embed="rId5">
            <a:alphaModFix/>
          </a:blip>
          <a:srcRect b="0" l="0" r="0" t="0"/>
          <a:stretch/>
        </p:blipFill>
        <p:spPr>
          <a:xfrm>
            <a:off x="8302020" y="1453164"/>
            <a:ext cx="184343" cy="184343"/>
          </a:xfrm>
          <a:prstGeom prst="rect">
            <a:avLst/>
          </a:prstGeom>
          <a:noFill/>
          <a:ln>
            <a:noFill/>
          </a:ln>
        </p:spPr>
      </p:pic>
      <p:sp>
        <p:nvSpPr>
          <p:cNvPr id="1071" name="Google Shape;1071;p47"/>
          <p:cNvSpPr txBox="1"/>
          <p:nvPr/>
        </p:nvSpPr>
        <p:spPr>
          <a:xfrm>
            <a:off x="8641080" y="1380744"/>
            <a:ext cx="2377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큐셀 백엔드</a:t>
            </a:r>
            <a:endParaRPr/>
          </a:p>
        </p:txBody>
      </p:sp>
      <p:sp>
        <p:nvSpPr>
          <p:cNvPr id="1072" name="Google Shape;1072;p47"/>
          <p:cNvSpPr/>
          <p:nvPr/>
        </p:nvSpPr>
        <p:spPr>
          <a:xfrm>
            <a:off x="8229600" y="1856231"/>
            <a:ext cx="662945"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작업 지시</a:t>
            </a:r>
            <a:endParaRPr/>
          </a:p>
        </p:txBody>
      </p:sp>
      <p:sp>
        <p:nvSpPr>
          <p:cNvPr id="1073" name="Google Shape;1073;p47"/>
          <p:cNvSpPr/>
          <p:nvPr/>
        </p:nvSpPr>
        <p:spPr>
          <a:xfrm>
            <a:off x="8947409" y="1856231"/>
            <a:ext cx="660044"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NMI 조회</a:t>
            </a:r>
            <a:endParaRPr/>
          </a:p>
        </p:txBody>
      </p:sp>
      <p:sp>
        <p:nvSpPr>
          <p:cNvPr id="1074" name="Google Shape;1074;p47"/>
          <p:cNvSpPr/>
          <p:nvPr/>
        </p:nvSpPr>
        <p:spPr>
          <a:xfrm>
            <a:off x="9662317" y="1856231"/>
            <a:ext cx="992952"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설치 기사 비밀번호</a:t>
            </a:r>
            <a:endParaRPr/>
          </a:p>
        </p:txBody>
      </p:sp>
      <p:sp>
        <p:nvSpPr>
          <p:cNvPr id="1075" name="Google Shape;1075;p47"/>
          <p:cNvSpPr/>
          <p:nvPr/>
        </p:nvSpPr>
        <p:spPr>
          <a:xfrm>
            <a:off x="8229600" y="2194560"/>
            <a:ext cx="1094417"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펌웨어 저장소</a:t>
            </a:r>
            <a:endParaRPr/>
          </a:p>
        </p:txBody>
      </p:sp>
      <p:sp>
        <p:nvSpPr>
          <p:cNvPr id="1076" name="Google Shape;1076;p47"/>
          <p:cNvSpPr/>
          <p:nvPr/>
        </p:nvSpPr>
        <p:spPr>
          <a:xfrm>
            <a:off x="9378881" y="2194560"/>
            <a:ext cx="1113966"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트랜잭션 동기화 API</a:t>
            </a:r>
            <a:endParaRPr/>
          </a:p>
        </p:txBody>
      </p:sp>
      <p:sp>
        <p:nvSpPr>
          <p:cNvPr id="1077" name="Google Shape;1077;p47"/>
          <p:cNvSpPr/>
          <p:nvPr/>
        </p:nvSpPr>
        <p:spPr>
          <a:xfrm>
            <a:off x="8229600" y="2532888"/>
            <a:ext cx="616729"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텔레메트리</a:t>
            </a:r>
            <a:endParaRPr/>
          </a:p>
        </p:txBody>
      </p:sp>
      <p:sp>
        <p:nvSpPr>
          <p:cNvPr id="1078" name="Google Shape;1078;p47"/>
          <p:cNvSpPr/>
          <p:nvPr/>
        </p:nvSpPr>
        <p:spPr>
          <a:xfrm>
            <a:off x="8901193" y="2532888"/>
            <a:ext cx="827029" cy="188912"/>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과금 파이프라인</a:t>
            </a:r>
            <a:endParaRPr/>
          </a:p>
        </p:txBody>
      </p:sp>
      <p:sp>
        <p:nvSpPr>
          <p:cNvPr id="1079" name="Google Shape;1079;p47"/>
          <p:cNvSpPr/>
          <p:nvPr/>
        </p:nvSpPr>
        <p:spPr>
          <a:xfrm>
            <a:off x="8092440" y="3520440"/>
            <a:ext cx="3337560" cy="1371600"/>
          </a:xfrm>
          <a:prstGeom prst="rect">
            <a:avLst/>
          </a:prstGeom>
          <a:solidFill>
            <a:srgbClr val="EAF2FB"/>
          </a:solidFill>
          <a:ln cap="flat" cmpd="sng" w="15875">
            <a:solidFill>
              <a:srgbClr val="1565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0" name="Google Shape;1080;p47"/>
          <p:cNvSpPr/>
          <p:nvPr/>
        </p:nvSpPr>
        <p:spPr>
          <a:xfrm>
            <a:off x="8229600" y="3639312"/>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081" name="Google Shape;1081;p47"/>
          <p:cNvPicPr preferRelativeResize="0"/>
          <p:nvPr/>
        </p:nvPicPr>
        <p:blipFill rotWithShape="1">
          <a:blip r:embed="rId6">
            <a:alphaModFix/>
          </a:blip>
          <a:srcRect b="0" l="0" r="0" t="0"/>
          <a:stretch/>
        </p:blipFill>
        <p:spPr>
          <a:xfrm>
            <a:off x="8302020" y="3711732"/>
            <a:ext cx="184343" cy="184343"/>
          </a:xfrm>
          <a:prstGeom prst="rect">
            <a:avLst/>
          </a:prstGeom>
          <a:noFill/>
          <a:ln>
            <a:noFill/>
          </a:ln>
        </p:spPr>
      </p:pic>
      <p:sp>
        <p:nvSpPr>
          <p:cNvPr id="1082" name="Google Shape;1082;p47"/>
          <p:cNvSpPr txBox="1"/>
          <p:nvPr/>
        </p:nvSpPr>
        <p:spPr>
          <a:xfrm>
            <a:off x="8641080" y="3639312"/>
            <a:ext cx="2377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CORE Pro ESS</a:t>
            </a:r>
            <a:endParaRPr/>
          </a:p>
        </p:txBody>
      </p:sp>
      <p:sp>
        <p:nvSpPr>
          <p:cNvPr id="1083" name="Google Shape;1083;p47"/>
          <p:cNvSpPr txBox="1"/>
          <p:nvPr/>
        </p:nvSpPr>
        <p:spPr>
          <a:xfrm>
            <a:off x="8229600" y="4069080"/>
            <a:ext cx="3063240" cy="7498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200"/>
              </a:spcBef>
              <a:spcAft>
                <a:spcPts val="0"/>
              </a:spcAft>
              <a:buNone/>
            </a:pPr>
            <a:r>
              <a:rPr lang="en-US" sz="950">
                <a:solidFill>
                  <a:srgbClr val="1F2A37"/>
                </a:solidFill>
                <a:latin typeface="Barlow"/>
                <a:ea typeface="Barlow"/>
                <a:cs typeface="Barlow"/>
                <a:sym typeface="Barlow"/>
              </a:rPr>
              <a:t>BLE GATT: 제어 및 설정</a:t>
            </a:r>
            <a:endParaRPr sz="950">
              <a:solidFill>
                <a:srgbClr val="1F2A37"/>
              </a:solidFill>
              <a:latin typeface="Barlow"/>
              <a:ea typeface="Barlow"/>
              <a:cs typeface="Barlow"/>
              <a:sym typeface="Barlow"/>
            </a:endParaRPr>
          </a:p>
          <a:p>
            <a:pPr indent="0" lvl="0" marL="0" marR="0" rtl="0" algn="l">
              <a:lnSpc>
                <a:spcPct val="100000"/>
              </a:lnSpc>
              <a:spcBef>
                <a:spcPts val="200"/>
              </a:spcBef>
              <a:spcAft>
                <a:spcPts val="0"/>
              </a:spcAft>
              <a:buNone/>
            </a:pPr>
            <a:r>
              <a:rPr lang="en-US" sz="950">
                <a:solidFill>
                  <a:srgbClr val="1F2A37"/>
                </a:solidFill>
                <a:latin typeface="Barlow"/>
                <a:ea typeface="Barlow"/>
                <a:cs typeface="Barlow"/>
                <a:sym typeface="Barlow"/>
              </a:rPr>
              <a:t>내장 Wi-Fi: SoftAP 및 홈 Wi-Fi</a:t>
            </a:r>
            <a:endParaRPr sz="950">
              <a:solidFill>
                <a:srgbClr val="1F2A37"/>
              </a:solidFill>
              <a:latin typeface="Barlow"/>
              <a:ea typeface="Barlow"/>
              <a:cs typeface="Barlow"/>
              <a:sym typeface="Barlow"/>
            </a:endParaRPr>
          </a:p>
          <a:p>
            <a:pPr indent="0" lvl="0" marL="0" marR="0" rtl="0" algn="l">
              <a:lnSpc>
                <a:spcPct val="100000"/>
              </a:lnSpc>
              <a:spcBef>
                <a:spcPts val="200"/>
              </a:spcBef>
              <a:spcAft>
                <a:spcPts val="0"/>
              </a:spcAft>
              <a:buNone/>
            </a:pPr>
            <a:r>
              <a:rPr lang="en-US" sz="950">
                <a:solidFill>
                  <a:srgbClr val="1F2A37"/>
                </a:solidFill>
                <a:latin typeface="Barlow"/>
                <a:ea typeface="Barlow"/>
                <a:cs typeface="Barlow"/>
                <a:sym typeface="Barlow"/>
              </a:rPr>
              <a:t>인버터 · 배터리 · 듀얼 뱅크 플래시</a:t>
            </a:r>
            <a:endParaRPr sz="950">
              <a:solidFill>
                <a:srgbClr val="1F2A37"/>
              </a:solidFill>
              <a:latin typeface="Barlow"/>
              <a:ea typeface="Barlow"/>
              <a:cs typeface="Barlow"/>
              <a:sym typeface="Barlow"/>
            </a:endParaRPr>
          </a:p>
        </p:txBody>
      </p:sp>
      <p:sp>
        <p:nvSpPr>
          <p:cNvPr id="1084" name="Google Shape;1084;p47"/>
          <p:cNvSpPr/>
          <p:nvPr/>
        </p:nvSpPr>
        <p:spPr>
          <a:xfrm>
            <a:off x="8092440" y="5212080"/>
            <a:ext cx="3337560" cy="365760"/>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Grid · PV</a:t>
            </a:r>
            <a:endParaRPr/>
          </a:p>
        </p:txBody>
      </p:sp>
      <p:cxnSp>
        <p:nvCxnSpPr>
          <p:cNvPr id="1085" name="Google Shape;1085;p47"/>
          <p:cNvCxnSpPr/>
          <p:nvPr/>
        </p:nvCxnSpPr>
        <p:spPr>
          <a:xfrm>
            <a:off x="9761219" y="4892040"/>
            <a:ext cx="0" cy="320040"/>
          </a:xfrm>
          <a:prstGeom prst="straightConnector1">
            <a:avLst/>
          </a:prstGeom>
          <a:noFill/>
          <a:ln cap="flat" cmpd="sng" w="12700">
            <a:solidFill>
              <a:srgbClr val="5F6B7A"/>
            </a:solidFill>
            <a:prstDash val="solid"/>
            <a:round/>
            <a:headEnd len="med" w="med" type="triangle"/>
            <a:tailEnd len="med" w="med" type="triangle"/>
          </a:ln>
        </p:spPr>
      </p:cxnSp>
      <p:sp>
        <p:nvSpPr>
          <p:cNvPr id="1086" name="Google Shape;1086;p47"/>
          <p:cNvSpPr txBox="1"/>
          <p:nvPr/>
        </p:nvSpPr>
        <p:spPr>
          <a:xfrm>
            <a:off x="9852659" y="4956048"/>
            <a:ext cx="7315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5F6B7A"/>
                </a:solidFill>
                <a:latin typeface="Barlow"/>
                <a:ea typeface="Barlow"/>
                <a:cs typeface="Barlow"/>
                <a:sym typeface="Barlow"/>
              </a:rPr>
              <a:t>전력</a:t>
            </a:r>
            <a:endParaRPr/>
          </a:p>
        </p:txBody>
      </p:sp>
      <p:cxnSp>
        <p:nvCxnSpPr>
          <p:cNvPr id="1087" name="Google Shape;1087;p47"/>
          <p:cNvCxnSpPr/>
          <p:nvPr/>
        </p:nvCxnSpPr>
        <p:spPr>
          <a:xfrm>
            <a:off x="6492240" y="2103120"/>
            <a:ext cx="1600200" cy="0"/>
          </a:xfrm>
          <a:prstGeom prst="straightConnector1">
            <a:avLst/>
          </a:prstGeom>
          <a:noFill/>
          <a:ln cap="flat" cmpd="sng" w="22225">
            <a:solidFill>
              <a:srgbClr val="0B2F5B"/>
            </a:solidFill>
            <a:prstDash val="solid"/>
            <a:round/>
            <a:headEnd len="med" w="med" type="triangle"/>
            <a:tailEnd len="med" w="med" type="triangle"/>
          </a:ln>
        </p:spPr>
      </p:cxnSp>
      <p:sp>
        <p:nvSpPr>
          <p:cNvPr id="1088" name="Google Shape;1088;p47"/>
          <p:cNvSpPr txBox="1"/>
          <p:nvPr/>
        </p:nvSpPr>
        <p:spPr>
          <a:xfrm>
            <a:off x="6492240" y="1847088"/>
            <a:ext cx="1600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HTTPS, 온라인 시</a:t>
            </a:r>
            <a:endParaRPr/>
          </a:p>
        </p:txBody>
      </p:sp>
      <p:sp>
        <p:nvSpPr>
          <p:cNvPr id="1089" name="Google Shape;1089;p47"/>
          <p:cNvSpPr txBox="1"/>
          <p:nvPr/>
        </p:nvSpPr>
        <p:spPr>
          <a:xfrm>
            <a:off x="6492240" y="2157984"/>
            <a:ext cx="1600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900">
                <a:solidFill>
                  <a:srgbClr val="5F6B7A"/>
                </a:solidFill>
                <a:latin typeface="Barlow"/>
                <a:ea typeface="Barlow"/>
                <a:cs typeface="Barlow"/>
                <a:sym typeface="Barlow"/>
              </a:rPr>
              <a:t>사전 동기화 · 사후 동기화</a:t>
            </a:r>
            <a:endParaRPr/>
          </a:p>
        </p:txBody>
      </p:sp>
      <p:cxnSp>
        <p:nvCxnSpPr>
          <p:cNvPr id="1090" name="Google Shape;1090;p47"/>
          <p:cNvCxnSpPr/>
          <p:nvPr/>
        </p:nvCxnSpPr>
        <p:spPr>
          <a:xfrm>
            <a:off x="6492240" y="3931920"/>
            <a:ext cx="1600200" cy="0"/>
          </a:xfrm>
          <a:prstGeom prst="straightConnector1">
            <a:avLst/>
          </a:prstGeom>
          <a:noFill/>
          <a:ln cap="flat" cmpd="sng" w="22225">
            <a:solidFill>
              <a:srgbClr val="1565C0"/>
            </a:solidFill>
            <a:prstDash val="solid"/>
            <a:round/>
            <a:headEnd len="med" w="med" type="triangle"/>
            <a:tailEnd len="med" w="med" type="triangle"/>
          </a:ln>
        </p:spPr>
      </p:cxnSp>
      <p:sp>
        <p:nvSpPr>
          <p:cNvPr id="1091" name="Google Shape;1091;p47"/>
          <p:cNvSpPr txBox="1"/>
          <p:nvPr/>
        </p:nvSpPr>
        <p:spPr>
          <a:xfrm>
            <a:off x="6492240" y="3675887"/>
            <a:ext cx="1600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1565C0"/>
                </a:solidFill>
                <a:latin typeface="Barlow"/>
                <a:ea typeface="Barlow"/>
                <a:cs typeface="Barlow"/>
                <a:sym typeface="Barlow"/>
              </a:rPr>
              <a:t>BLE 1:1, 오프라인</a:t>
            </a:r>
            <a:endParaRPr/>
          </a:p>
        </p:txBody>
      </p:sp>
      <p:sp>
        <p:nvSpPr>
          <p:cNvPr id="1092" name="Google Shape;1092;p47"/>
          <p:cNvSpPr txBox="1"/>
          <p:nvPr/>
        </p:nvSpPr>
        <p:spPr>
          <a:xfrm>
            <a:off x="6492240" y="3986784"/>
            <a:ext cx="1600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900">
                <a:solidFill>
                  <a:srgbClr val="5F6B7A"/>
                </a:solidFill>
                <a:latin typeface="Barlow"/>
                <a:ea typeface="Barlow"/>
                <a:cs typeface="Barlow"/>
                <a:sym typeface="Barlow"/>
              </a:rPr>
              <a:t>명령 · 이벤트</a:t>
            </a:r>
            <a:endParaRPr/>
          </a:p>
        </p:txBody>
      </p:sp>
      <p:cxnSp>
        <p:nvCxnSpPr>
          <p:cNvPr id="1093" name="Google Shape;1093;p47"/>
          <p:cNvCxnSpPr/>
          <p:nvPr/>
        </p:nvCxnSpPr>
        <p:spPr>
          <a:xfrm>
            <a:off x="6492240" y="4590288"/>
            <a:ext cx="1600200" cy="0"/>
          </a:xfrm>
          <a:prstGeom prst="straightConnector1">
            <a:avLst/>
          </a:prstGeom>
          <a:noFill/>
          <a:ln cap="flat" cmpd="sng" w="22225">
            <a:solidFill>
              <a:srgbClr val="1565C0"/>
            </a:solidFill>
            <a:prstDash val="dash"/>
            <a:round/>
            <a:headEnd len="sm" w="sm" type="none"/>
            <a:tailEnd len="med" w="med" type="triangle"/>
          </a:ln>
        </p:spPr>
      </p:cxnSp>
      <p:sp>
        <p:nvSpPr>
          <p:cNvPr id="1094" name="Google Shape;1094;p47"/>
          <p:cNvSpPr txBox="1"/>
          <p:nvPr/>
        </p:nvSpPr>
        <p:spPr>
          <a:xfrm>
            <a:off x="6492240" y="4334256"/>
            <a:ext cx="1600200" cy="201168"/>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1565C0"/>
                </a:solidFill>
                <a:latin typeface="Barlow"/>
                <a:ea typeface="Barlow"/>
                <a:cs typeface="Barlow"/>
                <a:sym typeface="Barlow"/>
              </a:rPr>
              <a:t>SoftAP Wi-Fi, 임시</a:t>
            </a:r>
            <a:endParaRPr/>
          </a:p>
        </p:txBody>
      </p:sp>
      <p:sp>
        <p:nvSpPr>
          <p:cNvPr id="1095" name="Google Shape;1095;p47"/>
          <p:cNvSpPr txBox="1"/>
          <p:nvPr/>
        </p:nvSpPr>
        <p:spPr>
          <a:xfrm>
            <a:off x="6492240" y="4645152"/>
            <a:ext cx="160020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900">
                <a:solidFill>
                  <a:srgbClr val="5F6B7A"/>
                </a:solidFill>
                <a:latin typeface="Barlow"/>
                <a:ea typeface="Barlow"/>
                <a:cs typeface="Barlow"/>
                <a:sym typeface="Barlow"/>
              </a:rPr>
              <a:t>펌웨어 전송</a:t>
            </a:r>
            <a:endParaRPr/>
          </a:p>
        </p:txBody>
      </p:sp>
      <p:cxnSp>
        <p:nvCxnSpPr>
          <p:cNvPr id="1096" name="Google Shape;1096;p47"/>
          <p:cNvCxnSpPr/>
          <p:nvPr/>
        </p:nvCxnSpPr>
        <p:spPr>
          <a:xfrm rot="10800000">
            <a:off x="10744200" y="2953512"/>
            <a:ext cx="0" cy="566928"/>
          </a:xfrm>
          <a:prstGeom prst="straightConnector1">
            <a:avLst/>
          </a:prstGeom>
          <a:noFill/>
          <a:ln cap="flat" cmpd="sng" w="15875">
            <a:solidFill>
              <a:srgbClr val="5F6B7A"/>
            </a:solidFill>
            <a:prstDash val="dash"/>
            <a:round/>
            <a:headEnd len="sm" w="sm" type="none"/>
            <a:tailEnd len="med" w="med" type="triangle"/>
          </a:ln>
        </p:spPr>
      </p:cxnSp>
      <p:sp>
        <p:nvSpPr>
          <p:cNvPr id="1097" name="Google Shape;1097;p47"/>
          <p:cNvSpPr txBox="1"/>
          <p:nvPr/>
        </p:nvSpPr>
        <p:spPr>
          <a:xfrm>
            <a:off x="8915400" y="3136392"/>
            <a:ext cx="173736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lang="en-US" sz="900">
                <a:solidFill>
                  <a:srgbClr val="5F6B7A"/>
                </a:solidFill>
                <a:latin typeface="Barlow"/>
                <a:ea typeface="Barlow"/>
                <a:cs typeface="Barlow"/>
                <a:sym typeface="Barlow"/>
              </a:rPr>
              <a:t>홈 Wi-Fi · 텔레메트리</a:t>
            </a:r>
            <a:endParaRPr/>
          </a:p>
        </p:txBody>
      </p:sp>
      <p:sp>
        <p:nvSpPr>
          <p:cNvPr id="1098" name="Google Shape;1098;p47"/>
          <p:cNvSpPr/>
          <p:nvPr/>
        </p:nvSpPr>
        <p:spPr>
          <a:xfrm>
            <a:off x="457200" y="5687568"/>
            <a:ext cx="10972800" cy="329184"/>
          </a:xfrm>
          <a:prstGeom prst="rect">
            <a:avLst/>
          </a:prstGeom>
          <a:solidFill>
            <a:srgbClr val="F5F8FC"/>
          </a:solidFill>
          <a:ln>
            <a:noFill/>
          </a:ln>
        </p:spPr>
        <p:txBody>
          <a:bodyPr anchorCtr="0" anchor="ctr" bIns="0" lIns="128000" spcFirstLastPara="1" rIns="91425" wrap="square" tIns="0">
            <a:noAutofit/>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의존성 규칙</a:t>
            </a:r>
            <a:r>
              <a:rPr b="1" lang="en-US" sz="950">
                <a:solidFill>
                  <a:srgbClr val="0B2F5B"/>
                </a:solidFill>
                <a:latin typeface="Barlow"/>
                <a:ea typeface="Barlow"/>
                <a:cs typeface="Barlow"/>
                <a:sym typeface="Barlow"/>
              </a:rPr>
              <a:t> </a:t>
            </a:r>
            <a:r>
              <a:rPr b="0" lang="en-US" sz="950">
                <a:solidFill>
                  <a:srgbClr val="1F2A37"/>
                </a:solidFill>
                <a:latin typeface="Barlow"/>
                <a:ea typeface="Barlow"/>
                <a:cs typeface="Barlow"/>
                <a:sym typeface="Barlow"/>
              </a:rPr>
              <a:t>UI → Domain ← Data.</a:t>
            </a:r>
            <a:r>
              <a:rPr lang="en-US" sz="950">
                <a:solidFill>
                  <a:srgbClr val="1F2A37"/>
                </a:solidFill>
                <a:latin typeface="Barlow"/>
                <a:ea typeface="Barlow"/>
                <a:cs typeface="Barlow"/>
                <a:sym typeface="Barlow"/>
              </a:rPr>
              <a:t> Domain은 프로토콜만 소유하므로 </a:t>
            </a:r>
            <a:r>
              <a:rPr b="0" lang="en-US" sz="900">
                <a:solidFill>
                  <a:srgbClr val="1565C0"/>
                </a:solidFill>
                <a:latin typeface="Consolas"/>
                <a:ea typeface="Consolas"/>
                <a:cs typeface="Consolas"/>
                <a:sym typeface="Consolas"/>
              </a:rPr>
              <a:t>BLETransport</a:t>
            </a:r>
            <a:r>
              <a:rPr lang="en-US" sz="950">
                <a:solidFill>
                  <a:srgbClr val="1F2A37"/>
                </a:solidFill>
                <a:latin typeface="Barlow"/>
                <a:ea typeface="Barlow"/>
                <a:cs typeface="Barlow"/>
                <a:sym typeface="Barlow"/>
              </a:rPr>
              <a:t> mock/실제 연결 모두 가능다.</a:t>
            </a:r>
            <a:r>
              <a:rPr b="0" lang="en-US" sz="950">
                <a:solidFill>
                  <a:srgbClr val="1F2A37"/>
                </a:solidFill>
                <a:latin typeface="Barlow"/>
                <a:ea typeface="Barlow"/>
                <a:cs typeface="Barlow"/>
                <a:sym typeface="Barlow"/>
              </a:rPr>
              <a:t>   </a:t>
            </a:r>
            <a:r>
              <a:rPr lang="en-US" sz="950">
                <a:solidFill>
                  <a:srgbClr val="1F2A37"/>
                </a:solidFill>
                <a:latin typeface="Barlow"/>
                <a:ea typeface="Barlow"/>
                <a:cs typeface="Barlow"/>
                <a:sym typeface="Barlow"/>
              </a:rPr>
              <a:t>   </a:t>
            </a:r>
            <a:r>
              <a:rPr b="1" lang="en-US" sz="950">
                <a:solidFill>
                  <a:srgbClr val="1F2A37"/>
                </a:solidFill>
                <a:latin typeface="Barlow"/>
                <a:ea typeface="Barlow"/>
                <a:cs typeface="Barlow"/>
                <a:sym typeface="Barlow"/>
              </a:rPr>
              <a:t>로그</a:t>
            </a:r>
            <a:r>
              <a:rPr lang="en-US" sz="950">
                <a:solidFill>
                  <a:srgbClr val="1F2A37"/>
                </a:solidFill>
                <a:latin typeface="Barlow"/>
                <a:ea typeface="Barlow"/>
                <a:cs typeface="Barlow"/>
                <a:sym typeface="Barlow"/>
              </a:rPr>
              <a:t> </a:t>
            </a:r>
            <a:r>
              <a:rPr lang="en-US" sz="950">
                <a:solidFill>
                  <a:srgbClr val="0B2F5B"/>
                </a:solidFill>
                <a:latin typeface="Barlow"/>
                <a:ea typeface="Barlow"/>
                <a:cs typeface="Barlow"/>
                <a:sym typeface="Barlow"/>
              </a:rPr>
              <a:t>Serial No, NMI No, 비밀번호는 마스킹됩니다.</a:t>
            </a:r>
            <a:endParaRPr/>
          </a:p>
        </p:txBody>
      </p:sp>
      <p:sp>
        <p:nvSpPr>
          <p:cNvPr id="1099" name="Google Shape;1099;p47"/>
          <p:cNvSpPr/>
          <p:nvPr/>
        </p:nvSpPr>
        <p:spPr>
          <a:xfrm>
            <a:off x="1783080" y="1792224"/>
            <a:ext cx="4526400" cy="73140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36575" lIns="128000" spcFirstLastPara="1" rIns="54850" wrap="square" tIns="36575">
            <a:noAutofit/>
          </a:bodyPr>
          <a:lstStyle/>
          <a:p>
            <a:pPr indent="0" lvl="0" marL="0" marR="0" rtl="0" algn="l">
              <a:lnSpc>
                <a:spcPct val="100000"/>
              </a:lnSpc>
              <a:spcBef>
                <a:spcPts val="0"/>
              </a:spcBef>
              <a:spcAft>
                <a:spcPts val="0"/>
              </a:spcAft>
              <a:buNone/>
            </a:pPr>
            <a:r>
              <a:rPr b="1" lang="en-US" sz="1100">
                <a:solidFill>
                  <a:srgbClr val="0B2F5B"/>
                </a:solidFill>
                <a:latin typeface="Montserrat"/>
                <a:ea typeface="Montserrat"/>
                <a:cs typeface="Montserrat"/>
                <a:sym typeface="Montserrat"/>
              </a:rPr>
              <a:t>UI 계층</a:t>
            </a:r>
            <a:endParaRPr/>
          </a:p>
          <a:p>
            <a:pPr indent="0" lvl="0" marL="0" marR="0" rtl="0" algn="l">
              <a:lnSpc>
                <a:spcPct val="100000"/>
              </a:lnSpc>
              <a:spcBef>
                <a:spcPts val="150"/>
              </a:spcBef>
              <a:spcAft>
                <a:spcPts val="0"/>
              </a:spcAft>
              <a:buNone/>
            </a:pPr>
            <a:r>
              <a:rPr b="0" lang="en-US" sz="850">
                <a:solidFill>
                  <a:srgbClr val="1565C0"/>
                </a:solidFill>
                <a:latin typeface="Consolas"/>
                <a:ea typeface="Consolas"/>
                <a:cs typeface="Consolas"/>
                <a:sym typeface="Consolas"/>
              </a:rPr>
              <a:t>SwiftUI View · @MainActor ViewModel</a:t>
            </a:r>
            <a:endParaRPr/>
          </a:p>
          <a:p>
            <a:pPr indent="0" lvl="0" marL="0" marR="0" rtl="0" algn="l">
              <a:lnSpc>
                <a:spcPct val="100000"/>
              </a:lnSpc>
              <a:spcBef>
                <a:spcPts val="150"/>
              </a:spcBef>
              <a:spcAft>
                <a:spcPts val="0"/>
              </a:spcAft>
              <a:buNone/>
            </a:pPr>
            <a:r>
              <a:rPr lang="en-US" sz="950">
                <a:solidFill>
                  <a:srgbClr val="5F6B7A"/>
                </a:solidFill>
                <a:latin typeface="Barlow"/>
                <a:ea typeface="Barlow"/>
                <a:cs typeface="Barlow"/>
                <a:sym typeface="Barlow"/>
              </a:rPr>
              <a:t>화면, UI 잠금 표시, 사용자 동작</a:t>
            </a:r>
            <a:endParaRPr/>
          </a:p>
        </p:txBody>
      </p:sp>
      <p:sp>
        <p:nvSpPr>
          <p:cNvPr id="1100" name="Google Shape;1100;p47"/>
          <p:cNvSpPr/>
          <p:nvPr/>
        </p:nvSpPr>
        <p:spPr>
          <a:xfrm>
            <a:off x="1783080" y="2724912"/>
            <a:ext cx="4526400" cy="731400"/>
          </a:xfrm>
          <a:prstGeom prst="roundRect">
            <a:avLst>
              <a:gd fmla="val 6250" name="adj"/>
            </a:avLst>
          </a:prstGeom>
          <a:solidFill>
            <a:srgbClr val="0B2F5B"/>
          </a:solidFill>
          <a:ln>
            <a:noFill/>
          </a:ln>
        </p:spPr>
        <p:txBody>
          <a:bodyPr anchorCtr="0" anchor="ctr" bIns="36575" lIns="128000" spcFirstLastPara="1" rIns="54850" wrap="square" tIns="36575">
            <a:noAutofit/>
          </a:bodyPr>
          <a:lstStyle/>
          <a:p>
            <a:pPr indent="0" lvl="0" marL="0" marR="0" rtl="0" algn="l">
              <a:lnSpc>
                <a:spcPct val="100000"/>
              </a:lnSpc>
              <a:spcBef>
                <a:spcPts val="0"/>
              </a:spcBef>
              <a:spcAft>
                <a:spcPts val="0"/>
              </a:spcAft>
              <a:buNone/>
            </a:pPr>
            <a:r>
              <a:rPr b="1" lang="en-US" sz="1100">
                <a:solidFill>
                  <a:srgbClr val="FFFFFF"/>
                </a:solidFill>
                <a:latin typeface="Montserrat"/>
                <a:ea typeface="Montserrat"/>
                <a:cs typeface="Montserrat"/>
                <a:sym typeface="Montserrat"/>
              </a:rPr>
              <a:t>도메인 계층</a:t>
            </a:r>
            <a:endParaRPr/>
          </a:p>
          <a:p>
            <a:pPr indent="0" lvl="0" marL="0" marR="0" rtl="0" algn="l">
              <a:lnSpc>
                <a:spcPct val="100000"/>
              </a:lnSpc>
              <a:spcBef>
                <a:spcPts val="150"/>
              </a:spcBef>
              <a:spcAft>
                <a:spcPts val="0"/>
              </a:spcAft>
              <a:buNone/>
            </a:pPr>
            <a:r>
              <a:rPr b="0" lang="en-US" sz="850">
                <a:solidFill>
                  <a:srgbClr val="A9C7EA"/>
                </a:solidFill>
                <a:latin typeface="Consolas"/>
                <a:ea typeface="Consolas"/>
                <a:cs typeface="Consolas"/>
                <a:sym typeface="Consolas"/>
              </a:rPr>
              <a:t>UseCase · Entity · ESSStateMachine</a:t>
            </a:r>
            <a:endParaRPr/>
          </a:p>
          <a:p>
            <a:pPr indent="0" lvl="0" marL="0" marR="0" rtl="0" algn="l">
              <a:lnSpc>
                <a:spcPct val="100000"/>
              </a:lnSpc>
              <a:spcBef>
                <a:spcPts val="150"/>
              </a:spcBef>
              <a:spcAft>
                <a:spcPts val="0"/>
              </a:spcAft>
              <a:buNone/>
            </a:pPr>
            <a:r>
              <a:rPr lang="en-US" sz="950">
                <a:solidFill>
                  <a:srgbClr val="DCE8F7"/>
                </a:solidFill>
                <a:latin typeface="Barlow"/>
                <a:ea typeface="Barlow"/>
                <a:cs typeface="Barlow"/>
                <a:sym typeface="Barlow"/>
              </a:rPr>
              <a:t>상태 규칙, 권한 정책, 요금 설정 가능 여부</a:t>
            </a:r>
            <a:endParaRPr/>
          </a:p>
        </p:txBody>
      </p:sp>
      <p:sp>
        <p:nvSpPr>
          <p:cNvPr id="1101" name="Google Shape;1101;p47"/>
          <p:cNvSpPr/>
          <p:nvPr/>
        </p:nvSpPr>
        <p:spPr>
          <a:xfrm>
            <a:off x="1828705" y="3639300"/>
            <a:ext cx="4526400" cy="73140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36575" lIns="128000" spcFirstLastPara="1" rIns="54850" wrap="square" tIns="36575">
            <a:noAutofit/>
          </a:bodyPr>
          <a:lstStyle/>
          <a:p>
            <a:pPr indent="0" lvl="0" marL="0" marR="0" rtl="0" algn="l">
              <a:lnSpc>
                <a:spcPct val="100000"/>
              </a:lnSpc>
              <a:spcBef>
                <a:spcPts val="0"/>
              </a:spcBef>
              <a:spcAft>
                <a:spcPts val="0"/>
              </a:spcAft>
              <a:buNone/>
            </a:pPr>
            <a:r>
              <a:rPr b="1" lang="en-US" sz="1100">
                <a:solidFill>
                  <a:srgbClr val="0B2F5B"/>
                </a:solidFill>
                <a:latin typeface="Montserrat"/>
                <a:ea typeface="Montserrat"/>
                <a:cs typeface="Montserrat"/>
                <a:sym typeface="Montserrat"/>
              </a:rPr>
              <a:t>데이터 계층</a:t>
            </a:r>
            <a:endParaRPr/>
          </a:p>
          <a:p>
            <a:pPr indent="0" lvl="0" marL="0" marR="0" rtl="0" algn="l">
              <a:lnSpc>
                <a:spcPct val="100000"/>
              </a:lnSpc>
              <a:spcBef>
                <a:spcPts val="150"/>
              </a:spcBef>
              <a:spcAft>
                <a:spcPts val="0"/>
              </a:spcAft>
              <a:buNone/>
            </a:pPr>
            <a:r>
              <a:rPr b="0" lang="en-US" sz="850">
                <a:solidFill>
                  <a:srgbClr val="1565C0"/>
                </a:solidFill>
                <a:latin typeface="Consolas"/>
                <a:ea typeface="Consolas"/>
                <a:cs typeface="Consolas"/>
                <a:sym typeface="Consolas"/>
              </a:rPr>
              <a:t>Repository · BLETransport · SoftAPTransport · REST · Local store</a:t>
            </a:r>
            <a:endParaRPr/>
          </a:p>
          <a:p>
            <a:pPr indent="0" lvl="0" marL="0" marR="0" rtl="0" algn="l">
              <a:lnSpc>
                <a:spcPct val="100000"/>
              </a:lnSpc>
              <a:spcBef>
                <a:spcPts val="150"/>
              </a:spcBef>
              <a:spcAft>
                <a:spcPts val="0"/>
              </a:spcAft>
              <a:buNone/>
            </a:pPr>
            <a:r>
              <a:rPr lang="en-US" sz="950">
                <a:solidFill>
                  <a:srgbClr val="5F6B7A"/>
                </a:solidFill>
                <a:latin typeface="Barlow"/>
                <a:ea typeface="Barlow"/>
                <a:cs typeface="Barlow"/>
                <a:sym typeface="Barlow"/>
              </a:rPr>
              <a:t>기기 레지스터 입출력, 서버 호출, 로컬 저장</a:t>
            </a:r>
            <a:endParaRPr/>
          </a:p>
        </p:txBody>
      </p:sp>
      <p:sp>
        <p:nvSpPr>
          <p:cNvPr id="1102" name="Google Shape;1102;p47"/>
          <p:cNvSpPr/>
          <p:nvPr/>
        </p:nvSpPr>
        <p:spPr>
          <a:xfrm>
            <a:off x="1828930" y="4571950"/>
            <a:ext cx="1417200" cy="914400"/>
          </a:xfrm>
          <a:prstGeom prst="roundRect">
            <a:avLst>
              <a:gd fmla="val 5000" name="adj"/>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36575"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로컬 데이터베이스</a:t>
            </a:r>
            <a:endParaRPr/>
          </a:p>
          <a:p>
            <a:pPr indent="0" lvl="0" marL="0" marR="0" rtl="0" algn="l">
              <a:lnSpc>
                <a:spcPct val="100000"/>
              </a:lnSpc>
              <a:spcBef>
                <a:spcPts val="150"/>
              </a:spcBef>
              <a:spcAft>
                <a:spcPts val="0"/>
              </a:spcAft>
              <a:buNone/>
            </a:pPr>
            <a:r>
              <a:rPr lang="en-US" sz="875">
                <a:solidFill>
                  <a:srgbClr val="1F2A37"/>
                </a:solidFill>
                <a:latin typeface="Barlow"/>
                <a:ea typeface="Barlow"/>
                <a:cs typeface="Barlow"/>
                <a:sym typeface="Barlow"/>
              </a:rPr>
              <a:t>작업 지시, 트랜잭션</a:t>
            </a:r>
            <a:endParaRPr/>
          </a:p>
          <a:p>
            <a:pPr indent="0" lvl="0" marL="0" marR="0" rtl="0" algn="l">
              <a:lnSpc>
                <a:spcPct val="100000"/>
              </a:lnSpc>
              <a:spcBef>
                <a:spcPts val="150"/>
              </a:spcBef>
              <a:spcAft>
                <a:spcPts val="0"/>
              </a:spcAft>
              <a:buNone/>
            </a:pPr>
            <a:r>
              <a:rPr b="1" lang="en-US" sz="875">
                <a:solidFill>
                  <a:srgbClr val="1E7B4F"/>
                </a:solidFill>
                <a:latin typeface="Barlow"/>
                <a:ea typeface="Barlow"/>
                <a:cs typeface="Barlow"/>
                <a:sym typeface="Barlow"/>
              </a:rPr>
              <a:t>작업 지시 데이터: Data Protection .complete</a:t>
            </a:r>
            <a:endParaRPr/>
          </a:p>
        </p:txBody>
      </p:sp>
      <p:sp>
        <p:nvSpPr>
          <p:cNvPr id="1103" name="Google Shape;1103;p47"/>
          <p:cNvSpPr/>
          <p:nvPr/>
        </p:nvSpPr>
        <p:spPr>
          <a:xfrm>
            <a:off x="3383410" y="4571950"/>
            <a:ext cx="1417200" cy="914400"/>
          </a:xfrm>
          <a:prstGeom prst="roundRect">
            <a:avLst>
              <a:gd fmla="val 5000" name="adj"/>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36575"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Keychain</a:t>
            </a:r>
            <a:endParaRPr b="1" sz="1000">
              <a:solidFill>
                <a:srgbClr val="0B2F5B"/>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b="1" sz="1000">
              <a:solidFill>
                <a:srgbClr val="0B2F5B"/>
              </a:solidFill>
              <a:latin typeface="Montserrat"/>
              <a:ea typeface="Montserrat"/>
              <a:cs typeface="Montserrat"/>
              <a:sym typeface="Montserrat"/>
            </a:endParaRPr>
          </a:p>
          <a:p>
            <a:pPr indent="0" lvl="0" marL="0" marR="0" rtl="0" algn="l">
              <a:lnSpc>
                <a:spcPct val="100000"/>
              </a:lnSpc>
              <a:spcBef>
                <a:spcPts val="150"/>
              </a:spcBef>
              <a:spcAft>
                <a:spcPts val="0"/>
              </a:spcAft>
              <a:buNone/>
            </a:pPr>
            <a:r>
              <a:rPr lang="en-US" sz="875">
                <a:solidFill>
                  <a:srgbClr val="1F2A37"/>
                </a:solidFill>
                <a:latin typeface="Barlow"/>
                <a:ea typeface="Barlow"/>
                <a:cs typeface="Barlow"/>
                <a:sym typeface="Barlow"/>
              </a:rPr>
              <a:t>인증 토큰, 리프레시 토큰</a:t>
            </a:r>
            <a:endParaRPr/>
          </a:p>
          <a:p>
            <a:pPr indent="0" lvl="0" marL="0" marR="0" rtl="0" algn="l">
              <a:lnSpc>
                <a:spcPct val="100000"/>
              </a:lnSpc>
              <a:spcBef>
                <a:spcPts val="150"/>
              </a:spcBef>
              <a:spcAft>
                <a:spcPts val="0"/>
              </a:spcAft>
              <a:buNone/>
            </a:pPr>
            <a:r>
              <a:rPr b="1" lang="en-US" sz="875">
                <a:solidFill>
                  <a:srgbClr val="1E7B4F"/>
                </a:solidFill>
                <a:latin typeface="Barlow"/>
                <a:ea typeface="Barlow"/>
                <a:cs typeface="Barlow"/>
                <a:sym typeface="Barlow"/>
              </a:rPr>
              <a:t>ThisDeviceOnly</a:t>
            </a:r>
            <a:endParaRPr/>
          </a:p>
        </p:txBody>
      </p:sp>
      <p:sp>
        <p:nvSpPr>
          <p:cNvPr id="1104" name="Google Shape;1104;p47"/>
          <p:cNvSpPr/>
          <p:nvPr/>
        </p:nvSpPr>
        <p:spPr>
          <a:xfrm>
            <a:off x="4937890" y="4571950"/>
            <a:ext cx="1417200" cy="914400"/>
          </a:xfrm>
          <a:prstGeom prst="roundRect">
            <a:avLst>
              <a:gd fmla="val 5000" name="adj"/>
            </a:avLst>
          </a:prstGeom>
          <a:solidFill>
            <a:srgbClr val="FFFFFF"/>
          </a:solidFill>
          <a:ln cap="flat" cmpd="sng" w="9525">
            <a:solidFill>
              <a:srgbClr val="5F6B7A"/>
            </a:solidFill>
            <a:prstDash val="dash"/>
            <a:round/>
            <a:headEnd len="sm" w="sm" type="none"/>
            <a:tailEnd len="sm" w="sm" type="none"/>
          </a:ln>
        </p:spPr>
        <p:txBody>
          <a:bodyPr anchorCtr="0" anchor="ctr" bIns="27425" lIns="91425" spcFirstLastPara="1" rIns="36575"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메모리 전용</a:t>
            </a:r>
            <a:endParaRPr/>
          </a:p>
          <a:p>
            <a:pPr indent="0" lvl="0" marL="0" marR="0" rtl="0" algn="l">
              <a:lnSpc>
                <a:spcPct val="100000"/>
              </a:lnSpc>
              <a:spcBef>
                <a:spcPts val="150"/>
              </a:spcBef>
              <a:spcAft>
                <a:spcPts val="0"/>
              </a:spcAft>
              <a:buNone/>
            </a:pPr>
            <a:r>
              <a:rPr lang="en-US" sz="875">
                <a:solidFill>
                  <a:srgbClr val="1F2A37"/>
                </a:solidFill>
                <a:latin typeface="Barlow"/>
                <a:ea typeface="Barlow"/>
                <a:cs typeface="Barlow"/>
                <a:sym typeface="Barlow"/>
              </a:rPr>
              <a:t>임시 설치 기사 비밀번호</a:t>
            </a:r>
            <a:endParaRPr/>
          </a:p>
          <a:p>
            <a:pPr indent="0" lvl="0" marL="0" marR="0" rtl="0" algn="l">
              <a:lnSpc>
                <a:spcPct val="100000"/>
              </a:lnSpc>
              <a:spcBef>
                <a:spcPts val="150"/>
              </a:spcBef>
              <a:spcAft>
                <a:spcPts val="0"/>
              </a:spcAft>
              <a:buNone/>
            </a:pPr>
            <a:r>
              <a:rPr b="1" lang="en-US" sz="875">
                <a:solidFill>
                  <a:srgbClr val="1E7B4F"/>
                </a:solidFill>
                <a:latin typeface="Barlow"/>
                <a:ea typeface="Barlow"/>
                <a:cs typeface="Barlow"/>
                <a:sym typeface="Barlow"/>
              </a:rPr>
              <a:t>저장 안 함</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9" name="Shape 1109"/>
        <p:cNvGrpSpPr/>
        <p:nvPr/>
      </p:nvGrpSpPr>
      <p:grpSpPr>
        <a:xfrm>
          <a:off x="0" y="0"/>
          <a:ext cx="0" cy="0"/>
          <a:chOff x="0" y="0"/>
          <a:chExt cx="0" cy="0"/>
        </a:xfrm>
      </p:grpSpPr>
      <p:sp>
        <p:nvSpPr>
          <p:cNvPr id="1110" name="Google Shape;1110;p48"/>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기기 연결 · 가정된 펌웨어 상호작용</a:t>
            </a:r>
            <a:endParaRPr/>
          </a:p>
        </p:txBody>
      </p:sp>
      <p:sp>
        <p:nvSpPr>
          <p:cNvPr id="1111" name="Google Shape;1111;p48"/>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앱이 Serial No로 ESS를 찾고 버전별로 세션을 제어합니다</a:t>
            </a:r>
            <a:endParaRPr/>
          </a:p>
        </p:txBody>
      </p:sp>
      <p:sp>
        <p:nvSpPr>
          <p:cNvPr id="1112" name="Google Shape;1112;p48"/>
          <p:cNvSpPr txBox="1"/>
          <p:nvPr/>
        </p:nvSpPr>
        <p:spPr>
          <a:xfrm>
            <a:off x="457200" y="1216152"/>
            <a:ext cx="3291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1 · 기기 찾기 및 식별</a:t>
            </a:r>
            <a:endParaRPr/>
          </a:p>
        </p:txBody>
      </p:sp>
      <p:sp>
        <p:nvSpPr>
          <p:cNvPr id="1113" name="Google Shape;1113;p48"/>
          <p:cNvSpPr/>
          <p:nvPr/>
        </p:nvSpPr>
        <p:spPr>
          <a:xfrm>
            <a:off x="3246120" y="1225296"/>
            <a:ext cx="1165124"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포그라운드 전용 스캔</a:t>
            </a:r>
            <a:endParaRPr/>
          </a:p>
        </p:txBody>
      </p:sp>
      <p:sp>
        <p:nvSpPr>
          <p:cNvPr id="1114" name="Google Shape;1114;p48"/>
          <p:cNvSpPr/>
          <p:nvPr/>
        </p:nvSpPr>
        <p:spPr>
          <a:xfrm>
            <a:off x="4466107" y="1225296"/>
            <a:ext cx="1099291" cy="188912"/>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50">
                <a:solidFill>
                  <a:srgbClr val="0B2F5B"/>
                </a:solidFill>
                <a:latin typeface="Barlow"/>
                <a:ea typeface="Barlow"/>
                <a:cs typeface="Barlow"/>
                <a:sym typeface="Barlow"/>
              </a:rPr>
              <a:t>일치 시 stopScan()</a:t>
            </a:r>
            <a:endParaRPr/>
          </a:p>
        </p:txBody>
      </p:sp>
      <p:sp>
        <p:nvSpPr>
          <p:cNvPr id="1115" name="Google Shape;1115;p48"/>
          <p:cNvSpPr/>
          <p:nvPr/>
        </p:nvSpPr>
        <p:spPr>
          <a:xfrm>
            <a:off x="457200" y="1536192"/>
            <a:ext cx="2231136" cy="429768"/>
          </a:xfrm>
          <a:prstGeom prst="roundRect">
            <a:avLst>
              <a:gd fmla="val 10638" name="adj"/>
            </a:avLst>
          </a:prstGeom>
          <a:solidFill>
            <a:srgbClr val="EAF2FB"/>
          </a:solidFill>
          <a:ln cap="flat" cmpd="sng" w="9525">
            <a:solidFill>
              <a:srgbClr val="C7D7EA"/>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주변 BLE 기기</a:t>
            </a:r>
            <a:endParaRPr/>
          </a:p>
        </p:txBody>
      </p:sp>
      <p:sp>
        <p:nvSpPr>
          <p:cNvPr id="1116" name="Google Shape;1116;p48"/>
          <p:cNvSpPr txBox="1"/>
          <p:nvPr/>
        </p:nvSpPr>
        <p:spPr>
          <a:xfrm>
            <a:off x="2852928" y="1536192"/>
            <a:ext cx="301752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설치 기사 주변에서 광고하는 모든 기기.</a:t>
            </a:r>
            <a:endParaRPr/>
          </a:p>
        </p:txBody>
      </p:sp>
      <p:sp>
        <p:nvSpPr>
          <p:cNvPr id="1117" name="Google Shape;1117;p48"/>
          <p:cNvSpPr/>
          <p:nvPr/>
        </p:nvSpPr>
        <p:spPr>
          <a:xfrm>
            <a:off x="667512" y="2016252"/>
            <a:ext cx="1810512" cy="429768"/>
          </a:xfrm>
          <a:prstGeom prst="roundRect">
            <a:avLst>
              <a:gd fmla="val 10638" name="adj"/>
            </a:avLst>
          </a:prstGeom>
          <a:solidFill>
            <a:srgbClr val="5DA9E9"/>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모델 Service UUID</a:t>
            </a:r>
            <a:endParaRPr/>
          </a:p>
        </p:txBody>
      </p:sp>
      <p:sp>
        <p:nvSpPr>
          <p:cNvPr id="1118" name="Google Shape;1118;p48"/>
          <p:cNvSpPr txBox="1"/>
          <p:nvPr/>
        </p:nvSpPr>
        <p:spPr>
          <a:xfrm>
            <a:off x="2852928" y="2016252"/>
            <a:ext cx="301752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75">
                <a:solidFill>
                  <a:srgbClr val="1565C0"/>
                </a:solidFill>
                <a:latin typeface="Consolas"/>
                <a:ea typeface="Consolas"/>
                <a:cs typeface="Consolas"/>
                <a:sym typeface="Consolas"/>
              </a:rPr>
              <a:t>scanForPeripherals(wit</a:t>
            </a:r>
            <a:endParaRPr b="0" sz="875">
              <a:solidFill>
                <a:srgbClr val="1565C0"/>
              </a:solidFill>
              <a:latin typeface="Consolas"/>
              <a:ea typeface="Consolas"/>
              <a:cs typeface="Consolas"/>
              <a:sym typeface="Consolas"/>
            </a:endParaRPr>
          </a:p>
          <a:p>
            <a:pPr indent="0" lvl="0" marL="0" marR="0" rtl="0" algn="l">
              <a:lnSpc>
                <a:spcPct val="100000"/>
              </a:lnSpc>
              <a:spcBef>
                <a:spcPts val="0"/>
              </a:spcBef>
              <a:spcAft>
                <a:spcPts val="0"/>
              </a:spcAft>
              <a:buNone/>
            </a:pPr>
            <a:r>
              <a:rPr b="0" lang="en-US" sz="875">
                <a:solidFill>
                  <a:srgbClr val="1565C0"/>
                </a:solidFill>
                <a:latin typeface="Consolas"/>
                <a:ea typeface="Consolas"/>
                <a:cs typeface="Consolas"/>
                <a:sym typeface="Consolas"/>
              </a:rPr>
              <a:t>hServices:)</a:t>
            </a:r>
            <a:r>
              <a:rPr lang="en-US" sz="950">
                <a:solidFill>
                  <a:srgbClr val="1F2A37"/>
                </a:solidFill>
                <a:latin typeface="Barlow"/>
                <a:ea typeface="Barlow"/>
                <a:cs typeface="Barlow"/>
                <a:sym typeface="Barlow"/>
              </a:rPr>
              <a:t> 무관한 기기 걸러냄.</a:t>
            </a:r>
            <a:endParaRPr/>
          </a:p>
        </p:txBody>
      </p:sp>
      <p:sp>
        <p:nvSpPr>
          <p:cNvPr id="1119" name="Google Shape;1119;p48"/>
          <p:cNvSpPr/>
          <p:nvPr/>
        </p:nvSpPr>
        <p:spPr>
          <a:xfrm>
            <a:off x="877824" y="2496312"/>
            <a:ext cx="1389888" cy="429768"/>
          </a:xfrm>
          <a:prstGeom prst="roundRect">
            <a:avLst>
              <a:gd fmla="val 10638" name="adj"/>
            </a:avLst>
          </a:prstGeom>
          <a:solidFill>
            <a:srgbClr val="1565C0"/>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75">
                <a:solidFill>
                  <a:srgbClr val="FFFFFF"/>
                </a:solidFill>
                <a:latin typeface="Montserrat"/>
                <a:ea typeface="Montserrat"/>
                <a:cs typeface="Montserrat"/>
                <a:sym typeface="Montserrat"/>
              </a:rPr>
              <a:t>Serial No 일치</a:t>
            </a:r>
            <a:endParaRPr/>
          </a:p>
        </p:txBody>
      </p:sp>
      <p:sp>
        <p:nvSpPr>
          <p:cNvPr id="1120" name="Google Shape;1120;p48"/>
          <p:cNvSpPr txBox="1"/>
          <p:nvPr/>
        </p:nvSpPr>
        <p:spPr>
          <a:xfrm>
            <a:off x="2852928" y="2496312"/>
            <a:ext cx="301752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광고된 Local Name에서 가져온 Serial No를 작업 목록 또는 수동 입력과 대조.</a:t>
            </a:r>
            <a:endParaRPr/>
          </a:p>
        </p:txBody>
      </p:sp>
      <p:sp>
        <p:nvSpPr>
          <p:cNvPr id="1121" name="Google Shape;1121;p48"/>
          <p:cNvSpPr/>
          <p:nvPr/>
        </p:nvSpPr>
        <p:spPr>
          <a:xfrm>
            <a:off x="1088136" y="2976372"/>
            <a:ext cx="969264" cy="429768"/>
          </a:xfrm>
          <a:prstGeom prst="roundRect">
            <a:avLst>
              <a:gd fmla="val 10638" name="adj"/>
            </a:avLst>
          </a:prstGeom>
          <a:solidFill>
            <a:srgbClr val="0B2F5B"/>
          </a:solidFill>
          <a:ln>
            <a:noFill/>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75">
                <a:solidFill>
                  <a:srgbClr val="FFFFFF"/>
                </a:solidFill>
                <a:latin typeface="Montserrat"/>
                <a:ea typeface="Montserrat"/>
                <a:cs typeface="Montserrat"/>
                <a:sym typeface="Montserrat"/>
              </a:rPr>
              <a:t>ESS 1대</a:t>
            </a:r>
            <a:endParaRPr/>
          </a:p>
        </p:txBody>
      </p:sp>
      <p:sp>
        <p:nvSpPr>
          <p:cNvPr id="1122" name="Google Shape;1122;p48"/>
          <p:cNvSpPr txBox="1"/>
          <p:nvPr/>
        </p:nvSpPr>
        <p:spPr>
          <a:xfrm>
            <a:off x="2852928" y="2976372"/>
            <a:ext cx="3017520" cy="4297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한 Serial No에 여러 응답이 오면 RSSI가 가장 높은 기기를 선택하고 설치 기사에게 확인을 요청.</a:t>
            </a:r>
            <a:endParaRPr/>
          </a:p>
        </p:txBody>
      </p:sp>
      <p:sp>
        <p:nvSpPr>
          <p:cNvPr id="1123" name="Google Shape;1123;p48"/>
          <p:cNvSpPr/>
          <p:nvPr/>
        </p:nvSpPr>
        <p:spPr>
          <a:xfrm>
            <a:off x="457200" y="3511296"/>
            <a:ext cx="5413248" cy="603504"/>
          </a:xfrm>
          <a:prstGeom prst="rect">
            <a:avLst/>
          </a:prstGeom>
          <a:solidFill>
            <a:srgbClr val="F5F8FC"/>
          </a:solidFill>
          <a:ln>
            <a:noFill/>
          </a:ln>
        </p:spPr>
        <p:txBody>
          <a:bodyPr anchorCtr="0" anchor="ctr" bIns="18275" lIns="109725" spcFirstLastPara="1" rIns="91425" wrap="square" tIns="18275">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MAC 주소를 쓰지 않는 이유 iOS가 MAC을 숨기고 CBPeripheral.identifier는 iPhone별 임의 UUID입니다. 이름이 잘리면 연결 후 Serial Number String(0x2A25)을 읽습니다. 모델별 UUID와 Local Name 형식: TBD, 서버 Remote Config로 갱신.</a:t>
            </a:r>
            <a:endParaRPr b="1"/>
          </a:p>
        </p:txBody>
      </p:sp>
      <p:sp>
        <p:nvSpPr>
          <p:cNvPr id="1124" name="Google Shape;1124;p48"/>
          <p:cNvSpPr txBox="1"/>
          <p:nvPr/>
        </p:nvSpPr>
        <p:spPr>
          <a:xfrm>
            <a:off x="6263640" y="1216152"/>
            <a:ext cx="51206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2 · 프로토콜 버전으로 세션 제어</a:t>
            </a:r>
            <a:endParaRPr/>
          </a:p>
        </p:txBody>
      </p:sp>
      <p:sp>
        <p:nvSpPr>
          <p:cNvPr id="1125" name="Google Shape;1125;p48"/>
          <p:cNvSpPr/>
          <p:nvPr/>
        </p:nvSpPr>
        <p:spPr>
          <a:xfrm>
            <a:off x="6263640" y="2212848"/>
            <a:ext cx="2011680" cy="1060704"/>
          </a:xfrm>
          <a:prstGeom prst="roundRect">
            <a:avLst>
              <a:gd fmla="val 5172" name="adj"/>
            </a:avLst>
          </a:prstGeom>
          <a:solidFill>
            <a:srgbClr val="0B2F5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버전 확인</a:t>
            </a:r>
            <a:endParaRPr/>
          </a:p>
          <a:p>
            <a:pPr indent="0" lvl="0" marL="0" marR="0" rtl="0" algn="ctr">
              <a:lnSpc>
                <a:spcPct val="100000"/>
              </a:lnSpc>
              <a:spcBef>
                <a:spcPts val="200"/>
              </a:spcBef>
              <a:spcAft>
                <a:spcPts val="0"/>
              </a:spcAft>
              <a:buNone/>
            </a:pPr>
            <a:r>
              <a:rPr lang="en-US" sz="925">
                <a:solidFill>
                  <a:srgbClr val="DCE8F7"/>
                </a:solidFill>
                <a:latin typeface="Barlow"/>
                <a:ea typeface="Barlow"/>
                <a:cs typeface="Barlow"/>
                <a:sym typeface="Barlow"/>
              </a:rPr>
              <a:t>연결 직후 기기 프로토콜 버전을 읽어 앱 지원 범위(Min ~ Max)와 비교</a:t>
            </a:r>
            <a:endParaRPr/>
          </a:p>
        </p:txBody>
      </p:sp>
      <p:sp>
        <p:nvSpPr>
          <p:cNvPr id="1126" name="Google Shape;1126;p48"/>
          <p:cNvSpPr/>
          <p:nvPr/>
        </p:nvSpPr>
        <p:spPr>
          <a:xfrm>
            <a:off x="8915400" y="1554480"/>
            <a:ext cx="2514600" cy="694944"/>
          </a:xfrm>
          <a:prstGeom prst="roundRect">
            <a:avLst>
              <a:gd fmla="val 7894" name="adj"/>
            </a:avLst>
          </a:prstGeom>
          <a:solidFill>
            <a:srgbClr val="FFF4E0"/>
          </a:solidFill>
          <a:ln cap="flat" cmpd="sng" w="9525">
            <a:solidFill>
              <a:srgbClr val="F0A93B"/>
            </a:solidFill>
            <a:prstDash val="solid"/>
            <a:round/>
            <a:headEnd len="sm" w="sm" type="none"/>
            <a:tailEnd len="sm" w="sm" type="none"/>
          </a:ln>
        </p:spPr>
        <p:txBody>
          <a:bodyPr anchorCtr="0" anchor="ctr" bIns="36575" lIns="109725" spcFirstLastPara="1" rIns="73150" wrap="square" tIns="36575">
            <a:noAutofit/>
          </a:bodyPr>
          <a:lstStyle/>
          <a:p>
            <a:pPr indent="0" lvl="0" marL="0" marR="0" rtl="0" algn="l">
              <a:lnSpc>
                <a:spcPct val="100000"/>
              </a:lnSpc>
              <a:spcBef>
                <a:spcPts val="0"/>
              </a:spcBef>
              <a:spcAft>
                <a:spcPts val="0"/>
              </a:spcAft>
              <a:buNone/>
            </a:pPr>
            <a:r>
              <a:rPr b="1" lang="en-US" sz="1050">
                <a:solidFill>
                  <a:srgbClr val="9A5B00"/>
                </a:solidFill>
                <a:latin typeface="Montserrat"/>
                <a:ea typeface="Montserrat"/>
                <a:cs typeface="Montserrat"/>
                <a:sym typeface="Montserrat"/>
              </a:rPr>
              <a:t>기기 버전이 너무 낮음</a:t>
            </a:r>
            <a:endParaRPr/>
          </a:p>
          <a:p>
            <a:pPr indent="0" lvl="0" marL="0" marR="0" rtl="0" algn="l">
              <a:lnSpc>
                <a:spcPct val="100000"/>
              </a:lnSpc>
              <a:spcBef>
                <a:spcPts val="150"/>
              </a:spcBef>
              <a:spcAft>
                <a:spcPts val="0"/>
              </a:spcAft>
              <a:buNone/>
            </a:pPr>
            <a:r>
              <a:rPr lang="en-US" sz="950">
                <a:solidFill>
                  <a:srgbClr val="1F2A37"/>
                </a:solidFill>
                <a:latin typeface="Barlow"/>
                <a:ea typeface="Barlow"/>
                <a:cs typeface="Barlow"/>
                <a:sym typeface="Barlow"/>
              </a:rPr>
              <a:t>구성 쓰기를 차단하고 펌웨어 업데이트를 안내</a:t>
            </a:r>
            <a:endParaRPr/>
          </a:p>
        </p:txBody>
      </p:sp>
      <p:sp>
        <p:nvSpPr>
          <p:cNvPr id="1127" name="Google Shape;1127;p48"/>
          <p:cNvSpPr/>
          <p:nvPr/>
        </p:nvSpPr>
        <p:spPr>
          <a:xfrm>
            <a:off x="8275320" y="1901952"/>
            <a:ext cx="640080" cy="841248"/>
          </a:xfrm>
          <a:custGeom>
            <a:rect b="b" l="l" r="r" t="t"/>
            <a:pathLst>
              <a:path extrusionOk="0" h="841248" w="640080">
                <a:moveTo>
                  <a:pt x="0" y="841248"/>
                </a:moveTo>
                <a:lnTo>
                  <a:pt x="320040" y="841248"/>
                </a:lnTo>
                <a:lnTo>
                  <a:pt x="320040" y="0"/>
                </a:lnTo>
                <a:lnTo>
                  <a:pt x="640080" y="0"/>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28" name="Google Shape;1128;p48"/>
          <p:cNvSpPr/>
          <p:nvPr/>
        </p:nvSpPr>
        <p:spPr>
          <a:xfrm>
            <a:off x="8915400" y="2395728"/>
            <a:ext cx="2514600" cy="694944"/>
          </a:xfrm>
          <a:prstGeom prst="roundRect">
            <a:avLst>
              <a:gd fmla="val 7894" name="adj"/>
            </a:avLst>
          </a:prstGeom>
          <a:solidFill>
            <a:srgbClr val="E6F4EA"/>
          </a:solidFill>
          <a:ln cap="flat" cmpd="sng" w="9525">
            <a:solidFill>
              <a:srgbClr val="8CC9A6"/>
            </a:solidFill>
            <a:prstDash val="solid"/>
            <a:round/>
            <a:headEnd len="sm" w="sm" type="none"/>
            <a:tailEnd len="sm" w="sm" type="none"/>
          </a:ln>
        </p:spPr>
        <p:txBody>
          <a:bodyPr anchorCtr="0" anchor="ctr" bIns="36575" lIns="109725" spcFirstLastPara="1" rIns="73150" wrap="square" tIns="36575">
            <a:noAutofit/>
          </a:bodyPr>
          <a:lstStyle/>
          <a:p>
            <a:pPr indent="0" lvl="0" marL="0" marR="0" rtl="0" algn="l">
              <a:lnSpc>
                <a:spcPct val="100000"/>
              </a:lnSpc>
              <a:spcBef>
                <a:spcPts val="0"/>
              </a:spcBef>
              <a:spcAft>
                <a:spcPts val="0"/>
              </a:spcAft>
              <a:buNone/>
            </a:pPr>
            <a:r>
              <a:rPr b="1" lang="en-US" sz="1050">
                <a:solidFill>
                  <a:srgbClr val="1E7B4F"/>
                </a:solidFill>
                <a:latin typeface="Montserrat"/>
                <a:ea typeface="Montserrat"/>
                <a:cs typeface="Montserrat"/>
                <a:sym typeface="Montserrat"/>
              </a:rPr>
              <a:t>범위 내</a:t>
            </a:r>
            <a:endParaRPr/>
          </a:p>
          <a:p>
            <a:pPr indent="0" lvl="0" marL="0" marR="0" rtl="0" algn="l">
              <a:lnSpc>
                <a:spcPct val="100000"/>
              </a:lnSpc>
              <a:spcBef>
                <a:spcPts val="150"/>
              </a:spcBef>
              <a:spcAft>
                <a:spcPts val="0"/>
              </a:spcAft>
              <a:buNone/>
            </a:pPr>
            <a:r>
              <a:rPr lang="en-US" sz="950">
                <a:solidFill>
                  <a:srgbClr val="1F2A37"/>
                </a:solidFill>
                <a:latin typeface="Barlow"/>
                <a:ea typeface="Barlow"/>
                <a:cs typeface="Barlow"/>
                <a:sym typeface="Barlow"/>
              </a:rPr>
              <a:t>세션 진행</a:t>
            </a:r>
            <a:endParaRPr/>
          </a:p>
        </p:txBody>
      </p:sp>
      <p:cxnSp>
        <p:nvCxnSpPr>
          <p:cNvPr id="1129" name="Google Shape;1129;p48"/>
          <p:cNvCxnSpPr>
            <a:stCxn id="1125" idx="3"/>
            <a:endCxn id="1128" idx="1"/>
          </p:cNvCxnSpPr>
          <p:nvPr/>
        </p:nvCxnSpPr>
        <p:spPr>
          <a:xfrm>
            <a:off x="8275320" y="2743200"/>
            <a:ext cx="640200" cy="0"/>
          </a:xfrm>
          <a:prstGeom prst="straightConnector1">
            <a:avLst/>
          </a:prstGeom>
          <a:noFill/>
          <a:ln cap="flat" cmpd="sng" w="15875">
            <a:solidFill>
              <a:srgbClr val="0B2F5B"/>
            </a:solidFill>
            <a:prstDash val="solid"/>
            <a:round/>
            <a:headEnd len="sm" w="sm" type="none"/>
            <a:tailEnd len="med" w="med" type="triangle"/>
          </a:ln>
        </p:spPr>
      </p:cxnSp>
      <p:sp>
        <p:nvSpPr>
          <p:cNvPr id="1130" name="Google Shape;1130;p48"/>
          <p:cNvSpPr/>
          <p:nvPr/>
        </p:nvSpPr>
        <p:spPr>
          <a:xfrm>
            <a:off x="8915400" y="3236976"/>
            <a:ext cx="2514600" cy="694944"/>
          </a:xfrm>
          <a:prstGeom prst="roundRect">
            <a:avLst>
              <a:gd fmla="val 7894" name="adj"/>
            </a:avLst>
          </a:prstGeom>
          <a:solidFill>
            <a:srgbClr val="FDECEA"/>
          </a:solidFill>
          <a:ln cap="flat" cmpd="sng" w="9525">
            <a:solidFill>
              <a:srgbClr val="E9A39D"/>
            </a:solidFill>
            <a:prstDash val="solid"/>
            <a:round/>
            <a:headEnd len="sm" w="sm" type="none"/>
            <a:tailEnd len="sm" w="sm" type="none"/>
          </a:ln>
        </p:spPr>
        <p:txBody>
          <a:bodyPr anchorCtr="0" anchor="ctr" bIns="36575" lIns="109725" spcFirstLastPara="1" rIns="73150" wrap="square" tIns="36575">
            <a:noAutofit/>
          </a:bodyPr>
          <a:lstStyle/>
          <a:p>
            <a:pPr indent="0" lvl="0" marL="0" marR="0" rtl="0" algn="l">
              <a:lnSpc>
                <a:spcPct val="100000"/>
              </a:lnSpc>
              <a:spcBef>
                <a:spcPts val="0"/>
              </a:spcBef>
              <a:spcAft>
                <a:spcPts val="0"/>
              </a:spcAft>
              <a:buNone/>
            </a:pPr>
            <a:r>
              <a:rPr b="1" lang="en-US" sz="1050">
                <a:solidFill>
                  <a:srgbClr val="B3261E"/>
                </a:solidFill>
                <a:latin typeface="Montserrat"/>
                <a:ea typeface="Montserrat"/>
                <a:cs typeface="Montserrat"/>
                <a:sym typeface="Montserrat"/>
              </a:rPr>
              <a:t>기기 버전이 너무 높음</a:t>
            </a:r>
            <a:endParaRPr/>
          </a:p>
          <a:p>
            <a:pPr indent="0" lvl="0" marL="0" marR="0" rtl="0" algn="l">
              <a:lnSpc>
                <a:spcPct val="100000"/>
              </a:lnSpc>
              <a:spcBef>
                <a:spcPts val="150"/>
              </a:spcBef>
              <a:spcAft>
                <a:spcPts val="0"/>
              </a:spcAft>
              <a:buNone/>
            </a:pPr>
            <a:r>
              <a:rPr lang="en-US" sz="950">
                <a:solidFill>
                  <a:srgbClr val="1F2A37"/>
                </a:solidFill>
                <a:latin typeface="Barlow"/>
                <a:ea typeface="Barlow"/>
                <a:cs typeface="Barlow"/>
                <a:sym typeface="Barlow"/>
              </a:rPr>
              <a:t>앱 업데이트 필요</a:t>
            </a:r>
            <a:endParaRPr/>
          </a:p>
        </p:txBody>
      </p:sp>
      <p:sp>
        <p:nvSpPr>
          <p:cNvPr id="1131" name="Google Shape;1131;p48"/>
          <p:cNvSpPr/>
          <p:nvPr/>
        </p:nvSpPr>
        <p:spPr>
          <a:xfrm>
            <a:off x="8275320" y="2743200"/>
            <a:ext cx="640080" cy="841248"/>
          </a:xfrm>
          <a:custGeom>
            <a:rect b="b" l="l" r="r" t="t"/>
            <a:pathLst>
              <a:path extrusionOk="0" h="841248" w="640080">
                <a:moveTo>
                  <a:pt x="0" y="0"/>
                </a:moveTo>
                <a:lnTo>
                  <a:pt x="320040" y="0"/>
                </a:lnTo>
                <a:lnTo>
                  <a:pt x="320040" y="841248"/>
                </a:lnTo>
                <a:lnTo>
                  <a:pt x="640080" y="841248"/>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132" name="Google Shape;1132;p48"/>
          <p:cNvSpPr txBox="1"/>
          <p:nvPr/>
        </p:nvSpPr>
        <p:spPr>
          <a:xfrm>
            <a:off x="6263640" y="3401568"/>
            <a:ext cx="201168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i="1" lang="en-US" sz="850">
                <a:solidFill>
                  <a:srgbClr val="5F6B7A"/>
                </a:solidFill>
                <a:latin typeface="Barlow"/>
                <a:ea typeface="Barlow"/>
                <a:cs typeface="Barlow"/>
                <a:sym typeface="Barlow"/>
              </a:rPr>
              <a:t>추가 버전 규칙: 백업 B1</a:t>
            </a:r>
            <a:endParaRPr/>
          </a:p>
        </p:txBody>
      </p:sp>
      <p:sp>
        <p:nvSpPr>
          <p:cNvPr id="1133" name="Google Shape;1133;p48"/>
          <p:cNvSpPr txBox="1"/>
          <p:nvPr/>
        </p:nvSpPr>
        <p:spPr>
          <a:xfrm>
            <a:off x="457200" y="4224528"/>
            <a:ext cx="5943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3 · 기기 명령·이벤트별 고정 규약</a:t>
            </a:r>
            <a:endParaRPr/>
          </a:p>
        </p:txBody>
      </p:sp>
      <p:sp>
        <p:nvSpPr>
          <p:cNvPr id="1134" name="Google Shape;1134;p48"/>
          <p:cNvSpPr txBox="1"/>
          <p:nvPr/>
        </p:nvSpPr>
        <p:spPr>
          <a:xfrm>
            <a:off x="6400800" y="4224528"/>
            <a:ext cx="50292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lang="en-US" sz="875">
                <a:solidFill>
                  <a:srgbClr val="9A5B00"/>
                </a:solidFill>
                <a:latin typeface="Barlow"/>
                <a:ea typeface="Barlow"/>
                <a:cs typeface="Barlow"/>
                <a:sym typeface="Barlow"/>
              </a:rPr>
              <a:t>TBD</a:t>
            </a:r>
            <a:r>
              <a:rPr b="0" lang="en-US" sz="875">
                <a:solidFill>
                  <a:srgbClr val="5F6B7A"/>
                </a:solidFill>
                <a:latin typeface="Barlow"/>
                <a:ea typeface="Barlow"/>
                <a:cs typeface="Barlow"/>
                <a:sym typeface="Barlow"/>
              </a:rPr>
              <a:t> = </a:t>
            </a:r>
            <a:r>
              <a:rPr lang="en-US" sz="875">
                <a:solidFill>
                  <a:srgbClr val="5F6B7A"/>
                </a:solidFill>
                <a:latin typeface="Barlow"/>
                <a:ea typeface="Barlow"/>
                <a:cs typeface="Barlow"/>
                <a:sym typeface="Barlow"/>
              </a:rPr>
              <a:t>사양 확정 후 결정</a:t>
            </a:r>
            <a:endParaRPr/>
          </a:p>
        </p:txBody>
      </p:sp>
      <p:graphicFrame>
        <p:nvGraphicFramePr>
          <p:cNvPr id="1135" name="Google Shape;1135;p48"/>
          <p:cNvGraphicFramePr/>
          <p:nvPr/>
        </p:nvGraphicFramePr>
        <p:xfrm>
          <a:off x="457200" y="4480560"/>
          <a:ext cx="3000000" cy="3000000"/>
        </p:xfrm>
        <a:graphic>
          <a:graphicData uri="http://schemas.openxmlformats.org/drawingml/2006/table">
            <a:tbl>
              <a:tblPr>
                <a:noFill/>
                <a:tableStyleId>{56590D6C-02A8-461A-8D93-8EB1FDAFD057}</a:tableStyleId>
              </a:tblPr>
              <a:tblGrid>
                <a:gridCol w="877825"/>
                <a:gridCol w="1261875"/>
                <a:gridCol w="1261875"/>
                <a:gridCol w="1261875"/>
                <a:gridCol w="1261875"/>
                <a:gridCol w="1261875"/>
                <a:gridCol w="1261875"/>
                <a:gridCol w="1261875"/>
                <a:gridCol w="1261875"/>
              </a:tblGrid>
              <a:tr h="384050">
                <a:tc>
                  <a:txBody>
                    <a:bodyPr/>
                    <a:lstStyle/>
                    <a:p>
                      <a:pPr indent="0" lvl="0" marL="0" marR="0" rtl="0" algn="l">
                        <a:lnSpc>
                          <a:spcPct val="100000"/>
                        </a:lnSpc>
                        <a:spcBef>
                          <a:spcPts val="0"/>
                        </a:spcBef>
                        <a:spcAft>
                          <a:spcPts val="0"/>
                        </a:spcAft>
                        <a:buNone/>
                      </a:pPr>
                      <a:r>
                        <a:t/>
                      </a:r>
                      <a:endParaRPr sz="1628" u="none" cap="none" strike="noStrike"/>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연결 + 버전 핸드셰이크</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일괄 읽기</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단건 쓰기</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깨우기 (SoftAP 시작)</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FW 청크 전송</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FW 커밋 / 버전 확인</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상태 변경 이벤트</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플래시 진행 이벤트</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r>
              <a:tr h="256025">
                <a:tc>
                  <a:txBody>
                    <a:bodyPr/>
                    <a:lstStyle/>
                    <a:p>
                      <a:pPr indent="0" lvl="0" marL="0" marR="0" rtl="0" algn="l">
                        <a:lnSpc>
                          <a:spcPct val="100000"/>
                        </a:lnSpc>
                        <a:spcBef>
                          <a:spcPts val="0"/>
                        </a:spcBef>
                        <a:spcAft>
                          <a:spcPts val="0"/>
                        </a:spcAft>
                        <a:buNone/>
                      </a:pPr>
                      <a:r>
                        <a:rPr b="1" lang="en-US" sz="900">
                          <a:solidFill>
                            <a:srgbClr val="0B2F5B"/>
                          </a:solidFill>
                          <a:latin typeface="Barlow"/>
                          <a:ea typeface="Barlow"/>
                          <a:cs typeface="Barlow"/>
                          <a:sym typeface="Barlow"/>
                        </a:rPr>
                        <a:t>채널</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SoftAP</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 notify</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BLE notify</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256025">
                <a:tc>
                  <a:txBody>
                    <a:bodyPr/>
                    <a:lstStyle/>
                    <a:p>
                      <a:pPr indent="0" lvl="0" marL="0" marR="0" rtl="0" algn="l">
                        <a:lnSpc>
                          <a:spcPct val="100000"/>
                        </a:lnSpc>
                        <a:spcBef>
                          <a:spcPts val="0"/>
                        </a:spcBef>
                        <a:spcAft>
                          <a:spcPts val="0"/>
                        </a:spcAft>
                        <a:buNone/>
                      </a:pPr>
                      <a:r>
                        <a:rPr b="1" lang="en-US" sz="900">
                          <a:solidFill>
                            <a:srgbClr val="0B2F5B"/>
                          </a:solidFill>
                          <a:latin typeface="Barlow"/>
                          <a:ea typeface="Barlow"/>
                          <a:cs typeface="Barlow"/>
                          <a:sym typeface="Barlow"/>
                        </a:rPr>
                        <a:t>타임아웃</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r>
                        <a:rPr lang="en-US" sz="900">
                          <a:solidFill>
                            <a:srgbClr val="1F2A37"/>
                          </a:solidFill>
                          <a:latin typeface="Barlow"/>
                          <a:ea typeface="Barlow"/>
                          <a:cs typeface="Barlow"/>
                          <a:sym typeface="Barlow"/>
                        </a:rPr>
                        <a:t>/청크</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재부팅 대기 </a:t>
                      </a: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a:t>
                      </a:r>
                      <a:r>
                        <a:rPr lang="en-US" sz="900">
                          <a:solidFill>
                            <a:srgbClr val="1F2A37"/>
                          </a:solidFill>
                          <a:latin typeface="Barlow"/>
                          <a:ea typeface="Barlow"/>
                          <a:cs typeface="Barlow"/>
                          <a:sym typeface="Barlow"/>
                        </a:rPr>
                        <a:t>분</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해당 없음</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무응답 </a:t>
                      </a: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 s</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r h="256025">
                <a:tc>
                  <a:txBody>
                    <a:bodyPr/>
                    <a:lstStyle/>
                    <a:p>
                      <a:pPr indent="0" lvl="0" marL="0" marR="0" rtl="0" algn="l">
                        <a:lnSpc>
                          <a:spcPct val="100000"/>
                        </a:lnSpc>
                        <a:spcBef>
                          <a:spcPts val="0"/>
                        </a:spcBef>
                        <a:spcAft>
                          <a:spcPts val="0"/>
                        </a:spcAft>
                        <a:buNone/>
                      </a:pPr>
                      <a:r>
                        <a:rPr b="1" lang="en-US" sz="900">
                          <a:solidFill>
                            <a:srgbClr val="0B2F5B"/>
                          </a:solidFill>
                          <a:latin typeface="Barlow"/>
                          <a:ea typeface="Barlow"/>
                          <a:cs typeface="Barlow"/>
                          <a:sym typeface="Barlow"/>
                        </a:rPr>
                        <a:t>재시도</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재스캔 후 2×</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1×</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자동 재전송 없음</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0" lang="en-US" sz="900" u="none" cap="none" strike="noStrike">
                          <a:solidFill>
                            <a:srgbClr val="1F2A37"/>
                          </a:solidFill>
                          <a:latin typeface="Barlow"/>
                          <a:ea typeface="Barlow"/>
                          <a:cs typeface="Barlow"/>
                          <a:sym typeface="Barlow"/>
                        </a:rPr>
                        <a:t>1×</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b="1" lang="en-US" sz="900" u="none" cap="none" strike="noStrike">
                          <a:solidFill>
                            <a:srgbClr val="9A5B00"/>
                          </a:solidFill>
                          <a:latin typeface="Barlow"/>
                          <a:ea typeface="Barlow"/>
                          <a:cs typeface="Barlow"/>
                          <a:sym typeface="Barlow"/>
                        </a:rPr>
                        <a:t>TBD</a:t>
                      </a:r>
                      <a:r>
                        <a:rPr b="0" lang="en-US" sz="900" u="none" cap="none" strike="noStrike">
                          <a:solidFill>
                            <a:srgbClr val="1F2A37"/>
                          </a:solidFill>
                          <a:latin typeface="Barlow"/>
                          <a:ea typeface="Barlow"/>
                          <a:cs typeface="Barlow"/>
                          <a:sym typeface="Barlow"/>
                        </a:rPr>
                        <a:t>×</a:t>
                      </a:r>
                      <a:r>
                        <a:rPr lang="en-US" sz="900">
                          <a:solidFill>
                            <a:srgbClr val="1F2A37"/>
                          </a:solidFill>
                          <a:latin typeface="Barlow"/>
                          <a:ea typeface="Barlow"/>
                          <a:cs typeface="Barlow"/>
                          <a:sym typeface="Barlow"/>
                        </a:rPr>
                        <a:t>/청크</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재스캔</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해당 없음</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재연결</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None/>
                      </a:pPr>
                      <a:r>
                        <a:rPr b="1" lang="en-US" sz="900">
                          <a:solidFill>
                            <a:srgbClr val="0B2F5B"/>
                          </a:solidFill>
                          <a:latin typeface="Barlow"/>
                          <a:ea typeface="Barlow"/>
                          <a:cs typeface="Barlow"/>
                          <a:sym typeface="Barlow"/>
                        </a:rPr>
                        <a:t>실패 시</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근접 안내, Serial No 재확인</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UI 잠금 해제, 재시도 제안</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읽기 비교 후 판단</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SSID 재발급 요청</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중단 지점부터 재개</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롤백 여부 확인</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경고/오류를 즉시 화면에 표시</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FW 세션 복구 진입</a:t>
                      </a:r>
                      <a:endParaRPr/>
                    </a:p>
                  </a:txBody>
                  <a:tcPr marT="18300" marB="18300" marR="45725" marL="45725"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sp>
        <p:nvSpPr>
          <p:cNvPr id="1141" name="Google Shape;1141;p49"/>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심화 · 오프라인 펌웨어 업데이트 · 가정된 펌웨어 상호작용</a:t>
            </a:r>
            <a:endParaRPr/>
          </a:p>
        </p:txBody>
      </p:sp>
      <p:sp>
        <p:nvSpPr>
          <p:cNvPr id="1142" name="Google Shape;1142;p49"/>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BLE는 전송 때만 Wi-Fi를 깨우고, 듀얼 뱅크 플래시로 실패를 되돌릴 수 있습니다</a:t>
            </a:r>
            <a:endParaRPr/>
          </a:p>
        </p:txBody>
      </p:sp>
      <p:sp>
        <p:nvSpPr>
          <p:cNvPr id="1143" name="Google Shape;1143;p49"/>
          <p:cNvSpPr txBox="1"/>
          <p:nvPr/>
        </p:nvSpPr>
        <p:spPr>
          <a:xfrm>
            <a:off x="457200" y="1216152"/>
            <a:ext cx="4572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1 · 필요할 때만 Wi-Fi, BLE로 트리거</a:t>
            </a:r>
            <a:endParaRPr/>
          </a:p>
        </p:txBody>
      </p:sp>
      <p:sp>
        <p:nvSpPr>
          <p:cNvPr id="1144" name="Google Shape;1144;p49"/>
          <p:cNvSpPr/>
          <p:nvPr/>
        </p:nvSpPr>
        <p:spPr>
          <a:xfrm>
            <a:off x="457200" y="1499616"/>
            <a:ext cx="2788920" cy="42062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18275" lIns="457200"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상시 켜진 기기 Wi-Fi는 공격 표면을 넓힘</a:t>
            </a:r>
            <a:endParaRPr/>
          </a:p>
        </p:txBody>
      </p:sp>
      <p:pic>
        <p:nvPicPr>
          <p:cNvPr id="1145" name="Google Shape;1145;p49"/>
          <p:cNvPicPr preferRelativeResize="0"/>
          <p:nvPr/>
        </p:nvPicPr>
        <p:blipFill rotWithShape="1">
          <a:blip r:embed="rId3">
            <a:alphaModFix/>
          </a:blip>
          <a:srcRect b="0" l="0" r="0" t="0"/>
          <a:stretch/>
        </p:blipFill>
        <p:spPr>
          <a:xfrm>
            <a:off x="566928" y="1591056"/>
            <a:ext cx="237744" cy="237744"/>
          </a:xfrm>
          <a:prstGeom prst="rect">
            <a:avLst/>
          </a:prstGeom>
          <a:noFill/>
          <a:ln>
            <a:noFill/>
          </a:ln>
        </p:spPr>
      </p:pic>
      <p:sp>
        <p:nvSpPr>
          <p:cNvPr id="1146" name="Google Shape;1146;p49"/>
          <p:cNvSpPr/>
          <p:nvPr/>
        </p:nvSpPr>
        <p:spPr>
          <a:xfrm>
            <a:off x="457200" y="1975104"/>
            <a:ext cx="2788920" cy="42062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18275" lIns="457200"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BLE만으로는 수 MB 펌웨어 전송이 너무 느림</a:t>
            </a:r>
            <a:endParaRPr/>
          </a:p>
        </p:txBody>
      </p:sp>
      <p:pic>
        <p:nvPicPr>
          <p:cNvPr id="1147" name="Google Shape;1147;p49"/>
          <p:cNvPicPr preferRelativeResize="0"/>
          <p:nvPr/>
        </p:nvPicPr>
        <p:blipFill rotWithShape="1">
          <a:blip r:embed="rId4">
            <a:alphaModFix/>
          </a:blip>
          <a:srcRect b="0" l="0" r="0" t="0"/>
          <a:stretch/>
        </p:blipFill>
        <p:spPr>
          <a:xfrm>
            <a:off x="566928" y="2066544"/>
            <a:ext cx="237744" cy="237744"/>
          </a:xfrm>
          <a:prstGeom prst="rect">
            <a:avLst/>
          </a:prstGeom>
          <a:noFill/>
          <a:ln>
            <a:noFill/>
          </a:ln>
        </p:spPr>
      </p:pic>
      <p:sp>
        <p:nvSpPr>
          <p:cNvPr id="1148" name="Google Shape;1148;p49"/>
          <p:cNvSpPr/>
          <p:nvPr/>
        </p:nvSpPr>
        <p:spPr>
          <a:xfrm>
            <a:off x="457200" y="2450592"/>
            <a:ext cx="2788920" cy="310896"/>
          </a:xfrm>
          <a:prstGeom prst="rect">
            <a:avLst/>
          </a:prstGeom>
          <a:solidFill>
            <a:srgbClr val="0B2F5B"/>
          </a:solidFill>
          <a:ln>
            <a:noFill/>
          </a:ln>
        </p:spPr>
        <p:txBody>
          <a:bodyPr anchorCtr="0" anchor="ctr" bIns="0" lIns="54850" spcFirstLastPara="1" rIns="54850" wrap="square" tIns="0">
            <a:noAutofit/>
          </a:bodyPr>
          <a:lstStyle/>
          <a:p>
            <a:pPr indent="0" lvl="0" marL="0" marR="0" rtl="0" algn="ctr">
              <a:lnSpc>
                <a:spcPct val="100000"/>
              </a:lnSpc>
              <a:spcBef>
                <a:spcPts val="0"/>
              </a:spcBef>
              <a:spcAft>
                <a:spcPts val="0"/>
              </a:spcAft>
              <a:buNone/>
            </a:pPr>
            <a:r>
              <a:rPr b="1" lang="en-US" sz="950">
                <a:solidFill>
                  <a:srgbClr val="FFFFFF"/>
                </a:solidFill>
                <a:latin typeface="Barlow"/>
                <a:ea typeface="Barlow"/>
                <a:cs typeface="Barlow"/>
                <a:sym typeface="Barlow"/>
              </a:rPr>
              <a:t>BLE로 제어 · 대용량은 임시 Wi-Fi</a:t>
            </a:r>
            <a:endParaRPr/>
          </a:p>
        </p:txBody>
      </p:sp>
      <p:sp>
        <p:nvSpPr>
          <p:cNvPr id="1149" name="Google Shape;1149;p49"/>
          <p:cNvSpPr/>
          <p:nvPr/>
        </p:nvSpPr>
        <p:spPr>
          <a:xfrm>
            <a:off x="3566160" y="1499616"/>
            <a:ext cx="1819656" cy="1261872"/>
          </a:xfrm>
          <a:prstGeom prst="roundRect">
            <a:avLst>
              <a:gd fmla="val 4347"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0" name="Google Shape;1150;p49"/>
          <p:cNvSpPr/>
          <p:nvPr/>
        </p:nvSpPr>
        <p:spPr>
          <a:xfrm>
            <a:off x="3675887" y="1609343"/>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1</a:t>
            </a:r>
            <a:endParaRPr/>
          </a:p>
        </p:txBody>
      </p:sp>
      <p:sp>
        <p:nvSpPr>
          <p:cNvPr id="1151" name="Google Shape;1151;p49"/>
          <p:cNvSpPr txBox="1"/>
          <p:nvPr/>
        </p:nvSpPr>
        <p:spPr>
          <a:xfrm>
            <a:off x="4023360" y="1572768"/>
            <a:ext cx="12893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BLE 깨우기 명령</a:t>
            </a:r>
            <a:endParaRPr/>
          </a:p>
        </p:txBody>
      </p:sp>
      <p:sp>
        <p:nvSpPr>
          <p:cNvPr id="1152" name="Google Shape;1152;p49"/>
          <p:cNvSpPr txBox="1"/>
          <p:nvPr/>
        </p:nvSpPr>
        <p:spPr>
          <a:xfrm>
            <a:off x="3675887" y="1975104"/>
            <a:ext cx="160020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앱이 ESS에 내장 Wi-Fi 시작 요청.</a:t>
            </a:r>
            <a:endParaRPr/>
          </a:p>
        </p:txBody>
      </p:sp>
      <p:sp>
        <p:nvSpPr>
          <p:cNvPr id="1153" name="Google Shape;1153;p49"/>
          <p:cNvSpPr/>
          <p:nvPr/>
        </p:nvSpPr>
        <p:spPr>
          <a:xfrm>
            <a:off x="3675887" y="2487168"/>
            <a:ext cx="387096" cy="177799"/>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0B2F5B"/>
                </a:solidFill>
                <a:latin typeface="Montserrat"/>
                <a:ea typeface="Montserrat"/>
                <a:cs typeface="Montserrat"/>
                <a:sym typeface="Montserrat"/>
              </a:rPr>
              <a:t>BLE</a:t>
            </a:r>
            <a:endParaRPr/>
          </a:p>
        </p:txBody>
      </p:sp>
      <p:sp>
        <p:nvSpPr>
          <p:cNvPr id="1154" name="Google Shape;1154;p49"/>
          <p:cNvSpPr/>
          <p:nvPr/>
        </p:nvSpPr>
        <p:spPr>
          <a:xfrm>
            <a:off x="5580583" y="1499616"/>
            <a:ext cx="1819656" cy="1261872"/>
          </a:xfrm>
          <a:prstGeom prst="roundRect">
            <a:avLst>
              <a:gd fmla="val 4347"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55" name="Google Shape;1155;p49"/>
          <p:cNvSpPr/>
          <p:nvPr/>
        </p:nvSpPr>
        <p:spPr>
          <a:xfrm>
            <a:off x="5690311" y="1609343"/>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2</a:t>
            </a:r>
            <a:endParaRPr/>
          </a:p>
        </p:txBody>
      </p:sp>
      <p:sp>
        <p:nvSpPr>
          <p:cNvPr id="1156" name="Google Shape;1156;p49"/>
          <p:cNvSpPr txBox="1"/>
          <p:nvPr/>
        </p:nvSpPr>
        <p:spPr>
          <a:xfrm>
            <a:off x="6037783" y="1572768"/>
            <a:ext cx="12893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일회용 SSID</a:t>
            </a:r>
            <a:endParaRPr/>
          </a:p>
        </p:txBody>
      </p:sp>
      <p:sp>
        <p:nvSpPr>
          <p:cNvPr id="1157" name="Google Shape;1157;p49"/>
          <p:cNvSpPr txBox="1"/>
          <p:nvPr/>
        </p:nvSpPr>
        <p:spPr>
          <a:xfrm>
            <a:off x="5690311" y="1975104"/>
            <a:ext cx="160020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ESS가 일회용 SSID와 암호를 만들어 BLE로 반환.</a:t>
            </a:r>
            <a:endParaRPr/>
          </a:p>
        </p:txBody>
      </p:sp>
      <p:sp>
        <p:nvSpPr>
          <p:cNvPr id="1158" name="Google Shape;1158;p49"/>
          <p:cNvSpPr/>
          <p:nvPr/>
        </p:nvSpPr>
        <p:spPr>
          <a:xfrm>
            <a:off x="5690311" y="2487168"/>
            <a:ext cx="387096" cy="177799"/>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0B2F5B"/>
                </a:solidFill>
                <a:latin typeface="Montserrat"/>
                <a:ea typeface="Montserrat"/>
                <a:cs typeface="Montserrat"/>
                <a:sym typeface="Montserrat"/>
              </a:rPr>
              <a:t>BLE</a:t>
            </a:r>
            <a:endParaRPr/>
          </a:p>
        </p:txBody>
      </p:sp>
      <p:cxnSp>
        <p:nvCxnSpPr>
          <p:cNvPr id="1159" name="Google Shape;1159;p49"/>
          <p:cNvCxnSpPr>
            <a:stCxn id="1149" idx="3"/>
            <a:endCxn id="1154" idx="1"/>
          </p:cNvCxnSpPr>
          <p:nvPr/>
        </p:nvCxnSpPr>
        <p:spPr>
          <a:xfrm>
            <a:off x="5385816" y="2130552"/>
            <a:ext cx="194700" cy="0"/>
          </a:xfrm>
          <a:prstGeom prst="straightConnector1">
            <a:avLst/>
          </a:prstGeom>
          <a:noFill/>
          <a:ln cap="flat" cmpd="sng" w="15875">
            <a:solidFill>
              <a:srgbClr val="0B2F5B"/>
            </a:solidFill>
            <a:prstDash val="solid"/>
            <a:round/>
            <a:headEnd len="sm" w="sm" type="none"/>
            <a:tailEnd len="med" w="med" type="triangle"/>
          </a:ln>
        </p:spPr>
      </p:cxnSp>
      <p:sp>
        <p:nvSpPr>
          <p:cNvPr id="1160" name="Google Shape;1160;p49"/>
          <p:cNvSpPr/>
          <p:nvPr/>
        </p:nvSpPr>
        <p:spPr>
          <a:xfrm>
            <a:off x="7595006" y="1499616"/>
            <a:ext cx="1819656" cy="1261872"/>
          </a:xfrm>
          <a:prstGeom prst="roundRect">
            <a:avLst>
              <a:gd fmla="val 4347"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1" name="Google Shape;1161;p49"/>
          <p:cNvSpPr/>
          <p:nvPr/>
        </p:nvSpPr>
        <p:spPr>
          <a:xfrm>
            <a:off x="7704734" y="1609343"/>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3</a:t>
            </a:r>
            <a:endParaRPr/>
          </a:p>
        </p:txBody>
      </p:sp>
      <p:sp>
        <p:nvSpPr>
          <p:cNvPr id="1162" name="Google Shape;1162;p49"/>
          <p:cNvSpPr txBox="1"/>
          <p:nvPr/>
        </p:nvSpPr>
        <p:spPr>
          <a:xfrm>
            <a:off x="8052206" y="1572768"/>
            <a:ext cx="12893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한 번만 접속</a:t>
            </a:r>
            <a:endParaRPr/>
          </a:p>
        </p:txBody>
      </p:sp>
      <p:sp>
        <p:nvSpPr>
          <p:cNvPr id="1163" name="Google Shape;1163;p49"/>
          <p:cNvSpPr txBox="1"/>
          <p:nvPr/>
        </p:nvSpPr>
        <p:spPr>
          <a:xfrm>
            <a:off x="7704734" y="1975104"/>
            <a:ext cx="160020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850">
                <a:solidFill>
                  <a:srgbClr val="1565C0"/>
                </a:solidFill>
                <a:latin typeface="Consolas"/>
                <a:ea typeface="Consolas"/>
                <a:cs typeface="Consolas"/>
                <a:sym typeface="Consolas"/>
              </a:rPr>
              <a:t>NEHotspotConfiguration</a:t>
            </a:r>
            <a:r>
              <a:rPr b="0" lang="en-US" sz="950">
                <a:solidFill>
                  <a:srgbClr val="1F2A37"/>
                </a:solidFill>
                <a:latin typeface="Barlow"/>
                <a:ea typeface="Barlow"/>
                <a:cs typeface="Barlow"/>
                <a:sym typeface="Barlow"/>
              </a:rPr>
              <a:t>, joinOnce = true</a:t>
            </a:r>
            <a:endParaRPr/>
          </a:p>
        </p:txBody>
      </p:sp>
      <p:sp>
        <p:nvSpPr>
          <p:cNvPr id="1164" name="Google Shape;1164;p49"/>
          <p:cNvSpPr/>
          <p:nvPr/>
        </p:nvSpPr>
        <p:spPr>
          <a:xfrm>
            <a:off x="7704734" y="2487168"/>
            <a:ext cx="472948" cy="177799"/>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Wi-Fi</a:t>
            </a:r>
            <a:endParaRPr/>
          </a:p>
        </p:txBody>
      </p:sp>
      <p:cxnSp>
        <p:nvCxnSpPr>
          <p:cNvPr id="1165" name="Google Shape;1165;p49"/>
          <p:cNvCxnSpPr>
            <a:stCxn id="1154" idx="3"/>
            <a:endCxn id="1160" idx="1"/>
          </p:cNvCxnSpPr>
          <p:nvPr/>
        </p:nvCxnSpPr>
        <p:spPr>
          <a:xfrm>
            <a:off x="7400239" y="2130552"/>
            <a:ext cx="194700" cy="0"/>
          </a:xfrm>
          <a:prstGeom prst="straightConnector1">
            <a:avLst/>
          </a:prstGeom>
          <a:noFill/>
          <a:ln cap="flat" cmpd="sng" w="15875">
            <a:solidFill>
              <a:srgbClr val="0B2F5B"/>
            </a:solidFill>
            <a:prstDash val="solid"/>
            <a:round/>
            <a:headEnd len="sm" w="sm" type="none"/>
            <a:tailEnd len="med" w="med" type="triangle"/>
          </a:ln>
        </p:spPr>
      </p:cxnSp>
      <p:sp>
        <p:nvSpPr>
          <p:cNvPr id="1166" name="Google Shape;1166;p49"/>
          <p:cNvSpPr/>
          <p:nvPr/>
        </p:nvSpPr>
        <p:spPr>
          <a:xfrm>
            <a:off x="9609429" y="1499616"/>
            <a:ext cx="1819656" cy="1261872"/>
          </a:xfrm>
          <a:prstGeom prst="roundRect">
            <a:avLst>
              <a:gd fmla="val 4347"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7" name="Google Shape;1167;p49"/>
          <p:cNvSpPr/>
          <p:nvPr/>
        </p:nvSpPr>
        <p:spPr>
          <a:xfrm>
            <a:off x="9719157" y="1609343"/>
            <a:ext cx="274320" cy="274320"/>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4</a:t>
            </a:r>
            <a:endParaRPr/>
          </a:p>
        </p:txBody>
      </p:sp>
      <p:sp>
        <p:nvSpPr>
          <p:cNvPr id="1168" name="Google Shape;1168;p49"/>
          <p:cNvSpPr txBox="1"/>
          <p:nvPr/>
        </p:nvSpPr>
        <p:spPr>
          <a:xfrm>
            <a:off x="10066629" y="1572768"/>
            <a:ext cx="12893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자동 종료</a:t>
            </a:r>
            <a:endParaRPr/>
          </a:p>
        </p:txBody>
      </p:sp>
      <p:sp>
        <p:nvSpPr>
          <p:cNvPr id="1169" name="Google Shape;1169;p49"/>
          <p:cNvSpPr txBox="1"/>
          <p:nvPr/>
        </p:nvSpPr>
        <p:spPr>
          <a:xfrm>
            <a:off x="9719157" y="1975104"/>
            <a:ext cx="1600200" cy="51206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전송이 끝나거나 TBD분 후.</a:t>
            </a:r>
            <a:endParaRPr/>
          </a:p>
        </p:txBody>
      </p:sp>
      <p:sp>
        <p:nvSpPr>
          <p:cNvPr id="1170" name="Google Shape;1170;p49"/>
          <p:cNvSpPr/>
          <p:nvPr/>
        </p:nvSpPr>
        <p:spPr>
          <a:xfrm>
            <a:off x="9719157" y="2487168"/>
            <a:ext cx="472948" cy="177799"/>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Wi-Fi</a:t>
            </a:r>
            <a:endParaRPr/>
          </a:p>
        </p:txBody>
      </p:sp>
      <p:cxnSp>
        <p:nvCxnSpPr>
          <p:cNvPr id="1171" name="Google Shape;1171;p49"/>
          <p:cNvCxnSpPr>
            <a:stCxn id="1160" idx="3"/>
            <a:endCxn id="1166" idx="1"/>
          </p:cNvCxnSpPr>
          <p:nvPr/>
        </p:nvCxnSpPr>
        <p:spPr>
          <a:xfrm>
            <a:off x="9414662" y="2130552"/>
            <a:ext cx="194700" cy="0"/>
          </a:xfrm>
          <a:prstGeom prst="straightConnector1">
            <a:avLst/>
          </a:prstGeom>
          <a:noFill/>
          <a:ln cap="flat" cmpd="sng" w="15875">
            <a:solidFill>
              <a:srgbClr val="0B2F5B"/>
            </a:solidFill>
            <a:prstDash val="solid"/>
            <a:round/>
            <a:headEnd len="sm" w="sm" type="none"/>
            <a:tailEnd len="med" w="med" type="triangle"/>
          </a:ln>
        </p:spPr>
      </p:cxnSp>
      <p:sp>
        <p:nvSpPr>
          <p:cNvPr id="1172" name="Google Shape;1172;p49"/>
          <p:cNvSpPr txBox="1"/>
          <p:nvPr/>
        </p:nvSpPr>
        <p:spPr>
          <a:xfrm>
            <a:off x="457200" y="2898648"/>
            <a:ext cx="5486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2 · 듀얼 뱅크 플래시의 5단계 수명주기</a:t>
            </a:r>
            <a:endParaRPr/>
          </a:p>
        </p:txBody>
      </p:sp>
      <p:sp>
        <p:nvSpPr>
          <p:cNvPr id="1173" name="Google Shape;1173;p49"/>
          <p:cNvSpPr txBox="1"/>
          <p:nvPr/>
        </p:nvSpPr>
        <p:spPr>
          <a:xfrm>
            <a:off x="5943600" y="2898648"/>
            <a:ext cx="54864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i="1" lang="en-US" sz="900">
                <a:solidFill>
                  <a:srgbClr val="5F6B7A"/>
                </a:solidFill>
                <a:latin typeface="Barlow"/>
                <a:ea typeface="Barlow"/>
                <a:cs typeface="Barlow"/>
                <a:sym typeface="Barlow"/>
              </a:rPr>
              <a:t>새 펌웨어는 비활성 뱅크에 기록하며, 활성 뱅크는 그대로 유지됩니다.</a:t>
            </a:r>
            <a:endParaRPr/>
          </a:p>
        </p:txBody>
      </p:sp>
      <p:sp>
        <p:nvSpPr>
          <p:cNvPr id="1174" name="Google Shape;1174;p49"/>
          <p:cNvSpPr/>
          <p:nvPr/>
        </p:nvSpPr>
        <p:spPr>
          <a:xfrm>
            <a:off x="3472434" y="3154680"/>
            <a:ext cx="2066543" cy="438912"/>
          </a:xfrm>
          <a:prstGeom prst="chevron">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2  </a:t>
            </a:r>
            <a:r>
              <a:rPr b="1" lang="en-US" sz="1050">
                <a:solidFill>
                  <a:srgbClr val="FFFFFF"/>
                </a:solidFill>
                <a:latin typeface="Montserrat"/>
                <a:ea typeface="Montserrat"/>
                <a:cs typeface="Montserrat"/>
                <a:sym typeface="Montserrat"/>
              </a:rPr>
              <a:t>무결성 검사</a:t>
            </a:r>
            <a:endParaRPr/>
          </a:p>
        </p:txBody>
      </p:sp>
      <p:sp>
        <p:nvSpPr>
          <p:cNvPr id="1175" name="Google Shape;1175;p49"/>
          <p:cNvSpPr/>
          <p:nvPr/>
        </p:nvSpPr>
        <p:spPr>
          <a:xfrm>
            <a:off x="5436108" y="3154680"/>
            <a:ext cx="2066543" cy="438912"/>
          </a:xfrm>
          <a:prstGeom prst="chevron">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3  </a:t>
            </a:r>
            <a:r>
              <a:rPr b="1" lang="en-US" sz="1050">
                <a:solidFill>
                  <a:srgbClr val="FFFFFF"/>
                </a:solidFill>
                <a:latin typeface="Montserrat"/>
                <a:ea typeface="Montserrat"/>
                <a:cs typeface="Montserrat"/>
                <a:sym typeface="Montserrat"/>
              </a:rPr>
              <a:t>플래싱</a:t>
            </a:r>
            <a:endParaRPr/>
          </a:p>
        </p:txBody>
      </p:sp>
      <p:sp>
        <p:nvSpPr>
          <p:cNvPr id="1176" name="Google Shape;1176;p49"/>
          <p:cNvSpPr/>
          <p:nvPr/>
        </p:nvSpPr>
        <p:spPr>
          <a:xfrm>
            <a:off x="7399781" y="3154680"/>
            <a:ext cx="2066543" cy="438912"/>
          </a:xfrm>
          <a:prstGeom prst="chevron">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4  </a:t>
            </a:r>
            <a:r>
              <a:rPr b="1" lang="en-US" sz="1050">
                <a:solidFill>
                  <a:srgbClr val="FFFFFF"/>
                </a:solidFill>
                <a:latin typeface="Montserrat"/>
                <a:ea typeface="Montserrat"/>
                <a:cs typeface="Montserrat"/>
                <a:sym typeface="Montserrat"/>
              </a:rPr>
              <a:t>하드웨어 재시작</a:t>
            </a:r>
            <a:endParaRPr/>
          </a:p>
        </p:txBody>
      </p:sp>
      <p:sp>
        <p:nvSpPr>
          <p:cNvPr id="1177" name="Google Shape;1177;p49"/>
          <p:cNvSpPr/>
          <p:nvPr/>
        </p:nvSpPr>
        <p:spPr>
          <a:xfrm>
            <a:off x="457200" y="3666744"/>
            <a:ext cx="978408" cy="475488"/>
          </a:xfrm>
          <a:prstGeom prst="rect">
            <a:avLst/>
          </a:prstGeom>
          <a:noFill/>
          <a:ln>
            <a:noFill/>
          </a:ln>
        </p:spPr>
        <p:txBody>
          <a:bodyPr anchorCtr="0" anchor="ctr" bIns="0" lIns="0" spcFirstLastPara="1" rIns="36575"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기기</a:t>
            </a:r>
            <a:endParaRPr/>
          </a:p>
        </p:txBody>
      </p:sp>
      <p:sp>
        <p:nvSpPr>
          <p:cNvPr id="1178" name="Google Shape;1178;p49"/>
          <p:cNvSpPr/>
          <p:nvPr/>
        </p:nvSpPr>
        <p:spPr>
          <a:xfrm>
            <a:off x="1508760" y="3666744"/>
            <a:ext cx="1890522"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바이너리를 비활성 뱅크로 수신</a:t>
            </a:r>
            <a:endParaRPr sz="950">
              <a:solidFill>
                <a:srgbClr val="1F2A37"/>
              </a:solidFill>
              <a:latin typeface="Barlow"/>
              <a:ea typeface="Barlow"/>
              <a:cs typeface="Barlow"/>
              <a:sym typeface="Barlow"/>
            </a:endParaRPr>
          </a:p>
        </p:txBody>
      </p:sp>
      <p:sp>
        <p:nvSpPr>
          <p:cNvPr id="1179" name="Google Shape;1179;p49"/>
          <p:cNvSpPr/>
          <p:nvPr/>
        </p:nvSpPr>
        <p:spPr>
          <a:xfrm>
            <a:off x="3472434" y="3666744"/>
            <a:ext cx="1890522"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체크섬 / MD5 비교, Secure Boot 서명 검증</a:t>
            </a:r>
            <a:endParaRPr/>
          </a:p>
        </p:txBody>
      </p:sp>
      <p:sp>
        <p:nvSpPr>
          <p:cNvPr id="1180" name="Google Shape;1180;p49"/>
          <p:cNvSpPr/>
          <p:nvPr/>
        </p:nvSpPr>
        <p:spPr>
          <a:xfrm>
            <a:off x="5436108" y="3666744"/>
            <a:ext cx="1890522"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듀얼 뱅크 플래시의 비활성 뱅크에 기록</a:t>
            </a:r>
            <a:endParaRPr sz="950">
              <a:solidFill>
                <a:srgbClr val="1F2A37"/>
              </a:solidFill>
              <a:latin typeface="Barlow"/>
              <a:ea typeface="Barlow"/>
              <a:cs typeface="Barlow"/>
              <a:sym typeface="Barlow"/>
            </a:endParaRPr>
          </a:p>
        </p:txBody>
      </p:sp>
      <p:sp>
        <p:nvSpPr>
          <p:cNvPr id="1181" name="Google Shape;1181;p49"/>
          <p:cNvSpPr/>
          <p:nvPr/>
        </p:nvSpPr>
        <p:spPr>
          <a:xfrm>
            <a:off x="7399781" y="3666744"/>
            <a:ext cx="1890522"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부트 뱅크를 전환하고 재부팅</a:t>
            </a:r>
            <a:endParaRPr sz="950">
              <a:solidFill>
                <a:srgbClr val="1F2A37"/>
              </a:solidFill>
              <a:latin typeface="Barlow"/>
              <a:ea typeface="Barlow"/>
              <a:cs typeface="Barlow"/>
              <a:sym typeface="Barlow"/>
            </a:endParaRPr>
          </a:p>
        </p:txBody>
      </p:sp>
      <p:sp>
        <p:nvSpPr>
          <p:cNvPr id="1182" name="Google Shape;1182;p49"/>
          <p:cNvSpPr/>
          <p:nvPr/>
        </p:nvSpPr>
        <p:spPr>
          <a:xfrm>
            <a:off x="9363456" y="3666744"/>
            <a:ext cx="2066543" cy="475488"/>
          </a:xfrm>
          <a:prstGeom prst="rect">
            <a:avLst/>
          </a:prstGeom>
          <a:solidFill>
            <a:srgbClr val="EAF2FB"/>
          </a:solidFill>
          <a:ln>
            <a:noFill/>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새 뱅크를 활성으로 확정</a:t>
            </a:r>
            <a:endParaRPr/>
          </a:p>
        </p:txBody>
      </p:sp>
      <p:sp>
        <p:nvSpPr>
          <p:cNvPr id="1183" name="Google Shape;1183;p49"/>
          <p:cNvSpPr/>
          <p:nvPr/>
        </p:nvSpPr>
        <p:spPr>
          <a:xfrm>
            <a:off x="457200" y="4187952"/>
            <a:ext cx="978408" cy="475488"/>
          </a:xfrm>
          <a:prstGeom prst="rect">
            <a:avLst/>
          </a:prstGeom>
          <a:noFill/>
          <a:ln>
            <a:noFill/>
          </a:ln>
        </p:spPr>
        <p:txBody>
          <a:bodyPr anchorCtr="0" anchor="ctr" bIns="0" lIns="0" spcFirstLastPara="1" rIns="36575"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앱</a:t>
            </a:r>
            <a:endParaRPr/>
          </a:p>
        </p:txBody>
      </p:sp>
      <p:sp>
        <p:nvSpPr>
          <p:cNvPr id="1184" name="Google Shape;1184;p49"/>
          <p:cNvSpPr/>
          <p:nvPr/>
        </p:nvSpPr>
        <p:spPr>
          <a:xfrm>
            <a:off x="1508760" y="4187952"/>
            <a:ext cx="1890522"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사전 동기화된 바이너리를 청크로 전송, 진행률 표시</a:t>
            </a:r>
            <a:endParaRPr/>
          </a:p>
        </p:txBody>
      </p:sp>
      <p:sp>
        <p:nvSpPr>
          <p:cNvPr id="1185" name="Google Shape;1185;p49"/>
          <p:cNvSpPr/>
          <p:nvPr/>
        </p:nvSpPr>
        <p:spPr>
          <a:xfrm>
            <a:off x="3472434" y="4187952"/>
            <a:ext cx="1890522"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BLE로 검증 결과 읽기</a:t>
            </a:r>
            <a:endParaRPr sz="950">
              <a:solidFill>
                <a:srgbClr val="1F2A37"/>
              </a:solidFill>
              <a:latin typeface="Barlow"/>
              <a:ea typeface="Barlow"/>
              <a:cs typeface="Barlow"/>
              <a:sym typeface="Barlow"/>
            </a:endParaRPr>
          </a:p>
        </p:txBody>
      </p:sp>
      <p:sp>
        <p:nvSpPr>
          <p:cNvPr id="1186" name="Google Shape;1186;p49"/>
          <p:cNvSpPr/>
          <p:nvPr/>
        </p:nvSpPr>
        <p:spPr>
          <a:xfrm>
            <a:off x="5436108" y="4187952"/>
            <a:ext cx="1890522"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UI 잠금 유지, 화면 꺼짐 방지</a:t>
            </a:r>
            <a:endParaRPr sz="950">
              <a:solidFill>
                <a:srgbClr val="1F2A37"/>
              </a:solidFill>
              <a:latin typeface="Barlow"/>
              <a:ea typeface="Barlow"/>
              <a:cs typeface="Barlow"/>
              <a:sym typeface="Barlow"/>
            </a:endParaRPr>
          </a:p>
        </p:txBody>
      </p:sp>
      <p:sp>
        <p:nvSpPr>
          <p:cNvPr id="1187" name="Google Shape;1187;p49"/>
          <p:cNvSpPr/>
          <p:nvPr/>
        </p:nvSpPr>
        <p:spPr>
          <a:xfrm>
            <a:off x="7399781" y="4187952"/>
            <a:ext cx="1890522"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BLE 재연결 대기 후 재스캔</a:t>
            </a:r>
            <a:endParaRPr sz="950">
              <a:solidFill>
                <a:srgbClr val="1F2A37"/>
              </a:solidFill>
              <a:latin typeface="Barlow"/>
              <a:ea typeface="Barlow"/>
              <a:cs typeface="Barlow"/>
              <a:sym typeface="Barlow"/>
            </a:endParaRPr>
          </a:p>
        </p:txBody>
      </p:sp>
      <p:sp>
        <p:nvSpPr>
          <p:cNvPr id="1188" name="Google Shape;1188;p49"/>
          <p:cNvSpPr/>
          <p:nvPr/>
        </p:nvSpPr>
        <p:spPr>
          <a:xfrm>
            <a:off x="9363456" y="4187952"/>
            <a:ext cx="2066543" cy="47548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최종 확인: 버전 레지스터 읽기 검증</a:t>
            </a:r>
            <a:endParaRPr sz="950">
              <a:solidFill>
                <a:srgbClr val="1F2A37"/>
              </a:solidFill>
              <a:latin typeface="Barlow"/>
              <a:ea typeface="Barlow"/>
              <a:cs typeface="Barlow"/>
              <a:sym typeface="Barlow"/>
            </a:endParaRPr>
          </a:p>
        </p:txBody>
      </p:sp>
      <p:sp>
        <p:nvSpPr>
          <p:cNvPr id="1189" name="Google Shape;1189;p49"/>
          <p:cNvSpPr/>
          <p:nvPr/>
        </p:nvSpPr>
        <p:spPr>
          <a:xfrm>
            <a:off x="457200" y="4709160"/>
            <a:ext cx="978408" cy="475488"/>
          </a:xfrm>
          <a:prstGeom prst="rect">
            <a:avLst/>
          </a:prstGeom>
          <a:noFill/>
          <a:ln>
            <a:noFill/>
          </a:ln>
        </p:spPr>
        <p:txBody>
          <a:bodyPr anchorCtr="0" anchor="ctr" bIns="0" lIns="0" spcFirstLastPara="1" rIns="36575" wrap="square" tIns="0">
            <a:noAutofit/>
          </a:bodyPr>
          <a:lstStyle/>
          <a:p>
            <a:pPr indent="0" lvl="0" marL="0" marR="0" rtl="0" algn="l">
              <a:lnSpc>
                <a:spcPct val="100000"/>
              </a:lnSpc>
              <a:spcBef>
                <a:spcPts val="0"/>
              </a:spcBef>
              <a:spcAft>
                <a:spcPts val="0"/>
              </a:spcAft>
              <a:buNone/>
            </a:pPr>
            <a:r>
              <a:rPr b="1" lang="en-US" sz="975">
                <a:solidFill>
                  <a:srgbClr val="9A5B00"/>
                </a:solidFill>
                <a:latin typeface="Montserrat"/>
                <a:ea typeface="Montserrat"/>
                <a:cs typeface="Montserrat"/>
                <a:sym typeface="Montserrat"/>
              </a:rPr>
              <a:t>실패 시</a:t>
            </a:r>
            <a:endParaRPr/>
          </a:p>
        </p:txBody>
      </p:sp>
      <p:sp>
        <p:nvSpPr>
          <p:cNvPr id="1190" name="Google Shape;1190;p49"/>
          <p:cNvSpPr/>
          <p:nvPr/>
        </p:nvSpPr>
        <p:spPr>
          <a:xfrm>
            <a:off x="1508760" y="4709160"/>
            <a:ext cx="1890522"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중단 지점부터 재개</a:t>
            </a:r>
            <a:endParaRPr b="1" sz="950">
              <a:solidFill>
                <a:srgbClr val="9A5B00"/>
              </a:solidFill>
              <a:latin typeface="Barlow"/>
              <a:ea typeface="Barlow"/>
              <a:cs typeface="Barlow"/>
              <a:sym typeface="Barlow"/>
            </a:endParaRPr>
          </a:p>
        </p:txBody>
      </p:sp>
      <p:sp>
        <p:nvSpPr>
          <p:cNvPr id="1191" name="Google Shape;1191;p49"/>
          <p:cNvSpPr/>
          <p:nvPr/>
        </p:nvSpPr>
        <p:spPr>
          <a:xfrm>
            <a:off x="3472434" y="4709160"/>
            <a:ext cx="1890522"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비활성 뱅크 폐기</a:t>
            </a:r>
            <a:endParaRPr/>
          </a:p>
        </p:txBody>
      </p:sp>
      <p:sp>
        <p:nvSpPr>
          <p:cNvPr id="1192" name="Google Shape;1192;p49"/>
          <p:cNvSpPr/>
          <p:nvPr/>
        </p:nvSpPr>
        <p:spPr>
          <a:xfrm>
            <a:off x="5436108" y="4709160"/>
            <a:ext cx="1890522"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활성 뱅크는 그대로 유지</a:t>
            </a:r>
            <a:endParaRPr/>
          </a:p>
        </p:txBody>
      </p:sp>
      <p:sp>
        <p:nvSpPr>
          <p:cNvPr id="1193" name="Google Shape;1193;p49"/>
          <p:cNvSpPr/>
          <p:nvPr/>
        </p:nvSpPr>
        <p:spPr>
          <a:xfrm>
            <a:off x="7399781" y="4709160"/>
            <a:ext cx="1890522"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이전 뱅크로 자동 롤백</a:t>
            </a:r>
            <a:endParaRPr b="1" sz="950">
              <a:solidFill>
                <a:srgbClr val="9A5B00"/>
              </a:solidFill>
              <a:latin typeface="Barlow"/>
              <a:ea typeface="Barlow"/>
              <a:cs typeface="Barlow"/>
              <a:sym typeface="Barlow"/>
            </a:endParaRPr>
          </a:p>
        </p:txBody>
      </p:sp>
      <p:sp>
        <p:nvSpPr>
          <p:cNvPr id="1194" name="Google Shape;1194;p49"/>
          <p:cNvSpPr/>
          <p:nvPr/>
        </p:nvSpPr>
        <p:spPr>
          <a:xfrm>
            <a:off x="9363456" y="4709160"/>
            <a:ext cx="2066543" cy="475488"/>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b="1" lang="en-US" sz="950">
                <a:solidFill>
                  <a:srgbClr val="9A5B00"/>
                </a:solidFill>
                <a:latin typeface="Barlow"/>
                <a:ea typeface="Barlow"/>
                <a:cs typeface="Barlow"/>
                <a:sym typeface="Barlow"/>
              </a:rPr>
              <a:t>재시도, 버전 불일치 시 실패 보고</a:t>
            </a:r>
            <a:endParaRPr b="1" sz="950">
              <a:solidFill>
                <a:srgbClr val="9A5B00"/>
              </a:solidFill>
              <a:latin typeface="Barlow"/>
              <a:ea typeface="Barlow"/>
              <a:cs typeface="Barlow"/>
              <a:sym typeface="Barlow"/>
            </a:endParaRPr>
          </a:p>
        </p:txBody>
      </p:sp>
      <p:sp>
        <p:nvSpPr>
          <p:cNvPr id="1195" name="Google Shape;1195;p49"/>
          <p:cNvSpPr/>
          <p:nvPr/>
        </p:nvSpPr>
        <p:spPr>
          <a:xfrm>
            <a:off x="457200" y="5239512"/>
            <a:ext cx="978408" cy="201168"/>
          </a:xfrm>
          <a:prstGeom prst="rect">
            <a:avLst/>
          </a:prstGeom>
          <a:noFill/>
          <a:ln>
            <a:noFill/>
          </a:ln>
        </p:spPr>
        <p:txBody>
          <a:bodyPr anchorCtr="0" anchor="ctr" bIns="0" lIns="0" spcFirstLastPara="1" rIns="36575"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채널</a:t>
            </a:r>
            <a:endParaRPr/>
          </a:p>
        </p:txBody>
      </p:sp>
      <p:sp>
        <p:nvSpPr>
          <p:cNvPr id="1196" name="Google Shape;1196;p49"/>
          <p:cNvSpPr/>
          <p:nvPr/>
        </p:nvSpPr>
        <p:spPr>
          <a:xfrm>
            <a:off x="1508760" y="5239512"/>
            <a:ext cx="1890522" cy="201168"/>
          </a:xfrm>
          <a:prstGeom prst="rect">
            <a:avLst/>
          </a:prstGeom>
          <a:solidFill>
            <a:srgbClr val="1565C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SoftAP Wi-Fi</a:t>
            </a:r>
            <a:endParaRPr/>
          </a:p>
        </p:txBody>
      </p:sp>
      <p:sp>
        <p:nvSpPr>
          <p:cNvPr id="1197" name="Google Shape;1197;p49"/>
          <p:cNvSpPr/>
          <p:nvPr/>
        </p:nvSpPr>
        <p:spPr>
          <a:xfrm>
            <a:off x="3472434" y="5239512"/>
            <a:ext cx="7957566" cy="201168"/>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Montserrat"/>
                <a:ea typeface="Montserrat"/>
                <a:cs typeface="Montserrat"/>
                <a:sym typeface="Montserrat"/>
              </a:rPr>
              <a:t>BLE</a:t>
            </a:r>
            <a:endParaRPr/>
          </a:p>
        </p:txBody>
      </p:sp>
      <p:sp>
        <p:nvSpPr>
          <p:cNvPr id="1198" name="Google Shape;1198;p49"/>
          <p:cNvSpPr/>
          <p:nvPr/>
        </p:nvSpPr>
        <p:spPr>
          <a:xfrm>
            <a:off x="457200" y="5614416"/>
            <a:ext cx="10972800" cy="329184"/>
          </a:xfrm>
          <a:prstGeom prst="rect">
            <a:avLst/>
          </a:prstGeom>
          <a:solidFill>
            <a:srgbClr val="F5F8FC"/>
          </a:solidFill>
          <a:ln>
            <a:noFill/>
          </a:ln>
        </p:spPr>
        <p:txBody>
          <a:bodyPr anchorCtr="0" anchor="ctr" bIns="0" lIns="109725" spcFirstLastPara="1" rIns="91425"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시작 전</a:t>
            </a:r>
            <a:r>
              <a:rPr lang="en-US" sz="925">
                <a:solidFill>
                  <a:srgbClr val="0B2F5B"/>
                </a:solidFill>
                <a:latin typeface="Barlow"/>
                <a:ea typeface="Barlow"/>
                <a:cs typeface="Barlow"/>
                <a:sym typeface="Barlow"/>
              </a:rPr>
              <a:t> 기기 플래시 조건(배터리 SOC, 계통): TBD.  iPhone 배터리 TBD % 미만 시 차단.  iOS: Hotspot Config, Local Network 권한.</a:t>
            </a:r>
            <a:endParaRPr sz="925">
              <a:solidFill>
                <a:srgbClr val="0B2F5B"/>
              </a:solidFill>
              <a:latin typeface="Barlow"/>
              <a:ea typeface="Barlow"/>
              <a:cs typeface="Barlow"/>
              <a:sym typeface="Barlow"/>
            </a:endParaRPr>
          </a:p>
        </p:txBody>
      </p:sp>
      <p:sp>
        <p:nvSpPr>
          <p:cNvPr id="1199" name="Google Shape;1199;p49"/>
          <p:cNvSpPr/>
          <p:nvPr/>
        </p:nvSpPr>
        <p:spPr>
          <a:xfrm>
            <a:off x="1508760" y="3154680"/>
            <a:ext cx="2066400" cy="438900"/>
          </a:xfrm>
          <a:prstGeom prst="homePlate">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1  </a:t>
            </a:r>
            <a:r>
              <a:rPr b="1" lang="en-US" sz="1050">
                <a:solidFill>
                  <a:srgbClr val="FFFFFF"/>
                </a:solidFill>
                <a:latin typeface="Montserrat"/>
                <a:ea typeface="Montserrat"/>
                <a:cs typeface="Montserrat"/>
                <a:sym typeface="Montserrat"/>
              </a:rPr>
              <a:t>파일 전송</a:t>
            </a:r>
            <a:endParaRPr b="1" sz="1050">
              <a:solidFill>
                <a:srgbClr val="FFFFFF"/>
              </a:solidFill>
              <a:latin typeface="Montserrat"/>
              <a:ea typeface="Montserrat"/>
              <a:cs typeface="Montserrat"/>
              <a:sym typeface="Montserrat"/>
            </a:endParaRPr>
          </a:p>
        </p:txBody>
      </p:sp>
      <p:sp>
        <p:nvSpPr>
          <p:cNvPr id="1200" name="Google Shape;1200;p49"/>
          <p:cNvSpPr/>
          <p:nvPr/>
        </p:nvSpPr>
        <p:spPr>
          <a:xfrm>
            <a:off x="9363456" y="3154680"/>
            <a:ext cx="2066400" cy="438900"/>
          </a:xfrm>
          <a:prstGeom prst="chevron">
            <a:avLst>
              <a:gd fmla="val 35000" name="adj"/>
            </a:avLst>
          </a:prstGeom>
          <a:solidFill>
            <a:srgbClr val="0B2F5B"/>
          </a:solidFill>
          <a:ln>
            <a:noFill/>
          </a:ln>
        </p:spPr>
        <p:txBody>
          <a:bodyPr anchorCtr="0" anchor="ctr" bIns="0" lIns="182875" spcFirstLastPara="1" rIns="182875" wrap="square" tIns="0">
            <a:noAutofit/>
          </a:bodyPr>
          <a:lstStyle/>
          <a:p>
            <a:pPr indent="0" lvl="0" marL="0" marR="0" rtl="0" algn="ctr">
              <a:lnSpc>
                <a:spcPct val="100000"/>
              </a:lnSpc>
              <a:spcBef>
                <a:spcPts val="0"/>
              </a:spcBef>
              <a:spcAft>
                <a:spcPts val="0"/>
              </a:spcAft>
              <a:buNone/>
            </a:pPr>
            <a:r>
              <a:rPr b="1" lang="en-US" sz="1050">
                <a:solidFill>
                  <a:srgbClr val="5DA9E9"/>
                </a:solidFill>
                <a:latin typeface="Montserrat"/>
                <a:ea typeface="Montserrat"/>
                <a:cs typeface="Montserrat"/>
                <a:sym typeface="Montserrat"/>
              </a:rPr>
              <a:t>5  </a:t>
            </a:r>
            <a:r>
              <a:rPr b="1" lang="en-US" sz="1050">
                <a:solidFill>
                  <a:srgbClr val="FFFFFF"/>
                </a:solidFill>
                <a:latin typeface="Montserrat"/>
                <a:ea typeface="Montserrat"/>
                <a:cs typeface="Montserrat"/>
                <a:sym typeface="Montserrat"/>
              </a:rPr>
              <a:t>버전 커밋</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5" name="Shape 1205"/>
        <p:cNvGrpSpPr/>
        <p:nvPr/>
      </p:nvGrpSpPr>
      <p:grpSpPr>
        <a:xfrm>
          <a:off x="0" y="0"/>
          <a:ext cx="0" cy="0"/>
          <a:chOff x="0" y="0"/>
          <a:chExt cx="0" cy="0"/>
        </a:xfrm>
      </p:grpSpPr>
      <p:sp>
        <p:nvSpPr>
          <p:cNvPr id="1206" name="Google Shape;1206;p50"/>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심화 · 시퀀스 다이어그램 · 오프라인 저장 및 동기화 · 가정</a:t>
            </a:r>
            <a:endParaRPr/>
          </a:p>
        </p:txBody>
      </p:sp>
      <p:sp>
        <p:nvSpPr>
          <p:cNvPr id="1207" name="Google Shape;1207;p50"/>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쓰기는 먼저 </a:t>
            </a:r>
            <a:r>
              <a:rPr lang="en-US"/>
              <a:t>기록</a:t>
            </a:r>
            <a:r>
              <a:rPr lang="en-US"/>
              <a:t>하므로 재시작이나 재업로드가 두 번 적용되지 않습니다</a:t>
            </a:r>
            <a:endParaRPr/>
          </a:p>
        </p:txBody>
      </p:sp>
      <p:cxnSp>
        <p:nvCxnSpPr>
          <p:cNvPr id="1208" name="Google Shape;1208;p50"/>
          <p:cNvCxnSpPr/>
          <p:nvPr/>
        </p:nvCxnSpPr>
        <p:spPr>
          <a:xfrm>
            <a:off x="1325880" y="1664207"/>
            <a:ext cx="0" cy="3895345"/>
          </a:xfrm>
          <a:prstGeom prst="straightConnector1">
            <a:avLst/>
          </a:prstGeom>
          <a:noFill/>
          <a:ln cap="flat" cmpd="sng" w="12700">
            <a:solidFill>
              <a:srgbClr val="C7D7EA"/>
            </a:solidFill>
            <a:prstDash val="dash"/>
            <a:round/>
            <a:headEnd len="sm" w="sm" type="none"/>
            <a:tailEnd len="sm" w="sm" type="none"/>
          </a:ln>
        </p:spPr>
      </p:cxnSp>
      <p:sp>
        <p:nvSpPr>
          <p:cNvPr id="1209" name="Google Shape;1209;p50"/>
          <p:cNvSpPr/>
          <p:nvPr/>
        </p:nvSpPr>
        <p:spPr>
          <a:xfrm>
            <a:off x="548640" y="1261872"/>
            <a:ext cx="1554480" cy="402336"/>
          </a:xfrm>
          <a:prstGeom prst="roundRect">
            <a:avLst>
              <a:gd fmla="val 11363" name="adj"/>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설치 기사 앱</a:t>
            </a:r>
            <a:endParaRPr/>
          </a:p>
        </p:txBody>
      </p:sp>
      <p:cxnSp>
        <p:nvCxnSpPr>
          <p:cNvPr id="1210" name="Google Shape;1210;p50"/>
          <p:cNvCxnSpPr/>
          <p:nvPr/>
        </p:nvCxnSpPr>
        <p:spPr>
          <a:xfrm>
            <a:off x="3611880" y="1664207"/>
            <a:ext cx="0" cy="3895345"/>
          </a:xfrm>
          <a:prstGeom prst="straightConnector1">
            <a:avLst/>
          </a:prstGeom>
          <a:noFill/>
          <a:ln cap="flat" cmpd="sng" w="12700">
            <a:solidFill>
              <a:srgbClr val="C7D7EA"/>
            </a:solidFill>
            <a:prstDash val="dash"/>
            <a:round/>
            <a:headEnd len="sm" w="sm" type="none"/>
            <a:tailEnd len="sm" w="sm" type="none"/>
          </a:ln>
        </p:spPr>
      </p:cxnSp>
      <p:sp>
        <p:nvSpPr>
          <p:cNvPr id="1211" name="Google Shape;1211;p50"/>
          <p:cNvSpPr/>
          <p:nvPr/>
        </p:nvSpPr>
        <p:spPr>
          <a:xfrm>
            <a:off x="2834640" y="1261872"/>
            <a:ext cx="1554480" cy="402336"/>
          </a:xfrm>
          <a:prstGeom prst="roundRect">
            <a:avLst>
              <a:gd fmla="val 11363" name="adj"/>
            </a:avLst>
          </a:prstGeom>
          <a:solidFill>
            <a:srgbClr val="FFFFFF"/>
          </a:solidFill>
          <a:ln cap="flat" cmpd="sng" w="12700">
            <a:solidFill>
              <a:srgbClr val="0B2F5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로컬 데이터베이스</a:t>
            </a:r>
            <a:endParaRPr/>
          </a:p>
        </p:txBody>
      </p:sp>
      <p:cxnSp>
        <p:nvCxnSpPr>
          <p:cNvPr id="1212" name="Google Shape;1212;p50"/>
          <p:cNvCxnSpPr/>
          <p:nvPr/>
        </p:nvCxnSpPr>
        <p:spPr>
          <a:xfrm>
            <a:off x="6172200" y="1664207"/>
            <a:ext cx="0" cy="3895345"/>
          </a:xfrm>
          <a:prstGeom prst="straightConnector1">
            <a:avLst/>
          </a:prstGeom>
          <a:noFill/>
          <a:ln cap="flat" cmpd="sng" w="12700">
            <a:solidFill>
              <a:srgbClr val="C7D7EA"/>
            </a:solidFill>
            <a:prstDash val="dash"/>
            <a:round/>
            <a:headEnd len="sm" w="sm" type="none"/>
            <a:tailEnd len="sm" w="sm" type="none"/>
          </a:ln>
        </p:spPr>
      </p:cxnSp>
      <p:sp>
        <p:nvSpPr>
          <p:cNvPr id="1213" name="Google Shape;1213;p50"/>
          <p:cNvSpPr/>
          <p:nvPr/>
        </p:nvSpPr>
        <p:spPr>
          <a:xfrm>
            <a:off x="5394960" y="1261872"/>
            <a:ext cx="1554480" cy="402336"/>
          </a:xfrm>
          <a:prstGeom prst="roundRect">
            <a:avLst>
              <a:gd fmla="val 11363" name="adj"/>
            </a:avLst>
          </a:prstGeom>
          <a:solidFill>
            <a:srgbClr val="1565C0"/>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CORE Pro ESS</a:t>
            </a:r>
            <a:endParaRPr/>
          </a:p>
        </p:txBody>
      </p:sp>
      <p:cxnSp>
        <p:nvCxnSpPr>
          <p:cNvPr id="1214" name="Google Shape;1214;p50"/>
          <p:cNvCxnSpPr/>
          <p:nvPr/>
        </p:nvCxnSpPr>
        <p:spPr>
          <a:xfrm>
            <a:off x="8275320" y="1664207"/>
            <a:ext cx="0" cy="3895345"/>
          </a:xfrm>
          <a:prstGeom prst="straightConnector1">
            <a:avLst/>
          </a:prstGeom>
          <a:noFill/>
          <a:ln cap="flat" cmpd="sng" w="12700">
            <a:solidFill>
              <a:srgbClr val="C7D7EA"/>
            </a:solidFill>
            <a:prstDash val="dash"/>
            <a:round/>
            <a:headEnd len="sm" w="sm" type="none"/>
            <a:tailEnd len="sm" w="sm" type="none"/>
          </a:ln>
        </p:spPr>
      </p:cxnSp>
      <p:sp>
        <p:nvSpPr>
          <p:cNvPr id="1215" name="Google Shape;1215;p50"/>
          <p:cNvSpPr/>
          <p:nvPr/>
        </p:nvSpPr>
        <p:spPr>
          <a:xfrm>
            <a:off x="7498080" y="1261872"/>
            <a:ext cx="1554480" cy="402336"/>
          </a:xfrm>
          <a:prstGeom prst="roundRect">
            <a:avLst>
              <a:gd fmla="val 11363" name="adj"/>
            </a:avLst>
          </a:prstGeom>
          <a:solidFill>
            <a:srgbClr val="FFFFFF"/>
          </a:solidFill>
          <a:ln cap="flat" cmpd="sng" w="12700">
            <a:solidFill>
              <a:srgbClr val="0B2F5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큐셀 백엔드</a:t>
            </a:r>
            <a:endParaRPr/>
          </a:p>
        </p:txBody>
      </p:sp>
      <p:cxnSp>
        <p:nvCxnSpPr>
          <p:cNvPr id="1216" name="Google Shape;1216;p50"/>
          <p:cNvCxnSpPr/>
          <p:nvPr/>
        </p:nvCxnSpPr>
        <p:spPr>
          <a:xfrm>
            <a:off x="1444752" y="2084831"/>
            <a:ext cx="2167128" cy="0"/>
          </a:xfrm>
          <a:prstGeom prst="straightConnector1">
            <a:avLst/>
          </a:prstGeom>
          <a:noFill/>
          <a:ln cap="flat" cmpd="sng" w="19050">
            <a:solidFill>
              <a:srgbClr val="0B2F5B"/>
            </a:solidFill>
            <a:prstDash val="solid"/>
            <a:round/>
            <a:headEnd len="sm" w="sm" type="none"/>
            <a:tailEnd len="med" w="med" type="triangle"/>
          </a:ln>
        </p:spPr>
      </p:cxnSp>
      <p:sp>
        <p:nvSpPr>
          <p:cNvPr id="1217" name="Google Shape;1217;p50"/>
          <p:cNvSpPr/>
          <p:nvPr/>
        </p:nvSpPr>
        <p:spPr>
          <a:xfrm>
            <a:off x="1216152" y="1975103"/>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1218" name="Google Shape;1218;p50"/>
          <p:cNvSpPr/>
          <p:nvPr/>
        </p:nvSpPr>
        <p:spPr>
          <a:xfrm>
            <a:off x="1508760" y="1837943"/>
            <a:ext cx="1698992"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변경 사항을 Pending으로 기록</a:t>
            </a:r>
            <a:endParaRPr/>
          </a:p>
        </p:txBody>
      </p:sp>
      <p:cxnSp>
        <p:nvCxnSpPr>
          <p:cNvPr id="1219" name="Google Shape;1219;p50"/>
          <p:cNvCxnSpPr/>
          <p:nvPr/>
        </p:nvCxnSpPr>
        <p:spPr>
          <a:xfrm>
            <a:off x="1444752" y="2505456"/>
            <a:ext cx="4727448" cy="0"/>
          </a:xfrm>
          <a:prstGeom prst="straightConnector1">
            <a:avLst/>
          </a:prstGeom>
          <a:noFill/>
          <a:ln cap="flat" cmpd="sng" w="19050">
            <a:solidFill>
              <a:srgbClr val="1565C0"/>
            </a:solidFill>
            <a:prstDash val="solid"/>
            <a:round/>
            <a:headEnd len="sm" w="sm" type="none"/>
            <a:tailEnd len="med" w="med" type="triangle"/>
          </a:ln>
        </p:spPr>
      </p:cxnSp>
      <p:sp>
        <p:nvSpPr>
          <p:cNvPr id="1220" name="Google Shape;1220;p50"/>
          <p:cNvSpPr/>
          <p:nvPr/>
        </p:nvSpPr>
        <p:spPr>
          <a:xfrm>
            <a:off x="1216152" y="2395728"/>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1221" name="Google Shape;1221;p50"/>
          <p:cNvSpPr/>
          <p:nvPr/>
        </p:nvSpPr>
        <p:spPr>
          <a:xfrm>
            <a:off x="1508760" y="2258568"/>
            <a:ext cx="2884378"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단건 쓰기: 레지스터 + 페이로드 + OTP 접미사   (BLE)</a:t>
            </a:r>
            <a:endParaRPr/>
          </a:p>
        </p:txBody>
      </p:sp>
      <p:sp>
        <p:nvSpPr>
          <p:cNvPr id="1222" name="Google Shape;1222;p50"/>
          <p:cNvSpPr/>
          <p:nvPr/>
        </p:nvSpPr>
        <p:spPr>
          <a:xfrm>
            <a:off x="4983480" y="2670048"/>
            <a:ext cx="2377440" cy="329184"/>
          </a:xfrm>
          <a:prstGeom prst="roundRect">
            <a:avLst>
              <a:gd fmla="val 13888" name="adj"/>
            </a:avLst>
          </a:prstGeom>
          <a:solidFill>
            <a:srgbClr val="EAF2FB"/>
          </a:solidFill>
          <a:ln cap="flat" cmpd="sng" w="9525">
            <a:solidFill>
              <a:srgbClr val="1565C0"/>
            </a:solidFill>
            <a:prstDash val="solid"/>
            <a:round/>
            <a:headEnd len="sm" w="sm" type="none"/>
            <a:tailEnd len="sm" w="sm" type="none"/>
          </a:ln>
        </p:spPr>
        <p:txBody>
          <a:bodyPr anchorCtr="0" anchor="ctr" bIns="0" lIns="365750" spcFirstLastPara="1" rIns="36575"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OTP 검증 후 이 명령 한 건만 적용</a:t>
            </a:r>
            <a:endParaRPr/>
          </a:p>
        </p:txBody>
      </p:sp>
      <p:sp>
        <p:nvSpPr>
          <p:cNvPr id="1223" name="Google Shape;1223;p50"/>
          <p:cNvSpPr/>
          <p:nvPr/>
        </p:nvSpPr>
        <p:spPr>
          <a:xfrm>
            <a:off x="5056632" y="2724912"/>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cxnSp>
        <p:nvCxnSpPr>
          <p:cNvPr id="1224" name="Google Shape;1224;p50"/>
          <p:cNvCxnSpPr/>
          <p:nvPr/>
        </p:nvCxnSpPr>
        <p:spPr>
          <a:xfrm>
            <a:off x="1444752" y="3346704"/>
            <a:ext cx="4727448" cy="0"/>
          </a:xfrm>
          <a:prstGeom prst="straightConnector1">
            <a:avLst/>
          </a:prstGeom>
          <a:noFill/>
          <a:ln cap="flat" cmpd="sng" w="19050">
            <a:solidFill>
              <a:srgbClr val="1565C0"/>
            </a:solidFill>
            <a:prstDash val="solid"/>
            <a:round/>
            <a:headEnd len="med" w="med" type="triangle"/>
            <a:tailEnd len="med" w="med" type="triangle"/>
          </a:ln>
        </p:spPr>
      </p:cxnSp>
      <p:sp>
        <p:nvSpPr>
          <p:cNvPr id="1225" name="Google Shape;1225;p50"/>
          <p:cNvSpPr/>
          <p:nvPr/>
        </p:nvSpPr>
        <p:spPr>
          <a:xfrm>
            <a:off x="1216152" y="3236976"/>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1226" name="Google Shape;1226;p50"/>
          <p:cNvSpPr/>
          <p:nvPr/>
        </p:nvSpPr>
        <p:spPr>
          <a:xfrm>
            <a:off x="1508760" y="3099816"/>
            <a:ext cx="2889081"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같은 레지스터 읽기 검증: 결과 확인   (BLE)</a:t>
            </a:r>
            <a:endParaRPr/>
          </a:p>
        </p:txBody>
      </p:sp>
      <p:cxnSp>
        <p:nvCxnSpPr>
          <p:cNvPr id="1227" name="Google Shape;1227;p50"/>
          <p:cNvCxnSpPr/>
          <p:nvPr/>
        </p:nvCxnSpPr>
        <p:spPr>
          <a:xfrm>
            <a:off x="1444752" y="3767328"/>
            <a:ext cx="2167128" cy="0"/>
          </a:xfrm>
          <a:prstGeom prst="straightConnector1">
            <a:avLst/>
          </a:prstGeom>
          <a:noFill/>
          <a:ln cap="flat" cmpd="sng" w="19050">
            <a:solidFill>
              <a:srgbClr val="0B2F5B"/>
            </a:solidFill>
            <a:prstDash val="solid"/>
            <a:round/>
            <a:headEnd len="sm" w="sm" type="none"/>
            <a:tailEnd len="med" w="med" type="triangle"/>
          </a:ln>
        </p:spPr>
      </p:cxnSp>
      <p:sp>
        <p:nvSpPr>
          <p:cNvPr id="1228" name="Google Shape;1228;p50"/>
          <p:cNvSpPr/>
          <p:nvPr/>
        </p:nvSpPr>
        <p:spPr>
          <a:xfrm>
            <a:off x="1216152" y="3657600"/>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1229" name="Google Shape;1229;p50"/>
          <p:cNvSpPr/>
          <p:nvPr/>
        </p:nvSpPr>
        <p:spPr>
          <a:xfrm>
            <a:off x="1508760" y="3520440"/>
            <a:ext cx="1428142"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UUID 발급, Applied로 표시</a:t>
            </a:r>
            <a:endParaRPr/>
          </a:p>
        </p:txBody>
      </p:sp>
      <p:sp>
        <p:nvSpPr>
          <p:cNvPr id="1230" name="Google Shape;1230;p50"/>
          <p:cNvSpPr/>
          <p:nvPr/>
        </p:nvSpPr>
        <p:spPr>
          <a:xfrm>
            <a:off x="457200" y="3931920"/>
            <a:ext cx="8595360" cy="274320"/>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0" lIns="73150" spcFirstLastPara="1" rIns="73150" wrap="square" tIns="0">
            <a:noAutofit/>
          </a:bodyPr>
          <a:lstStyle/>
          <a:p>
            <a:pPr indent="0" lvl="0" marL="0" marR="0" rtl="0" algn="ctr">
              <a:lnSpc>
                <a:spcPct val="100000"/>
              </a:lnSpc>
              <a:spcBef>
                <a:spcPts val="0"/>
              </a:spcBef>
              <a:spcAft>
                <a:spcPts val="0"/>
              </a:spcAft>
              <a:buNone/>
            </a:pPr>
            <a:r>
              <a:rPr b="1" lang="en-US" sz="800">
                <a:solidFill>
                  <a:srgbClr val="9A5B00"/>
                </a:solidFill>
                <a:latin typeface="Montserrat"/>
                <a:ea typeface="Montserrat"/>
                <a:cs typeface="Montserrat"/>
                <a:sym typeface="Montserrat"/>
              </a:rPr>
              <a:t>현장 오프라인  </a:t>
            </a:r>
            <a:r>
              <a:rPr lang="en-US" sz="800">
                <a:solidFill>
                  <a:srgbClr val="9A5B00"/>
                </a:solidFill>
                <a:latin typeface="Montserrat"/>
                <a:ea typeface="Montserrat"/>
                <a:cs typeface="Montserrat"/>
                <a:sym typeface="Montserrat"/>
              </a:rPr>
              <a:t>앱 종료·재부팅 후에도 항목이 로컬 저장소에 유지됩니다</a:t>
            </a:r>
            <a:endParaRPr>
              <a:latin typeface="Montserrat"/>
              <a:ea typeface="Montserrat"/>
              <a:cs typeface="Montserrat"/>
              <a:sym typeface="Montserrat"/>
            </a:endParaRPr>
          </a:p>
        </p:txBody>
      </p:sp>
      <p:sp>
        <p:nvSpPr>
          <p:cNvPr id="1231" name="Google Shape;1231;p50"/>
          <p:cNvSpPr/>
          <p:nvPr/>
        </p:nvSpPr>
        <p:spPr>
          <a:xfrm>
            <a:off x="1216152" y="4462272"/>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6</a:t>
            </a:r>
            <a:endParaRPr/>
          </a:p>
        </p:txBody>
      </p:sp>
      <p:sp>
        <p:nvSpPr>
          <p:cNvPr id="1232" name="Google Shape;1232;p50"/>
          <p:cNvSpPr/>
          <p:nvPr/>
        </p:nvSpPr>
        <p:spPr>
          <a:xfrm>
            <a:off x="1508760" y="4325112"/>
            <a:ext cx="4756960"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네트워크 복구(NWPathMonitor): 변경을 순서대로 업로드, 각각 UUID 포함   (HTTPS)</a:t>
            </a:r>
            <a:endParaRPr/>
          </a:p>
        </p:txBody>
      </p:sp>
      <p:cxnSp>
        <p:nvCxnSpPr>
          <p:cNvPr id="1233" name="Google Shape;1233;p50"/>
          <p:cNvCxnSpPr/>
          <p:nvPr/>
        </p:nvCxnSpPr>
        <p:spPr>
          <a:xfrm rot="10800000">
            <a:off x="1325880" y="4974336"/>
            <a:ext cx="6830568" cy="0"/>
          </a:xfrm>
          <a:prstGeom prst="straightConnector1">
            <a:avLst/>
          </a:prstGeom>
          <a:noFill/>
          <a:ln cap="flat" cmpd="sng" w="19050">
            <a:solidFill>
              <a:srgbClr val="0B2F5B"/>
            </a:solidFill>
            <a:prstDash val="dash"/>
            <a:round/>
            <a:headEnd len="sm" w="sm" type="none"/>
            <a:tailEnd len="med" w="med" type="triangle"/>
          </a:ln>
        </p:spPr>
      </p:cxnSp>
      <p:sp>
        <p:nvSpPr>
          <p:cNvPr id="1234" name="Google Shape;1234;p50"/>
          <p:cNvSpPr/>
          <p:nvPr/>
        </p:nvSpPr>
        <p:spPr>
          <a:xfrm>
            <a:off x="8165592" y="4864608"/>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7</a:t>
            </a:r>
            <a:endParaRPr/>
          </a:p>
        </p:txBody>
      </p:sp>
      <p:sp>
        <p:nvSpPr>
          <p:cNvPr id="1235" name="Google Shape;1235;p50"/>
          <p:cNvSpPr/>
          <p:nvPr/>
        </p:nvSpPr>
        <p:spPr>
          <a:xfrm>
            <a:off x="3906059" y="4727448"/>
            <a:ext cx="4186380"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r">
              <a:lnSpc>
                <a:spcPct val="100000"/>
              </a:lnSpc>
              <a:spcBef>
                <a:spcPts val="0"/>
              </a:spcBef>
              <a:spcAft>
                <a:spcPts val="0"/>
              </a:spcAft>
              <a:buNone/>
            </a:pPr>
            <a:r>
              <a:rPr lang="en-US" sz="950">
                <a:solidFill>
                  <a:srgbClr val="1F2A37"/>
                </a:solidFill>
                <a:latin typeface="Barlow"/>
                <a:ea typeface="Barlow"/>
                <a:cs typeface="Barlow"/>
                <a:sym typeface="Barlow"/>
              </a:rPr>
              <a:t>결과. 같은 UUID는 기존 결과를 반환하며 다시 적용되지 않음</a:t>
            </a:r>
            <a:endParaRPr/>
          </a:p>
        </p:txBody>
      </p:sp>
      <p:cxnSp>
        <p:nvCxnSpPr>
          <p:cNvPr id="1236" name="Google Shape;1236;p50"/>
          <p:cNvCxnSpPr/>
          <p:nvPr/>
        </p:nvCxnSpPr>
        <p:spPr>
          <a:xfrm>
            <a:off x="1444752" y="5376672"/>
            <a:ext cx="2167128" cy="0"/>
          </a:xfrm>
          <a:prstGeom prst="straightConnector1">
            <a:avLst/>
          </a:prstGeom>
          <a:noFill/>
          <a:ln cap="flat" cmpd="sng" w="19050">
            <a:solidFill>
              <a:srgbClr val="0B2F5B"/>
            </a:solidFill>
            <a:prstDash val="solid"/>
            <a:round/>
            <a:headEnd len="sm" w="sm" type="none"/>
            <a:tailEnd len="med" w="med" type="triangle"/>
          </a:ln>
        </p:spPr>
      </p:cxnSp>
      <p:sp>
        <p:nvSpPr>
          <p:cNvPr id="1237" name="Google Shape;1237;p50"/>
          <p:cNvSpPr/>
          <p:nvPr/>
        </p:nvSpPr>
        <p:spPr>
          <a:xfrm>
            <a:off x="1216152" y="5266944"/>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8</a:t>
            </a:r>
            <a:endParaRPr/>
          </a:p>
        </p:txBody>
      </p:sp>
      <p:sp>
        <p:nvSpPr>
          <p:cNvPr id="1238" name="Google Shape;1238;p50"/>
          <p:cNvSpPr/>
          <p:nvPr/>
        </p:nvSpPr>
        <p:spPr>
          <a:xfrm>
            <a:off x="1508760" y="5129783"/>
            <a:ext cx="787245"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Synced 표시</a:t>
            </a:r>
            <a:endParaRPr/>
          </a:p>
        </p:txBody>
      </p:sp>
      <p:sp>
        <p:nvSpPr>
          <p:cNvPr id="1239" name="Google Shape;1239;p50"/>
          <p:cNvSpPr/>
          <p:nvPr/>
        </p:nvSpPr>
        <p:spPr>
          <a:xfrm>
            <a:off x="457200" y="5669280"/>
            <a:ext cx="8595360" cy="365760"/>
          </a:xfrm>
          <a:prstGeom prst="rect">
            <a:avLst/>
          </a:prstGeom>
          <a:solidFill>
            <a:srgbClr val="F5F8FC"/>
          </a:solidFill>
          <a:ln>
            <a:noFill/>
          </a:ln>
        </p:spPr>
        <p:txBody>
          <a:bodyPr anchorCtr="0" anchor="ctr" bIns="0" lIns="109725" spcFirstLastPara="1" rIns="91425"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재시작 복구  </a:t>
            </a:r>
            <a:r>
              <a:rPr lang="en-US" sz="925">
                <a:solidFill>
                  <a:srgbClr val="0B2F5B"/>
                </a:solidFill>
                <a:latin typeface="Barlow"/>
                <a:ea typeface="Barlow"/>
                <a:cs typeface="Barlow"/>
                <a:sym typeface="Barlow"/>
              </a:rPr>
              <a:t>재실행 시 Pending 항목은 다음 기기 연결 때 읽기 비교로 Applied 또는 Failed로 확정.</a:t>
            </a:r>
            <a:endParaRPr>
              <a:latin typeface="Barlow"/>
              <a:ea typeface="Barlow"/>
              <a:cs typeface="Barlow"/>
              <a:sym typeface="Barlow"/>
            </a:endParaRPr>
          </a:p>
        </p:txBody>
      </p:sp>
      <p:sp>
        <p:nvSpPr>
          <p:cNvPr id="1240" name="Google Shape;1240;p50"/>
          <p:cNvSpPr txBox="1"/>
          <p:nvPr/>
        </p:nvSpPr>
        <p:spPr>
          <a:xfrm>
            <a:off x="9281160" y="1261872"/>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단건 패킷</a:t>
            </a:r>
            <a:endParaRPr/>
          </a:p>
        </p:txBody>
      </p:sp>
      <p:sp>
        <p:nvSpPr>
          <p:cNvPr id="1241" name="Google Shape;1241;p50"/>
          <p:cNvSpPr/>
          <p:nvPr/>
        </p:nvSpPr>
        <p:spPr>
          <a:xfrm>
            <a:off x="9281160" y="1517904"/>
            <a:ext cx="658368" cy="420624"/>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레지스터 ID</a:t>
            </a:r>
            <a:endParaRPr/>
          </a:p>
        </p:txBody>
      </p:sp>
      <p:sp>
        <p:nvSpPr>
          <p:cNvPr id="1242" name="Google Shape;1242;p50"/>
          <p:cNvSpPr/>
          <p:nvPr/>
        </p:nvSpPr>
        <p:spPr>
          <a:xfrm>
            <a:off x="9939528" y="1517904"/>
            <a:ext cx="804672" cy="420624"/>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파라미터 페이로드</a:t>
            </a:r>
            <a:endParaRPr/>
          </a:p>
        </p:txBody>
      </p:sp>
      <p:sp>
        <p:nvSpPr>
          <p:cNvPr id="1243" name="Google Shape;1243;p50"/>
          <p:cNvSpPr/>
          <p:nvPr/>
        </p:nvSpPr>
        <p:spPr>
          <a:xfrm>
            <a:off x="10744200" y="1517904"/>
            <a:ext cx="685800" cy="420624"/>
          </a:xfrm>
          <a:prstGeom prst="rect">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Barlow"/>
                <a:ea typeface="Barlow"/>
                <a:cs typeface="Barlow"/>
                <a:sym typeface="Barlow"/>
              </a:rPr>
              <a:t>OTP 접미사</a:t>
            </a:r>
            <a:endParaRPr/>
          </a:p>
        </p:txBody>
      </p:sp>
      <p:sp>
        <p:nvSpPr>
          <p:cNvPr id="1244" name="Google Shape;1244;p50"/>
          <p:cNvSpPr txBox="1"/>
          <p:nvPr/>
        </p:nvSpPr>
        <p:spPr>
          <a:xfrm>
            <a:off x="9281160" y="1993392"/>
            <a:ext cx="2148840" cy="6583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임시 설치 기사 비밀번호에서 만든 시간 기반 OTP.</a:t>
            </a:r>
            <a:endParaRPr sz="900">
              <a:solidFill>
                <a:srgbClr val="1F2A37"/>
              </a:solidFill>
              <a:latin typeface="Barlow"/>
              <a:ea typeface="Barlow"/>
              <a:cs typeface="Barlow"/>
              <a:sym typeface="Barlow"/>
            </a:endParaRPr>
          </a:p>
          <a:p>
            <a:pPr indent="0" lvl="0" marL="0" marR="0" rtl="0" algn="l">
              <a:lnSpc>
                <a:spcPct val="100000"/>
              </a:lnSpc>
              <a:spcBef>
                <a:spcPts val="200"/>
              </a:spcBef>
              <a:spcAft>
                <a:spcPts val="0"/>
              </a:spcAft>
              <a:buNone/>
            </a:pPr>
            <a:r>
              <a:t/>
            </a:r>
            <a:endParaRPr sz="900">
              <a:solidFill>
                <a:srgbClr val="1F2A37"/>
              </a:solidFill>
              <a:latin typeface="Barlow"/>
              <a:ea typeface="Barlow"/>
              <a:cs typeface="Barlow"/>
              <a:sym typeface="Barlow"/>
            </a:endParaRPr>
          </a:p>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세션 권한은 유지하지 않습니다. 미완료 상태에서는 접미사를 생략.</a:t>
            </a:r>
            <a:endParaRPr sz="900">
              <a:solidFill>
                <a:srgbClr val="1F2A37"/>
              </a:solidFill>
              <a:latin typeface="Barlow"/>
              <a:ea typeface="Barlow"/>
              <a:cs typeface="Barlow"/>
              <a:sym typeface="Barlow"/>
            </a:endParaRPr>
          </a:p>
        </p:txBody>
      </p:sp>
      <p:sp>
        <p:nvSpPr>
          <p:cNvPr id="1245" name="Google Shape;1245;p50"/>
          <p:cNvSpPr txBox="1"/>
          <p:nvPr/>
        </p:nvSpPr>
        <p:spPr>
          <a:xfrm>
            <a:off x="9281160" y="2761488"/>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트랜잭션 상태</a:t>
            </a:r>
            <a:endParaRPr/>
          </a:p>
        </p:txBody>
      </p:sp>
      <p:sp>
        <p:nvSpPr>
          <p:cNvPr id="1246" name="Google Shape;1246;p50"/>
          <p:cNvSpPr/>
          <p:nvPr/>
        </p:nvSpPr>
        <p:spPr>
          <a:xfrm>
            <a:off x="9281160" y="3017520"/>
            <a:ext cx="574036" cy="200025"/>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Pending</a:t>
            </a:r>
            <a:endParaRPr/>
          </a:p>
        </p:txBody>
      </p:sp>
      <p:cxnSp>
        <p:nvCxnSpPr>
          <p:cNvPr id="1247" name="Google Shape;1247;p50"/>
          <p:cNvCxnSpPr/>
          <p:nvPr/>
        </p:nvCxnSpPr>
        <p:spPr>
          <a:xfrm>
            <a:off x="9873484" y="3118103"/>
            <a:ext cx="128016" cy="0"/>
          </a:xfrm>
          <a:prstGeom prst="straightConnector1">
            <a:avLst/>
          </a:prstGeom>
          <a:noFill/>
          <a:ln cap="flat" cmpd="sng" w="12700">
            <a:solidFill>
              <a:srgbClr val="0B2F5B"/>
            </a:solidFill>
            <a:prstDash val="solid"/>
            <a:round/>
            <a:headEnd len="sm" w="sm" type="none"/>
            <a:tailEnd len="med" w="med" type="triangle"/>
          </a:ln>
        </p:spPr>
      </p:cxnSp>
      <p:sp>
        <p:nvSpPr>
          <p:cNvPr id="1248" name="Google Shape;1248;p50"/>
          <p:cNvSpPr/>
          <p:nvPr/>
        </p:nvSpPr>
        <p:spPr>
          <a:xfrm>
            <a:off x="10019788" y="3017520"/>
            <a:ext cx="555265" cy="200025"/>
          </a:xfrm>
          <a:prstGeom prst="roundRect">
            <a:avLst>
              <a:gd fmla="val 50000" name="adj"/>
            </a:avLst>
          </a:prstGeom>
          <a:solidFill>
            <a:srgbClr val="EAF2FB"/>
          </a:solidFill>
          <a:ln cap="flat" cmpd="sng" w="9525">
            <a:solidFill>
              <a:srgbClr val="1565C0"/>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0B2F5B"/>
                </a:solidFill>
                <a:latin typeface="Barlow"/>
                <a:ea typeface="Barlow"/>
                <a:cs typeface="Barlow"/>
                <a:sym typeface="Barlow"/>
              </a:rPr>
              <a:t>Applied</a:t>
            </a:r>
            <a:endParaRPr/>
          </a:p>
        </p:txBody>
      </p:sp>
      <p:cxnSp>
        <p:nvCxnSpPr>
          <p:cNvPr id="1249" name="Google Shape;1249;p50"/>
          <p:cNvCxnSpPr/>
          <p:nvPr/>
        </p:nvCxnSpPr>
        <p:spPr>
          <a:xfrm>
            <a:off x="10593340" y="3118103"/>
            <a:ext cx="128017" cy="0"/>
          </a:xfrm>
          <a:prstGeom prst="straightConnector1">
            <a:avLst/>
          </a:prstGeom>
          <a:noFill/>
          <a:ln cap="flat" cmpd="sng" w="12700">
            <a:solidFill>
              <a:srgbClr val="0B2F5B"/>
            </a:solidFill>
            <a:prstDash val="solid"/>
            <a:round/>
            <a:headEnd len="sm" w="sm" type="none"/>
            <a:tailEnd len="med" w="med" type="triangle"/>
          </a:ln>
        </p:spPr>
      </p:cxnSp>
      <p:sp>
        <p:nvSpPr>
          <p:cNvPr id="1250" name="Google Shape;1250;p50"/>
          <p:cNvSpPr/>
          <p:nvPr/>
        </p:nvSpPr>
        <p:spPr>
          <a:xfrm>
            <a:off x="10739645" y="3017520"/>
            <a:ext cx="540192" cy="200025"/>
          </a:xfrm>
          <a:prstGeom prst="roundRect">
            <a:avLst>
              <a:gd fmla="val 500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1E7B4F"/>
                </a:solidFill>
                <a:latin typeface="Barlow"/>
                <a:ea typeface="Barlow"/>
                <a:cs typeface="Barlow"/>
                <a:sym typeface="Barlow"/>
              </a:rPr>
              <a:t>Synced</a:t>
            </a:r>
            <a:endParaRPr/>
          </a:p>
        </p:txBody>
      </p:sp>
      <p:sp>
        <p:nvSpPr>
          <p:cNvPr id="1251" name="Google Shape;1251;p50"/>
          <p:cNvSpPr/>
          <p:nvPr/>
        </p:nvSpPr>
        <p:spPr>
          <a:xfrm>
            <a:off x="9281160" y="3291840"/>
            <a:ext cx="597789" cy="200025"/>
          </a:xfrm>
          <a:prstGeom prst="roundRect">
            <a:avLst>
              <a:gd fmla="val 50000" name="adj"/>
            </a:avLst>
          </a:prstGeom>
          <a:solidFill>
            <a:srgbClr val="FDECEA"/>
          </a:solidFill>
          <a:ln cap="flat" cmpd="sng" w="9525">
            <a:solidFill>
              <a:srgbClr val="E9A39D"/>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B3261E"/>
                </a:solidFill>
                <a:latin typeface="Barlow"/>
                <a:ea typeface="Barlow"/>
                <a:cs typeface="Barlow"/>
                <a:sym typeface="Barlow"/>
              </a:rPr>
              <a:t>/ Failed</a:t>
            </a:r>
            <a:endParaRPr/>
          </a:p>
        </p:txBody>
      </p:sp>
      <p:sp>
        <p:nvSpPr>
          <p:cNvPr id="1252" name="Google Shape;1252;p50"/>
          <p:cNvSpPr txBox="1"/>
          <p:nvPr/>
        </p:nvSpPr>
        <p:spPr>
          <a:xfrm>
            <a:off x="10058400" y="3255264"/>
            <a:ext cx="137160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50">
                <a:solidFill>
                  <a:srgbClr val="5F6B7A"/>
                </a:solidFill>
                <a:latin typeface="Barlow"/>
                <a:ea typeface="Barlow"/>
                <a:cs typeface="Barlow"/>
                <a:sym typeface="Barlow"/>
              </a:rPr>
              <a:t>미동기화 항목은 대시보드 목록에 표시</a:t>
            </a:r>
            <a:endParaRPr/>
          </a:p>
        </p:txBody>
      </p:sp>
      <p:sp>
        <p:nvSpPr>
          <p:cNvPr id="1253" name="Google Shape;1253;p50"/>
          <p:cNvSpPr txBox="1"/>
          <p:nvPr/>
        </p:nvSpPr>
        <p:spPr>
          <a:xfrm>
            <a:off x="9281160" y="3675887"/>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OTP 규칙</a:t>
            </a:r>
            <a:endParaRPr/>
          </a:p>
        </p:txBody>
      </p:sp>
      <p:sp>
        <p:nvSpPr>
          <p:cNvPr id="1254" name="Google Shape;1254;p50"/>
          <p:cNvSpPr txBox="1"/>
          <p:nvPr/>
        </p:nvSpPr>
        <p:spPr>
          <a:xfrm>
            <a:off x="9281160" y="3913632"/>
            <a:ext cx="2148840" cy="78638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시간 단위 </a:t>
            </a:r>
            <a:r>
              <a:rPr b="1" lang="en-US" sz="900">
                <a:solidFill>
                  <a:srgbClr val="1F2A37"/>
                </a:solidFill>
                <a:latin typeface="Barlow"/>
                <a:ea typeface="Barlow"/>
                <a:cs typeface="Barlow"/>
                <a:sym typeface="Barlow"/>
              </a:rPr>
              <a:t>TBD</a:t>
            </a:r>
            <a:r>
              <a:rPr lang="en-US" sz="900">
                <a:solidFill>
                  <a:srgbClr val="1F2A37"/>
                </a:solidFill>
                <a:latin typeface="Barlow"/>
                <a:ea typeface="Barlow"/>
                <a:cs typeface="Barlow"/>
                <a:sym typeface="Barlow"/>
              </a:rPr>
              <a:t> s, 허용 오차 ±1 단계</a:t>
            </a:r>
            <a:endParaRPr sz="900">
              <a:solidFill>
                <a:srgbClr val="1F2A37"/>
              </a:solidFill>
              <a:latin typeface="Barlow"/>
              <a:ea typeface="Barlow"/>
              <a:cs typeface="Barlow"/>
              <a:sym typeface="Barlow"/>
            </a:endParaRPr>
          </a:p>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연속 </a:t>
            </a:r>
            <a:r>
              <a:rPr b="1" lang="en-US" sz="900">
                <a:solidFill>
                  <a:srgbClr val="1F2A37"/>
                </a:solidFill>
                <a:latin typeface="Barlow"/>
                <a:ea typeface="Barlow"/>
                <a:cs typeface="Barlow"/>
                <a:sym typeface="Barlow"/>
              </a:rPr>
              <a:t>TBD</a:t>
            </a:r>
            <a:r>
              <a:rPr lang="en-US" sz="900">
                <a:solidFill>
                  <a:srgbClr val="1F2A37"/>
                </a:solidFill>
                <a:latin typeface="Barlow"/>
                <a:ea typeface="Barlow"/>
                <a:cs typeface="Barlow"/>
                <a:sym typeface="Barlow"/>
              </a:rPr>
              <a:t>회 실패 시 잠금</a:t>
            </a:r>
            <a:endParaRPr sz="900">
              <a:solidFill>
                <a:srgbClr val="1F2A37"/>
              </a:solidFill>
              <a:latin typeface="Barlow"/>
              <a:ea typeface="Barlow"/>
              <a:cs typeface="Barlow"/>
              <a:sym typeface="Barlow"/>
            </a:endParaRPr>
          </a:p>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기기 데이터를 읽을 때 기기 시계 확인</a:t>
            </a:r>
            <a:endParaRPr sz="900">
              <a:solidFill>
                <a:srgbClr val="1F2A37"/>
              </a:solidFill>
              <a:latin typeface="Barlow"/>
              <a:ea typeface="Barlow"/>
              <a:cs typeface="Barlow"/>
              <a:sym typeface="Barlow"/>
            </a:endParaRPr>
          </a:p>
        </p:txBody>
      </p:sp>
      <p:sp>
        <p:nvSpPr>
          <p:cNvPr id="1255" name="Google Shape;1255;p50"/>
          <p:cNvSpPr txBox="1"/>
          <p:nvPr/>
        </p:nvSpPr>
        <p:spPr>
          <a:xfrm>
            <a:off x="9281160" y="4754880"/>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동기화 API 오류</a:t>
            </a:r>
            <a:endParaRPr/>
          </a:p>
        </p:txBody>
      </p:sp>
      <p:sp>
        <p:nvSpPr>
          <p:cNvPr id="1256" name="Google Shape;1256;p50"/>
          <p:cNvSpPr/>
          <p:nvPr/>
        </p:nvSpPr>
        <p:spPr>
          <a:xfrm>
            <a:off x="9281160" y="5010912"/>
            <a:ext cx="457200" cy="188912"/>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401</a:t>
            </a:r>
            <a:endParaRPr/>
          </a:p>
        </p:txBody>
      </p:sp>
      <p:sp>
        <p:nvSpPr>
          <p:cNvPr id="1257" name="Google Shape;1257;p50"/>
          <p:cNvSpPr txBox="1"/>
          <p:nvPr/>
        </p:nvSpPr>
        <p:spPr>
          <a:xfrm>
            <a:off x="9829800" y="5010912"/>
            <a:ext cx="160020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토큰 갱신</a:t>
            </a:r>
            <a:endParaRPr/>
          </a:p>
        </p:txBody>
      </p:sp>
      <p:sp>
        <p:nvSpPr>
          <p:cNvPr id="1258" name="Google Shape;1258;p50"/>
          <p:cNvSpPr/>
          <p:nvPr/>
        </p:nvSpPr>
        <p:spPr>
          <a:xfrm>
            <a:off x="9281160" y="5266944"/>
            <a:ext cx="457200" cy="188912"/>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409</a:t>
            </a:r>
            <a:endParaRPr/>
          </a:p>
        </p:txBody>
      </p:sp>
      <p:sp>
        <p:nvSpPr>
          <p:cNvPr id="1259" name="Google Shape;1259;p50"/>
          <p:cNvSpPr txBox="1"/>
          <p:nvPr/>
        </p:nvSpPr>
        <p:spPr>
          <a:xfrm>
            <a:off x="9829800" y="5266944"/>
            <a:ext cx="160020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성공으로 처리</a:t>
            </a:r>
            <a:endParaRPr/>
          </a:p>
        </p:txBody>
      </p:sp>
      <p:sp>
        <p:nvSpPr>
          <p:cNvPr id="1260" name="Google Shape;1260;p50"/>
          <p:cNvSpPr/>
          <p:nvPr/>
        </p:nvSpPr>
        <p:spPr>
          <a:xfrm>
            <a:off x="9281160" y="5522976"/>
            <a:ext cx="457200" cy="188912"/>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5xx</a:t>
            </a:r>
            <a:endParaRPr/>
          </a:p>
        </p:txBody>
      </p:sp>
      <p:sp>
        <p:nvSpPr>
          <p:cNvPr id="1261" name="Google Shape;1261;p50"/>
          <p:cNvSpPr txBox="1"/>
          <p:nvPr/>
        </p:nvSpPr>
        <p:spPr>
          <a:xfrm>
            <a:off x="9829800" y="5522976"/>
            <a:ext cx="1600200" cy="1920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백오프</a:t>
            </a:r>
            <a:endParaRPr sz="900">
              <a:solidFill>
                <a:srgbClr val="1F2A37"/>
              </a:solidFill>
              <a:latin typeface="Barlow"/>
              <a:ea typeface="Barlow"/>
              <a:cs typeface="Barlow"/>
              <a:sym typeface="Barlo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6" name="Shape 1266"/>
        <p:cNvGrpSpPr/>
        <p:nvPr/>
      </p:nvGrpSpPr>
      <p:grpSpPr>
        <a:xfrm>
          <a:off x="0" y="0"/>
          <a:ext cx="0" cy="0"/>
          <a:chOff x="0" y="0"/>
          <a:chExt cx="0" cy="0"/>
        </a:xfrm>
      </p:grpSpPr>
      <p:sp>
        <p:nvSpPr>
          <p:cNvPr id="1267" name="Google Shape;1267;p51"/>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테스트 방식 · Mock, 시뮬레이터, 하드웨어 인 더 루프</a:t>
            </a:r>
            <a:endParaRPr/>
          </a:p>
        </p:txBody>
      </p:sp>
      <p:sp>
        <p:nvSpPr>
          <p:cNvPr id="1268" name="Google Shape;1268;p51"/>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레지스터 수준 Mock이 로직을, 벤치가 전원과 무선을 증명합니다</a:t>
            </a:r>
            <a:endParaRPr/>
          </a:p>
        </p:txBody>
      </p:sp>
      <p:sp>
        <p:nvSpPr>
          <p:cNvPr id="1269" name="Google Shape;1269;p51"/>
          <p:cNvSpPr/>
          <p:nvPr/>
        </p:nvSpPr>
        <p:spPr>
          <a:xfrm>
            <a:off x="457200" y="1234440"/>
            <a:ext cx="640080" cy="640080"/>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2400">
                <a:solidFill>
                  <a:srgbClr val="FFFFFF"/>
                </a:solidFill>
                <a:latin typeface="Montserrat"/>
                <a:ea typeface="Montserrat"/>
                <a:cs typeface="Montserrat"/>
                <a:sym typeface="Montserrat"/>
              </a:rPr>
              <a:t>7</a:t>
            </a:r>
            <a:endParaRPr/>
          </a:p>
        </p:txBody>
      </p:sp>
      <p:sp>
        <p:nvSpPr>
          <p:cNvPr id="1270" name="Google Shape;1270;p51"/>
          <p:cNvSpPr txBox="1"/>
          <p:nvPr/>
        </p:nvSpPr>
        <p:spPr>
          <a:xfrm>
            <a:off x="1234440" y="1280160"/>
            <a:ext cx="4480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Mock 및 시뮬레이터</a:t>
            </a:r>
            <a:endParaRPr/>
          </a:p>
        </p:txBody>
      </p:sp>
      <p:sp>
        <p:nvSpPr>
          <p:cNvPr id="1271" name="Google Shape;1271;p51"/>
          <p:cNvSpPr txBox="1"/>
          <p:nvPr/>
        </p:nvSpPr>
        <p:spPr>
          <a:xfrm>
            <a:off x="1234440" y="1554480"/>
            <a:ext cx="44805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5F6B7A"/>
                </a:solidFill>
                <a:latin typeface="Barlow"/>
                <a:ea typeface="Barlow"/>
                <a:cs typeface="Barlow"/>
                <a:sym typeface="Barlow"/>
              </a:rPr>
              <a:t>자동화, 하드웨어 불필요: 상태 전이와 UI 제약</a:t>
            </a:r>
            <a:endParaRPr/>
          </a:p>
        </p:txBody>
      </p:sp>
      <p:sp>
        <p:nvSpPr>
          <p:cNvPr id="1272" name="Google Shape;1272;p51"/>
          <p:cNvSpPr/>
          <p:nvPr/>
        </p:nvSpPr>
        <p:spPr>
          <a:xfrm>
            <a:off x="6035040" y="1234440"/>
            <a:ext cx="5394960" cy="480060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3" name="Google Shape;1273;p51"/>
          <p:cNvSpPr/>
          <p:nvPr/>
        </p:nvSpPr>
        <p:spPr>
          <a:xfrm>
            <a:off x="6035040" y="1234440"/>
            <a:ext cx="640080" cy="640080"/>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2400">
                <a:solidFill>
                  <a:srgbClr val="FFFFFF"/>
                </a:solidFill>
                <a:latin typeface="Montserrat"/>
                <a:ea typeface="Montserrat"/>
                <a:cs typeface="Montserrat"/>
                <a:sym typeface="Montserrat"/>
              </a:rPr>
              <a:t>5</a:t>
            </a:r>
            <a:endParaRPr/>
          </a:p>
        </p:txBody>
      </p:sp>
      <p:sp>
        <p:nvSpPr>
          <p:cNvPr id="1274" name="Google Shape;1274;p51"/>
          <p:cNvSpPr txBox="1"/>
          <p:nvPr/>
        </p:nvSpPr>
        <p:spPr>
          <a:xfrm>
            <a:off x="6812279" y="1280160"/>
            <a:ext cx="448056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실제 하드웨어 벤치</a:t>
            </a:r>
            <a:endParaRPr/>
          </a:p>
        </p:txBody>
      </p:sp>
      <p:sp>
        <p:nvSpPr>
          <p:cNvPr id="1275" name="Google Shape;1275;p51"/>
          <p:cNvSpPr txBox="1"/>
          <p:nvPr/>
        </p:nvSpPr>
        <p:spPr>
          <a:xfrm>
            <a:off x="6812279" y="1554480"/>
            <a:ext cx="448056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5F6B7A"/>
                </a:solidFill>
                <a:latin typeface="Barlow"/>
                <a:ea typeface="Barlow"/>
                <a:cs typeface="Barlow"/>
                <a:sym typeface="Barlow"/>
              </a:rPr>
              <a:t>Mock으로 증명할 수 없는 전원 안전성과 무선 한계</a:t>
            </a:r>
            <a:endParaRPr/>
          </a:p>
        </p:txBody>
      </p:sp>
      <p:cxnSp>
        <p:nvCxnSpPr>
          <p:cNvPr id="1276" name="Google Shape;1276;p51"/>
          <p:cNvCxnSpPr>
            <a:stCxn id="1277" idx="3"/>
            <a:endCxn id="1278" idx="1"/>
          </p:cNvCxnSpPr>
          <p:nvPr/>
        </p:nvCxnSpPr>
        <p:spPr>
          <a:xfrm>
            <a:off x="1947672" y="2459736"/>
            <a:ext cx="274200" cy="0"/>
          </a:xfrm>
          <a:prstGeom prst="straightConnector1">
            <a:avLst/>
          </a:prstGeom>
          <a:noFill/>
          <a:ln cap="flat" cmpd="sng" w="15875">
            <a:solidFill>
              <a:srgbClr val="0B2F5B"/>
            </a:solidFill>
            <a:prstDash val="solid"/>
            <a:round/>
            <a:headEnd len="sm" w="sm" type="none"/>
            <a:tailEnd len="med" w="med" type="triangle"/>
          </a:ln>
        </p:spPr>
      </p:cxnSp>
      <p:cxnSp>
        <p:nvCxnSpPr>
          <p:cNvPr id="1279" name="Google Shape;1279;p51"/>
          <p:cNvCxnSpPr>
            <a:stCxn id="1278" idx="3"/>
            <a:endCxn id="1280" idx="1"/>
          </p:cNvCxnSpPr>
          <p:nvPr/>
        </p:nvCxnSpPr>
        <p:spPr>
          <a:xfrm>
            <a:off x="3547872" y="2459736"/>
            <a:ext cx="274200" cy="0"/>
          </a:xfrm>
          <a:prstGeom prst="straightConnector1">
            <a:avLst/>
          </a:prstGeom>
          <a:noFill/>
          <a:ln cap="flat" cmpd="sng" w="15875">
            <a:solidFill>
              <a:srgbClr val="1E7B4F"/>
            </a:solidFill>
            <a:prstDash val="solid"/>
            <a:round/>
            <a:headEnd len="sm" w="sm" type="none"/>
            <a:tailEnd len="med" w="med" type="triangle"/>
          </a:ln>
        </p:spPr>
      </p:cxnSp>
      <p:sp>
        <p:nvSpPr>
          <p:cNvPr id="1281" name="Google Shape;1281;p51"/>
          <p:cNvSpPr/>
          <p:nvPr/>
        </p:nvSpPr>
        <p:spPr>
          <a:xfrm>
            <a:off x="1371600" y="2926080"/>
            <a:ext cx="1298448" cy="219456"/>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75">
                <a:solidFill>
                  <a:srgbClr val="1565C0"/>
                </a:solidFill>
                <a:latin typeface="Consolas"/>
                <a:ea typeface="Consolas"/>
                <a:cs typeface="Consolas"/>
                <a:sym typeface="Consolas"/>
              </a:rPr>
              <a:t>-UITestMockBLE</a:t>
            </a:r>
            <a:endParaRPr/>
          </a:p>
        </p:txBody>
      </p:sp>
      <p:sp>
        <p:nvSpPr>
          <p:cNvPr id="1282" name="Google Shape;1282;p51"/>
          <p:cNvSpPr/>
          <p:nvPr/>
        </p:nvSpPr>
        <p:spPr>
          <a:xfrm>
            <a:off x="3657600" y="2926080"/>
            <a:ext cx="381369" cy="219456"/>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9A5B00"/>
                </a:solidFill>
                <a:latin typeface="Barlow"/>
                <a:ea typeface="Barlow"/>
                <a:cs typeface="Barlow"/>
                <a:sym typeface="Barlow"/>
              </a:rPr>
              <a:t>Delay</a:t>
            </a:r>
            <a:endParaRPr/>
          </a:p>
        </p:txBody>
      </p:sp>
      <p:sp>
        <p:nvSpPr>
          <p:cNvPr id="1283" name="Google Shape;1283;p51"/>
          <p:cNvSpPr/>
          <p:nvPr/>
        </p:nvSpPr>
        <p:spPr>
          <a:xfrm>
            <a:off x="4084689" y="2926080"/>
            <a:ext cx="713965" cy="219456"/>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9A5B00"/>
                </a:solidFill>
                <a:latin typeface="Barlow"/>
                <a:ea typeface="Barlow"/>
                <a:cs typeface="Barlow"/>
                <a:sym typeface="Barlow"/>
              </a:rPr>
              <a:t>No response</a:t>
            </a:r>
            <a:endParaRPr/>
          </a:p>
        </p:txBody>
      </p:sp>
      <p:sp>
        <p:nvSpPr>
          <p:cNvPr id="1284" name="Google Shape;1284;p51"/>
          <p:cNvSpPr/>
          <p:nvPr/>
        </p:nvSpPr>
        <p:spPr>
          <a:xfrm>
            <a:off x="4844374" y="2926080"/>
            <a:ext cx="657392" cy="219456"/>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0" lang="en-US" sz="850">
                <a:solidFill>
                  <a:srgbClr val="9A5B00"/>
                </a:solidFill>
                <a:latin typeface="Barlow"/>
                <a:ea typeface="Barlow"/>
                <a:cs typeface="Barlow"/>
                <a:sym typeface="Barlow"/>
              </a:rPr>
              <a:t>Disconnect</a:t>
            </a:r>
            <a:endParaRPr/>
          </a:p>
        </p:txBody>
      </p:sp>
      <p:cxnSp>
        <p:nvCxnSpPr>
          <p:cNvPr id="1285" name="Google Shape;1285;p51"/>
          <p:cNvCxnSpPr/>
          <p:nvPr/>
        </p:nvCxnSpPr>
        <p:spPr>
          <a:xfrm>
            <a:off x="621792" y="3310128"/>
            <a:ext cx="5065776" cy="0"/>
          </a:xfrm>
          <a:prstGeom prst="straightConnector1">
            <a:avLst/>
          </a:prstGeom>
          <a:noFill/>
          <a:ln cap="flat" cmpd="sng" w="9525">
            <a:solidFill>
              <a:srgbClr val="C7D7EA"/>
            </a:solidFill>
            <a:prstDash val="solid"/>
            <a:round/>
            <a:headEnd len="sm" w="sm" type="none"/>
            <a:tailEnd len="sm" w="sm" type="none"/>
          </a:ln>
        </p:spPr>
      </p:cxnSp>
      <p:sp>
        <p:nvSpPr>
          <p:cNvPr id="1286" name="Google Shape;1286;p51"/>
          <p:cNvSpPr/>
          <p:nvPr/>
        </p:nvSpPr>
        <p:spPr>
          <a:xfrm>
            <a:off x="621792" y="3456432"/>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UT-01</a:t>
            </a:r>
            <a:endParaRPr/>
          </a:p>
        </p:txBody>
      </p:sp>
      <p:sp>
        <p:nvSpPr>
          <p:cNvPr id="1287" name="Google Shape;1287;p51"/>
          <p:cNvSpPr txBox="1"/>
          <p:nvPr/>
        </p:nvSpPr>
        <p:spPr>
          <a:xfrm>
            <a:off x="1280160" y="3429000"/>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에너지 정책이 Standby일 때 가격 설정 → </a:t>
            </a:r>
            <a:r>
              <a:rPr b="1" lang="en-US" sz="950">
                <a:solidFill>
                  <a:srgbClr val="1F2A37"/>
                </a:solidFill>
                <a:latin typeface="Barlow"/>
                <a:ea typeface="Barlow"/>
                <a:cs typeface="Barlow"/>
                <a:sym typeface="Barlow"/>
              </a:rPr>
              <a:t>메뉴 비활성화</a:t>
            </a:r>
            <a:endParaRPr b="1">
              <a:latin typeface="Barlow"/>
              <a:ea typeface="Barlow"/>
              <a:cs typeface="Barlow"/>
              <a:sym typeface="Barlow"/>
            </a:endParaRPr>
          </a:p>
        </p:txBody>
      </p:sp>
      <p:sp>
        <p:nvSpPr>
          <p:cNvPr id="1288" name="Google Shape;1288;p51"/>
          <p:cNvSpPr/>
          <p:nvPr/>
        </p:nvSpPr>
        <p:spPr>
          <a:xfrm>
            <a:off x="621792" y="3808476"/>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UT-02</a:t>
            </a:r>
            <a:endParaRPr/>
          </a:p>
        </p:txBody>
      </p:sp>
      <p:sp>
        <p:nvSpPr>
          <p:cNvPr id="1289" name="Google Shape;1289;p51"/>
          <p:cNvSpPr txBox="1"/>
          <p:nvPr/>
        </p:nvSpPr>
        <p:spPr>
          <a:xfrm>
            <a:off x="1280160" y="3781044"/>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Time-based 모드로 전환 후 가격 설정 → </a:t>
            </a:r>
            <a:r>
              <a:rPr b="1" lang="en-US" sz="950">
                <a:solidFill>
                  <a:srgbClr val="1F2A37"/>
                </a:solidFill>
                <a:latin typeface="Barlow"/>
                <a:ea typeface="Barlow"/>
                <a:cs typeface="Barlow"/>
                <a:sym typeface="Barlow"/>
              </a:rPr>
              <a:t>kWh당 입력 폼 활성화</a:t>
            </a:r>
            <a:endParaRPr b="1">
              <a:latin typeface="Barlow"/>
              <a:ea typeface="Barlow"/>
              <a:cs typeface="Barlow"/>
              <a:sym typeface="Barlow"/>
            </a:endParaRPr>
          </a:p>
        </p:txBody>
      </p:sp>
      <p:sp>
        <p:nvSpPr>
          <p:cNvPr id="1290" name="Google Shape;1290;p51"/>
          <p:cNvSpPr/>
          <p:nvPr/>
        </p:nvSpPr>
        <p:spPr>
          <a:xfrm>
            <a:off x="621792" y="416052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UT-03</a:t>
            </a:r>
            <a:endParaRPr/>
          </a:p>
        </p:txBody>
      </p:sp>
      <p:sp>
        <p:nvSpPr>
          <p:cNvPr id="1291" name="Google Shape;1291;p51"/>
          <p:cNvSpPr txBox="1"/>
          <p:nvPr/>
        </p:nvSpPr>
        <p:spPr>
          <a:xfrm>
            <a:off x="1280160" y="4133087"/>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상세 진입 시 데이터 읽는 중 터치 → </a:t>
            </a:r>
            <a:r>
              <a:rPr b="1" lang="en-US" sz="950">
                <a:solidFill>
                  <a:srgbClr val="1F2A37"/>
                </a:solidFill>
                <a:latin typeface="Barlow"/>
                <a:ea typeface="Barlow"/>
                <a:cs typeface="Barlow"/>
                <a:sym typeface="Barlow"/>
              </a:rPr>
              <a:t>모든 입력 차단</a:t>
            </a:r>
            <a:endParaRPr b="1">
              <a:latin typeface="Barlow"/>
              <a:ea typeface="Barlow"/>
              <a:cs typeface="Barlow"/>
              <a:sym typeface="Barlow"/>
            </a:endParaRPr>
          </a:p>
        </p:txBody>
      </p:sp>
      <p:sp>
        <p:nvSpPr>
          <p:cNvPr id="1292" name="Google Shape;1292;p51"/>
          <p:cNvSpPr/>
          <p:nvPr/>
        </p:nvSpPr>
        <p:spPr>
          <a:xfrm>
            <a:off x="621792" y="4512564"/>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UT-04</a:t>
            </a:r>
            <a:endParaRPr/>
          </a:p>
        </p:txBody>
      </p:sp>
      <p:sp>
        <p:nvSpPr>
          <p:cNvPr id="1293" name="Google Shape;1293;p51"/>
          <p:cNvSpPr txBox="1"/>
          <p:nvPr/>
        </p:nvSpPr>
        <p:spPr>
          <a:xfrm>
            <a:off x="1280160" y="4485131"/>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Incomplete 장치 진입 → </a:t>
            </a:r>
            <a:r>
              <a:rPr b="1" lang="en-US" sz="950">
                <a:solidFill>
                  <a:srgbClr val="1F2A37"/>
                </a:solidFill>
                <a:latin typeface="Barlow"/>
                <a:ea typeface="Barlow"/>
                <a:cs typeface="Barlow"/>
                <a:sym typeface="Barlow"/>
              </a:rPr>
              <a:t>비밀번호 단계 생략</a:t>
            </a:r>
            <a:endParaRPr b="1">
              <a:latin typeface="Barlow"/>
              <a:ea typeface="Barlow"/>
              <a:cs typeface="Barlow"/>
              <a:sym typeface="Barlow"/>
            </a:endParaRPr>
          </a:p>
        </p:txBody>
      </p:sp>
      <p:sp>
        <p:nvSpPr>
          <p:cNvPr id="1294" name="Google Shape;1294;p51"/>
          <p:cNvSpPr/>
          <p:nvPr/>
        </p:nvSpPr>
        <p:spPr>
          <a:xfrm>
            <a:off x="621792" y="4864607"/>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UT-05</a:t>
            </a:r>
            <a:endParaRPr/>
          </a:p>
        </p:txBody>
      </p:sp>
      <p:sp>
        <p:nvSpPr>
          <p:cNvPr id="1295" name="Google Shape;1295;p51"/>
          <p:cNvSpPr txBox="1"/>
          <p:nvPr/>
        </p:nvSpPr>
        <p:spPr>
          <a:xfrm>
            <a:off x="1280160" y="4837175"/>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Apply 실행 → </a:t>
            </a:r>
            <a:r>
              <a:rPr b="1" lang="en-US" sz="950">
                <a:solidFill>
                  <a:srgbClr val="1F2A37"/>
                </a:solidFill>
                <a:latin typeface="Barlow"/>
                <a:ea typeface="Barlow"/>
                <a:cs typeface="Barlow"/>
                <a:sym typeface="Barlow"/>
              </a:rPr>
              <a:t>상태는 Run, 재진입 시 OTP 필요</a:t>
            </a:r>
            <a:endParaRPr b="1">
              <a:latin typeface="Barlow"/>
              <a:ea typeface="Barlow"/>
              <a:cs typeface="Barlow"/>
              <a:sym typeface="Barlow"/>
            </a:endParaRPr>
          </a:p>
        </p:txBody>
      </p:sp>
      <p:sp>
        <p:nvSpPr>
          <p:cNvPr id="1296" name="Google Shape;1296;p51"/>
          <p:cNvSpPr/>
          <p:nvPr/>
        </p:nvSpPr>
        <p:spPr>
          <a:xfrm>
            <a:off x="621792" y="5216651"/>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UT-06</a:t>
            </a:r>
            <a:endParaRPr/>
          </a:p>
        </p:txBody>
      </p:sp>
      <p:sp>
        <p:nvSpPr>
          <p:cNvPr id="1297" name="Google Shape;1297;p51"/>
          <p:cNvSpPr txBox="1"/>
          <p:nvPr/>
        </p:nvSpPr>
        <p:spPr>
          <a:xfrm>
            <a:off x="1280160" y="5189219"/>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NMI No 재조회 → </a:t>
            </a:r>
            <a:r>
              <a:rPr b="1" lang="en-US" sz="950">
                <a:solidFill>
                  <a:srgbClr val="1F2A37"/>
                </a:solidFill>
                <a:latin typeface="Barlow"/>
                <a:ea typeface="Barlow"/>
                <a:cs typeface="Barlow"/>
                <a:sym typeface="Barlow"/>
              </a:rPr>
              <a:t>조회 선택기로 서버 값 재주입</a:t>
            </a:r>
            <a:endParaRPr b="1">
              <a:latin typeface="Barlow"/>
              <a:ea typeface="Barlow"/>
              <a:cs typeface="Barlow"/>
              <a:sym typeface="Barlow"/>
            </a:endParaRPr>
          </a:p>
        </p:txBody>
      </p:sp>
      <p:sp>
        <p:nvSpPr>
          <p:cNvPr id="1298" name="Google Shape;1298;p51"/>
          <p:cNvSpPr/>
          <p:nvPr/>
        </p:nvSpPr>
        <p:spPr>
          <a:xfrm>
            <a:off x="621792" y="5568695"/>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UT-07</a:t>
            </a:r>
            <a:endParaRPr/>
          </a:p>
        </p:txBody>
      </p:sp>
      <p:sp>
        <p:nvSpPr>
          <p:cNvPr id="1299" name="Google Shape;1299;p51"/>
          <p:cNvSpPr txBox="1"/>
          <p:nvPr/>
        </p:nvSpPr>
        <p:spPr>
          <a:xfrm>
            <a:off x="1280160" y="5541263"/>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오프라인 작업 후 네트워크 복구 → </a:t>
            </a:r>
            <a:r>
              <a:rPr b="1" lang="en-US" sz="950">
                <a:solidFill>
                  <a:srgbClr val="1F2A37"/>
                </a:solidFill>
                <a:latin typeface="Barlow"/>
                <a:ea typeface="Barlow"/>
                <a:cs typeface="Barlow"/>
                <a:sym typeface="Barlow"/>
              </a:rPr>
              <a:t>1회 업로드, 중복 없음</a:t>
            </a:r>
            <a:endParaRPr b="1">
              <a:latin typeface="Barlow"/>
              <a:ea typeface="Barlow"/>
              <a:cs typeface="Barlow"/>
              <a:sym typeface="Barlow"/>
            </a:endParaRPr>
          </a:p>
        </p:txBody>
      </p:sp>
      <p:sp>
        <p:nvSpPr>
          <p:cNvPr id="1300" name="Google Shape;1300;p51"/>
          <p:cNvSpPr/>
          <p:nvPr/>
        </p:nvSpPr>
        <p:spPr>
          <a:xfrm>
            <a:off x="6199632" y="2103120"/>
            <a:ext cx="1097280" cy="713232"/>
          </a:xfrm>
          <a:prstGeom prst="roundRect">
            <a:avLst>
              <a:gd fmla="val 7692" name="adj"/>
            </a:avLst>
          </a:prstGeom>
          <a:solidFill>
            <a:srgbClr val="FFFFFF"/>
          </a:solidFill>
          <a:ln cap="flat" cmpd="sng" w="12700">
            <a:solidFill>
              <a:srgbClr val="0B2F5B"/>
            </a:solidFill>
            <a:prstDash val="solid"/>
            <a:round/>
            <a:headEnd len="sm" w="sm" type="none"/>
            <a:tailEnd len="sm" w="sm" type="none"/>
          </a:ln>
        </p:spPr>
        <p:txBody>
          <a:bodyPr anchorCtr="0" anchor="ctr" bIns="27425" lIns="36575" spcFirstLastPara="1" rIns="36575" wrap="square" tIns="27425">
            <a:noAutofit/>
          </a:bodyPr>
          <a:lstStyle/>
          <a:p>
            <a:pPr indent="0" lvl="0" marL="0" marR="0" rtl="0" algn="ctr">
              <a:lnSpc>
                <a:spcPct val="100000"/>
              </a:lnSpc>
              <a:spcBef>
                <a:spcPts val="150"/>
              </a:spcBef>
              <a:spcAft>
                <a:spcPts val="0"/>
              </a:spcAft>
              <a:buNone/>
            </a:pPr>
            <a:r>
              <a:rPr b="1" lang="en-US" sz="900">
                <a:solidFill>
                  <a:srgbClr val="0B2F5B"/>
                </a:solidFill>
                <a:latin typeface="Montserrat"/>
                <a:ea typeface="Montserrat"/>
                <a:cs typeface="Montserrat"/>
                <a:sym typeface="Montserrat"/>
              </a:rPr>
              <a:t>iPhone 팜</a:t>
            </a:r>
            <a:endParaRPr b="1" sz="900">
              <a:solidFill>
                <a:srgbClr val="0B2F5B"/>
              </a:solidFill>
              <a:latin typeface="Montserrat"/>
              <a:ea typeface="Montserrat"/>
              <a:cs typeface="Montserrat"/>
              <a:sym typeface="Montserrat"/>
            </a:endParaRPr>
          </a:p>
          <a:p>
            <a:pPr indent="0" lvl="0" marL="0" marR="0" rtl="0" algn="ctr">
              <a:lnSpc>
                <a:spcPct val="100000"/>
              </a:lnSpc>
              <a:spcBef>
                <a:spcPts val="150"/>
              </a:spcBef>
              <a:spcAft>
                <a:spcPts val="0"/>
              </a:spcAft>
              <a:buNone/>
            </a:pPr>
            <a:r>
              <a:rPr lang="en-US" sz="900">
                <a:solidFill>
                  <a:srgbClr val="0B2F5B"/>
                </a:solidFill>
                <a:latin typeface="Montserrat"/>
                <a:ea typeface="Montserrat"/>
                <a:cs typeface="Montserrat"/>
                <a:sym typeface="Montserrat"/>
              </a:rPr>
              <a:t>여러 모델, iOS 버전</a:t>
            </a:r>
            <a:endParaRPr sz="900">
              <a:solidFill>
                <a:srgbClr val="0B2F5B"/>
              </a:solidFill>
              <a:latin typeface="Montserrat"/>
              <a:ea typeface="Montserrat"/>
              <a:cs typeface="Montserrat"/>
              <a:sym typeface="Montserrat"/>
            </a:endParaRPr>
          </a:p>
        </p:txBody>
      </p:sp>
      <p:sp>
        <p:nvSpPr>
          <p:cNvPr id="1301" name="Google Shape;1301;p51"/>
          <p:cNvSpPr/>
          <p:nvPr/>
        </p:nvSpPr>
        <p:spPr>
          <a:xfrm>
            <a:off x="7498079" y="2103120"/>
            <a:ext cx="1188720" cy="713232"/>
          </a:xfrm>
          <a:prstGeom prst="roundRect">
            <a:avLst>
              <a:gd fmla="val 7692" name="adj"/>
            </a:avLst>
          </a:prstGeom>
          <a:solidFill>
            <a:srgbClr val="FFFFFF"/>
          </a:solidFill>
          <a:ln cap="flat" cmpd="sng" w="12700">
            <a:solidFill>
              <a:srgbClr val="0B2F5B"/>
            </a:solidFill>
            <a:prstDash val="solid"/>
            <a:round/>
            <a:headEnd len="sm" w="sm" type="none"/>
            <a:tailEnd len="sm" w="sm" type="none"/>
          </a:ln>
        </p:spPr>
        <p:txBody>
          <a:bodyPr anchorCtr="0" anchor="ctr" bIns="27425" lIns="36575" spcFirstLastPara="1" rIns="36575" wrap="square" tIns="27425">
            <a:noAutofit/>
          </a:bodyPr>
          <a:lstStyle/>
          <a:p>
            <a:pPr indent="0" lvl="0" marL="0" marR="0" rtl="0" algn="ctr">
              <a:lnSpc>
                <a:spcPct val="100000"/>
              </a:lnSpc>
              <a:spcBef>
                <a:spcPts val="150"/>
              </a:spcBef>
              <a:spcAft>
                <a:spcPts val="0"/>
              </a:spcAft>
              <a:buNone/>
            </a:pPr>
            <a:r>
              <a:rPr b="1" lang="en-US" sz="1000">
                <a:solidFill>
                  <a:srgbClr val="0B2F5B"/>
                </a:solidFill>
                <a:latin typeface="Montserrat"/>
                <a:ea typeface="Montserrat"/>
                <a:cs typeface="Montserrat"/>
                <a:sym typeface="Montserrat"/>
              </a:rPr>
              <a:t>RF 감쇠기</a:t>
            </a:r>
            <a:endParaRPr b="1" sz="1000">
              <a:solidFill>
                <a:srgbClr val="0B2F5B"/>
              </a:solidFill>
              <a:latin typeface="Montserrat"/>
              <a:ea typeface="Montserrat"/>
              <a:cs typeface="Montserrat"/>
              <a:sym typeface="Montserrat"/>
            </a:endParaRPr>
          </a:p>
          <a:p>
            <a:pPr indent="0" lvl="0" marL="0" marR="0" rtl="0" algn="ctr">
              <a:lnSpc>
                <a:spcPct val="100000"/>
              </a:lnSpc>
              <a:spcBef>
                <a:spcPts val="150"/>
              </a:spcBef>
              <a:spcAft>
                <a:spcPts val="0"/>
              </a:spcAft>
              <a:buNone/>
            </a:pPr>
            <a:r>
              <a:t/>
            </a:r>
            <a:endParaRPr sz="1000">
              <a:solidFill>
                <a:srgbClr val="0B2F5B"/>
              </a:solidFill>
              <a:latin typeface="Montserrat"/>
              <a:ea typeface="Montserrat"/>
              <a:cs typeface="Montserrat"/>
              <a:sym typeface="Montserrat"/>
            </a:endParaRPr>
          </a:p>
          <a:p>
            <a:pPr indent="0" lvl="0" marL="0" marR="0" rtl="0" algn="ctr">
              <a:lnSpc>
                <a:spcPct val="100000"/>
              </a:lnSpc>
              <a:spcBef>
                <a:spcPts val="150"/>
              </a:spcBef>
              <a:spcAft>
                <a:spcPts val="0"/>
              </a:spcAft>
              <a:buNone/>
            </a:pPr>
            <a:r>
              <a:rPr lang="en-US" sz="1000">
                <a:solidFill>
                  <a:srgbClr val="0B2F5B"/>
                </a:solidFill>
                <a:latin typeface="Montserrat"/>
                <a:ea typeface="Montserrat"/>
                <a:cs typeface="Montserrat"/>
                <a:sym typeface="Montserrat"/>
              </a:rPr>
              <a:t>차폐 박스 포함</a:t>
            </a:r>
            <a:endParaRPr sz="1000">
              <a:solidFill>
                <a:srgbClr val="0B2F5B"/>
              </a:solidFill>
              <a:latin typeface="Montserrat"/>
              <a:ea typeface="Montserrat"/>
              <a:cs typeface="Montserrat"/>
              <a:sym typeface="Montserrat"/>
            </a:endParaRPr>
          </a:p>
        </p:txBody>
      </p:sp>
      <p:sp>
        <p:nvSpPr>
          <p:cNvPr id="1302" name="Google Shape;1302;p51"/>
          <p:cNvSpPr/>
          <p:nvPr/>
        </p:nvSpPr>
        <p:spPr>
          <a:xfrm>
            <a:off x="8887968" y="2103120"/>
            <a:ext cx="1143000" cy="713232"/>
          </a:xfrm>
          <a:prstGeom prst="roundRect">
            <a:avLst>
              <a:gd fmla="val 7692" name="adj"/>
            </a:avLst>
          </a:prstGeom>
          <a:solidFill>
            <a:srgbClr val="1565C0"/>
          </a:solidFill>
          <a:ln>
            <a:noFill/>
          </a:ln>
        </p:spPr>
        <p:txBody>
          <a:bodyPr anchorCtr="0" anchor="ctr" bIns="27425" lIns="36575" spcFirstLastPara="1" rIns="36575" wrap="square" tIns="27425">
            <a:noAutofit/>
          </a:bodyPr>
          <a:lstStyle/>
          <a:p>
            <a:pPr indent="0" lvl="0" marL="0" marR="0" rtl="0" algn="ctr">
              <a:lnSpc>
                <a:spcPct val="100000"/>
              </a:lnSpc>
              <a:spcBef>
                <a:spcPts val="150"/>
              </a:spcBef>
              <a:spcAft>
                <a:spcPts val="0"/>
              </a:spcAft>
              <a:buNone/>
            </a:pPr>
            <a:r>
              <a:rPr b="1" lang="en-US" sz="1000">
                <a:solidFill>
                  <a:srgbClr val="FFFFFF"/>
                </a:solidFill>
                <a:latin typeface="Montserrat"/>
                <a:ea typeface="Montserrat"/>
                <a:cs typeface="Montserrat"/>
                <a:sym typeface="Montserrat"/>
              </a:rPr>
              <a:t>CORE Pro ESS</a:t>
            </a:r>
            <a:endParaRPr b="1" sz="1000">
              <a:solidFill>
                <a:srgbClr val="FFFFFF"/>
              </a:solidFill>
              <a:latin typeface="Montserrat"/>
              <a:ea typeface="Montserrat"/>
              <a:cs typeface="Montserrat"/>
              <a:sym typeface="Montserrat"/>
            </a:endParaRPr>
          </a:p>
          <a:p>
            <a:pPr indent="0" lvl="0" marL="0" marR="0" rtl="0" algn="ctr">
              <a:lnSpc>
                <a:spcPct val="100000"/>
              </a:lnSpc>
              <a:spcBef>
                <a:spcPts val="150"/>
              </a:spcBef>
              <a:spcAft>
                <a:spcPts val="0"/>
              </a:spcAft>
              <a:buNone/>
            </a:pPr>
            <a:r>
              <a:rPr lang="en-US" sz="800">
                <a:solidFill>
                  <a:srgbClr val="FFFFFF"/>
                </a:solidFill>
                <a:latin typeface="Montserrat"/>
                <a:ea typeface="Montserrat"/>
                <a:cs typeface="Montserrat"/>
                <a:sym typeface="Montserrat"/>
              </a:rPr>
              <a:t>실제 장치</a:t>
            </a:r>
            <a:endParaRPr sz="800">
              <a:solidFill>
                <a:srgbClr val="FFFFFF"/>
              </a:solidFill>
              <a:latin typeface="Montserrat"/>
              <a:ea typeface="Montserrat"/>
              <a:cs typeface="Montserrat"/>
              <a:sym typeface="Montserrat"/>
            </a:endParaRPr>
          </a:p>
        </p:txBody>
      </p:sp>
      <p:sp>
        <p:nvSpPr>
          <p:cNvPr id="1303" name="Google Shape;1303;p51"/>
          <p:cNvSpPr/>
          <p:nvPr/>
        </p:nvSpPr>
        <p:spPr>
          <a:xfrm>
            <a:off x="10232136" y="2066543"/>
            <a:ext cx="1033271" cy="365760"/>
          </a:xfrm>
          <a:prstGeom prst="roundRect">
            <a:avLst>
              <a:gd fmla="val 15000" name="adj"/>
            </a:avLst>
          </a:prstGeom>
          <a:solidFill>
            <a:srgbClr val="FFFFFF"/>
          </a:solidFill>
          <a:ln cap="flat" cmpd="sng" w="12700">
            <a:solidFill>
              <a:srgbClr val="0B2F5B"/>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00">
                <a:solidFill>
                  <a:srgbClr val="0B2F5B"/>
                </a:solidFill>
                <a:latin typeface="Montserrat"/>
                <a:ea typeface="Montserrat"/>
                <a:cs typeface="Montserrat"/>
                <a:sym typeface="Montserrat"/>
              </a:rPr>
              <a:t>계통 시뮬레이터</a:t>
            </a:r>
            <a:endParaRPr/>
          </a:p>
        </p:txBody>
      </p:sp>
      <p:sp>
        <p:nvSpPr>
          <p:cNvPr id="1304" name="Google Shape;1304;p51"/>
          <p:cNvSpPr/>
          <p:nvPr/>
        </p:nvSpPr>
        <p:spPr>
          <a:xfrm>
            <a:off x="10232136" y="2487168"/>
            <a:ext cx="1033271" cy="365760"/>
          </a:xfrm>
          <a:prstGeom prst="roundRect">
            <a:avLst>
              <a:gd fmla="val 15000" name="adj"/>
            </a:avLst>
          </a:prstGeom>
          <a:solidFill>
            <a:srgbClr val="FFFFFF"/>
          </a:solidFill>
          <a:ln cap="flat" cmpd="sng" w="12700">
            <a:solidFill>
              <a:srgbClr val="0B2F5B"/>
            </a:solidFill>
            <a:prstDash val="solid"/>
            <a:round/>
            <a:headEnd len="sm" w="sm" type="none"/>
            <a:tailEnd len="sm" w="sm" type="none"/>
          </a:ln>
        </p:spPr>
        <p:txBody>
          <a:bodyPr anchorCtr="0" anchor="ctr" bIns="0" lIns="27425" spcFirstLastPara="1" rIns="27425" wrap="square" tIns="0">
            <a:noAutofit/>
          </a:bodyPr>
          <a:lstStyle/>
          <a:p>
            <a:pPr indent="0" lvl="0" marL="0" marR="0" rtl="0" algn="ctr">
              <a:lnSpc>
                <a:spcPct val="100000"/>
              </a:lnSpc>
              <a:spcBef>
                <a:spcPts val="0"/>
              </a:spcBef>
              <a:spcAft>
                <a:spcPts val="0"/>
              </a:spcAft>
              <a:buNone/>
            </a:pPr>
            <a:r>
              <a:rPr b="1" lang="en-US" sz="900">
                <a:solidFill>
                  <a:srgbClr val="0B2F5B"/>
                </a:solidFill>
                <a:latin typeface="Montserrat"/>
                <a:ea typeface="Montserrat"/>
                <a:cs typeface="Montserrat"/>
                <a:sym typeface="Montserrat"/>
              </a:rPr>
              <a:t>PV 시뮬레이터</a:t>
            </a:r>
            <a:endParaRPr/>
          </a:p>
        </p:txBody>
      </p:sp>
      <p:cxnSp>
        <p:nvCxnSpPr>
          <p:cNvPr id="1305" name="Google Shape;1305;p51"/>
          <p:cNvCxnSpPr>
            <a:stCxn id="1300" idx="3"/>
            <a:endCxn id="1301" idx="1"/>
          </p:cNvCxnSpPr>
          <p:nvPr/>
        </p:nvCxnSpPr>
        <p:spPr>
          <a:xfrm>
            <a:off x="7296912" y="2459736"/>
            <a:ext cx="201300" cy="0"/>
          </a:xfrm>
          <a:prstGeom prst="straightConnector1">
            <a:avLst/>
          </a:prstGeom>
          <a:noFill/>
          <a:ln cap="flat" cmpd="sng" w="15875">
            <a:solidFill>
              <a:srgbClr val="0B2F5B"/>
            </a:solidFill>
            <a:prstDash val="solid"/>
            <a:round/>
            <a:headEnd len="sm" w="sm" type="none"/>
            <a:tailEnd len="sm" w="sm" type="none"/>
          </a:ln>
        </p:spPr>
      </p:cxnSp>
      <p:cxnSp>
        <p:nvCxnSpPr>
          <p:cNvPr id="1306" name="Google Shape;1306;p51"/>
          <p:cNvCxnSpPr>
            <a:stCxn id="1301" idx="3"/>
            <a:endCxn id="1302" idx="1"/>
          </p:cNvCxnSpPr>
          <p:nvPr/>
        </p:nvCxnSpPr>
        <p:spPr>
          <a:xfrm>
            <a:off x="8686799" y="2459736"/>
            <a:ext cx="201300" cy="0"/>
          </a:xfrm>
          <a:prstGeom prst="straightConnector1">
            <a:avLst/>
          </a:prstGeom>
          <a:noFill/>
          <a:ln cap="flat" cmpd="sng" w="15875">
            <a:solidFill>
              <a:srgbClr val="0B2F5B"/>
            </a:solidFill>
            <a:prstDash val="solid"/>
            <a:round/>
            <a:headEnd len="sm" w="sm" type="none"/>
            <a:tailEnd len="sm" w="sm" type="none"/>
          </a:ln>
        </p:spPr>
      </p:cxnSp>
      <p:cxnSp>
        <p:nvCxnSpPr>
          <p:cNvPr id="1307" name="Google Shape;1307;p51"/>
          <p:cNvCxnSpPr/>
          <p:nvPr/>
        </p:nvCxnSpPr>
        <p:spPr>
          <a:xfrm rot="10800000">
            <a:off x="10030968" y="2249424"/>
            <a:ext cx="201168" cy="0"/>
          </a:xfrm>
          <a:prstGeom prst="straightConnector1">
            <a:avLst/>
          </a:prstGeom>
          <a:noFill/>
          <a:ln cap="flat" cmpd="sng" w="15875">
            <a:solidFill>
              <a:srgbClr val="0B2F5B"/>
            </a:solidFill>
            <a:prstDash val="solid"/>
            <a:round/>
            <a:headEnd len="sm" w="sm" type="none"/>
            <a:tailEnd len="med" w="med" type="triangle"/>
          </a:ln>
        </p:spPr>
      </p:cxnSp>
      <p:cxnSp>
        <p:nvCxnSpPr>
          <p:cNvPr id="1308" name="Google Shape;1308;p51"/>
          <p:cNvCxnSpPr/>
          <p:nvPr/>
        </p:nvCxnSpPr>
        <p:spPr>
          <a:xfrm rot="10800000">
            <a:off x="10030968" y="2670048"/>
            <a:ext cx="201168" cy="0"/>
          </a:xfrm>
          <a:prstGeom prst="straightConnector1">
            <a:avLst/>
          </a:prstGeom>
          <a:noFill/>
          <a:ln cap="flat" cmpd="sng" w="15875">
            <a:solidFill>
              <a:srgbClr val="0B2F5B"/>
            </a:solidFill>
            <a:prstDash val="solid"/>
            <a:round/>
            <a:headEnd len="sm" w="sm" type="none"/>
            <a:tailEnd len="med" w="med" type="triangle"/>
          </a:ln>
        </p:spPr>
      </p:cxnSp>
      <p:sp>
        <p:nvSpPr>
          <p:cNvPr id="1309" name="Google Shape;1309;p51"/>
          <p:cNvSpPr txBox="1"/>
          <p:nvPr/>
        </p:nvSpPr>
        <p:spPr>
          <a:xfrm>
            <a:off x="6199632" y="2926080"/>
            <a:ext cx="274320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5F6B7A"/>
                </a:solidFill>
                <a:latin typeface="Barlow"/>
                <a:ea typeface="Barlow"/>
                <a:cs typeface="Barlow"/>
                <a:sym typeface="Barlow"/>
              </a:rPr>
              <a:t>시뮬레이터 또는 차단기로 계통 차단</a:t>
            </a:r>
            <a:endParaRPr/>
          </a:p>
        </p:txBody>
      </p:sp>
      <p:sp>
        <p:nvSpPr>
          <p:cNvPr id="1310" name="Google Shape;1310;p51"/>
          <p:cNvSpPr txBox="1"/>
          <p:nvPr/>
        </p:nvSpPr>
        <p:spPr>
          <a:xfrm>
            <a:off x="8577072" y="2926080"/>
            <a:ext cx="2688336" cy="219456"/>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lang="en-US" sz="900">
                <a:solidFill>
                  <a:srgbClr val="5F6B7A"/>
                </a:solidFill>
                <a:latin typeface="Barlow"/>
                <a:ea typeface="Barlow"/>
                <a:cs typeface="Barlow"/>
                <a:sym typeface="Barlow"/>
              </a:rPr>
              <a:t>EPS 절체 기준: </a:t>
            </a:r>
            <a:r>
              <a:rPr b="1" lang="en-US" sz="900">
                <a:solidFill>
                  <a:srgbClr val="5F6B7A"/>
                </a:solidFill>
                <a:latin typeface="Barlow"/>
                <a:ea typeface="Barlow"/>
                <a:cs typeface="Barlow"/>
                <a:sym typeface="Barlow"/>
              </a:rPr>
              <a:t>TBD ms</a:t>
            </a:r>
            <a:endParaRPr b="1">
              <a:latin typeface="Barlow"/>
              <a:ea typeface="Barlow"/>
              <a:cs typeface="Barlow"/>
              <a:sym typeface="Barlow"/>
            </a:endParaRPr>
          </a:p>
        </p:txBody>
      </p:sp>
      <p:cxnSp>
        <p:nvCxnSpPr>
          <p:cNvPr id="1311" name="Google Shape;1311;p51"/>
          <p:cNvCxnSpPr/>
          <p:nvPr/>
        </p:nvCxnSpPr>
        <p:spPr>
          <a:xfrm>
            <a:off x="6199632" y="3310128"/>
            <a:ext cx="5065776" cy="0"/>
          </a:xfrm>
          <a:prstGeom prst="straightConnector1">
            <a:avLst/>
          </a:prstGeom>
          <a:noFill/>
          <a:ln cap="flat" cmpd="sng" w="9525">
            <a:solidFill>
              <a:srgbClr val="C7D7EA"/>
            </a:solidFill>
            <a:prstDash val="solid"/>
            <a:round/>
            <a:headEnd len="sm" w="sm" type="none"/>
            <a:tailEnd len="sm" w="sm" type="none"/>
          </a:ln>
        </p:spPr>
      </p:cxnSp>
      <p:sp>
        <p:nvSpPr>
          <p:cNvPr id="1312" name="Google Shape;1312;p51"/>
          <p:cNvSpPr/>
          <p:nvPr/>
        </p:nvSpPr>
        <p:spPr>
          <a:xfrm>
            <a:off x="6373368" y="3447288"/>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1313" name="Google Shape;1313;p51"/>
          <p:cNvSpPr txBox="1"/>
          <p:nvPr/>
        </p:nvSpPr>
        <p:spPr>
          <a:xfrm>
            <a:off x="6858000" y="3429000"/>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Off-Grid ON 상태에서 계통 차단 → </a:t>
            </a:r>
            <a:r>
              <a:rPr b="1" lang="en-US" sz="950">
                <a:solidFill>
                  <a:srgbClr val="1F2A37"/>
                </a:solidFill>
                <a:latin typeface="Barlow"/>
                <a:ea typeface="Barlow"/>
                <a:cs typeface="Barlow"/>
                <a:sym typeface="Barlow"/>
              </a:rPr>
              <a:t>EPS 절체, 태양광+배터리로 운행</a:t>
            </a:r>
            <a:endParaRPr b="1">
              <a:latin typeface="Barlow"/>
              <a:ea typeface="Barlow"/>
              <a:cs typeface="Barlow"/>
              <a:sym typeface="Barlow"/>
            </a:endParaRPr>
          </a:p>
        </p:txBody>
      </p:sp>
      <p:sp>
        <p:nvSpPr>
          <p:cNvPr id="1314" name="Google Shape;1314;p51"/>
          <p:cNvSpPr/>
          <p:nvPr/>
        </p:nvSpPr>
        <p:spPr>
          <a:xfrm>
            <a:off x="6373368" y="3799331"/>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1315" name="Google Shape;1315;p51"/>
          <p:cNvSpPr txBox="1"/>
          <p:nvPr/>
        </p:nvSpPr>
        <p:spPr>
          <a:xfrm>
            <a:off x="6858000" y="3781044"/>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Off-Grid OFF 상태에서 계통 차단 → </a:t>
            </a:r>
            <a:r>
              <a:rPr b="1" lang="en-US" sz="950">
                <a:solidFill>
                  <a:srgbClr val="1F2A37"/>
                </a:solidFill>
                <a:latin typeface="Barlow"/>
                <a:ea typeface="Barlow"/>
                <a:cs typeface="Barlow"/>
                <a:sym typeface="Barlow"/>
              </a:rPr>
              <a:t>오류 정지, 앱에 Error 상태 표시</a:t>
            </a:r>
            <a:endParaRPr b="1">
              <a:latin typeface="Barlow"/>
              <a:ea typeface="Barlow"/>
              <a:cs typeface="Barlow"/>
              <a:sym typeface="Barlow"/>
            </a:endParaRPr>
          </a:p>
        </p:txBody>
      </p:sp>
      <p:sp>
        <p:nvSpPr>
          <p:cNvPr id="1316" name="Google Shape;1316;p51"/>
          <p:cNvSpPr/>
          <p:nvPr/>
        </p:nvSpPr>
        <p:spPr>
          <a:xfrm>
            <a:off x="6373368" y="4151375"/>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sp>
        <p:nvSpPr>
          <p:cNvPr id="1317" name="Google Shape;1317;p51"/>
          <p:cNvSpPr txBox="1"/>
          <p:nvPr/>
        </p:nvSpPr>
        <p:spPr>
          <a:xfrm>
            <a:off x="6858000" y="4133087"/>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EPS 운행 중 계통 복구 → </a:t>
            </a:r>
            <a:r>
              <a:rPr b="1" lang="en-US" sz="950">
                <a:solidFill>
                  <a:srgbClr val="1F2A37"/>
                </a:solidFill>
                <a:latin typeface="Barlow"/>
                <a:ea typeface="Barlow"/>
                <a:cs typeface="Barlow"/>
                <a:sym typeface="Barlow"/>
              </a:rPr>
              <a:t>계통 재연결, Run 복귀</a:t>
            </a:r>
            <a:endParaRPr b="1">
              <a:latin typeface="Barlow"/>
              <a:ea typeface="Barlow"/>
              <a:cs typeface="Barlow"/>
              <a:sym typeface="Barlow"/>
            </a:endParaRPr>
          </a:p>
        </p:txBody>
      </p:sp>
      <p:sp>
        <p:nvSpPr>
          <p:cNvPr id="1318" name="Google Shape;1318;p51"/>
          <p:cNvSpPr/>
          <p:nvPr/>
        </p:nvSpPr>
        <p:spPr>
          <a:xfrm>
            <a:off x="6373368" y="4503419"/>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1319" name="Google Shape;1319;p51"/>
          <p:cNvSpPr txBox="1"/>
          <p:nvPr/>
        </p:nvSpPr>
        <p:spPr>
          <a:xfrm>
            <a:off x="6858000" y="4485131"/>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플래싱 중 장치 전원 차단 → </a:t>
            </a:r>
            <a:r>
              <a:rPr b="1" lang="en-US" sz="950">
                <a:solidFill>
                  <a:srgbClr val="1F2A37"/>
                </a:solidFill>
                <a:latin typeface="Barlow"/>
                <a:ea typeface="Barlow"/>
                <a:cs typeface="Barlow"/>
                <a:sym typeface="Barlow"/>
              </a:rPr>
              <a:t>이전 뱅크로 롤백</a:t>
            </a:r>
            <a:endParaRPr b="1">
              <a:latin typeface="Barlow"/>
              <a:ea typeface="Barlow"/>
              <a:cs typeface="Barlow"/>
              <a:sym typeface="Barlow"/>
            </a:endParaRPr>
          </a:p>
        </p:txBody>
      </p:sp>
      <p:sp>
        <p:nvSpPr>
          <p:cNvPr id="1320" name="Google Shape;1320;p51"/>
          <p:cNvSpPr/>
          <p:nvPr/>
        </p:nvSpPr>
        <p:spPr>
          <a:xfrm>
            <a:off x="6373368" y="4855463"/>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1321" name="Google Shape;1321;p51"/>
          <p:cNvSpPr txBox="1"/>
          <p:nvPr/>
        </p:nvSpPr>
        <p:spPr>
          <a:xfrm>
            <a:off x="6858000" y="4837175"/>
            <a:ext cx="4407408"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감쇠기로 RSSI 경계 시험 → </a:t>
            </a:r>
            <a:r>
              <a:rPr b="1" lang="en-US" sz="950">
                <a:solidFill>
                  <a:srgbClr val="1F2A37"/>
                </a:solidFill>
                <a:latin typeface="Barlow"/>
                <a:ea typeface="Barlow"/>
                <a:cs typeface="Barlow"/>
                <a:sym typeface="Barlow"/>
              </a:rPr>
              <a:t>임계값에 따라 허용 또는 차단</a:t>
            </a:r>
            <a:endParaRPr b="1">
              <a:latin typeface="Barlow"/>
              <a:ea typeface="Barlow"/>
              <a:cs typeface="Barlow"/>
              <a:sym typeface="Barlow"/>
            </a:endParaRPr>
          </a:p>
        </p:txBody>
      </p:sp>
      <p:sp>
        <p:nvSpPr>
          <p:cNvPr id="1322" name="Google Shape;1322;p51"/>
          <p:cNvSpPr/>
          <p:nvPr/>
        </p:nvSpPr>
        <p:spPr>
          <a:xfrm>
            <a:off x="6199632" y="5298947"/>
            <a:ext cx="5065776" cy="566928"/>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73150" wrap="square" tIns="27425">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둘 다 필요한 이유  </a:t>
            </a:r>
            <a:r>
              <a:rPr lang="en-US" sz="925">
                <a:solidFill>
                  <a:srgbClr val="0B2F5B"/>
                </a:solidFill>
                <a:latin typeface="Barlow"/>
                <a:ea typeface="Barlow"/>
                <a:cs typeface="Barlow"/>
                <a:sym typeface="Barlow"/>
              </a:rPr>
              <a:t>Mock은 하드웨어 없이 상태 전이와 UI 제약을 검증합니다. 벤치는 Mock이 다루지 못하는 전원 안전 동작과 무선 변수를 검증합니다.</a:t>
            </a:r>
            <a:endParaRPr>
              <a:latin typeface="Barlow"/>
              <a:ea typeface="Barlow"/>
              <a:cs typeface="Barlow"/>
              <a:sym typeface="Barlow"/>
            </a:endParaRPr>
          </a:p>
        </p:txBody>
      </p:sp>
      <p:sp>
        <p:nvSpPr>
          <p:cNvPr id="1323" name="Google Shape;1323;p51"/>
          <p:cNvSpPr/>
          <p:nvPr/>
        </p:nvSpPr>
        <p:spPr>
          <a:xfrm>
            <a:off x="621792" y="2103120"/>
            <a:ext cx="1326000" cy="713100"/>
          </a:xfrm>
          <a:prstGeom prst="roundRect">
            <a:avLst>
              <a:gd fmla="val 7692"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테스트 대상 앱</a:t>
            </a:r>
            <a:endParaRPr b="1" sz="1000">
              <a:solidFill>
                <a:srgbClr val="0B2F5B"/>
              </a:solidFill>
              <a:latin typeface="Montserrat"/>
              <a:ea typeface="Montserrat"/>
              <a:cs typeface="Montserrat"/>
              <a:sym typeface="Montserrat"/>
            </a:endParaRPr>
          </a:p>
          <a:p>
            <a:pPr indent="0" lvl="0" marL="0" marR="0" rtl="0" algn="ctr">
              <a:lnSpc>
                <a:spcPct val="100000"/>
              </a:lnSpc>
              <a:spcBef>
                <a:spcPts val="0"/>
              </a:spcBef>
              <a:spcAft>
                <a:spcPts val="0"/>
              </a:spcAft>
              <a:buNone/>
            </a:pPr>
            <a:r>
              <a:rPr lang="en-US" sz="900">
                <a:solidFill>
                  <a:srgbClr val="0B2F5B"/>
                </a:solidFill>
                <a:latin typeface="Montserrat"/>
                <a:ea typeface="Montserrat"/>
                <a:cs typeface="Montserrat"/>
                <a:sym typeface="Montserrat"/>
              </a:rPr>
              <a:t> iOS 시뮬레이터 전체 플로우</a:t>
            </a:r>
            <a:endParaRPr sz="1300"/>
          </a:p>
        </p:txBody>
      </p:sp>
      <p:sp>
        <p:nvSpPr>
          <p:cNvPr id="1324" name="Google Shape;1324;p51"/>
          <p:cNvSpPr/>
          <p:nvPr/>
        </p:nvSpPr>
        <p:spPr>
          <a:xfrm>
            <a:off x="2221992" y="2103120"/>
            <a:ext cx="1326000" cy="713100"/>
          </a:xfrm>
          <a:prstGeom prst="roundRect">
            <a:avLst>
              <a:gd fmla="val 7692" name="adj"/>
            </a:avLst>
          </a:prstGeom>
          <a:solidFill>
            <a:srgbClr val="0B2F5B"/>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FFFFFF"/>
                </a:solidFill>
                <a:latin typeface="Consolas"/>
                <a:ea typeface="Consolas"/>
                <a:cs typeface="Consolas"/>
                <a:sym typeface="Consolas"/>
              </a:rPr>
              <a:t>BLETransport</a:t>
            </a:r>
            <a:endParaRPr/>
          </a:p>
          <a:p>
            <a:pPr indent="0" lvl="0" marL="0" marR="0" rtl="0" algn="ctr">
              <a:lnSpc>
                <a:spcPct val="100000"/>
              </a:lnSpc>
              <a:spcBef>
                <a:spcPts val="150"/>
              </a:spcBef>
              <a:spcAft>
                <a:spcPts val="0"/>
              </a:spcAft>
              <a:buNone/>
            </a:pPr>
            <a:r>
              <a:rPr lang="en-US" sz="900">
                <a:solidFill>
                  <a:srgbClr val="A9C7EA"/>
                </a:solidFill>
                <a:latin typeface="Barlow"/>
                <a:ea typeface="Barlow"/>
                <a:cs typeface="Barlow"/>
                <a:sym typeface="Barlow"/>
              </a:rPr>
              <a:t>프로토콜 경계</a:t>
            </a:r>
            <a:endParaRPr/>
          </a:p>
        </p:txBody>
      </p:sp>
      <p:sp>
        <p:nvSpPr>
          <p:cNvPr id="1325" name="Google Shape;1325;p51"/>
          <p:cNvSpPr/>
          <p:nvPr/>
        </p:nvSpPr>
        <p:spPr>
          <a:xfrm>
            <a:off x="3822191" y="2103120"/>
            <a:ext cx="1865400" cy="713100"/>
          </a:xfrm>
          <a:prstGeom prst="roundRect">
            <a:avLst>
              <a:gd fmla="val 7692" name="adj"/>
            </a:avLst>
          </a:prstGeom>
          <a:solidFill>
            <a:srgbClr val="E6F4EA"/>
          </a:solidFill>
          <a:ln cap="flat" cmpd="sng" w="12700">
            <a:solidFill>
              <a:srgbClr val="8CC9A6"/>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1E7B4F"/>
                </a:solidFill>
                <a:latin typeface="Montserrat"/>
                <a:ea typeface="Montserrat"/>
                <a:cs typeface="Montserrat"/>
                <a:sym typeface="Montserrat"/>
              </a:rPr>
              <a:t>Mock 주변기기</a:t>
            </a:r>
            <a:endParaRPr/>
          </a:p>
          <a:p>
            <a:pPr indent="0" lvl="0" marL="0" marR="0" rtl="0" algn="ctr">
              <a:lnSpc>
                <a:spcPct val="100000"/>
              </a:lnSpc>
              <a:spcBef>
                <a:spcPts val="150"/>
              </a:spcBef>
              <a:spcAft>
                <a:spcPts val="0"/>
              </a:spcAft>
              <a:buNone/>
            </a:pPr>
            <a:r>
              <a:rPr lang="en-US" sz="900">
                <a:solidFill>
                  <a:srgbClr val="1E7B4F"/>
                </a:solidFill>
                <a:latin typeface="Barlow"/>
                <a:ea typeface="Barlow"/>
                <a:cs typeface="Barlow"/>
                <a:sym typeface="Barlow"/>
              </a:rPr>
              <a:t>가상 장치 데이터 사전</a:t>
            </a:r>
            <a:endParaRPr/>
          </a:p>
        </p:txBody>
      </p:sp>
      <p:sp>
        <p:nvSpPr>
          <p:cNvPr id="1326" name="Google Shape;1326;p51"/>
          <p:cNvSpPr txBox="1"/>
          <p:nvPr/>
        </p:nvSpPr>
        <p:spPr>
          <a:xfrm>
            <a:off x="2892664" y="2921186"/>
            <a:ext cx="9144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Fault injection</a:t>
            </a:r>
            <a:endParaRPr/>
          </a:p>
        </p:txBody>
      </p:sp>
      <p:sp>
        <p:nvSpPr>
          <p:cNvPr id="1327" name="Google Shape;1327;p51"/>
          <p:cNvSpPr txBox="1"/>
          <p:nvPr/>
        </p:nvSpPr>
        <p:spPr>
          <a:xfrm>
            <a:off x="737840" y="2916293"/>
            <a:ext cx="1371600" cy="2196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900">
                <a:solidFill>
                  <a:srgbClr val="5F6B7A"/>
                </a:solidFill>
                <a:latin typeface="Barlow"/>
                <a:ea typeface="Barlow"/>
                <a:cs typeface="Barlow"/>
                <a:sym typeface="Barlow"/>
              </a:rPr>
              <a:t>Injected with</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52"/>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가정, 트레이드오프, 리스크, 확인 질문</a:t>
            </a:r>
            <a:endParaRPr/>
          </a:p>
        </p:txBody>
      </p:sp>
      <p:sp>
        <p:nvSpPr>
          <p:cNvPr id="1334" name="Google Shape;1334;p52"/>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우리의 가정, </a:t>
            </a:r>
            <a:r>
              <a:rPr lang="en-US"/>
              <a:t>결정 사항</a:t>
            </a:r>
            <a:r>
              <a:rPr lang="en-US"/>
              <a:t>, </a:t>
            </a:r>
            <a:r>
              <a:rPr lang="en-US"/>
              <a:t>예상 리스크 </a:t>
            </a:r>
            <a:r>
              <a:rPr lang="en-US"/>
              <a:t>그리고 큐셀에 </a:t>
            </a:r>
            <a:r>
              <a:rPr lang="en-US"/>
              <a:t>확인할 사항</a:t>
            </a:r>
            <a:endParaRPr/>
          </a:p>
        </p:txBody>
      </p:sp>
      <p:sp>
        <p:nvSpPr>
          <p:cNvPr id="1335" name="Google Shape;1335;p52"/>
          <p:cNvSpPr/>
          <p:nvPr/>
        </p:nvSpPr>
        <p:spPr>
          <a:xfrm>
            <a:off x="457200" y="123444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6" name="Google Shape;1336;p52"/>
          <p:cNvSpPr/>
          <p:nvPr/>
        </p:nvSpPr>
        <p:spPr>
          <a:xfrm>
            <a:off x="585216" y="1353312"/>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37" name="Google Shape;1337;p52"/>
          <p:cNvPicPr preferRelativeResize="0"/>
          <p:nvPr/>
        </p:nvPicPr>
        <p:blipFill rotWithShape="1">
          <a:blip r:embed="rId3">
            <a:alphaModFix/>
          </a:blip>
          <a:srcRect b="0" l="0" r="0" t="0"/>
          <a:stretch/>
        </p:blipFill>
        <p:spPr>
          <a:xfrm>
            <a:off x="657636" y="1425732"/>
            <a:ext cx="184343" cy="184343"/>
          </a:xfrm>
          <a:prstGeom prst="rect">
            <a:avLst/>
          </a:prstGeom>
          <a:noFill/>
          <a:ln>
            <a:noFill/>
          </a:ln>
        </p:spPr>
      </p:pic>
      <p:sp>
        <p:nvSpPr>
          <p:cNvPr id="1338" name="Google Shape;1338;p52"/>
          <p:cNvSpPr txBox="1"/>
          <p:nvPr/>
        </p:nvSpPr>
        <p:spPr>
          <a:xfrm>
            <a:off x="1005840" y="1353312"/>
            <a:ext cx="4663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가정</a:t>
            </a:r>
            <a:endParaRPr/>
          </a:p>
        </p:txBody>
      </p:sp>
      <p:sp>
        <p:nvSpPr>
          <p:cNvPr id="1339" name="Google Shape;1339;p52"/>
          <p:cNvSpPr/>
          <p:nvPr/>
        </p:nvSpPr>
        <p:spPr>
          <a:xfrm>
            <a:off x="6035040" y="123444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0" name="Google Shape;1340;p52"/>
          <p:cNvSpPr/>
          <p:nvPr/>
        </p:nvSpPr>
        <p:spPr>
          <a:xfrm>
            <a:off x="6163055" y="1353312"/>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41" name="Google Shape;1341;p52"/>
          <p:cNvPicPr preferRelativeResize="0"/>
          <p:nvPr/>
        </p:nvPicPr>
        <p:blipFill rotWithShape="1">
          <a:blip r:embed="rId4">
            <a:alphaModFix/>
          </a:blip>
          <a:srcRect b="0" l="0" r="0" t="0"/>
          <a:stretch/>
        </p:blipFill>
        <p:spPr>
          <a:xfrm>
            <a:off x="6235476" y="1425732"/>
            <a:ext cx="184343" cy="184343"/>
          </a:xfrm>
          <a:prstGeom prst="rect">
            <a:avLst/>
          </a:prstGeom>
          <a:noFill/>
          <a:ln>
            <a:noFill/>
          </a:ln>
        </p:spPr>
      </p:pic>
      <p:sp>
        <p:nvSpPr>
          <p:cNvPr id="1342" name="Google Shape;1342;p52"/>
          <p:cNvSpPr txBox="1"/>
          <p:nvPr/>
        </p:nvSpPr>
        <p:spPr>
          <a:xfrm>
            <a:off x="6583679" y="1353312"/>
            <a:ext cx="4663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결정에 따른 대가</a:t>
            </a:r>
            <a:endParaRPr/>
          </a:p>
        </p:txBody>
      </p:sp>
      <p:sp>
        <p:nvSpPr>
          <p:cNvPr id="1343" name="Google Shape;1343;p52"/>
          <p:cNvSpPr/>
          <p:nvPr/>
        </p:nvSpPr>
        <p:spPr>
          <a:xfrm>
            <a:off x="457200" y="361188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4" name="Google Shape;1344;p52"/>
          <p:cNvSpPr/>
          <p:nvPr/>
        </p:nvSpPr>
        <p:spPr>
          <a:xfrm>
            <a:off x="585216" y="3730752"/>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45" name="Google Shape;1345;p52"/>
          <p:cNvPicPr preferRelativeResize="0"/>
          <p:nvPr/>
        </p:nvPicPr>
        <p:blipFill rotWithShape="1">
          <a:blip r:embed="rId5">
            <a:alphaModFix/>
          </a:blip>
          <a:srcRect b="0" l="0" r="0" t="0"/>
          <a:stretch/>
        </p:blipFill>
        <p:spPr>
          <a:xfrm>
            <a:off x="657636" y="3803172"/>
            <a:ext cx="184343" cy="184343"/>
          </a:xfrm>
          <a:prstGeom prst="rect">
            <a:avLst/>
          </a:prstGeom>
          <a:noFill/>
          <a:ln>
            <a:noFill/>
          </a:ln>
        </p:spPr>
      </p:pic>
      <p:sp>
        <p:nvSpPr>
          <p:cNvPr id="1346" name="Google Shape;1346;p52"/>
          <p:cNvSpPr txBox="1"/>
          <p:nvPr/>
        </p:nvSpPr>
        <p:spPr>
          <a:xfrm>
            <a:off x="1005840" y="3730752"/>
            <a:ext cx="4663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리스크와 대응</a:t>
            </a:r>
            <a:endParaRPr/>
          </a:p>
        </p:txBody>
      </p:sp>
      <p:sp>
        <p:nvSpPr>
          <p:cNvPr id="1347" name="Google Shape;1347;p52"/>
          <p:cNvSpPr/>
          <p:nvPr/>
        </p:nvSpPr>
        <p:spPr>
          <a:xfrm>
            <a:off x="6035050" y="3611875"/>
            <a:ext cx="5394900" cy="251850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8" name="Google Shape;1348;p52"/>
          <p:cNvSpPr/>
          <p:nvPr/>
        </p:nvSpPr>
        <p:spPr>
          <a:xfrm>
            <a:off x="6163055" y="3730752"/>
            <a:ext cx="329184" cy="329184"/>
          </a:xfrm>
          <a:prstGeom prst="roundRect">
            <a:avLst>
              <a:gd fmla="val 13888"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349" name="Google Shape;1349;p52"/>
          <p:cNvPicPr preferRelativeResize="0"/>
          <p:nvPr/>
        </p:nvPicPr>
        <p:blipFill rotWithShape="1">
          <a:blip r:embed="rId6">
            <a:alphaModFix/>
          </a:blip>
          <a:srcRect b="0" l="0" r="0" t="0"/>
          <a:stretch/>
        </p:blipFill>
        <p:spPr>
          <a:xfrm>
            <a:off x="6235476" y="3803172"/>
            <a:ext cx="184343" cy="184343"/>
          </a:xfrm>
          <a:prstGeom prst="rect">
            <a:avLst/>
          </a:prstGeom>
          <a:noFill/>
          <a:ln>
            <a:noFill/>
          </a:ln>
        </p:spPr>
      </p:pic>
      <p:sp>
        <p:nvSpPr>
          <p:cNvPr id="1350" name="Google Shape;1350;p52"/>
          <p:cNvSpPr txBox="1"/>
          <p:nvPr/>
        </p:nvSpPr>
        <p:spPr>
          <a:xfrm>
            <a:off x="6583679" y="3730752"/>
            <a:ext cx="4663440"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문의사항</a:t>
            </a:r>
            <a:endParaRPr/>
          </a:p>
        </p:txBody>
      </p:sp>
      <p:sp>
        <p:nvSpPr>
          <p:cNvPr id="1351" name="Google Shape;1351;p52"/>
          <p:cNvSpPr txBox="1"/>
          <p:nvPr/>
        </p:nvSpPr>
        <p:spPr>
          <a:xfrm>
            <a:off x="603504" y="1837944"/>
            <a:ext cx="5102352"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일정 관리는 본사 시스템에 유지</a:t>
            </a:r>
            <a:endParaRPr/>
          </a:p>
        </p:txBody>
      </p:sp>
      <p:sp>
        <p:nvSpPr>
          <p:cNvPr id="1352" name="Google Shape;1352;p52"/>
          <p:cNvSpPr txBox="1"/>
          <p:nvPr/>
        </p:nvSpPr>
        <p:spPr>
          <a:xfrm>
            <a:off x="603504" y="2075688"/>
            <a:ext cx="5102352"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앱은 작업 목록만 다운로드. 범위가 작고 오프라인 처리가 단순하며, 현장 일정 변경 시 서버 재동기화 필요.</a:t>
            </a:r>
            <a:endParaRPr/>
          </a:p>
        </p:txBody>
      </p:sp>
      <p:sp>
        <p:nvSpPr>
          <p:cNvPr id="1353" name="Google Shape;1353;p52"/>
          <p:cNvSpPr txBox="1"/>
          <p:nvPr/>
        </p:nvSpPr>
        <p:spPr>
          <a:xfrm>
            <a:off x="603504" y="2532888"/>
            <a:ext cx="20116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단일 기본 키</a:t>
            </a:r>
            <a:endParaRPr/>
          </a:p>
        </p:txBody>
      </p:sp>
      <p:sp>
        <p:nvSpPr>
          <p:cNvPr id="1354" name="Google Shape;1354;p52"/>
          <p:cNvSpPr/>
          <p:nvPr/>
        </p:nvSpPr>
        <p:spPr>
          <a:xfrm>
            <a:off x="603504" y="2990088"/>
            <a:ext cx="589248" cy="237744"/>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NMI No</a:t>
            </a:r>
            <a:endParaRPr/>
          </a:p>
        </p:txBody>
      </p:sp>
      <p:cxnSp>
        <p:nvCxnSpPr>
          <p:cNvPr id="1355" name="Google Shape;1355;p52"/>
          <p:cNvCxnSpPr/>
          <p:nvPr/>
        </p:nvCxnSpPr>
        <p:spPr>
          <a:xfrm>
            <a:off x="1220184" y="3108960"/>
            <a:ext cx="310896" cy="0"/>
          </a:xfrm>
          <a:prstGeom prst="straightConnector1">
            <a:avLst/>
          </a:prstGeom>
          <a:noFill/>
          <a:ln cap="flat" cmpd="sng" w="12700">
            <a:solidFill>
              <a:srgbClr val="0B2F5B"/>
            </a:solidFill>
            <a:prstDash val="solid"/>
            <a:round/>
            <a:headEnd len="med" w="med" type="triangle"/>
            <a:tailEnd len="med" w="med" type="triangle"/>
          </a:ln>
        </p:spPr>
      </p:cxnSp>
      <p:sp>
        <p:nvSpPr>
          <p:cNvPr id="1356" name="Google Shape;1356;p52"/>
          <p:cNvSpPr txBox="1"/>
          <p:nvPr/>
        </p:nvSpPr>
        <p:spPr>
          <a:xfrm>
            <a:off x="1174464" y="2834640"/>
            <a:ext cx="402336"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1 : 1</a:t>
            </a:r>
            <a:endParaRPr/>
          </a:p>
        </p:txBody>
      </p:sp>
      <p:sp>
        <p:nvSpPr>
          <p:cNvPr id="1357" name="Google Shape;1357;p52"/>
          <p:cNvSpPr/>
          <p:nvPr/>
        </p:nvSpPr>
        <p:spPr>
          <a:xfrm>
            <a:off x="1558512" y="2990088"/>
            <a:ext cx="432883" cy="237744"/>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Site</a:t>
            </a:r>
            <a:endParaRPr/>
          </a:p>
        </p:txBody>
      </p:sp>
      <p:cxnSp>
        <p:nvCxnSpPr>
          <p:cNvPr id="1358" name="Google Shape;1358;p52"/>
          <p:cNvCxnSpPr/>
          <p:nvPr/>
        </p:nvCxnSpPr>
        <p:spPr>
          <a:xfrm>
            <a:off x="2018827" y="3108960"/>
            <a:ext cx="310896" cy="0"/>
          </a:xfrm>
          <a:prstGeom prst="straightConnector1">
            <a:avLst/>
          </a:prstGeom>
          <a:noFill/>
          <a:ln cap="flat" cmpd="sng" w="12700">
            <a:solidFill>
              <a:srgbClr val="0B2F5B"/>
            </a:solidFill>
            <a:prstDash val="solid"/>
            <a:round/>
            <a:headEnd len="med" w="med" type="triangle"/>
            <a:tailEnd len="med" w="med" type="triangle"/>
          </a:ln>
        </p:spPr>
      </p:cxnSp>
      <p:sp>
        <p:nvSpPr>
          <p:cNvPr id="1359" name="Google Shape;1359;p52"/>
          <p:cNvSpPr txBox="1"/>
          <p:nvPr/>
        </p:nvSpPr>
        <p:spPr>
          <a:xfrm>
            <a:off x="1973107" y="2834640"/>
            <a:ext cx="402336" cy="14630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0B2F5B"/>
                </a:solidFill>
                <a:latin typeface="Barlow"/>
                <a:ea typeface="Barlow"/>
                <a:cs typeface="Barlow"/>
                <a:sym typeface="Barlow"/>
              </a:rPr>
              <a:t>1 : 1</a:t>
            </a:r>
            <a:endParaRPr/>
          </a:p>
        </p:txBody>
      </p:sp>
      <p:sp>
        <p:nvSpPr>
          <p:cNvPr id="1360" name="Google Shape;1360;p52"/>
          <p:cNvSpPr/>
          <p:nvPr/>
        </p:nvSpPr>
        <p:spPr>
          <a:xfrm>
            <a:off x="2357155" y="2990088"/>
            <a:ext cx="433487" cy="237744"/>
          </a:xfrm>
          <a:prstGeom prst="roundRect">
            <a:avLst>
              <a:gd fmla="val 50000" name="adj"/>
            </a:avLst>
          </a:prstGeom>
          <a:solidFill>
            <a:srgbClr val="FFFFFF"/>
          </a:solidFill>
          <a:ln cap="flat" cmpd="sng" w="9525">
            <a:solidFill>
              <a:srgbClr val="0B2F5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ESS</a:t>
            </a:r>
            <a:endParaRPr/>
          </a:p>
        </p:txBody>
      </p:sp>
      <p:sp>
        <p:nvSpPr>
          <p:cNvPr id="1361" name="Google Shape;1361;p52"/>
          <p:cNvSpPr txBox="1"/>
          <p:nvPr/>
        </p:nvSpPr>
        <p:spPr>
          <a:xfrm>
            <a:off x="3154680" y="2587752"/>
            <a:ext cx="2560320" cy="7498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확인 필요: NMI 하나에 ESS가 여러 대라면  NMI No + Serial No 복합 키로 전환.</a:t>
            </a:r>
            <a:endParaRPr/>
          </a:p>
        </p:txBody>
      </p:sp>
      <p:sp>
        <p:nvSpPr>
          <p:cNvPr id="1362" name="Google Shape;1362;p52"/>
          <p:cNvSpPr txBox="1"/>
          <p:nvPr/>
        </p:nvSpPr>
        <p:spPr>
          <a:xfrm>
            <a:off x="6181344" y="1837944"/>
            <a:ext cx="24688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실시간 계측 폴링</a:t>
            </a:r>
            <a:endParaRPr/>
          </a:p>
        </p:txBody>
      </p:sp>
      <p:cxnSp>
        <p:nvCxnSpPr>
          <p:cNvPr id="1363" name="Google Shape;1363;p52"/>
          <p:cNvCxnSpPr/>
          <p:nvPr/>
        </p:nvCxnSpPr>
        <p:spPr>
          <a:xfrm>
            <a:off x="6217920" y="2423160"/>
            <a:ext cx="2331720" cy="0"/>
          </a:xfrm>
          <a:prstGeom prst="straightConnector1">
            <a:avLst/>
          </a:prstGeom>
          <a:noFill/>
          <a:ln cap="flat" cmpd="sng" w="38100">
            <a:solidFill>
              <a:srgbClr val="C7D7EA"/>
            </a:solidFill>
            <a:prstDash val="solid"/>
            <a:round/>
            <a:headEnd len="sm" w="sm" type="none"/>
            <a:tailEnd len="sm" w="sm" type="none"/>
          </a:ln>
        </p:spPr>
      </p:cxnSp>
      <p:sp>
        <p:nvSpPr>
          <p:cNvPr id="1364" name="Google Shape;1364;p52"/>
          <p:cNvSpPr/>
          <p:nvPr/>
        </p:nvSpPr>
        <p:spPr>
          <a:xfrm>
            <a:off x="6153912" y="2359152"/>
            <a:ext cx="128016" cy="128016"/>
          </a:xfrm>
          <a:prstGeom prst="ellipse">
            <a:avLst/>
          </a:prstGeom>
          <a:solidFill>
            <a:srgbClr val="0B2F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5" name="Google Shape;1365;p52"/>
          <p:cNvSpPr/>
          <p:nvPr/>
        </p:nvSpPr>
        <p:spPr>
          <a:xfrm>
            <a:off x="8485632" y="2359152"/>
            <a:ext cx="128016" cy="128016"/>
          </a:xfrm>
          <a:prstGeom prst="ellipse">
            <a:avLst/>
          </a:prstGeom>
          <a:solidFill>
            <a:srgbClr val="0B2F5B"/>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366" name="Google Shape;1366;p52"/>
          <p:cNvSpPr txBox="1"/>
          <p:nvPr/>
        </p:nvSpPr>
        <p:spPr>
          <a:xfrm>
            <a:off x="6181344" y="2112264"/>
            <a:ext cx="1188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1 s</a:t>
            </a:r>
            <a:endParaRPr/>
          </a:p>
        </p:txBody>
      </p:sp>
      <p:sp>
        <p:nvSpPr>
          <p:cNvPr id="1367" name="Google Shape;1367;p52"/>
          <p:cNvSpPr txBox="1"/>
          <p:nvPr/>
        </p:nvSpPr>
        <p:spPr>
          <a:xfrm>
            <a:off x="7397496" y="2112264"/>
            <a:ext cx="118872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lang="en-US" sz="950">
                <a:solidFill>
                  <a:srgbClr val="9A5B00"/>
                </a:solidFill>
                <a:latin typeface="Barlow"/>
                <a:ea typeface="Barlow"/>
                <a:cs typeface="Barlow"/>
                <a:sym typeface="Barlow"/>
              </a:rPr>
              <a:t>TBD</a:t>
            </a:r>
            <a:r>
              <a:rPr b="1" lang="en-US" sz="950">
                <a:solidFill>
                  <a:srgbClr val="0B2F5B"/>
                </a:solidFill>
                <a:latin typeface="Barlow"/>
                <a:ea typeface="Barlow"/>
                <a:cs typeface="Barlow"/>
                <a:sym typeface="Barlow"/>
              </a:rPr>
              <a:t> s</a:t>
            </a:r>
            <a:endParaRPr/>
          </a:p>
        </p:txBody>
      </p:sp>
      <p:sp>
        <p:nvSpPr>
          <p:cNvPr id="1368" name="Google Shape;1368;p52"/>
          <p:cNvSpPr txBox="1"/>
          <p:nvPr/>
        </p:nvSpPr>
        <p:spPr>
          <a:xfrm>
            <a:off x="6181344" y="2514600"/>
            <a:ext cx="11887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75">
                <a:solidFill>
                  <a:srgbClr val="5F6B7A"/>
                </a:solidFill>
                <a:latin typeface="Barlow"/>
                <a:ea typeface="Barlow"/>
                <a:cs typeface="Barlow"/>
                <a:sym typeface="Barlow"/>
              </a:rPr>
              <a:t>실시간, MCU 부하</a:t>
            </a:r>
            <a:endParaRPr/>
          </a:p>
        </p:txBody>
      </p:sp>
      <p:sp>
        <p:nvSpPr>
          <p:cNvPr id="1369" name="Google Shape;1369;p52"/>
          <p:cNvSpPr txBox="1"/>
          <p:nvPr/>
        </p:nvSpPr>
        <p:spPr>
          <a:xfrm>
            <a:off x="7397496" y="2514600"/>
            <a:ext cx="1188720" cy="18288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lang="en-US" sz="875">
                <a:solidFill>
                  <a:srgbClr val="5F6B7A"/>
                </a:solidFill>
                <a:latin typeface="Barlow"/>
                <a:ea typeface="Barlow"/>
                <a:cs typeface="Barlow"/>
                <a:sym typeface="Barlow"/>
              </a:rPr>
              <a:t>가벼움, 실시간성 낮음</a:t>
            </a:r>
            <a:endParaRPr/>
          </a:p>
        </p:txBody>
      </p:sp>
      <p:sp>
        <p:nvSpPr>
          <p:cNvPr id="1370" name="Google Shape;1370;p52"/>
          <p:cNvSpPr txBox="1"/>
          <p:nvPr/>
        </p:nvSpPr>
        <p:spPr>
          <a:xfrm>
            <a:off x="6181344" y="2788920"/>
            <a:ext cx="2468880"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950">
                <a:solidFill>
                  <a:srgbClr val="1E7B4F"/>
                </a:solidFill>
                <a:latin typeface="Barlow"/>
                <a:ea typeface="Barlow"/>
                <a:cs typeface="Barlow"/>
                <a:sym typeface="Barlow"/>
              </a:rPr>
              <a:t>채택</a:t>
            </a:r>
            <a:r>
              <a:rPr b="1" lang="en-US" sz="950">
                <a:solidFill>
                  <a:srgbClr val="1E7B4F"/>
                </a:solidFill>
                <a:latin typeface="Barlow"/>
                <a:ea typeface="Barlow"/>
                <a:cs typeface="Barlow"/>
                <a:sym typeface="Barlow"/>
              </a:rPr>
              <a:t>   포그라운드에서만 폴링, 명령 대기 중 일시 중지, 백그라운드</a:t>
            </a:r>
            <a:endParaRPr b="1" sz="950">
              <a:solidFill>
                <a:srgbClr val="1E7B4F"/>
              </a:solidFill>
              <a:latin typeface="Barlow"/>
              <a:ea typeface="Barlow"/>
              <a:cs typeface="Barlow"/>
              <a:sym typeface="Barlow"/>
            </a:endParaRPr>
          </a:p>
          <a:p>
            <a:pPr indent="0" lvl="0" marL="0" marR="0" rtl="0" algn="l">
              <a:lnSpc>
                <a:spcPct val="100000"/>
              </a:lnSpc>
              <a:spcBef>
                <a:spcPts val="0"/>
              </a:spcBef>
              <a:spcAft>
                <a:spcPts val="0"/>
              </a:spcAft>
              <a:buNone/>
            </a:pPr>
            <a:r>
              <a:rPr b="1" lang="en-US" sz="950">
                <a:solidFill>
                  <a:srgbClr val="1E7B4F"/>
                </a:solidFill>
                <a:latin typeface="Barlow"/>
                <a:ea typeface="Barlow"/>
                <a:cs typeface="Barlow"/>
                <a:sym typeface="Barlow"/>
              </a:rPr>
              <a:t>에서 중지.</a:t>
            </a:r>
            <a:endParaRPr/>
          </a:p>
        </p:txBody>
      </p:sp>
      <p:sp>
        <p:nvSpPr>
          <p:cNvPr id="1371" name="Google Shape;1371;p52"/>
          <p:cNvSpPr txBox="1"/>
          <p:nvPr/>
        </p:nvSpPr>
        <p:spPr>
          <a:xfrm>
            <a:off x="8869680" y="1837944"/>
            <a:ext cx="2468880"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RSSI 가드 vs 신원 증명</a:t>
            </a:r>
            <a:endParaRPr/>
          </a:p>
        </p:txBody>
      </p:sp>
      <p:sp>
        <p:nvSpPr>
          <p:cNvPr id="1372" name="Google Shape;1372;p52"/>
          <p:cNvSpPr/>
          <p:nvPr/>
        </p:nvSpPr>
        <p:spPr>
          <a:xfrm>
            <a:off x="8869680" y="2935224"/>
            <a:ext cx="786384" cy="365760"/>
          </a:xfrm>
          <a:prstGeom prst="rect">
            <a:avLst/>
          </a:prstGeom>
          <a:solidFill>
            <a:srgbClr val="5DA9E9"/>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L1</a:t>
            </a:r>
            <a:endParaRPr/>
          </a:p>
        </p:txBody>
      </p:sp>
      <p:sp>
        <p:nvSpPr>
          <p:cNvPr id="1373" name="Google Shape;1373;p52"/>
          <p:cNvSpPr txBox="1"/>
          <p:nvPr/>
        </p:nvSpPr>
        <p:spPr>
          <a:xfrm>
            <a:off x="9747503" y="2935224"/>
            <a:ext cx="159105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Local Name 일치</a:t>
            </a:r>
            <a:endParaRPr b="1" sz="925">
              <a:solidFill>
                <a:srgbClr val="0B2F5B"/>
              </a:solidFill>
              <a:latin typeface="Barlow"/>
              <a:ea typeface="Barlow"/>
              <a:cs typeface="Barlow"/>
              <a:sym typeface="Barlow"/>
            </a:endParaRPr>
          </a:p>
          <a:p>
            <a:pPr indent="0" lvl="0" marL="0" marR="0" rtl="0" algn="l">
              <a:lnSpc>
                <a:spcPct val="100000"/>
              </a:lnSpc>
              <a:spcBef>
                <a:spcPts val="0"/>
              </a:spcBef>
              <a:spcAft>
                <a:spcPts val="0"/>
              </a:spcAft>
              <a:buNone/>
            </a:pPr>
            <a:r>
              <a:rPr lang="en-US" sz="925">
                <a:solidFill>
                  <a:srgbClr val="0B2F5B"/>
                </a:solidFill>
                <a:latin typeface="Barlow"/>
                <a:ea typeface="Barlow"/>
                <a:cs typeface="Barlow"/>
                <a:sym typeface="Barlow"/>
              </a:rPr>
              <a:t>기본 TBD dBm</a:t>
            </a:r>
            <a:endParaRPr sz="925">
              <a:solidFill>
                <a:srgbClr val="0B2F5B"/>
              </a:solidFill>
              <a:latin typeface="Barlow"/>
              <a:ea typeface="Barlow"/>
              <a:cs typeface="Barlow"/>
              <a:sym typeface="Barlow"/>
            </a:endParaRPr>
          </a:p>
        </p:txBody>
      </p:sp>
      <p:sp>
        <p:nvSpPr>
          <p:cNvPr id="1374" name="Google Shape;1374;p52"/>
          <p:cNvSpPr/>
          <p:nvPr/>
        </p:nvSpPr>
        <p:spPr>
          <a:xfrm>
            <a:off x="9144000" y="2532888"/>
            <a:ext cx="786384" cy="365760"/>
          </a:xfrm>
          <a:prstGeom prst="rect">
            <a:avLst/>
          </a:prstGeom>
          <a:solidFill>
            <a:srgbClr val="1565C0"/>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L2</a:t>
            </a:r>
            <a:endParaRPr/>
          </a:p>
        </p:txBody>
      </p:sp>
      <p:sp>
        <p:nvSpPr>
          <p:cNvPr id="1375" name="Google Shape;1375;p52"/>
          <p:cNvSpPr txBox="1"/>
          <p:nvPr/>
        </p:nvSpPr>
        <p:spPr>
          <a:xfrm>
            <a:off x="10021824" y="2532888"/>
            <a:ext cx="131673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 바코드 / QR 스캔</a:t>
            </a:r>
            <a:endParaRPr b="1" sz="925">
              <a:solidFill>
                <a:srgbClr val="0B2F5B"/>
              </a:solidFill>
              <a:latin typeface="Barlow"/>
              <a:ea typeface="Barlow"/>
              <a:cs typeface="Barlow"/>
              <a:sym typeface="Barlow"/>
            </a:endParaRPr>
          </a:p>
          <a:p>
            <a:pPr indent="0" lvl="0" marL="0" marR="0" rtl="0" algn="l">
              <a:lnSpc>
                <a:spcPct val="100000"/>
              </a:lnSpc>
              <a:spcBef>
                <a:spcPts val="0"/>
              </a:spcBef>
              <a:spcAft>
                <a:spcPts val="0"/>
              </a:spcAft>
              <a:buNone/>
            </a:pPr>
            <a:r>
              <a:rPr lang="en-US" sz="925">
                <a:solidFill>
                  <a:srgbClr val="0B2F5B"/>
                </a:solidFill>
                <a:latin typeface="Barlow"/>
                <a:ea typeface="Barlow"/>
                <a:cs typeface="Barlow"/>
                <a:sym typeface="Barlow"/>
              </a:rPr>
              <a:t>완화 TBD dBm</a:t>
            </a:r>
            <a:endParaRPr sz="925">
              <a:solidFill>
                <a:srgbClr val="0B2F5B"/>
              </a:solidFill>
              <a:latin typeface="Barlow"/>
              <a:ea typeface="Barlow"/>
              <a:cs typeface="Barlow"/>
              <a:sym typeface="Barlow"/>
            </a:endParaRPr>
          </a:p>
        </p:txBody>
      </p:sp>
      <p:sp>
        <p:nvSpPr>
          <p:cNvPr id="1376" name="Google Shape;1376;p52"/>
          <p:cNvSpPr/>
          <p:nvPr/>
        </p:nvSpPr>
        <p:spPr>
          <a:xfrm>
            <a:off x="9418319" y="2130552"/>
            <a:ext cx="786384" cy="365760"/>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L3</a:t>
            </a:r>
            <a:endParaRPr/>
          </a:p>
        </p:txBody>
      </p:sp>
      <p:sp>
        <p:nvSpPr>
          <p:cNvPr id="1377" name="Google Shape;1377;p52"/>
          <p:cNvSpPr txBox="1"/>
          <p:nvPr/>
        </p:nvSpPr>
        <p:spPr>
          <a:xfrm>
            <a:off x="10296143" y="2130552"/>
            <a:ext cx="1042416"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 일회용 OTP</a:t>
            </a:r>
            <a:endParaRPr b="1" sz="925">
              <a:solidFill>
                <a:srgbClr val="0B2F5B"/>
              </a:solidFill>
              <a:latin typeface="Barlow"/>
              <a:ea typeface="Barlow"/>
              <a:cs typeface="Barlow"/>
              <a:sym typeface="Barlow"/>
            </a:endParaRPr>
          </a:p>
          <a:p>
            <a:pPr indent="0" lvl="0" marL="0" marR="0" rtl="0" algn="l">
              <a:lnSpc>
                <a:spcPct val="100000"/>
              </a:lnSpc>
              <a:spcBef>
                <a:spcPts val="0"/>
              </a:spcBef>
              <a:spcAft>
                <a:spcPts val="0"/>
              </a:spcAft>
              <a:buNone/>
            </a:pPr>
            <a:r>
              <a:rPr lang="en-US" sz="925">
                <a:solidFill>
                  <a:srgbClr val="0B2F5B"/>
                </a:solidFill>
                <a:latin typeface="Barlow"/>
                <a:ea typeface="Barlow"/>
                <a:cs typeface="Barlow"/>
                <a:sym typeface="Barlow"/>
              </a:rPr>
              <a:t>쓰기 허용</a:t>
            </a:r>
            <a:endParaRPr sz="925">
              <a:solidFill>
                <a:srgbClr val="0B2F5B"/>
              </a:solidFill>
              <a:latin typeface="Barlow"/>
              <a:ea typeface="Barlow"/>
              <a:cs typeface="Barlow"/>
              <a:sym typeface="Barlow"/>
            </a:endParaRPr>
          </a:p>
        </p:txBody>
      </p:sp>
      <p:sp>
        <p:nvSpPr>
          <p:cNvPr id="1378" name="Google Shape;1378;p52"/>
          <p:cNvSpPr/>
          <p:nvPr/>
        </p:nvSpPr>
        <p:spPr>
          <a:xfrm>
            <a:off x="603504" y="4215384"/>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ESS 내장 Wi-Fi 장애</a:t>
            </a:r>
            <a:endParaRPr/>
          </a:p>
        </p:txBody>
      </p:sp>
      <p:cxnSp>
        <p:nvCxnSpPr>
          <p:cNvPr id="1379" name="Google Shape;1379;p52"/>
          <p:cNvCxnSpPr/>
          <p:nvPr/>
        </p:nvCxnSpPr>
        <p:spPr>
          <a:xfrm>
            <a:off x="2651760" y="4443984"/>
            <a:ext cx="237744" cy="0"/>
          </a:xfrm>
          <a:prstGeom prst="straightConnector1">
            <a:avLst/>
          </a:prstGeom>
          <a:noFill/>
          <a:ln cap="flat" cmpd="sng" w="15875">
            <a:solidFill>
              <a:srgbClr val="0B2F5B"/>
            </a:solidFill>
            <a:prstDash val="solid"/>
            <a:round/>
            <a:headEnd len="sm" w="sm" type="none"/>
            <a:tailEnd len="med" w="med" type="triangle"/>
          </a:ln>
        </p:spPr>
      </p:cxnSp>
      <p:sp>
        <p:nvSpPr>
          <p:cNvPr id="1380" name="Google Shape;1380;p52"/>
          <p:cNvSpPr/>
          <p:nvPr/>
        </p:nvSpPr>
        <p:spPr>
          <a:xfrm>
            <a:off x="2926080" y="4215384"/>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앱이 방문 시마다 BLE로 장치 로그를 가져오고, 서버가 재방문 작업을 생성.</a:t>
            </a:r>
            <a:endParaRPr/>
          </a:p>
        </p:txBody>
      </p:sp>
      <p:sp>
        <p:nvSpPr>
          <p:cNvPr id="1381" name="Google Shape;1381;p52"/>
          <p:cNvSpPr/>
          <p:nvPr/>
        </p:nvSpPr>
        <p:spPr>
          <a:xfrm>
            <a:off x="603504" y="4736592"/>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완전 비전력망 주택은 NMI No 없음</a:t>
            </a:r>
            <a:endParaRPr/>
          </a:p>
        </p:txBody>
      </p:sp>
      <p:cxnSp>
        <p:nvCxnSpPr>
          <p:cNvPr id="1382" name="Google Shape;1382;p52"/>
          <p:cNvCxnSpPr/>
          <p:nvPr/>
        </p:nvCxnSpPr>
        <p:spPr>
          <a:xfrm>
            <a:off x="2651760" y="4965192"/>
            <a:ext cx="237744" cy="0"/>
          </a:xfrm>
          <a:prstGeom prst="straightConnector1">
            <a:avLst/>
          </a:prstGeom>
          <a:noFill/>
          <a:ln cap="flat" cmpd="sng" w="15875">
            <a:solidFill>
              <a:srgbClr val="0B2F5B"/>
            </a:solidFill>
            <a:prstDash val="solid"/>
            <a:round/>
            <a:headEnd len="sm" w="sm" type="none"/>
            <a:tailEnd len="med" w="med" type="triangle"/>
          </a:ln>
        </p:spPr>
      </p:cxnSp>
      <p:sp>
        <p:nvSpPr>
          <p:cNvPr id="1383" name="Google Shape;1383;p52"/>
          <p:cNvSpPr/>
          <p:nvPr/>
        </p:nvSpPr>
        <p:spPr>
          <a:xfrm>
            <a:off x="2926080" y="4736592"/>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임시 Off-Grid 전용 ID를 정산에서 제외하고, NMI가 생기면 교체.</a:t>
            </a:r>
            <a:endParaRPr/>
          </a:p>
        </p:txBody>
      </p:sp>
      <p:sp>
        <p:nvSpPr>
          <p:cNvPr id="1384" name="Google Shape;1384;p52"/>
          <p:cNvSpPr/>
          <p:nvPr/>
        </p:nvSpPr>
        <p:spPr>
          <a:xfrm>
            <a:off x="603504" y="5257800"/>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하드웨어 사양 미정</a:t>
            </a:r>
            <a:endParaRPr/>
          </a:p>
        </p:txBody>
      </p:sp>
      <p:cxnSp>
        <p:nvCxnSpPr>
          <p:cNvPr id="1385" name="Google Shape;1385;p52"/>
          <p:cNvCxnSpPr/>
          <p:nvPr/>
        </p:nvCxnSpPr>
        <p:spPr>
          <a:xfrm>
            <a:off x="2651760" y="5486400"/>
            <a:ext cx="237744" cy="0"/>
          </a:xfrm>
          <a:prstGeom prst="straightConnector1">
            <a:avLst/>
          </a:prstGeom>
          <a:noFill/>
          <a:ln cap="flat" cmpd="sng" w="15875">
            <a:solidFill>
              <a:srgbClr val="0B2F5B"/>
            </a:solidFill>
            <a:prstDash val="solid"/>
            <a:round/>
            <a:headEnd len="sm" w="sm" type="none"/>
            <a:tailEnd len="med" w="med" type="triangle"/>
          </a:ln>
        </p:spPr>
      </p:cxnSp>
      <p:sp>
        <p:nvSpPr>
          <p:cNvPr id="1386" name="Google Shape;1386;p52"/>
          <p:cNvSpPr/>
          <p:nvPr/>
        </p:nvSpPr>
        <p:spPr>
          <a:xfrm>
            <a:off x="2926080" y="5257800"/>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0" lang="en-US" sz="875">
                <a:solidFill>
                  <a:srgbClr val="1565C0"/>
                </a:solidFill>
                <a:latin typeface="Consolas"/>
                <a:ea typeface="Consolas"/>
                <a:cs typeface="Consolas"/>
                <a:sym typeface="Consolas"/>
              </a:rPr>
              <a:t>BLETransport</a:t>
            </a:r>
            <a:r>
              <a:rPr b="0" lang="en-US" sz="925">
                <a:solidFill>
                  <a:srgbClr val="1F2A37"/>
                </a:solidFill>
                <a:latin typeface="Barlow"/>
                <a:ea typeface="Barlow"/>
                <a:cs typeface="Barlow"/>
                <a:sym typeface="Barlow"/>
              </a:rPr>
              <a:t> </a:t>
            </a:r>
            <a:r>
              <a:rPr lang="en-US" sz="925">
                <a:solidFill>
                  <a:srgbClr val="1F2A37"/>
                </a:solidFill>
                <a:latin typeface="Barlow"/>
                <a:ea typeface="Barlow"/>
                <a:cs typeface="Barlow"/>
                <a:sym typeface="Barlow"/>
              </a:rPr>
              <a:t>가 이를 숨기므로 Data 계층만 변경.</a:t>
            </a:r>
            <a:endParaRPr sz="925">
              <a:solidFill>
                <a:srgbClr val="1F2A37"/>
              </a:solidFill>
              <a:latin typeface="Barlow"/>
              <a:ea typeface="Barlow"/>
              <a:cs typeface="Barlow"/>
              <a:sym typeface="Barlow"/>
            </a:endParaRPr>
          </a:p>
        </p:txBody>
      </p:sp>
      <p:sp>
        <p:nvSpPr>
          <p:cNvPr id="1387" name="Google Shape;1387;p52"/>
          <p:cNvSpPr/>
          <p:nvPr/>
        </p:nvSpPr>
        <p:spPr>
          <a:xfrm>
            <a:off x="6181344" y="4224528"/>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1388" name="Google Shape;1388;p52"/>
          <p:cNvSpPr txBox="1"/>
          <p:nvPr/>
        </p:nvSpPr>
        <p:spPr>
          <a:xfrm>
            <a:off x="6492240" y="4197096"/>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Local Name에 전체 Serial No가 들어가나요, 축약형인가요?</a:t>
            </a:r>
            <a:endParaRPr/>
          </a:p>
        </p:txBody>
      </p:sp>
      <p:sp>
        <p:nvSpPr>
          <p:cNvPr id="1389" name="Google Shape;1389;p52"/>
          <p:cNvSpPr/>
          <p:nvPr/>
        </p:nvSpPr>
        <p:spPr>
          <a:xfrm>
            <a:off x="6181344" y="4539996"/>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1390" name="Google Shape;1390;p52"/>
          <p:cNvSpPr txBox="1"/>
          <p:nvPr/>
        </p:nvSpPr>
        <p:spPr>
          <a:xfrm>
            <a:off x="6492240" y="4512564"/>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임시 설치 기사 비밀번호: 누가 발급하고, 유효 기간은, 어떤 OTP 알고리즘인가요?</a:t>
            </a:r>
            <a:endParaRPr/>
          </a:p>
        </p:txBody>
      </p:sp>
      <p:sp>
        <p:nvSpPr>
          <p:cNvPr id="1391" name="Google Shape;1391;p52"/>
          <p:cNvSpPr/>
          <p:nvPr/>
        </p:nvSpPr>
        <p:spPr>
          <a:xfrm>
            <a:off x="6181344" y="4855464"/>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sp>
        <p:nvSpPr>
          <p:cNvPr id="1392" name="Google Shape;1392;p52"/>
          <p:cNvSpPr txBox="1"/>
          <p:nvPr/>
        </p:nvSpPr>
        <p:spPr>
          <a:xfrm>
            <a:off x="6492240" y="4828031"/>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펌웨어 바이너리 크기와 내장 Wi-Fi 전송 속도 기준은 얼마인가요?</a:t>
            </a:r>
            <a:endParaRPr/>
          </a:p>
        </p:txBody>
      </p:sp>
      <p:sp>
        <p:nvSpPr>
          <p:cNvPr id="1393" name="Google Shape;1393;p52"/>
          <p:cNvSpPr/>
          <p:nvPr/>
        </p:nvSpPr>
        <p:spPr>
          <a:xfrm>
            <a:off x="6181344" y="5170931"/>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1394" name="Google Shape;1394;p52"/>
          <p:cNvSpPr txBox="1"/>
          <p:nvPr/>
        </p:nvSpPr>
        <p:spPr>
          <a:xfrm>
            <a:off x="6492240" y="5143499"/>
            <a:ext cx="4791456"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테스트 사이트에서 상업 운전 전환: 설치 기사와 본사 중 누가 결정하나요?</a:t>
            </a:r>
            <a:endParaRPr/>
          </a:p>
        </p:txBody>
      </p:sp>
      <p:sp>
        <p:nvSpPr>
          <p:cNvPr id="1395" name="Google Shape;1395;p52"/>
          <p:cNvSpPr/>
          <p:nvPr/>
        </p:nvSpPr>
        <p:spPr>
          <a:xfrm>
            <a:off x="6181344" y="5486399"/>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1396" name="Google Shape;1396;p52"/>
          <p:cNvSpPr txBox="1"/>
          <p:nvPr/>
        </p:nvSpPr>
        <p:spPr>
          <a:xfrm>
            <a:off x="6492240" y="5458967"/>
            <a:ext cx="479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Run 상태에서 Off-Grid 설정을 변경할 수 있나요?</a:t>
            </a:r>
            <a:endParaRPr/>
          </a:p>
        </p:txBody>
      </p:sp>
      <p:sp>
        <p:nvSpPr>
          <p:cNvPr id="1397" name="Google Shape;1397;p52"/>
          <p:cNvSpPr/>
          <p:nvPr/>
        </p:nvSpPr>
        <p:spPr>
          <a:xfrm>
            <a:off x="6181269" y="5801749"/>
            <a:ext cx="219600" cy="219600"/>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6</a:t>
            </a:r>
            <a:endParaRPr/>
          </a:p>
        </p:txBody>
      </p:sp>
      <p:sp>
        <p:nvSpPr>
          <p:cNvPr id="1398" name="Google Shape;1398;p52"/>
          <p:cNvSpPr txBox="1"/>
          <p:nvPr/>
        </p:nvSpPr>
        <p:spPr>
          <a:xfrm>
            <a:off x="6492165" y="5774317"/>
            <a:ext cx="47916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최소 iOS 버전은? 16 권장</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3" name="Shape 1403"/>
        <p:cNvGrpSpPr/>
        <p:nvPr/>
      </p:nvGrpSpPr>
      <p:grpSpPr>
        <a:xfrm>
          <a:off x="0" y="0"/>
          <a:ext cx="0" cy="0"/>
          <a:chOff x="0" y="0"/>
          <a:chExt cx="0" cy="0"/>
        </a:xfrm>
      </p:grpSpPr>
      <p:sp>
        <p:nvSpPr>
          <p:cNvPr id="1404" name="Google Shape;1404;p53"/>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백업 B1 · 백엔드 연동 가정과 버전 호환성</a:t>
            </a:r>
            <a:endParaRPr/>
          </a:p>
        </p:txBody>
      </p:sp>
      <p:sp>
        <p:nvSpPr>
          <p:cNvPr id="1405" name="Google Shape;1405;p53"/>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백엔드 호출 6개, 현장에서는 불필요, 버전 규칙 5개</a:t>
            </a:r>
            <a:endParaRPr/>
          </a:p>
        </p:txBody>
      </p:sp>
      <p:sp>
        <p:nvSpPr>
          <p:cNvPr id="1406" name="Google Shape;1406;p53"/>
          <p:cNvSpPr txBox="1"/>
          <p:nvPr/>
        </p:nvSpPr>
        <p:spPr>
          <a:xfrm>
            <a:off x="457200" y="1216152"/>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백엔드 API · 호출 시점과 오류 처리</a:t>
            </a:r>
            <a:endParaRPr/>
          </a:p>
        </p:txBody>
      </p:sp>
      <p:graphicFrame>
        <p:nvGraphicFramePr>
          <p:cNvPr id="1407" name="Google Shape;1407;p53"/>
          <p:cNvGraphicFramePr/>
          <p:nvPr/>
        </p:nvGraphicFramePr>
        <p:xfrm>
          <a:off x="457200" y="1481328"/>
          <a:ext cx="3000000" cy="3000000"/>
        </p:xfrm>
        <a:graphic>
          <a:graphicData uri="http://schemas.openxmlformats.org/drawingml/2006/table">
            <a:tbl>
              <a:tblPr>
                <a:noFill/>
                <a:tableStyleId>{56590D6C-02A8-461A-8D93-8EB1FDAFD057}</a:tableStyleId>
              </a:tblPr>
              <a:tblGrid>
                <a:gridCol w="1965950"/>
                <a:gridCol w="1828800"/>
                <a:gridCol w="2697475"/>
              </a:tblGrid>
              <a:tr h="329175">
                <a:tc>
                  <a:txBody>
                    <a:bodyPr/>
                    <a:lstStyle/>
                    <a:p>
                      <a:pPr indent="0" lvl="0" marL="0" marR="0" rtl="0" algn="l">
                        <a:lnSpc>
                          <a:spcPct val="100000"/>
                        </a:lnSpc>
                        <a:spcBef>
                          <a:spcPts val="0"/>
                        </a:spcBef>
                        <a:spcAft>
                          <a:spcPts val="0"/>
                        </a:spcAft>
                        <a:buNone/>
                      </a:pPr>
                      <a:r>
                        <a:rPr lang="en-US"/>
                        <a:t>API</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호출 시점</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오류 처리</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r>
              <a:tr h="420625">
                <a:tc>
                  <a:txBody>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작업 지시 조회</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사전 동기화, 로그인 후</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마지막 로컬 캐시 사용, 동기화 시각 표시</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NMI 조회</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사전 동기화; 온라인 시 재조회</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오프라인에서는 미리 불러온 값만 허용</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r h="420625">
                <a:tc>
                  <a:txBody>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설치 기사 비밀번호 발급</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사전 동기화, 작업별</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만료 시 온라인 재발급 안내</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펌웨어 바이너리 + 메타데이터</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사전 동기화</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체크섬 불일치 시 재다운로드</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r h="420625">
                <a:tc>
                  <a:txBody>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트랜잭션 동기화</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네트워크 복구 시</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401은 토큰 갱신, 409는 성공 처리, 5xx는 백오프</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420625">
                <a:tc>
                  <a:txBody>
                    <a:bodyPr/>
                    <a:lstStyle/>
                    <a:p>
                      <a:pPr indent="0" lvl="0" marL="0" marR="0" rtl="0" algn="l">
                        <a:lnSpc>
                          <a:spcPct val="100000"/>
                        </a:lnSpc>
                        <a:spcBef>
                          <a:spcPts val="0"/>
                        </a:spcBef>
                        <a:spcAft>
                          <a:spcPts val="0"/>
                        </a:spcAft>
                        <a:buNone/>
                      </a:pPr>
                      <a:r>
                        <a:rPr b="1" lang="en-US" sz="950">
                          <a:solidFill>
                            <a:srgbClr val="0B2F5B"/>
                          </a:solidFill>
                          <a:latin typeface="Barlow"/>
                          <a:ea typeface="Barlow"/>
                          <a:cs typeface="Barlow"/>
                          <a:sym typeface="Barlow"/>
                        </a:rPr>
                        <a:t>예외 입력 로그</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Install Wizard 사용 후</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트랜잭션처럼 아웃박스로 전송</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bl>
          </a:graphicData>
        </a:graphic>
      </p:graphicFrame>
      <p:sp>
        <p:nvSpPr>
          <p:cNvPr id="1408" name="Google Shape;1408;p53"/>
          <p:cNvSpPr txBox="1"/>
          <p:nvPr/>
        </p:nvSpPr>
        <p:spPr>
          <a:xfrm>
            <a:off x="457200" y="4526280"/>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동일한 호출을 워크플로에 배치</a:t>
            </a:r>
            <a:endParaRPr/>
          </a:p>
        </p:txBody>
      </p:sp>
      <p:sp>
        <p:nvSpPr>
          <p:cNvPr id="1409" name="Google Shape;1409;p53"/>
          <p:cNvSpPr/>
          <p:nvPr/>
        </p:nvSpPr>
        <p:spPr>
          <a:xfrm>
            <a:off x="457200" y="4800600"/>
            <a:ext cx="2926080" cy="109728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0" name="Google Shape;1410;p53"/>
          <p:cNvSpPr/>
          <p:nvPr/>
        </p:nvSpPr>
        <p:spPr>
          <a:xfrm>
            <a:off x="457200" y="4800600"/>
            <a:ext cx="2926080" cy="274320"/>
          </a:xfrm>
          <a:prstGeom prst="rect">
            <a:avLst/>
          </a:prstGeom>
          <a:solidFill>
            <a:srgbClr val="0B2F5B"/>
          </a:solidFill>
          <a:ln>
            <a:noFill/>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사전 동기화 · 온라인</a:t>
            </a:r>
            <a:endParaRPr/>
          </a:p>
        </p:txBody>
      </p:sp>
      <p:sp>
        <p:nvSpPr>
          <p:cNvPr id="1411" name="Google Shape;1411;p53"/>
          <p:cNvSpPr/>
          <p:nvPr/>
        </p:nvSpPr>
        <p:spPr>
          <a:xfrm>
            <a:off x="548640" y="5193792"/>
            <a:ext cx="967895"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75">
                <a:solidFill>
                  <a:srgbClr val="0B2F5B"/>
                </a:solidFill>
                <a:latin typeface="Barlow"/>
                <a:ea typeface="Barlow"/>
                <a:cs typeface="Barlow"/>
                <a:sym typeface="Barlow"/>
              </a:rPr>
              <a:t>작업 지시 조회</a:t>
            </a:r>
            <a:endParaRPr/>
          </a:p>
        </p:txBody>
      </p:sp>
      <p:sp>
        <p:nvSpPr>
          <p:cNvPr id="1412" name="Google Shape;1412;p53"/>
          <p:cNvSpPr/>
          <p:nvPr/>
        </p:nvSpPr>
        <p:spPr>
          <a:xfrm>
            <a:off x="1571399" y="5193792"/>
            <a:ext cx="693442"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75">
                <a:solidFill>
                  <a:srgbClr val="0B2F5B"/>
                </a:solidFill>
                <a:latin typeface="Barlow"/>
                <a:ea typeface="Barlow"/>
                <a:cs typeface="Barlow"/>
                <a:sym typeface="Barlow"/>
              </a:rPr>
              <a:t>NMI 조회</a:t>
            </a:r>
            <a:endParaRPr/>
          </a:p>
        </p:txBody>
      </p:sp>
      <p:sp>
        <p:nvSpPr>
          <p:cNvPr id="1413" name="Google Shape;1413;p53"/>
          <p:cNvSpPr/>
          <p:nvPr/>
        </p:nvSpPr>
        <p:spPr>
          <a:xfrm>
            <a:off x="548640" y="5468112"/>
            <a:ext cx="1036141"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75">
                <a:solidFill>
                  <a:srgbClr val="0B2F5B"/>
                </a:solidFill>
                <a:latin typeface="Barlow"/>
                <a:ea typeface="Barlow"/>
                <a:cs typeface="Barlow"/>
                <a:sym typeface="Barlow"/>
              </a:rPr>
              <a:t>설치 기사 비밀번호</a:t>
            </a:r>
            <a:endParaRPr/>
          </a:p>
        </p:txBody>
      </p:sp>
      <p:sp>
        <p:nvSpPr>
          <p:cNvPr id="1414" name="Google Shape;1414;p53"/>
          <p:cNvSpPr/>
          <p:nvPr/>
        </p:nvSpPr>
        <p:spPr>
          <a:xfrm>
            <a:off x="1639645" y="5468112"/>
            <a:ext cx="944906"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75">
                <a:solidFill>
                  <a:srgbClr val="0B2F5B"/>
                </a:solidFill>
                <a:latin typeface="Barlow"/>
                <a:ea typeface="Barlow"/>
                <a:cs typeface="Barlow"/>
                <a:sym typeface="Barlow"/>
              </a:rPr>
              <a:t>펌웨어 바이너리</a:t>
            </a:r>
            <a:endParaRPr/>
          </a:p>
        </p:txBody>
      </p:sp>
      <p:sp>
        <p:nvSpPr>
          <p:cNvPr id="1415" name="Google Shape;1415;p53"/>
          <p:cNvSpPr/>
          <p:nvPr/>
        </p:nvSpPr>
        <p:spPr>
          <a:xfrm>
            <a:off x="3657600" y="4800600"/>
            <a:ext cx="1325880" cy="109728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16" name="Google Shape;1416;p53"/>
          <p:cNvSpPr/>
          <p:nvPr/>
        </p:nvSpPr>
        <p:spPr>
          <a:xfrm>
            <a:off x="3657600" y="4800600"/>
            <a:ext cx="1325880" cy="274320"/>
          </a:xfrm>
          <a:prstGeom prst="rect">
            <a:avLst/>
          </a:prstGeom>
          <a:solidFill>
            <a:srgbClr val="EAF2FB"/>
          </a:solidFill>
          <a:ln cap="flat" cmpd="sng" w="9525">
            <a:solidFill>
              <a:srgbClr val="C7D7EA"/>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0B2F5B"/>
                </a:solidFill>
                <a:latin typeface="Montserrat"/>
                <a:ea typeface="Montserrat"/>
                <a:cs typeface="Montserrat"/>
                <a:sym typeface="Montserrat"/>
              </a:rPr>
              <a:t>현장 · 오프라인</a:t>
            </a:r>
            <a:endParaRPr/>
          </a:p>
        </p:txBody>
      </p:sp>
      <p:sp>
        <p:nvSpPr>
          <p:cNvPr id="1417" name="Google Shape;1417;p53"/>
          <p:cNvSpPr/>
          <p:nvPr/>
        </p:nvSpPr>
        <p:spPr>
          <a:xfrm>
            <a:off x="3749039" y="5193792"/>
            <a:ext cx="918245"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75">
                <a:solidFill>
                  <a:srgbClr val="0B2F5B"/>
                </a:solidFill>
                <a:latin typeface="Barlow"/>
                <a:ea typeface="Barlow"/>
                <a:cs typeface="Barlow"/>
                <a:sym typeface="Barlow"/>
              </a:rPr>
              <a:t>백엔드 호출 없음</a:t>
            </a:r>
            <a:endParaRPr/>
          </a:p>
        </p:txBody>
      </p:sp>
      <p:cxnSp>
        <p:nvCxnSpPr>
          <p:cNvPr id="1418" name="Google Shape;1418;p53"/>
          <p:cNvCxnSpPr>
            <a:stCxn id="1409" idx="3"/>
            <a:endCxn id="1415" idx="1"/>
          </p:cNvCxnSpPr>
          <p:nvPr/>
        </p:nvCxnSpPr>
        <p:spPr>
          <a:xfrm>
            <a:off x="3383280" y="5349240"/>
            <a:ext cx="274200" cy="0"/>
          </a:xfrm>
          <a:prstGeom prst="straightConnector1">
            <a:avLst/>
          </a:prstGeom>
          <a:noFill/>
          <a:ln cap="flat" cmpd="sng" w="15875">
            <a:solidFill>
              <a:srgbClr val="0B2F5B"/>
            </a:solidFill>
            <a:prstDash val="solid"/>
            <a:round/>
            <a:headEnd len="sm" w="sm" type="none"/>
            <a:tailEnd len="med" w="med" type="triangle"/>
          </a:ln>
        </p:spPr>
      </p:cxnSp>
      <p:sp>
        <p:nvSpPr>
          <p:cNvPr id="1419" name="Google Shape;1419;p53"/>
          <p:cNvSpPr/>
          <p:nvPr/>
        </p:nvSpPr>
        <p:spPr>
          <a:xfrm>
            <a:off x="5257800" y="4800600"/>
            <a:ext cx="1691640" cy="109728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0" name="Google Shape;1420;p53"/>
          <p:cNvSpPr/>
          <p:nvPr/>
        </p:nvSpPr>
        <p:spPr>
          <a:xfrm>
            <a:off x="5257800" y="4800600"/>
            <a:ext cx="1691640" cy="274320"/>
          </a:xfrm>
          <a:prstGeom prst="rect">
            <a:avLst/>
          </a:prstGeom>
          <a:solidFill>
            <a:srgbClr val="1565C0"/>
          </a:solidFill>
          <a:ln>
            <a:noFill/>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네트워크 복구</a:t>
            </a:r>
            <a:endParaRPr/>
          </a:p>
        </p:txBody>
      </p:sp>
      <p:sp>
        <p:nvSpPr>
          <p:cNvPr id="1421" name="Google Shape;1421;p53"/>
          <p:cNvSpPr/>
          <p:nvPr/>
        </p:nvSpPr>
        <p:spPr>
          <a:xfrm>
            <a:off x="5349240" y="5193792"/>
            <a:ext cx="976464"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75">
                <a:solidFill>
                  <a:srgbClr val="0B2F5B"/>
                </a:solidFill>
                <a:latin typeface="Barlow"/>
                <a:ea typeface="Barlow"/>
                <a:cs typeface="Barlow"/>
                <a:sym typeface="Barlow"/>
              </a:rPr>
              <a:t>트랜잭션 동기화</a:t>
            </a:r>
            <a:endParaRPr/>
          </a:p>
        </p:txBody>
      </p:sp>
      <p:sp>
        <p:nvSpPr>
          <p:cNvPr id="1422" name="Google Shape;1422;p53"/>
          <p:cNvSpPr/>
          <p:nvPr/>
        </p:nvSpPr>
        <p:spPr>
          <a:xfrm>
            <a:off x="5349240" y="5468112"/>
            <a:ext cx="1094143" cy="194468"/>
          </a:xfrm>
          <a:prstGeom prst="roundRect">
            <a:avLst>
              <a:gd fmla="val 50000" name="adj"/>
            </a:avLst>
          </a:prstGeom>
          <a:solidFill>
            <a:srgbClr val="FFFFFF"/>
          </a:solidFill>
          <a:ln cap="flat" cmpd="sng" w="9525">
            <a:solidFill>
              <a:srgbClr val="C7D7EA"/>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875">
                <a:solidFill>
                  <a:srgbClr val="0B2F5B"/>
                </a:solidFill>
                <a:latin typeface="Barlow"/>
                <a:ea typeface="Barlow"/>
                <a:cs typeface="Barlow"/>
                <a:sym typeface="Barlow"/>
              </a:rPr>
              <a:t>예외 입력 로그</a:t>
            </a:r>
            <a:endParaRPr/>
          </a:p>
        </p:txBody>
      </p:sp>
      <p:cxnSp>
        <p:nvCxnSpPr>
          <p:cNvPr id="1423" name="Google Shape;1423;p53"/>
          <p:cNvCxnSpPr>
            <a:stCxn id="1415" idx="3"/>
            <a:endCxn id="1419" idx="1"/>
          </p:cNvCxnSpPr>
          <p:nvPr/>
        </p:nvCxnSpPr>
        <p:spPr>
          <a:xfrm>
            <a:off x="4983480" y="5349240"/>
            <a:ext cx="274200" cy="0"/>
          </a:xfrm>
          <a:prstGeom prst="straightConnector1">
            <a:avLst/>
          </a:prstGeom>
          <a:noFill/>
          <a:ln cap="flat" cmpd="sng" w="15875">
            <a:solidFill>
              <a:srgbClr val="0B2F5B"/>
            </a:solidFill>
            <a:prstDash val="solid"/>
            <a:round/>
            <a:headEnd len="sm" w="sm" type="none"/>
            <a:tailEnd len="med" w="med" type="triangle"/>
          </a:ln>
        </p:spPr>
      </p:cxnSp>
      <p:sp>
        <p:nvSpPr>
          <p:cNvPr id="1424" name="Google Shape;1424;p53"/>
          <p:cNvSpPr txBox="1"/>
          <p:nvPr/>
        </p:nvSpPr>
        <p:spPr>
          <a:xfrm>
            <a:off x="7269480" y="1216152"/>
            <a:ext cx="41605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버전 호환성</a:t>
            </a:r>
            <a:endParaRPr/>
          </a:p>
        </p:txBody>
      </p:sp>
      <p:sp>
        <p:nvSpPr>
          <p:cNvPr id="1425" name="Google Shape;1425;p53"/>
          <p:cNvSpPr/>
          <p:nvPr/>
        </p:nvSpPr>
        <p:spPr>
          <a:xfrm>
            <a:off x="7269480" y="1481328"/>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26" name="Google Shape;1426;p53"/>
          <p:cNvSpPr/>
          <p:nvPr/>
        </p:nvSpPr>
        <p:spPr>
          <a:xfrm>
            <a:off x="7379208" y="1591056"/>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1</a:t>
            </a:r>
            <a:endParaRPr/>
          </a:p>
        </p:txBody>
      </p:sp>
      <p:sp>
        <p:nvSpPr>
          <p:cNvPr id="1427" name="Google Shape;1427;p53"/>
          <p:cNvSpPr txBox="1"/>
          <p:nvPr/>
        </p:nvSpPr>
        <p:spPr>
          <a:xfrm>
            <a:off x="7744968" y="1554480"/>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핸드셰이크</a:t>
            </a:r>
            <a:endParaRPr b="1" sz="1050">
              <a:solidFill>
                <a:srgbClr val="0B2F5B"/>
              </a:solidFill>
              <a:latin typeface="Montserrat"/>
              <a:ea typeface="Montserrat"/>
              <a:cs typeface="Montserrat"/>
              <a:sym typeface="Montserrat"/>
            </a:endParaRPr>
          </a:p>
        </p:txBody>
      </p:sp>
      <p:sp>
        <p:nvSpPr>
          <p:cNvPr id="1428" name="Google Shape;1428;p53"/>
          <p:cNvSpPr txBox="1"/>
          <p:nvPr/>
        </p:nvSpPr>
        <p:spPr>
          <a:xfrm>
            <a:off x="7744968" y="1792224"/>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연결 직후 장치 프로토콜 버전을 읽고, 앱이 지원하는 범위(Min ~ Max)와 비교합니다.</a:t>
            </a:r>
            <a:endParaRPr/>
          </a:p>
        </p:txBody>
      </p:sp>
      <p:sp>
        <p:nvSpPr>
          <p:cNvPr id="1429" name="Google Shape;1429;p53"/>
          <p:cNvSpPr/>
          <p:nvPr/>
        </p:nvSpPr>
        <p:spPr>
          <a:xfrm>
            <a:off x="7269480" y="2382012"/>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0" name="Google Shape;1430;p53"/>
          <p:cNvSpPr/>
          <p:nvPr/>
        </p:nvSpPr>
        <p:spPr>
          <a:xfrm>
            <a:off x="7379208" y="249174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2</a:t>
            </a:r>
            <a:endParaRPr/>
          </a:p>
        </p:txBody>
      </p:sp>
      <p:sp>
        <p:nvSpPr>
          <p:cNvPr id="1431" name="Google Shape;1431;p53"/>
          <p:cNvSpPr txBox="1"/>
          <p:nvPr/>
        </p:nvSpPr>
        <p:spPr>
          <a:xfrm>
            <a:off x="7744968" y="2455164"/>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범위 초과</a:t>
            </a:r>
            <a:endParaRPr/>
          </a:p>
        </p:txBody>
      </p:sp>
      <p:sp>
        <p:nvSpPr>
          <p:cNvPr id="1432" name="Google Shape;1432;p53"/>
          <p:cNvSpPr txBox="1"/>
          <p:nvPr/>
        </p:nvSpPr>
        <p:spPr>
          <a:xfrm>
            <a:off x="7744968" y="2692908"/>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장치가 너무 오래됨: 설정 쓰기를 차단하고 펌웨어 업데이트를 안내합니다. 장치가 너무 최신: 앱 업데이트를 요구합니다.</a:t>
            </a:r>
            <a:endParaRPr/>
          </a:p>
        </p:txBody>
      </p:sp>
      <p:sp>
        <p:nvSpPr>
          <p:cNvPr id="1433" name="Google Shape;1433;p53"/>
          <p:cNvSpPr/>
          <p:nvPr/>
        </p:nvSpPr>
        <p:spPr>
          <a:xfrm>
            <a:off x="7269480" y="3282696"/>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4" name="Google Shape;1434;p53"/>
          <p:cNvSpPr/>
          <p:nvPr/>
        </p:nvSpPr>
        <p:spPr>
          <a:xfrm>
            <a:off x="7379208" y="3392424"/>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3</a:t>
            </a:r>
            <a:endParaRPr/>
          </a:p>
        </p:txBody>
      </p:sp>
      <p:sp>
        <p:nvSpPr>
          <p:cNvPr id="1435" name="Google Shape;1435;p53"/>
          <p:cNvSpPr txBox="1"/>
          <p:nvPr/>
        </p:nvSpPr>
        <p:spPr>
          <a:xfrm>
            <a:off x="7744968" y="3355848"/>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레지스터 맵</a:t>
            </a:r>
            <a:endParaRPr/>
          </a:p>
        </p:txBody>
      </p:sp>
      <p:sp>
        <p:nvSpPr>
          <p:cNvPr id="1436" name="Google Shape;1436;p53"/>
          <p:cNvSpPr txBox="1"/>
          <p:nvPr/>
        </p:nvSpPr>
        <p:spPr>
          <a:xfrm>
            <a:off x="7744968" y="3593591"/>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버전별 차이는 서버 Remote Config의 capability 테이블에 둡니다. 앱 릴리스가 필요 없습니다.</a:t>
            </a:r>
            <a:endParaRPr sz="950">
              <a:solidFill>
                <a:srgbClr val="1F2A37"/>
              </a:solidFill>
              <a:latin typeface="Barlow"/>
              <a:ea typeface="Barlow"/>
              <a:cs typeface="Barlow"/>
              <a:sym typeface="Barlow"/>
            </a:endParaRPr>
          </a:p>
        </p:txBody>
      </p:sp>
      <p:sp>
        <p:nvSpPr>
          <p:cNvPr id="1437" name="Google Shape;1437;p53"/>
          <p:cNvSpPr/>
          <p:nvPr/>
        </p:nvSpPr>
        <p:spPr>
          <a:xfrm>
            <a:off x="7269480" y="4183380"/>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38" name="Google Shape;1438;p53"/>
          <p:cNvSpPr/>
          <p:nvPr/>
        </p:nvSpPr>
        <p:spPr>
          <a:xfrm>
            <a:off x="7379208" y="4293108"/>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4</a:t>
            </a:r>
            <a:endParaRPr/>
          </a:p>
        </p:txBody>
      </p:sp>
      <p:sp>
        <p:nvSpPr>
          <p:cNvPr id="1439" name="Google Shape;1439;p53"/>
          <p:cNvSpPr txBox="1"/>
          <p:nvPr/>
        </p:nvSpPr>
        <p:spPr>
          <a:xfrm>
            <a:off x="7744968" y="4256532"/>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펌웨어 메타데이터</a:t>
            </a:r>
            <a:endParaRPr/>
          </a:p>
        </p:txBody>
      </p:sp>
      <p:sp>
        <p:nvSpPr>
          <p:cNvPr id="1440" name="Google Shape;1440;p53"/>
          <p:cNvSpPr txBox="1"/>
          <p:nvPr/>
        </p:nvSpPr>
        <p:spPr>
          <a:xfrm>
            <a:off x="7744968" y="4494276"/>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지원 HW 리비전과 필수 중간 버전을 담아 건너뛰기 업데이트를 막습니다.</a:t>
            </a:r>
            <a:endParaRPr sz="950">
              <a:solidFill>
                <a:srgbClr val="1F2A37"/>
              </a:solidFill>
              <a:latin typeface="Barlow"/>
              <a:ea typeface="Barlow"/>
              <a:cs typeface="Barlow"/>
              <a:sym typeface="Barlow"/>
            </a:endParaRPr>
          </a:p>
        </p:txBody>
      </p:sp>
      <p:sp>
        <p:nvSpPr>
          <p:cNvPr id="1441" name="Google Shape;1441;p53"/>
          <p:cNvSpPr/>
          <p:nvPr/>
        </p:nvSpPr>
        <p:spPr>
          <a:xfrm>
            <a:off x="7269480" y="5084064"/>
            <a:ext cx="416052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42" name="Google Shape;1442;p53"/>
          <p:cNvSpPr/>
          <p:nvPr/>
        </p:nvSpPr>
        <p:spPr>
          <a:xfrm>
            <a:off x="7379208" y="5193792"/>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5</a:t>
            </a:r>
            <a:endParaRPr/>
          </a:p>
        </p:txBody>
      </p:sp>
      <p:sp>
        <p:nvSpPr>
          <p:cNvPr id="1443" name="Google Shape;1443;p53"/>
          <p:cNvSpPr txBox="1"/>
          <p:nvPr/>
        </p:nvSpPr>
        <p:spPr>
          <a:xfrm>
            <a:off x="7744968" y="5157216"/>
            <a:ext cx="3575303" cy="21945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백엔드 API</a:t>
            </a:r>
            <a:endParaRPr/>
          </a:p>
        </p:txBody>
      </p:sp>
      <p:sp>
        <p:nvSpPr>
          <p:cNvPr id="1444" name="Google Shape;1444;p53"/>
          <p:cNvSpPr txBox="1"/>
          <p:nvPr/>
        </p:nvSpPr>
        <p:spPr>
          <a:xfrm>
            <a:off x="7744968" y="5394960"/>
            <a:ext cx="3575303" cy="4754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URL 버전(/v1)으로 고정. 최소 앱 버전 미만이면 앱 업데이트를 강제합니다.</a:t>
            </a:r>
            <a:endParaRPr sz="950">
              <a:solidFill>
                <a:srgbClr val="1F2A37"/>
              </a:solidFill>
              <a:latin typeface="Barlow"/>
              <a:ea typeface="Barlow"/>
              <a:cs typeface="Barlow"/>
              <a:sym typeface="Barlo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49" name="Shape 1449"/>
        <p:cNvGrpSpPr/>
        <p:nvPr/>
      </p:nvGrpSpPr>
      <p:grpSpPr>
        <a:xfrm>
          <a:off x="0" y="0"/>
          <a:ext cx="0" cy="0"/>
          <a:chOff x="0" y="0"/>
          <a:chExt cx="0" cy="0"/>
        </a:xfrm>
      </p:grpSpPr>
      <p:sp>
        <p:nvSpPr>
          <p:cNvPr id="1450" name="Google Shape;1450;p54"/>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08 · 기술 설계 (iOS) · 백업 B2 · iOS 동시성과 데이터 보호</a:t>
            </a:r>
            <a:endParaRPr/>
          </a:p>
        </p:txBody>
      </p:sp>
      <p:sp>
        <p:nvSpPr>
          <p:cNvPr id="1451" name="Google Shape;1451;p54"/>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BLE 명령은 한 번에 하나: UI 잠금, 명령 큐, 보호된 비밀 정보</a:t>
            </a:r>
            <a:endParaRPr/>
          </a:p>
        </p:txBody>
      </p:sp>
      <p:sp>
        <p:nvSpPr>
          <p:cNvPr id="1452" name="Google Shape;1452;p54"/>
          <p:cNvSpPr txBox="1"/>
          <p:nvPr/>
        </p:nvSpPr>
        <p:spPr>
          <a:xfrm>
            <a:off x="457200" y="1216152"/>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명령 경로의 4가지 보호 장치</a:t>
            </a:r>
            <a:endParaRPr/>
          </a:p>
        </p:txBody>
      </p:sp>
      <p:sp>
        <p:nvSpPr>
          <p:cNvPr id="1453" name="Google Shape;1453;p54"/>
          <p:cNvSpPr/>
          <p:nvPr/>
        </p:nvSpPr>
        <p:spPr>
          <a:xfrm>
            <a:off x="457200" y="1481328"/>
            <a:ext cx="2606040" cy="184708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4" name="Google Shape;1454;p54"/>
          <p:cNvSpPr/>
          <p:nvPr/>
        </p:nvSpPr>
        <p:spPr>
          <a:xfrm>
            <a:off x="585216" y="1609344"/>
            <a:ext cx="365760" cy="365760"/>
          </a:xfrm>
          <a:prstGeom prst="roundRect">
            <a:avLst>
              <a:gd fmla="val 12500"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55" name="Google Shape;1455;p54"/>
          <p:cNvPicPr preferRelativeResize="0"/>
          <p:nvPr/>
        </p:nvPicPr>
        <p:blipFill rotWithShape="1">
          <a:blip r:embed="rId3">
            <a:alphaModFix/>
          </a:blip>
          <a:srcRect b="0" l="0" r="0" t="0"/>
          <a:stretch/>
        </p:blipFill>
        <p:spPr>
          <a:xfrm>
            <a:off x="665683" y="1689811"/>
            <a:ext cx="204825" cy="204825"/>
          </a:xfrm>
          <a:prstGeom prst="rect">
            <a:avLst/>
          </a:prstGeom>
          <a:noFill/>
          <a:ln>
            <a:noFill/>
          </a:ln>
        </p:spPr>
      </p:pic>
      <p:sp>
        <p:nvSpPr>
          <p:cNvPr id="1456" name="Google Shape;1456;p54"/>
          <p:cNvSpPr txBox="1"/>
          <p:nvPr/>
        </p:nvSpPr>
        <p:spPr>
          <a:xfrm>
            <a:off x="1042416" y="1609344"/>
            <a:ext cx="191109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모달 UI 잠금</a:t>
            </a:r>
            <a:endParaRPr/>
          </a:p>
        </p:txBody>
      </p:sp>
      <p:sp>
        <p:nvSpPr>
          <p:cNvPr id="1457" name="Google Shape;1457;p54"/>
          <p:cNvSpPr txBox="1"/>
          <p:nvPr/>
        </p:nvSpPr>
        <p:spPr>
          <a:xfrm>
            <a:off x="585216" y="2121408"/>
            <a:ext cx="235000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US" sz="950">
                <a:solidFill>
                  <a:srgbClr val="666666"/>
                </a:solidFill>
                <a:latin typeface="Barlow"/>
                <a:ea typeface="Barlow"/>
                <a:cs typeface="Barlow"/>
                <a:sym typeface="Barlow"/>
              </a:rPr>
              <a:t>fullScreenCover가 장치 데이터 I/O 중 화면을 막습니다. 자식 뷰에는 .allowsHitTesting(false)와 .interactiveDismissDis</a:t>
            </a:r>
            <a:endParaRPr sz="950">
              <a:solidFill>
                <a:srgbClr val="666666"/>
              </a:solidFill>
              <a:latin typeface="Barlow"/>
              <a:ea typeface="Barlow"/>
              <a:cs typeface="Barlow"/>
              <a:sym typeface="Barlow"/>
            </a:endParaRPr>
          </a:p>
          <a:p>
            <a:pPr indent="0" lvl="0" marL="0" marR="0" rtl="0" algn="l">
              <a:lnSpc>
                <a:spcPct val="105000"/>
              </a:lnSpc>
              <a:spcBef>
                <a:spcPts val="0"/>
              </a:spcBef>
              <a:spcAft>
                <a:spcPts val="0"/>
              </a:spcAft>
              <a:buNone/>
            </a:pPr>
            <a:r>
              <a:rPr lang="en-US" sz="950">
                <a:solidFill>
                  <a:srgbClr val="666666"/>
                </a:solidFill>
                <a:latin typeface="Barlow"/>
                <a:ea typeface="Barlow"/>
                <a:cs typeface="Barlow"/>
                <a:sym typeface="Barlow"/>
              </a:rPr>
              <a:t>abled()를 적용합니다. TBD초 후 재시도 옵션과 함께 해제됩니다.</a:t>
            </a:r>
            <a:endParaRPr sz="950">
              <a:solidFill>
                <a:srgbClr val="666666"/>
              </a:solidFill>
              <a:latin typeface="Barlow"/>
              <a:ea typeface="Barlow"/>
              <a:cs typeface="Barlow"/>
              <a:sym typeface="Barlow"/>
            </a:endParaRPr>
          </a:p>
        </p:txBody>
      </p:sp>
      <p:sp>
        <p:nvSpPr>
          <p:cNvPr id="1458" name="Google Shape;1458;p54"/>
          <p:cNvSpPr/>
          <p:nvPr/>
        </p:nvSpPr>
        <p:spPr>
          <a:xfrm>
            <a:off x="3246120" y="1481328"/>
            <a:ext cx="2606040" cy="184708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59" name="Google Shape;1459;p54"/>
          <p:cNvSpPr/>
          <p:nvPr/>
        </p:nvSpPr>
        <p:spPr>
          <a:xfrm>
            <a:off x="3374136" y="1609344"/>
            <a:ext cx="365760" cy="365760"/>
          </a:xfrm>
          <a:prstGeom prst="roundRect">
            <a:avLst>
              <a:gd fmla="val 12500"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60" name="Google Shape;1460;p54"/>
          <p:cNvPicPr preferRelativeResize="0"/>
          <p:nvPr/>
        </p:nvPicPr>
        <p:blipFill rotWithShape="1">
          <a:blip r:embed="rId4">
            <a:alphaModFix/>
          </a:blip>
          <a:srcRect b="0" l="0" r="0" t="0"/>
          <a:stretch/>
        </p:blipFill>
        <p:spPr>
          <a:xfrm>
            <a:off x="3454603" y="1689811"/>
            <a:ext cx="204825" cy="204825"/>
          </a:xfrm>
          <a:prstGeom prst="rect">
            <a:avLst/>
          </a:prstGeom>
          <a:noFill/>
          <a:ln>
            <a:noFill/>
          </a:ln>
        </p:spPr>
      </p:pic>
      <p:sp>
        <p:nvSpPr>
          <p:cNvPr id="1461" name="Google Shape;1461;p54"/>
          <p:cNvSpPr txBox="1"/>
          <p:nvPr/>
        </p:nvSpPr>
        <p:spPr>
          <a:xfrm>
            <a:off x="3831336" y="1609344"/>
            <a:ext cx="191109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세션 하나, 큐 하나</a:t>
            </a:r>
            <a:endParaRPr/>
          </a:p>
        </p:txBody>
      </p:sp>
      <p:sp>
        <p:nvSpPr>
          <p:cNvPr id="1462" name="Google Shape;1462;p54"/>
          <p:cNvSpPr txBox="1"/>
          <p:nvPr/>
        </p:nvSpPr>
        <p:spPr>
          <a:xfrm>
            <a:off x="3374136" y="2121408"/>
            <a:ext cx="235000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US" sz="950">
                <a:solidFill>
                  <a:srgbClr val="666666"/>
                </a:solidFill>
                <a:latin typeface="Barlow"/>
                <a:ea typeface="Barlow"/>
                <a:cs typeface="Barlow"/>
                <a:sym typeface="Barlow"/>
              </a:rPr>
              <a:t>actor DeviceSession이 세션 단위 배타적 접근을 보장합니다. 같은 세션의 중복 명령은 명령 큐에서 거부됩니다.</a:t>
            </a:r>
            <a:endParaRPr sz="950">
              <a:solidFill>
                <a:srgbClr val="666666"/>
              </a:solidFill>
              <a:latin typeface="Barlow"/>
              <a:ea typeface="Barlow"/>
              <a:cs typeface="Barlow"/>
              <a:sym typeface="Barlow"/>
            </a:endParaRPr>
          </a:p>
        </p:txBody>
      </p:sp>
      <p:sp>
        <p:nvSpPr>
          <p:cNvPr id="1463" name="Google Shape;1463;p54"/>
          <p:cNvSpPr/>
          <p:nvPr/>
        </p:nvSpPr>
        <p:spPr>
          <a:xfrm>
            <a:off x="6035040" y="1481328"/>
            <a:ext cx="2606040" cy="184708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4" name="Google Shape;1464;p54"/>
          <p:cNvSpPr/>
          <p:nvPr/>
        </p:nvSpPr>
        <p:spPr>
          <a:xfrm>
            <a:off x="6163056" y="1609344"/>
            <a:ext cx="365760" cy="365760"/>
          </a:xfrm>
          <a:prstGeom prst="roundRect">
            <a:avLst>
              <a:gd fmla="val 12500"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65" name="Google Shape;1465;p54"/>
          <p:cNvPicPr preferRelativeResize="0"/>
          <p:nvPr/>
        </p:nvPicPr>
        <p:blipFill rotWithShape="1">
          <a:blip r:embed="rId5">
            <a:alphaModFix/>
          </a:blip>
          <a:srcRect b="0" l="0" r="0" t="0"/>
          <a:stretch/>
        </p:blipFill>
        <p:spPr>
          <a:xfrm>
            <a:off x="6243523" y="1689811"/>
            <a:ext cx="204825" cy="204825"/>
          </a:xfrm>
          <a:prstGeom prst="rect">
            <a:avLst/>
          </a:prstGeom>
          <a:noFill/>
          <a:ln>
            <a:noFill/>
          </a:ln>
        </p:spPr>
      </p:pic>
      <p:sp>
        <p:nvSpPr>
          <p:cNvPr id="1466" name="Google Shape;1466;p54"/>
          <p:cNvSpPr txBox="1"/>
          <p:nvPr/>
        </p:nvSpPr>
        <p:spPr>
          <a:xfrm>
            <a:off x="6620256" y="1609344"/>
            <a:ext cx="191109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비동기 BLE 호출</a:t>
            </a:r>
            <a:endParaRPr/>
          </a:p>
        </p:txBody>
      </p:sp>
      <p:sp>
        <p:nvSpPr>
          <p:cNvPr id="1467" name="Google Shape;1467;p54"/>
          <p:cNvSpPr txBox="1"/>
          <p:nvPr/>
        </p:nvSpPr>
        <p:spPr>
          <a:xfrm>
            <a:off x="6163056" y="2121408"/>
            <a:ext cx="235000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US" sz="950">
                <a:solidFill>
                  <a:srgbClr val="1F2A37"/>
                </a:solidFill>
                <a:latin typeface="Barlow"/>
                <a:ea typeface="Barlow"/>
                <a:cs typeface="Barlow"/>
                <a:sym typeface="Barlow"/>
              </a:rPr>
              <a:t>CoreBluetooth delegate 콜백을 CheckedThrowingContinuation으로 변환합니다. 특성당 대기 continuation은 하나로 제한해 이중 재개를 막습니다. 연결 해제 시 모두 한꺼번에 오류로 던집니다.</a:t>
            </a:r>
            <a:endParaRPr/>
          </a:p>
        </p:txBody>
      </p:sp>
      <p:sp>
        <p:nvSpPr>
          <p:cNvPr id="1468" name="Google Shape;1468;p54"/>
          <p:cNvSpPr/>
          <p:nvPr/>
        </p:nvSpPr>
        <p:spPr>
          <a:xfrm>
            <a:off x="8823960" y="1481328"/>
            <a:ext cx="2606040" cy="1847088"/>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69" name="Google Shape;1469;p54"/>
          <p:cNvSpPr/>
          <p:nvPr/>
        </p:nvSpPr>
        <p:spPr>
          <a:xfrm>
            <a:off x="8951976" y="1609344"/>
            <a:ext cx="365760" cy="365760"/>
          </a:xfrm>
          <a:prstGeom prst="roundRect">
            <a:avLst>
              <a:gd fmla="val 12500"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70" name="Google Shape;1470;p54"/>
          <p:cNvPicPr preferRelativeResize="0"/>
          <p:nvPr/>
        </p:nvPicPr>
        <p:blipFill rotWithShape="1">
          <a:blip r:embed="rId6">
            <a:alphaModFix/>
          </a:blip>
          <a:srcRect b="0" l="0" r="0" t="0"/>
          <a:stretch/>
        </p:blipFill>
        <p:spPr>
          <a:xfrm>
            <a:off x="9032443" y="1689811"/>
            <a:ext cx="204825" cy="204825"/>
          </a:xfrm>
          <a:prstGeom prst="rect">
            <a:avLst/>
          </a:prstGeom>
          <a:noFill/>
          <a:ln>
            <a:noFill/>
          </a:ln>
        </p:spPr>
      </p:pic>
      <p:sp>
        <p:nvSpPr>
          <p:cNvPr id="1471" name="Google Shape;1471;p54"/>
          <p:cNvSpPr txBox="1"/>
          <p:nvPr/>
        </p:nvSpPr>
        <p:spPr>
          <a:xfrm>
            <a:off x="9409176" y="1609344"/>
            <a:ext cx="1911095"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스레드 안전성</a:t>
            </a:r>
            <a:endParaRPr/>
          </a:p>
        </p:txBody>
      </p:sp>
      <p:sp>
        <p:nvSpPr>
          <p:cNvPr id="1472" name="Google Shape;1472;p54"/>
          <p:cNvSpPr txBox="1"/>
          <p:nvPr/>
        </p:nvSpPr>
        <p:spPr>
          <a:xfrm>
            <a:off x="8951976" y="2121408"/>
            <a:ext cx="2350008" cy="1133856"/>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None/>
            </a:pPr>
            <a:r>
              <a:rPr lang="en-US" sz="950">
                <a:solidFill>
                  <a:srgbClr val="666666"/>
                </a:solidFill>
                <a:latin typeface="Barlow"/>
                <a:ea typeface="Barlow"/>
                <a:cs typeface="Barlow"/>
                <a:sym typeface="Barlow"/>
              </a:rPr>
              <a:t>CBCentralManager는 전용 직렬 DispatchQueue에서 실행됩니다. GATT 쓰기는 actor 내부 큐로 직렬화합니다. 상태 스트림은 명령 경로와 분리해 Combine CurrentValueSubject를 사용합니다.</a:t>
            </a:r>
            <a:endParaRPr sz="950">
              <a:solidFill>
                <a:srgbClr val="666666"/>
              </a:solidFill>
              <a:latin typeface="Barlow"/>
              <a:ea typeface="Barlow"/>
              <a:cs typeface="Barlow"/>
              <a:sym typeface="Barlow"/>
            </a:endParaRPr>
          </a:p>
        </p:txBody>
      </p:sp>
      <p:sp>
        <p:nvSpPr>
          <p:cNvPr id="1473" name="Google Shape;1473;p54"/>
          <p:cNvSpPr txBox="1"/>
          <p:nvPr/>
        </p:nvSpPr>
        <p:spPr>
          <a:xfrm>
            <a:off x="457200" y="3547872"/>
            <a:ext cx="6400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민감 데이터 · 저장 위치와 보호 방법</a:t>
            </a:r>
            <a:endParaRPr/>
          </a:p>
        </p:txBody>
      </p:sp>
      <p:graphicFrame>
        <p:nvGraphicFramePr>
          <p:cNvPr id="1474" name="Google Shape;1474;p54"/>
          <p:cNvGraphicFramePr/>
          <p:nvPr/>
        </p:nvGraphicFramePr>
        <p:xfrm>
          <a:off x="457200" y="3803904"/>
          <a:ext cx="3000000" cy="3000000"/>
        </p:xfrm>
        <a:graphic>
          <a:graphicData uri="http://schemas.openxmlformats.org/drawingml/2006/table">
            <a:tbl>
              <a:tblPr>
                <a:noFill/>
                <a:tableStyleId>{56590D6C-02A8-461A-8D93-8EB1FDAFD057}</a:tableStyleId>
              </a:tblPr>
              <a:tblGrid>
                <a:gridCol w="1874525"/>
                <a:gridCol w="1051550"/>
                <a:gridCol w="3566150"/>
              </a:tblGrid>
              <a:tr h="292600">
                <a:tc>
                  <a:txBody>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데이터</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저장소</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c>
                  <a:txBody>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접근성 / 접근 제어</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0B2F5B"/>
                    </a:solidFill>
                  </a:tcPr>
                </a:tc>
              </a:tr>
              <a:tr h="420625">
                <a:tc>
                  <a:txBody>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설치 기사 인증 토큰</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Keychain</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b="0" lang="en-US" sz="825" u="none" cap="none" strike="noStrike">
                          <a:solidFill>
                            <a:srgbClr val="1565C0"/>
                          </a:solidFill>
                          <a:latin typeface="Consolas"/>
                          <a:ea typeface="Consolas"/>
                          <a:cs typeface="Consolas"/>
                          <a:sym typeface="Consolas"/>
                        </a:rPr>
                        <a:t>kSecAttrAccessibleWhenUnlockedThisDeviceOnly</a:t>
                      </a:r>
                      <a:r>
                        <a:rPr b="0" lang="en-US" sz="925" u="none" cap="none" strike="noStrike">
                          <a:solidFill>
                            <a:srgbClr val="1F2A37"/>
                          </a:solidFill>
                          <a:latin typeface="Barlow"/>
                          <a:ea typeface="Barlow"/>
                          <a:cs typeface="Barlow"/>
                          <a:sym typeface="Barlow"/>
                        </a:rPr>
                        <a:t> + </a:t>
                      </a:r>
                      <a:r>
                        <a:rPr b="0" lang="en-US" sz="825" u="none" cap="none" strike="noStrike">
                          <a:solidFill>
                            <a:srgbClr val="1565C0"/>
                          </a:solidFill>
                          <a:latin typeface="Consolas"/>
                          <a:ea typeface="Consolas"/>
                          <a:cs typeface="Consolas"/>
                          <a:sym typeface="Consolas"/>
                        </a:rPr>
                        <a:t>.biometryCurrentSet</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리프레시 토큰</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Keychain</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825" u="none" cap="none" strike="noStrike">
                          <a:solidFill>
                            <a:srgbClr val="1565C0"/>
                          </a:solidFill>
                          <a:latin typeface="Consolas"/>
                          <a:ea typeface="Consolas"/>
                          <a:cs typeface="Consolas"/>
                          <a:sym typeface="Consolas"/>
                        </a:rPr>
                        <a:t>kSecAttrAccessibleAfterFirstUnlockThisDeviceOnly</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r h="347475">
                <a:tc>
                  <a:txBody>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임시 설치 기사 비밀번호</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메모리 전용</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저장하지 않고 사용 직후 폐기</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FFFFF"/>
                    </a:solidFill>
                  </a:tcPr>
                </a:tc>
              </a:tr>
              <a:tr h="347475">
                <a:tc>
                  <a:txBody>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작업 지시 데이터</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로컬 데이터베이스</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c>
                  <a:txBody>
                    <a:bodyPr/>
                    <a:lstStyle/>
                    <a:p>
                      <a:pPr indent="0" lvl="0" marL="0" marR="0" rtl="0" algn="l">
                        <a:lnSpc>
                          <a:spcPct val="100000"/>
                        </a:lnSpc>
                        <a:spcBef>
                          <a:spcPts val="0"/>
                        </a:spcBef>
                        <a:spcAft>
                          <a:spcPts val="0"/>
                        </a:spcAft>
                        <a:buNone/>
                      </a:pPr>
                      <a:r>
                        <a:rPr b="0" lang="en-US" sz="925" u="none" cap="none" strike="noStrike">
                          <a:solidFill>
                            <a:srgbClr val="1F2A37"/>
                          </a:solidFill>
                          <a:latin typeface="Barlow"/>
                          <a:ea typeface="Barlow"/>
                          <a:cs typeface="Barlow"/>
                          <a:sym typeface="Barlow"/>
                        </a:rPr>
                        <a:t>Data Protection </a:t>
                      </a:r>
                      <a:r>
                        <a:rPr b="0" lang="en-US" sz="825" u="none" cap="none" strike="noStrike">
                          <a:solidFill>
                            <a:srgbClr val="1565C0"/>
                          </a:solidFill>
                          <a:latin typeface="Consolas"/>
                          <a:ea typeface="Consolas"/>
                          <a:cs typeface="Consolas"/>
                          <a:sym typeface="Consolas"/>
                        </a:rPr>
                        <a:t>.complete</a:t>
                      </a:r>
                      <a:endParaRPr/>
                    </a:p>
                  </a:txBody>
                  <a:tcPr marT="32000" marB="32000" marR="64000" marL="64000" anchor="ctr">
                    <a:lnL cap="flat" cmpd="sng" w="9525">
                      <a:solidFill>
                        <a:srgbClr val="D9DEE5"/>
                      </a:solidFill>
                      <a:prstDash val="solid"/>
                      <a:round/>
                      <a:headEnd len="sm" w="sm" type="none"/>
                      <a:tailEnd len="sm" w="sm" type="none"/>
                    </a:lnL>
                    <a:lnR cap="flat" cmpd="sng" w="9525">
                      <a:solidFill>
                        <a:srgbClr val="D9DEE5"/>
                      </a:solidFill>
                      <a:prstDash val="solid"/>
                      <a:round/>
                      <a:headEnd len="sm" w="sm" type="none"/>
                      <a:tailEnd len="sm" w="sm" type="none"/>
                    </a:lnR>
                    <a:lnT cap="flat" cmpd="sng" w="9525">
                      <a:solidFill>
                        <a:srgbClr val="D9DEE5"/>
                      </a:solidFill>
                      <a:prstDash val="solid"/>
                      <a:round/>
                      <a:headEnd len="sm" w="sm" type="none"/>
                      <a:tailEnd len="sm" w="sm" type="none"/>
                    </a:lnT>
                    <a:lnB cap="flat" cmpd="sng" w="9525">
                      <a:solidFill>
                        <a:srgbClr val="D9DEE5"/>
                      </a:solidFill>
                      <a:prstDash val="solid"/>
                      <a:round/>
                      <a:headEnd len="sm" w="sm" type="none"/>
                      <a:tailEnd len="sm" w="sm" type="none"/>
                    </a:lnB>
                    <a:solidFill>
                      <a:srgbClr val="F5F8FC"/>
                    </a:solidFill>
                  </a:tcPr>
                </a:tc>
              </a:tr>
            </a:tbl>
          </a:graphicData>
        </a:graphic>
      </p:graphicFrame>
      <p:sp>
        <p:nvSpPr>
          <p:cNvPr id="1475" name="Google Shape;1475;p54"/>
          <p:cNvSpPr txBox="1"/>
          <p:nvPr/>
        </p:nvSpPr>
        <p:spPr>
          <a:xfrm>
            <a:off x="457200" y="5669280"/>
            <a:ext cx="649224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875">
                <a:solidFill>
                  <a:srgbClr val="666666"/>
                </a:solidFill>
                <a:latin typeface="Barlow"/>
                <a:ea typeface="Barlow"/>
                <a:cs typeface="Barlow"/>
                <a:sym typeface="Barlow"/>
              </a:rPr>
              <a:t>ThisDeviceOnly는 iCloud 키체인 동기화와 백업 복원을 차단합니다. 생체 인증을 다시 등록하면 토큰이 무효화됩니다. Serial No, NMI No, 비밀번호는 로그와 크래시 리포트에서 마스킹됩니다.</a:t>
            </a:r>
            <a:endParaRPr>
              <a:solidFill>
                <a:srgbClr val="666666"/>
              </a:solidFill>
              <a:latin typeface="Barlow"/>
              <a:ea typeface="Barlow"/>
              <a:cs typeface="Barlow"/>
              <a:sym typeface="Barlow"/>
            </a:endParaRPr>
          </a:p>
        </p:txBody>
      </p:sp>
      <p:sp>
        <p:nvSpPr>
          <p:cNvPr id="1476" name="Google Shape;1476;p54"/>
          <p:cNvSpPr txBox="1"/>
          <p:nvPr/>
        </p:nvSpPr>
        <p:spPr>
          <a:xfrm>
            <a:off x="7223760" y="3547872"/>
            <a:ext cx="42062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Mock을 가능하게 하는 경계</a:t>
            </a:r>
            <a:endParaRPr/>
          </a:p>
        </p:txBody>
      </p:sp>
      <p:sp>
        <p:nvSpPr>
          <p:cNvPr id="1477" name="Google Shape;1477;p54"/>
          <p:cNvSpPr/>
          <p:nvPr/>
        </p:nvSpPr>
        <p:spPr>
          <a:xfrm>
            <a:off x="7223760" y="3803904"/>
            <a:ext cx="4206240" cy="1755648"/>
          </a:xfrm>
          <a:prstGeom prst="roundRect">
            <a:avLst>
              <a:gd fmla="val 2604" name="adj"/>
            </a:avLst>
          </a:prstGeom>
          <a:solidFill>
            <a:srgbClr val="0B2F5B"/>
          </a:solidFill>
          <a:ln>
            <a:noFill/>
          </a:ln>
        </p:spPr>
        <p:txBody>
          <a:bodyPr anchorCtr="0" anchor="ctr" bIns="54850" lIns="128000" spcFirstLastPara="1" rIns="54850" wrap="square" tIns="54850">
            <a:noAutofit/>
          </a:bodyPr>
          <a:lstStyle/>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protocol BLETransport {</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  var connectionState: AnyPublisher&lt;ConnectionState, Never&gt; { get }</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  func connect(serialNo: String) async throws</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  func read(_ register: Register) async throws -&gt; Data</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  func write(_ register: Register, value: Data) async throws</a:t>
            </a:r>
            <a:endParaRPr/>
          </a:p>
          <a:p>
            <a:pPr indent="0" lvl="0" marL="0" marR="0" rtl="0" algn="l">
              <a:lnSpc>
                <a:spcPct val="130000"/>
              </a:lnSpc>
              <a:spcBef>
                <a:spcPts val="0"/>
              </a:spcBef>
              <a:spcAft>
                <a:spcPts val="0"/>
              </a:spcAft>
              <a:buNone/>
            </a:pPr>
            <a:r>
              <a:rPr b="0" lang="en-US" sz="750">
                <a:solidFill>
                  <a:srgbClr val="DCE8F7"/>
                </a:solidFill>
                <a:latin typeface="Consolas"/>
                <a:ea typeface="Consolas"/>
                <a:cs typeface="Consolas"/>
                <a:sym typeface="Consolas"/>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55"/>
          <p:cNvSpPr txBox="1"/>
          <p:nvPr>
            <p:ph type="ctrTitle"/>
          </p:nvPr>
        </p:nvSpPr>
        <p:spPr>
          <a:xfrm>
            <a:off x="629107" y="3364992"/>
            <a:ext cx="10881360" cy="1298448"/>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Clr>
                <a:schemeClr val="lt1"/>
              </a:buClr>
              <a:buSzPts val="4000"/>
              <a:buFont typeface="Montserrat"/>
              <a:buNone/>
            </a:pPr>
            <a:r>
              <a:rPr lang="en-US">
                <a:solidFill>
                  <a:schemeClr val="lt1"/>
                </a:solidFill>
              </a:rPr>
              <a:t>큐셀 CORE Pro 설치 기사용 앱</a:t>
            </a:r>
            <a:endParaRPr/>
          </a:p>
          <a:p>
            <a:pPr indent="0" lvl="0" marL="0" rtl="0" algn="l">
              <a:lnSpc>
                <a:spcPct val="103000"/>
              </a:lnSpc>
              <a:spcBef>
                <a:spcPts val="0"/>
              </a:spcBef>
              <a:spcAft>
                <a:spcPts val="0"/>
              </a:spcAft>
              <a:buClr>
                <a:srgbClr val="8FBDF8"/>
              </a:buClr>
              <a:buSzPts val="4000"/>
              <a:buFont typeface="Montserrat"/>
              <a:buNone/>
            </a:pPr>
            <a:r>
              <a:rPr lang="en-US">
                <a:solidFill>
                  <a:srgbClr val="8FBDF8"/>
                </a:solidFill>
              </a:rPr>
              <a:t>Android </a:t>
            </a:r>
            <a:r>
              <a:rPr lang="en-US">
                <a:solidFill>
                  <a:srgbClr val="8FBDF8"/>
                </a:solidFill>
              </a:rPr>
              <a:t>설계안</a:t>
            </a:r>
            <a:endParaRPr>
              <a:solidFill>
                <a:srgbClr val="8FBDF8"/>
              </a:solidFill>
            </a:endParaRPr>
          </a:p>
        </p:txBody>
      </p:sp>
      <p:sp>
        <p:nvSpPr>
          <p:cNvPr id="1484" name="Google Shape;1484;p55"/>
          <p:cNvSpPr txBox="1"/>
          <p:nvPr>
            <p:ph idx="2" type="subTitle"/>
          </p:nvPr>
        </p:nvSpPr>
        <p:spPr>
          <a:xfrm>
            <a:off x="629107" y="4743907"/>
            <a:ext cx="9601200" cy="246888"/>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DCE8F7"/>
              </a:buClr>
              <a:buSzPts val="1300"/>
              <a:buNone/>
            </a:pPr>
            <a:r>
              <a:rPr lang="en-US"/>
              <a:t>iOS</a:t>
            </a:r>
            <a:r>
              <a:rPr lang="en-US"/>
              <a:t>와 다른 사항</a:t>
            </a:r>
            <a:r>
              <a:rPr lang="en-US"/>
              <a:t>: 무선, 라이프사이클, 저장소, 테스트</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9" name="Shape 1489"/>
        <p:cNvGrpSpPr/>
        <p:nvPr/>
      </p:nvGrpSpPr>
      <p:grpSpPr>
        <a:xfrm>
          <a:off x="0" y="0"/>
          <a:ext cx="0" cy="0"/>
          <a:chOff x="0" y="0"/>
          <a:chExt cx="0" cy="0"/>
        </a:xfrm>
      </p:grpSpPr>
      <p:sp>
        <p:nvSpPr>
          <p:cNvPr id="1490" name="Google Shape;1490;p56"/>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마이그레이션 맵 · iOS 설계에서 Android로</a:t>
            </a:r>
            <a:endParaRPr/>
          </a:p>
        </p:txBody>
      </p:sp>
      <p:sp>
        <p:nvSpPr>
          <p:cNvPr id="1491" name="Google Shape;1491;p56"/>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iOS </a:t>
            </a:r>
            <a:r>
              <a:rPr lang="en-US"/>
              <a:t>설계 재활용</a:t>
            </a:r>
            <a:r>
              <a:rPr lang="en-US"/>
              <a:t>, 무선·라이프사이클·저장소</a:t>
            </a:r>
            <a:r>
              <a:rPr lang="en-US"/>
              <a:t>를 </a:t>
            </a:r>
            <a:r>
              <a:rPr lang="en-US"/>
              <a:t>Android 맞춤형으로 재설계</a:t>
            </a:r>
            <a:endParaRPr/>
          </a:p>
        </p:txBody>
      </p:sp>
      <p:sp>
        <p:nvSpPr>
          <p:cNvPr id="1492" name="Google Shape;1492;p56"/>
          <p:cNvSpPr txBox="1"/>
          <p:nvPr/>
        </p:nvSpPr>
        <p:spPr>
          <a:xfrm>
            <a:off x="457200" y="1216152"/>
            <a:ext cx="71323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계층별 · 이식되는 것, 재구축하는 것, Android 고유 사항</a:t>
            </a:r>
            <a:endParaRPr/>
          </a:p>
        </p:txBody>
      </p:sp>
      <p:sp>
        <p:nvSpPr>
          <p:cNvPr id="1493" name="Google Shape;1493;p56"/>
          <p:cNvSpPr/>
          <p:nvPr/>
        </p:nvSpPr>
        <p:spPr>
          <a:xfrm>
            <a:off x="457200" y="1481328"/>
            <a:ext cx="292608" cy="292608"/>
          </a:xfrm>
          <a:prstGeom prst="roundRect">
            <a:avLst>
              <a:gd fmla="val 15625" name="adj"/>
            </a:avLst>
          </a:prstGeom>
          <a:solidFill>
            <a:srgbClr val="5F6B7A"/>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94" name="Google Shape;1494;p56"/>
          <p:cNvPicPr preferRelativeResize="0"/>
          <p:nvPr/>
        </p:nvPicPr>
        <p:blipFill rotWithShape="1">
          <a:blip r:embed="rId3">
            <a:alphaModFix/>
          </a:blip>
          <a:srcRect b="0" l="0" r="0" t="0"/>
          <a:stretch/>
        </p:blipFill>
        <p:spPr>
          <a:xfrm>
            <a:off x="521573" y="1545701"/>
            <a:ext cx="163860" cy="163860"/>
          </a:xfrm>
          <a:prstGeom prst="rect">
            <a:avLst/>
          </a:prstGeom>
          <a:noFill/>
          <a:ln>
            <a:noFill/>
          </a:ln>
        </p:spPr>
      </p:pic>
      <p:sp>
        <p:nvSpPr>
          <p:cNvPr id="1495" name="Google Shape;1495;p56"/>
          <p:cNvSpPr txBox="1"/>
          <p:nvPr/>
        </p:nvSpPr>
        <p:spPr>
          <a:xfrm>
            <a:off x="841247" y="1481328"/>
            <a:ext cx="2587752"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iOS design (T5)</a:t>
            </a:r>
            <a:endParaRPr/>
          </a:p>
        </p:txBody>
      </p:sp>
      <p:sp>
        <p:nvSpPr>
          <p:cNvPr id="1496" name="Google Shape;1496;p56"/>
          <p:cNvSpPr/>
          <p:nvPr/>
        </p:nvSpPr>
        <p:spPr>
          <a:xfrm>
            <a:off x="4069080" y="1481328"/>
            <a:ext cx="292608" cy="292608"/>
          </a:xfrm>
          <a:prstGeom prst="roundRect">
            <a:avLst>
              <a:gd fmla="val 15625" name="adj"/>
            </a:avLst>
          </a:prstGeom>
          <a:solidFill>
            <a:srgbClr val="1E7B4F"/>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497" name="Google Shape;1497;p56"/>
          <p:cNvPicPr preferRelativeResize="0"/>
          <p:nvPr/>
        </p:nvPicPr>
        <p:blipFill rotWithShape="1">
          <a:blip r:embed="rId4">
            <a:alphaModFix/>
          </a:blip>
          <a:srcRect b="0" l="0" r="0" t="0"/>
          <a:stretch/>
        </p:blipFill>
        <p:spPr>
          <a:xfrm>
            <a:off x="4133453" y="1545701"/>
            <a:ext cx="163860" cy="163860"/>
          </a:xfrm>
          <a:prstGeom prst="rect">
            <a:avLst/>
          </a:prstGeom>
          <a:noFill/>
          <a:ln>
            <a:noFill/>
          </a:ln>
        </p:spPr>
      </p:pic>
      <p:sp>
        <p:nvSpPr>
          <p:cNvPr id="1498" name="Google Shape;1498;p56"/>
          <p:cNvSpPr txBox="1"/>
          <p:nvPr/>
        </p:nvSpPr>
        <p:spPr>
          <a:xfrm>
            <a:off x="4453128" y="1481328"/>
            <a:ext cx="3136392"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Android</a:t>
            </a:r>
            <a:endParaRPr/>
          </a:p>
        </p:txBody>
      </p:sp>
      <p:sp>
        <p:nvSpPr>
          <p:cNvPr id="1499" name="Google Shape;1499;p56"/>
          <p:cNvSpPr/>
          <p:nvPr/>
        </p:nvSpPr>
        <p:spPr>
          <a:xfrm>
            <a:off x="457200" y="1883664"/>
            <a:ext cx="2971800" cy="914400"/>
          </a:xfrm>
          <a:prstGeom prst="roundRect">
            <a:avLst>
              <a:gd fmla="val 5000" name="adj"/>
            </a:avLst>
          </a:prstGeom>
          <a:solidFill>
            <a:srgbClr val="F5F8FC"/>
          </a:solidFill>
          <a:ln cap="flat" cmpd="sng" w="9525">
            <a:solidFill>
              <a:srgbClr val="C7D7EA"/>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UI 계층</a:t>
            </a:r>
            <a:endParaRPr/>
          </a:p>
          <a:p>
            <a:pPr indent="0" lvl="0" marL="0" marR="0" rtl="0" algn="l">
              <a:lnSpc>
                <a:spcPct val="100000"/>
              </a:lnSpc>
              <a:spcBef>
                <a:spcPts val="300"/>
              </a:spcBef>
              <a:spcAft>
                <a:spcPts val="0"/>
              </a:spcAft>
              <a:buNone/>
            </a:pPr>
            <a:r>
              <a:rPr b="0" lang="en-US" sz="825">
                <a:solidFill>
                  <a:srgbClr val="5F6B7A"/>
                </a:solidFill>
                <a:latin typeface="Consolas"/>
                <a:ea typeface="Consolas"/>
                <a:cs typeface="Consolas"/>
                <a:sym typeface="Consolas"/>
              </a:rPr>
              <a:t>SwiftUI View · @MainActor ViewModel</a:t>
            </a:r>
            <a:endParaRPr/>
          </a:p>
        </p:txBody>
      </p:sp>
      <p:sp>
        <p:nvSpPr>
          <p:cNvPr id="1500" name="Google Shape;1500;p56"/>
          <p:cNvSpPr/>
          <p:nvPr/>
        </p:nvSpPr>
        <p:spPr>
          <a:xfrm>
            <a:off x="4069080" y="1883664"/>
            <a:ext cx="3520440" cy="914400"/>
          </a:xfrm>
          <a:prstGeom prst="roundRect">
            <a:avLst>
              <a:gd fmla="val 5000" name="adj"/>
            </a:avLst>
          </a:prstGeom>
          <a:solidFill>
            <a:srgbClr val="FFFFFF"/>
          </a:solidFill>
          <a:ln cap="flat" cmpd="sng" w="15875">
            <a:solidFill>
              <a:srgbClr val="1565C0"/>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UI 계층</a:t>
            </a:r>
            <a:endParaRPr/>
          </a:p>
          <a:p>
            <a:pPr indent="0" lvl="0" marL="0" marR="0" rtl="0" algn="l">
              <a:lnSpc>
                <a:spcPct val="100000"/>
              </a:lnSpc>
              <a:spcBef>
                <a:spcPts val="300"/>
              </a:spcBef>
              <a:spcAft>
                <a:spcPts val="0"/>
              </a:spcAft>
              <a:buNone/>
            </a:pPr>
            <a:r>
              <a:rPr b="0" lang="en-US" sz="775">
                <a:solidFill>
                  <a:srgbClr val="1565C0"/>
                </a:solidFill>
                <a:latin typeface="Consolas"/>
                <a:ea typeface="Consolas"/>
                <a:cs typeface="Consolas"/>
                <a:sym typeface="Consolas"/>
              </a:rPr>
              <a:t>Jetpack Compose · ViewModel · StateFlow</a:t>
            </a:r>
            <a:endParaRPr/>
          </a:p>
          <a:p>
            <a:pPr indent="0" lvl="0" marL="0" marR="0" rtl="0" algn="l">
              <a:lnSpc>
                <a:spcPct val="100000"/>
              </a:lnSpc>
              <a:spcBef>
                <a:spcPts val="200"/>
              </a:spcBef>
              <a:spcAft>
                <a:spcPts val="0"/>
              </a:spcAft>
              <a:buNone/>
            </a:pPr>
            <a:r>
              <a:rPr lang="en-US" sz="925">
                <a:solidFill>
                  <a:srgbClr val="1F2A37"/>
                </a:solidFill>
                <a:latin typeface="Barlow"/>
                <a:ea typeface="Barlow"/>
                <a:cs typeface="Barlow"/>
                <a:sym typeface="Barlow"/>
              </a:rPr>
              <a:t>화면, UI 잠금 표시, 사용자 동작</a:t>
            </a:r>
            <a:endParaRPr/>
          </a:p>
        </p:txBody>
      </p:sp>
      <p:cxnSp>
        <p:nvCxnSpPr>
          <p:cNvPr id="1501" name="Google Shape;1501;p56"/>
          <p:cNvCxnSpPr>
            <a:stCxn id="1499" idx="3"/>
            <a:endCxn id="1500" idx="1"/>
          </p:cNvCxnSpPr>
          <p:nvPr/>
        </p:nvCxnSpPr>
        <p:spPr>
          <a:xfrm>
            <a:off x="3429000" y="2340864"/>
            <a:ext cx="640200" cy="0"/>
          </a:xfrm>
          <a:prstGeom prst="straightConnector1">
            <a:avLst/>
          </a:prstGeom>
          <a:noFill/>
          <a:ln cap="flat" cmpd="sng" w="22225">
            <a:solidFill>
              <a:srgbClr val="1565C0"/>
            </a:solidFill>
            <a:prstDash val="solid"/>
            <a:round/>
            <a:headEnd len="sm" w="sm" type="none"/>
            <a:tailEnd len="med" w="med" type="triangle"/>
          </a:ln>
        </p:spPr>
      </p:cxnSp>
      <p:sp>
        <p:nvSpPr>
          <p:cNvPr id="1502" name="Google Shape;1502;p56"/>
          <p:cNvSpPr/>
          <p:nvPr/>
        </p:nvSpPr>
        <p:spPr>
          <a:xfrm>
            <a:off x="6176674" y="1984248"/>
            <a:ext cx="1321406" cy="150018"/>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1565C0"/>
                </a:solidFill>
                <a:latin typeface="Montserrat"/>
                <a:ea typeface="Montserrat"/>
                <a:cs typeface="Montserrat"/>
                <a:sym typeface="Montserrat"/>
              </a:rPr>
              <a:t>네이티브 대응</a:t>
            </a:r>
            <a:endParaRPr/>
          </a:p>
        </p:txBody>
      </p:sp>
      <p:sp>
        <p:nvSpPr>
          <p:cNvPr id="1503" name="Google Shape;1503;p56"/>
          <p:cNvSpPr/>
          <p:nvPr/>
        </p:nvSpPr>
        <p:spPr>
          <a:xfrm>
            <a:off x="457200" y="2907792"/>
            <a:ext cx="2971800" cy="914400"/>
          </a:xfrm>
          <a:prstGeom prst="roundRect">
            <a:avLst>
              <a:gd fmla="val 5000" name="adj"/>
            </a:avLst>
          </a:prstGeom>
          <a:solidFill>
            <a:srgbClr val="F5F8FC"/>
          </a:solidFill>
          <a:ln cap="flat" cmpd="sng" w="9525">
            <a:solidFill>
              <a:srgbClr val="C7D7EA"/>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도메인 계층</a:t>
            </a:r>
            <a:endParaRPr/>
          </a:p>
          <a:p>
            <a:pPr indent="0" lvl="0" marL="0" marR="0" rtl="0" algn="l">
              <a:lnSpc>
                <a:spcPct val="100000"/>
              </a:lnSpc>
              <a:spcBef>
                <a:spcPts val="300"/>
              </a:spcBef>
              <a:spcAft>
                <a:spcPts val="0"/>
              </a:spcAft>
              <a:buNone/>
            </a:pPr>
            <a:r>
              <a:rPr b="0" lang="en-US" sz="825">
                <a:solidFill>
                  <a:srgbClr val="5F6B7A"/>
                </a:solidFill>
                <a:latin typeface="Consolas"/>
                <a:ea typeface="Consolas"/>
                <a:cs typeface="Consolas"/>
                <a:sym typeface="Consolas"/>
              </a:rPr>
              <a:t>UseCase · Entity · ESSStateMachine</a:t>
            </a:r>
            <a:endParaRPr/>
          </a:p>
        </p:txBody>
      </p:sp>
      <p:sp>
        <p:nvSpPr>
          <p:cNvPr id="1504" name="Google Shape;1504;p56"/>
          <p:cNvSpPr/>
          <p:nvPr/>
        </p:nvSpPr>
        <p:spPr>
          <a:xfrm>
            <a:off x="4069080" y="2907792"/>
            <a:ext cx="3520440" cy="914400"/>
          </a:xfrm>
          <a:prstGeom prst="roundRect">
            <a:avLst>
              <a:gd fmla="val 5000" name="adj"/>
            </a:avLst>
          </a:prstGeom>
          <a:solidFill>
            <a:srgbClr val="E6F4EA"/>
          </a:solidFill>
          <a:ln cap="flat" cmpd="sng" w="15875">
            <a:solidFill>
              <a:srgbClr val="8CC9A6"/>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도메인 계층</a:t>
            </a:r>
            <a:endParaRPr/>
          </a:p>
          <a:p>
            <a:pPr indent="0" lvl="0" marL="0" marR="0" rtl="0" algn="l">
              <a:lnSpc>
                <a:spcPct val="100000"/>
              </a:lnSpc>
              <a:spcBef>
                <a:spcPts val="300"/>
              </a:spcBef>
              <a:spcAft>
                <a:spcPts val="0"/>
              </a:spcAft>
              <a:buNone/>
            </a:pPr>
            <a:r>
              <a:rPr b="0" lang="en-US" sz="775">
                <a:solidFill>
                  <a:srgbClr val="1565C0"/>
                </a:solidFill>
                <a:latin typeface="Consolas"/>
                <a:ea typeface="Consolas"/>
                <a:cs typeface="Consolas"/>
                <a:sym typeface="Consolas"/>
              </a:rPr>
              <a:t>UseCase · Entity · ESSStateMachine</a:t>
            </a:r>
            <a:endParaRPr/>
          </a:p>
          <a:p>
            <a:pPr indent="0" lvl="0" marL="0" marR="0" rtl="0" algn="l">
              <a:lnSpc>
                <a:spcPct val="100000"/>
              </a:lnSpc>
              <a:spcBef>
                <a:spcPts val="200"/>
              </a:spcBef>
              <a:spcAft>
                <a:spcPts val="0"/>
              </a:spcAft>
              <a:buNone/>
            </a:pPr>
            <a:r>
              <a:rPr lang="en-US" sz="925">
                <a:solidFill>
                  <a:srgbClr val="1F2A37"/>
                </a:solidFill>
                <a:latin typeface="Barlow"/>
                <a:ea typeface="Barlow"/>
                <a:cs typeface="Barlow"/>
                <a:sym typeface="Barlow"/>
              </a:rPr>
              <a:t>Kotlin으로 동일한 규칙, 동일한 UT-01~UT-07 시나리오</a:t>
            </a:r>
            <a:endParaRPr/>
          </a:p>
        </p:txBody>
      </p:sp>
      <p:cxnSp>
        <p:nvCxnSpPr>
          <p:cNvPr id="1505" name="Google Shape;1505;p56"/>
          <p:cNvCxnSpPr>
            <a:stCxn id="1503" idx="3"/>
            <a:endCxn id="1504" idx="1"/>
          </p:cNvCxnSpPr>
          <p:nvPr/>
        </p:nvCxnSpPr>
        <p:spPr>
          <a:xfrm>
            <a:off x="3429000" y="3364992"/>
            <a:ext cx="640200" cy="0"/>
          </a:xfrm>
          <a:prstGeom prst="straightConnector1">
            <a:avLst/>
          </a:prstGeom>
          <a:noFill/>
          <a:ln cap="flat" cmpd="sng" w="22225">
            <a:solidFill>
              <a:srgbClr val="1E7B4F"/>
            </a:solidFill>
            <a:prstDash val="solid"/>
            <a:round/>
            <a:headEnd len="sm" w="sm" type="none"/>
            <a:tailEnd len="med" w="med" type="triangle"/>
          </a:ln>
        </p:spPr>
      </p:cxnSp>
      <p:sp>
        <p:nvSpPr>
          <p:cNvPr id="1506" name="Google Shape;1506;p56"/>
          <p:cNvSpPr/>
          <p:nvPr/>
        </p:nvSpPr>
        <p:spPr>
          <a:xfrm>
            <a:off x="6311231" y="3008376"/>
            <a:ext cx="1186849" cy="150018"/>
          </a:xfrm>
          <a:prstGeom prst="roundRect">
            <a:avLst>
              <a:gd fmla="val 50000" name="adj"/>
            </a:avLst>
          </a:prstGeom>
          <a:solidFill>
            <a:srgbClr val="FFFFFF"/>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1E7B4F"/>
                </a:solidFill>
                <a:latin typeface="Montserrat"/>
                <a:ea typeface="Montserrat"/>
                <a:cs typeface="Montserrat"/>
                <a:sym typeface="Montserrat"/>
              </a:rPr>
              <a:t>그대로 이식</a:t>
            </a:r>
            <a:endParaRPr/>
          </a:p>
        </p:txBody>
      </p:sp>
      <p:sp>
        <p:nvSpPr>
          <p:cNvPr id="1507" name="Google Shape;1507;p56"/>
          <p:cNvSpPr/>
          <p:nvPr/>
        </p:nvSpPr>
        <p:spPr>
          <a:xfrm>
            <a:off x="457200" y="3931920"/>
            <a:ext cx="2971800" cy="914400"/>
          </a:xfrm>
          <a:prstGeom prst="roundRect">
            <a:avLst>
              <a:gd fmla="val 5000" name="adj"/>
            </a:avLst>
          </a:prstGeom>
          <a:solidFill>
            <a:srgbClr val="F5F8FC"/>
          </a:solidFill>
          <a:ln cap="flat" cmpd="sng" w="9525">
            <a:solidFill>
              <a:srgbClr val="C7D7EA"/>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데이터 계층</a:t>
            </a:r>
            <a:endParaRPr/>
          </a:p>
          <a:p>
            <a:pPr indent="0" lvl="0" marL="0" marR="0" rtl="0" algn="l">
              <a:lnSpc>
                <a:spcPct val="100000"/>
              </a:lnSpc>
              <a:spcBef>
                <a:spcPts val="300"/>
              </a:spcBef>
              <a:spcAft>
                <a:spcPts val="0"/>
              </a:spcAft>
              <a:buNone/>
            </a:pPr>
            <a:r>
              <a:rPr b="0" lang="en-US" sz="825">
                <a:solidFill>
                  <a:srgbClr val="5F6B7A"/>
                </a:solidFill>
                <a:latin typeface="Consolas"/>
                <a:ea typeface="Consolas"/>
                <a:cs typeface="Consolas"/>
                <a:sym typeface="Consolas"/>
              </a:rPr>
              <a:t>Repository · BLETransport · SoftAPTransport</a:t>
            </a:r>
            <a:endParaRPr/>
          </a:p>
          <a:p>
            <a:pPr indent="0" lvl="0" marL="0" marR="0" rtl="0" algn="l">
              <a:lnSpc>
                <a:spcPct val="100000"/>
              </a:lnSpc>
              <a:spcBef>
                <a:spcPts val="0"/>
              </a:spcBef>
              <a:spcAft>
                <a:spcPts val="0"/>
              </a:spcAft>
              <a:buNone/>
            </a:pPr>
            <a:r>
              <a:rPr b="0" lang="en-US" sz="825">
                <a:solidFill>
                  <a:srgbClr val="5F6B7A"/>
                </a:solidFill>
                <a:latin typeface="Consolas"/>
                <a:ea typeface="Consolas"/>
                <a:cs typeface="Consolas"/>
                <a:sym typeface="Consolas"/>
              </a:rPr>
              <a:t>REST · </a:t>
            </a:r>
            <a:r>
              <a:rPr lang="en-US" sz="825">
                <a:solidFill>
                  <a:srgbClr val="5F6B7A"/>
                </a:solidFill>
                <a:latin typeface="Consolas"/>
                <a:ea typeface="Consolas"/>
                <a:cs typeface="Consolas"/>
                <a:sym typeface="Consolas"/>
              </a:rPr>
              <a:t>로컬 저장소</a:t>
            </a:r>
            <a:endParaRPr/>
          </a:p>
        </p:txBody>
      </p:sp>
      <p:sp>
        <p:nvSpPr>
          <p:cNvPr id="1508" name="Google Shape;1508;p56"/>
          <p:cNvSpPr/>
          <p:nvPr/>
        </p:nvSpPr>
        <p:spPr>
          <a:xfrm>
            <a:off x="4069080" y="3931920"/>
            <a:ext cx="3520440" cy="914400"/>
          </a:xfrm>
          <a:prstGeom prst="roundRect">
            <a:avLst>
              <a:gd fmla="val 5000" name="adj"/>
            </a:avLst>
          </a:prstGeom>
          <a:solidFill>
            <a:srgbClr val="FFFFFF"/>
          </a:solidFill>
          <a:ln cap="flat" cmpd="sng" w="15875">
            <a:solidFill>
              <a:srgbClr val="1565C0"/>
            </a:solidFill>
            <a:prstDash val="solid"/>
            <a:round/>
            <a:headEnd len="sm" w="sm" type="none"/>
            <a:tailEnd len="sm" w="sm" type="none"/>
          </a:ln>
        </p:spPr>
        <p:txBody>
          <a:bodyPr anchorCtr="0" anchor="t" bIns="36575" lIns="109725" spcFirstLastPara="1" rIns="54850" wrap="square" tIns="109725">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데이터 계층</a:t>
            </a:r>
            <a:endParaRPr/>
          </a:p>
          <a:p>
            <a:pPr indent="0" lvl="0" marL="0" marR="0" rtl="0" algn="l">
              <a:lnSpc>
                <a:spcPct val="100000"/>
              </a:lnSpc>
              <a:spcBef>
                <a:spcPts val="300"/>
              </a:spcBef>
              <a:spcAft>
                <a:spcPts val="0"/>
              </a:spcAft>
              <a:buNone/>
            </a:pPr>
            <a:r>
              <a:rPr b="0" lang="en-US" sz="775">
                <a:solidFill>
                  <a:srgbClr val="1565C0"/>
                </a:solidFill>
                <a:latin typeface="Consolas"/>
                <a:ea typeface="Consolas"/>
                <a:cs typeface="Consolas"/>
                <a:sym typeface="Consolas"/>
              </a:rPr>
              <a:t>Repository · BLETransport · SoftAPTransport</a:t>
            </a:r>
            <a:endParaRPr/>
          </a:p>
          <a:p>
            <a:pPr indent="0" lvl="0" marL="0" marR="0" rtl="0" algn="l">
              <a:lnSpc>
                <a:spcPct val="100000"/>
              </a:lnSpc>
              <a:spcBef>
                <a:spcPts val="0"/>
              </a:spcBef>
              <a:spcAft>
                <a:spcPts val="0"/>
              </a:spcAft>
              <a:buNone/>
            </a:pPr>
            <a:r>
              <a:rPr b="0" lang="en-US" sz="775">
                <a:solidFill>
                  <a:srgbClr val="1565C0"/>
                </a:solidFill>
                <a:latin typeface="Consolas"/>
                <a:ea typeface="Consolas"/>
                <a:cs typeface="Consolas"/>
                <a:sym typeface="Consolas"/>
              </a:rPr>
              <a:t>REST · Room</a:t>
            </a:r>
            <a:endParaRPr/>
          </a:p>
          <a:p>
            <a:pPr indent="0" lvl="0" marL="0" marR="0" rtl="0" algn="l">
              <a:lnSpc>
                <a:spcPct val="100000"/>
              </a:lnSpc>
              <a:spcBef>
                <a:spcPts val="200"/>
              </a:spcBef>
              <a:spcAft>
                <a:spcPts val="0"/>
              </a:spcAft>
              <a:buNone/>
            </a:pPr>
            <a:r>
              <a:rPr lang="en-US" sz="925">
                <a:solidFill>
                  <a:srgbClr val="1F2A37"/>
                </a:solidFill>
                <a:latin typeface="Barlow"/>
                <a:ea typeface="Barlow"/>
                <a:cs typeface="Barlow"/>
                <a:sym typeface="Barlow"/>
              </a:rPr>
              <a:t>동일한 인터페이스, 내부는 Android 무선·Wi-Fi·Keystore API</a:t>
            </a:r>
            <a:endParaRPr/>
          </a:p>
        </p:txBody>
      </p:sp>
      <p:cxnSp>
        <p:nvCxnSpPr>
          <p:cNvPr id="1509" name="Google Shape;1509;p56"/>
          <p:cNvCxnSpPr>
            <a:stCxn id="1507" idx="3"/>
            <a:endCxn id="1508" idx="1"/>
          </p:cNvCxnSpPr>
          <p:nvPr/>
        </p:nvCxnSpPr>
        <p:spPr>
          <a:xfrm>
            <a:off x="3429000" y="4389120"/>
            <a:ext cx="640200" cy="0"/>
          </a:xfrm>
          <a:prstGeom prst="straightConnector1">
            <a:avLst/>
          </a:prstGeom>
          <a:noFill/>
          <a:ln cap="flat" cmpd="sng" w="22225">
            <a:solidFill>
              <a:srgbClr val="1565C0"/>
            </a:solidFill>
            <a:prstDash val="solid"/>
            <a:round/>
            <a:headEnd len="sm" w="sm" type="none"/>
            <a:tailEnd len="med" w="med" type="triangle"/>
          </a:ln>
        </p:spPr>
      </p:cxnSp>
      <p:sp>
        <p:nvSpPr>
          <p:cNvPr id="1510" name="Google Shape;1510;p56"/>
          <p:cNvSpPr/>
          <p:nvPr/>
        </p:nvSpPr>
        <p:spPr>
          <a:xfrm>
            <a:off x="6176674" y="4032504"/>
            <a:ext cx="1321406" cy="150018"/>
          </a:xfrm>
          <a:prstGeom prst="roundRect">
            <a:avLst>
              <a:gd fmla="val 50000" name="adj"/>
            </a:avLst>
          </a:prstGeom>
          <a:solidFill>
            <a:srgbClr val="EAF2F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1565C0"/>
                </a:solidFill>
                <a:latin typeface="Montserrat"/>
                <a:ea typeface="Montserrat"/>
                <a:cs typeface="Montserrat"/>
                <a:sym typeface="Montserrat"/>
              </a:rPr>
              <a:t>네이티브 대응</a:t>
            </a:r>
            <a:endParaRPr/>
          </a:p>
        </p:txBody>
      </p:sp>
      <p:sp>
        <p:nvSpPr>
          <p:cNvPr id="1511" name="Google Shape;1511;p56"/>
          <p:cNvSpPr/>
          <p:nvPr/>
        </p:nvSpPr>
        <p:spPr>
          <a:xfrm>
            <a:off x="457200" y="4956048"/>
            <a:ext cx="2971800" cy="859536"/>
          </a:xfrm>
          <a:prstGeom prst="roundRect">
            <a:avLst>
              <a:gd fmla="val 5319" name="adj"/>
            </a:avLst>
          </a:prstGeom>
          <a:noFill/>
          <a:ln cap="flat" cmpd="sng" w="9525">
            <a:solidFill>
              <a:srgbClr val="5F6B7A"/>
            </a:solidFill>
            <a:prstDash val="dash"/>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i="1" lang="en-US" sz="925">
                <a:solidFill>
                  <a:srgbClr val="5F6B7A"/>
                </a:solidFill>
                <a:latin typeface="Barlow"/>
                <a:ea typeface="Barlow"/>
                <a:cs typeface="Barlow"/>
                <a:sym typeface="Barlow"/>
              </a:rPr>
              <a:t>iOS 설계에서는 각각 설정 또는 호출 하나</a:t>
            </a:r>
            <a:endParaRPr/>
          </a:p>
          <a:p>
            <a:pPr indent="0" lvl="0" marL="0" marR="0" rtl="0" algn="ctr">
              <a:lnSpc>
                <a:spcPct val="100000"/>
              </a:lnSpc>
              <a:spcBef>
                <a:spcPts val="300"/>
              </a:spcBef>
              <a:spcAft>
                <a:spcPts val="0"/>
              </a:spcAft>
              <a:buNone/>
            </a:pPr>
            <a:r>
              <a:rPr b="0" lang="en-US" sz="775">
                <a:solidFill>
                  <a:srgbClr val="5F6B7A"/>
                </a:solidFill>
                <a:latin typeface="Consolas"/>
                <a:ea typeface="Consolas"/>
                <a:cs typeface="Consolas"/>
                <a:sym typeface="Consolas"/>
              </a:rPr>
              <a:t>isIdleTimerDisabled · NWPathMonitor</a:t>
            </a:r>
            <a:endParaRPr/>
          </a:p>
          <a:p>
            <a:pPr indent="0" lvl="0" marL="0" marR="0" rtl="0" algn="ctr">
              <a:lnSpc>
                <a:spcPct val="100000"/>
              </a:lnSpc>
              <a:spcBef>
                <a:spcPts val="0"/>
              </a:spcBef>
              <a:spcAft>
                <a:spcPts val="0"/>
              </a:spcAft>
              <a:buNone/>
            </a:pPr>
            <a:r>
              <a:rPr b="0" lang="en-US" sz="775">
                <a:solidFill>
                  <a:srgbClr val="5F6B7A"/>
                </a:solidFill>
                <a:latin typeface="Consolas"/>
                <a:ea typeface="Consolas"/>
                <a:cs typeface="Consolas"/>
                <a:sym typeface="Consolas"/>
              </a:rPr>
              <a:t>ThisDeviceOnly · two permissions</a:t>
            </a:r>
            <a:endParaRPr/>
          </a:p>
        </p:txBody>
      </p:sp>
      <p:sp>
        <p:nvSpPr>
          <p:cNvPr id="1512" name="Google Shape;1512;p56"/>
          <p:cNvSpPr/>
          <p:nvPr/>
        </p:nvSpPr>
        <p:spPr>
          <a:xfrm>
            <a:off x="4069080" y="4956048"/>
            <a:ext cx="3520440" cy="859536"/>
          </a:xfrm>
          <a:prstGeom prst="roundRect">
            <a:avLst>
              <a:gd fmla="val 5319" name="adj"/>
            </a:avLst>
          </a:prstGeom>
          <a:solidFill>
            <a:srgbClr val="FFF4E0"/>
          </a:solidFill>
          <a:ln cap="flat" cmpd="sng" w="15875">
            <a:solidFill>
              <a:srgbClr val="F0A93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13" name="Google Shape;1513;p56"/>
          <p:cNvSpPr txBox="1"/>
          <p:nvPr/>
        </p:nvSpPr>
        <p:spPr>
          <a:xfrm>
            <a:off x="4178808" y="5029200"/>
            <a:ext cx="3300984"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50">
                <a:solidFill>
                  <a:srgbClr val="9A5B00"/>
                </a:solidFill>
                <a:latin typeface="Montserrat"/>
                <a:ea typeface="Montserrat"/>
                <a:cs typeface="Montserrat"/>
                <a:sym typeface="Montserrat"/>
              </a:rPr>
              <a:t>ANDROID 고유 구성 요소</a:t>
            </a:r>
            <a:endParaRPr/>
          </a:p>
        </p:txBody>
      </p:sp>
      <p:sp>
        <p:nvSpPr>
          <p:cNvPr id="1514" name="Google Shape;1514;p56"/>
          <p:cNvSpPr/>
          <p:nvPr/>
        </p:nvSpPr>
        <p:spPr>
          <a:xfrm>
            <a:off x="4178808" y="5248656"/>
            <a:ext cx="1164838" cy="22860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75">
                <a:solidFill>
                  <a:srgbClr val="9A5B00"/>
                </a:solidFill>
                <a:latin typeface="Barlow"/>
                <a:ea typeface="Barlow"/>
                <a:cs typeface="Barlow"/>
                <a:sym typeface="Barlow"/>
              </a:rPr>
              <a:t>권한 게이트 · A2</a:t>
            </a:r>
            <a:endParaRPr/>
          </a:p>
        </p:txBody>
      </p:sp>
      <p:sp>
        <p:nvSpPr>
          <p:cNvPr id="1515" name="Google Shape;1515;p56"/>
          <p:cNvSpPr/>
          <p:nvPr/>
        </p:nvSpPr>
        <p:spPr>
          <a:xfrm>
            <a:off x="5416798" y="5248656"/>
            <a:ext cx="1326100" cy="22860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75">
                <a:solidFill>
                  <a:srgbClr val="9A5B00"/>
                </a:solidFill>
                <a:latin typeface="Barlow"/>
                <a:ea typeface="Barlow"/>
                <a:cs typeface="Barlow"/>
                <a:sym typeface="Barlow"/>
              </a:rPr>
              <a:t>포그라운드 서비스 · A5</a:t>
            </a:r>
            <a:endParaRPr/>
          </a:p>
        </p:txBody>
      </p:sp>
      <p:sp>
        <p:nvSpPr>
          <p:cNvPr id="1516" name="Google Shape;1516;p56"/>
          <p:cNvSpPr/>
          <p:nvPr/>
        </p:nvSpPr>
        <p:spPr>
          <a:xfrm>
            <a:off x="4178808" y="5522976"/>
            <a:ext cx="1414314" cy="22860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75">
                <a:solidFill>
                  <a:srgbClr val="9A5B00"/>
                </a:solidFill>
                <a:latin typeface="Barlow"/>
                <a:ea typeface="Barlow"/>
                <a:cs typeface="Barlow"/>
                <a:sym typeface="Barlow"/>
              </a:rPr>
              <a:t>WorkManager 아웃박스 · A6</a:t>
            </a:r>
            <a:endParaRPr/>
          </a:p>
        </p:txBody>
      </p:sp>
      <p:sp>
        <p:nvSpPr>
          <p:cNvPr id="1517" name="Google Shape;1517;p56"/>
          <p:cNvSpPr/>
          <p:nvPr/>
        </p:nvSpPr>
        <p:spPr>
          <a:xfrm>
            <a:off x="5666274" y="5522976"/>
            <a:ext cx="1568005" cy="22860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75">
                <a:solidFill>
                  <a:srgbClr val="9A5B00"/>
                </a:solidFill>
                <a:latin typeface="Barlow"/>
                <a:ea typeface="Barlow"/>
                <a:cs typeface="Barlow"/>
                <a:sym typeface="Barlow"/>
              </a:rPr>
              <a:t>백업 및 화면 규칙 · A7</a:t>
            </a:r>
            <a:endParaRPr/>
          </a:p>
        </p:txBody>
      </p:sp>
      <p:sp>
        <p:nvSpPr>
          <p:cNvPr id="1518" name="Google Shape;1518;p56"/>
          <p:cNvSpPr txBox="1"/>
          <p:nvPr/>
        </p:nvSpPr>
        <p:spPr>
          <a:xfrm>
            <a:off x="7909560" y="1216152"/>
            <a:ext cx="35204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페이지별 · iOS 설계가 바뀌는 곳</a:t>
            </a:r>
            <a:endParaRPr/>
          </a:p>
        </p:txBody>
      </p:sp>
      <p:sp>
        <p:nvSpPr>
          <p:cNvPr id="1519" name="Google Shape;1519;p56"/>
          <p:cNvSpPr/>
          <p:nvPr/>
        </p:nvSpPr>
        <p:spPr>
          <a:xfrm>
            <a:off x="7909560" y="1481328"/>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0" name="Google Shape;1520;p56"/>
          <p:cNvSpPr/>
          <p:nvPr/>
        </p:nvSpPr>
        <p:spPr>
          <a:xfrm>
            <a:off x="7982712" y="1549908"/>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T1</a:t>
            </a:r>
            <a:endParaRPr/>
          </a:p>
        </p:txBody>
      </p:sp>
      <p:sp>
        <p:nvSpPr>
          <p:cNvPr id="1521" name="Google Shape;1521;p56"/>
          <p:cNvSpPr txBox="1"/>
          <p:nvPr/>
        </p:nvSpPr>
        <p:spPr>
          <a:xfrm>
            <a:off x="8531352" y="1481328"/>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설치 워크플로</a:t>
            </a:r>
            <a:endParaRPr/>
          </a:p>
        </p:txBody>
      </p:sp>
      <p:sp>
        <p:nvSpPr>
          <p:cNvPr id="1522" name="Google Shape;1522;p56"/>
          <p:cNvSpPr/>
          <p:nvPr/>
        </p:nvSpPr>
        <p:spPr>
          <a:xfrm>
            <a:off x="10686713" y="1549908"/>
            <a:ext cx="670135" cy="214884"/>
          </a:xfrm>
          <a:prstGeom prst="roundRect">
            <a:avLst>
              <a:gd fmla="val 500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1E7B4F"/>
                </a:solidFill>
                <a:latin typeface="Barlow"/>
                <a:ea typeface="Barlow"/>
                <a:cs typeface="Barlow"/>
                <a:sym typeface="Barlow"/>
              </a:rPr>
              <a:t>변경 없음</a:t>
            </a:r>
            <a:endParaRPr/>
          </a:p>
        </p:txBody>
      </p:sp>
      <p:sp>
        <p:nvSpPr>
          <p:cNvPr id="1523" name="Google Shape;1523;p56"/>
          <p:cNvSpPr/>
          <p:nvPr/>
        </p:nvSpPr>
        <p:spPr>
          <a:xfrm>
            <a:off x="7909560" y="1879092"/>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4" name="Google Shape;1524;p56"/>
          <p:cNvSpPr/>
          <p:nvPr/>
        </p:nvSpPr>
        <p:spPr>
          <a:xfrm>
            <a:off x="7982712" y="1947672"/>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T2</a:t>
            </a:r>
            <a:endParaRPr/>
          </a:p>
        </p:txBody>
      </p:sp>
      <p:sp>
        <p:nvSpPr>
          <p:cNvPr id="1525" name="Google Shape;1525;p56"/>
          <p:cNvSpPr txBox="1"/>
          <p:nvPr/>
        </p:nvSpPr>
        <p:spPr>
          <a:xfrm>
            <a:off x="8531352" y="1879092"/>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상태와 권한</a:t>
            </a:r>
            <a:endParaRPr/>
          </a:p>
        </p:txBody>
      </p:sp>
      <p:sp>
        <p:nvSpPr>
          <p:cNvPr id="1526" name="Google Shape;1526;p56"/>
          <p:cNvSpPr/>
          <p:nvPr/>
        </p:nvSpPr>
        <p:spPr>
          <a:xfrm>
            <a:off x="10686713" y="1947672"/>
            <a:ext cx="670135" cy="214884"/>
          </a:xfrm>
          <a:prstGeom prst="roundRect">
            <a:avLst>
              <a:gd fmla="val 500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1E7B4F"/>
                </a:solidFill>
                <a:latin typeface="Barlow"/>
                <a:ea typeface="Barlow"/>
                <a:cs typeface="Barlow"/>
                <a:sym typeface="Barlow"/>
              </a:rPr>
              <a:t>변경 없음</a:t>
            </a:r>
            <a:endParaRPr/>
          </a:p>
        </p:txBody>
      </p:sp>
      <p:sp>
        <p:nvSpPr>
          <p:cNvPr id="1527" name="Google Shape;1527;p56"/>
          <p:cNvSpPr/>
          <p:nvPr/>
        </p:nvSpPr>
        <p:spPr>
          <a:xfrm>
            <a:off x="7909560" y="2276856"/>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8" name="Google Shape;1528;p56"/>
          <p:cNvSpPr/>
          <p:nvPr/>
        </p:nvSpPr>
        <p:spPr>
          <a:xfrm>
            <a:off x="7982712" y="2345436"/>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T3</a:t>
            </a:r>
            <a:endParaRPr/>
          </a:p>
        </p:txBody>
      </p:sp>
      <p:sp>
        <p:nvSpPr>
          <p:cNvPr id="1529" name="Google Shape;1529;p56"/>
          <p:cNvSpPr txBox="1"/>
          <p:nvPr/>
        </p:nvSpPr>
        <p:spPr>
          <a:xfrm>
            <a:off x="8531352" y="2276856"/>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확정된 동작</a:t>
            </a:r>
            <a:endParaRPr/>
          </a:p>
        </p:txBody>
      </p:sp>
      <p:sp>
        <p:nvSpPr>
          <p:cNvPr id="1530" name="Google Shape;1530;p56"/>
          <p:cNvSpPr/>
          <p:nvPr/>
        </p:nvSpPr>
        <p:spPr>
          <a:xfrm>
            <a:off x="10862360" y="2345436"/>
            <a:ext cx="494488"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A3 · A5</a:t>
            </a:r>
            <a:endParaRPr/>
          </a:p>
        </p:txBody>
      </p:sp>
      <p:sp>
        <p:nvSpPr>
          <p:cNvPr id="1531" name="Google Shape;1531;p56"/>
          <p:cNvSpPr/>
          <p:nvPr/>
        </p:nvSpPr>
        <p:spPr>
          <a:xfrm>
            <a:off x="7909560" y="2674620"/>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2" name="Google Shape;1532;p56"/>
          <p:cNvSpPr/>
          <p:nvPr/>
        </p:nvSpPr>
        <p:spPr>
          <a:xfrm>
            <a:off x="7982712" y="2743200"/>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T4</a:t>
            </a:r>
            <a:endParaRPr/>
          </a:p>
        </p:txBody>
      </p:sp>
      <p:sp>
        <p:nvSpPr>
          <p:cNvPr id="1533" name="Google Shape;1533;p56"/>
          <p:cNvSpPr txBox="1"/>
          <p:nvPr/>
        </p:nvSpPr>
        <p:spPr>
          <a:xfrm>
            <a:off x="8531352" y="2674620"/>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오류와 복구</a:t>
            </a:r>
            <a:endParaRPr/>
          </a:p>
        </p:txBody>
      </p:sp>
      <p:sp>
        <p:nvSpPr>
          <p:cNvPr id="1534" name="Google Shape;1534;p56"/>
          <p:cNvSpPr/>
          <p:nvPr/>
        </p:nvSpPr>
        <p:spPr>
          <a:xfrm>
            <a:off x="10457109" y="2743200"/>
            <a:ext cx="899739"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A3 · A4 · A5 · A6</a:t>
            </a:r>
            <a:endParaRPr/>
          </a:p>
        </p:txBody>
      </p:sp>
      <p:sp>
        <p:nvSpPr>
          <p:cNvPr id="1535" name="Google Shape;1535;p56"/>
          <p:cNvSpPr/>
          <p:nvPr/>
        </p:nvSpPr>
        <p:spPr>
          <a:xfrm>
            <a:off x="7909560" y="3072384"/>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36" name="Google Shape;1536;p56"/>
          <p:cNvSpPr/>
          <p:nvPr/>
        </p:nvSpPr>
        <p:spPr>
          <a:xfrm>
            <a:off x="7982712" y="3140964"/>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T5</a:t>
            </a:r>
            <a:endParaRPr/>
          </a:p>
        </p:txBody>
      </p:sp>
      <p:sp>
        <p:nvSpPr>
          <p:cNvPr id="1537" name="Google Shape;1537;p56"/>
          <p:cNvSpPr txBox="1"/>
          <p:nvPr/>
        </p:nvSpPr>
        <p:spPr>
          <a:xfrm>
            <a:off x="8531352" y="3072384"/>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아키텍처</a:t>
            </a:r>
            <a:endParaRPr/>
          </a:p>
        </p:txBody>
      </p:sp>
      <p:sp>
        <p:nvSpPr>
          <p:cNvPr id="1538" name="Google Shape;1538;p56"/>
          <p:cNvSpPr/>
          <p:nvPr/>
        </p:nvSpPr>
        <p:spPr>
          <a:xfrm>
            <a:off x="10887078" y="3140964"/>
            <a:ext cx="469770"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A1 · A7</a:t>
            </a:r>
            <a:endParaRPr/>
          </a:p>
        </p:txBody>
      </p:sp>
      <p:sp>
        <p:nvSpPr>
          <p:cNvPr id="1539" name="Google Shape;1539;p56"/>
          <p:cNvSpPr/>
          <p:nvPr/>
        </p:nvSpPr>
        <p:spPr>
          <a:xfrm>
            <a:off x="7909560" y="3470148"/>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0" name="Google Shape;1540;p56"/>
          <p:cNvSpPr/>
          <p:nvPr/>
        </p:nvSpPr>
        <p:spPr>
          <a:xfrm>
            <a:off x="7982712" y="3538728"/>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T6</a:t>
            </a:r>
            <a:endParaRPr/>
          </a:p>
        </p:txBody>
      </p:sp>
      <p:sp>
        <p:nvSpPr>
          <p:cNvPr id="1541" name="Google Shape;1541;p56"/>
          <p:cNvSpPr txBox="1"/>
          <p:nvPr/>
        </p:nvSpPr>
        <p:spPr>
          <a:xfrm>
            <a:off x="8531352" y="3470148"/>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장치 연결</a:t>
            </a:r>
            <a:endParaRPr/>
          </a:p>
        </p:txBody>
      </p:sp>
      <p:sp>
        <p:nvSpPr>
          <p:cNvPr id="1542" name="Google Shape;1542;p56"/>
          <p:cNvSpPr/>
          <p:nvPr/>
        </p:nvSpPr>
        <p:spPr>
          <a:xfrm>
            <a:off x="10860091" y="3538728"/>
            <a:ext cx="496757"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A2 · A3</a:t>
            </a:r>
            <a:endParaRPr/>
          </a:p>
        </p:txBody>
      </p:sp>
      <p:sp>
        <p:nvSpPr>
          <p:cNvPr id="1543" name="Google Shape;1543;p56"/>
          <p:cNvSpPr/>
          <p:nvPr/>
        </p:nvSpPr>
        <p:spPr>
          <a:xfrm>
            <a:off x="7909560" y="3867912"/>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4" name="Google Shape;1544;p56"/>
          <p:cNvSpPr/>
          <p:nvPr/>
        </p:nvSpPr>
        <p:spPr>
          <a:xfrm>
            <a:off x="7982712" y="3936492"/>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T7</a:t>
            </a:r>
            <a:endParaRPr/>
          </a:p>
        </p:txBody>
      </p:sp>
      <p:sp>
        <p:nvSpPr>
          <p:cNvPr id="1545" name="Google Shape;1545;p56"/>
          <p:cNvSpPr txBox="1"/>
          <p:nvPr/>
        </p:nvSpPr>
        <p:spPr>
          <a:xfrm>
            <a:off x="8531352" y="3867912"/>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펌웨어 업데이트</a:t>
            </a:r>
            <a:endParaRPr/>
          </a:p>
        </p:txBody>
      </p:sp>
      <p:sp>
        <p:nvSpPr>
          <p:cNvPr id="1546" name="Google Shape;1546;p56"/>
          <p:cNvSpPr/>
          <p:nvPr/>
        </p:nvSpPr>
        <p:spPr>
          <a:xfrm>
            <a:off x="10855343" y="3936492"/>
            <a:ext cx="501505"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A4 · A5</a:t>
            </a:r>
            <a:endParaRPr/>
          </a:p>
        </p:txBody>
      </p:sp>
      <p:sp>
        <p:nvSpPr>
          <p:cNvPr id="1547" name="Google Shape;1547;p56"/>
          <p:cNvSpPr/>
          <p:nvPr/>
        </p:nvSpPr>
        <p:spPr>
          <a:xfrm>
            <a:off x="7909560" y="4265676"/>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48" name="Google Shape;1548;p56"/>
          <p:cNvSpPr/>
          <p:nvPr/>
        </p:nvSpPr>
        <p:spPr>
          <a:xfrm>
            <a:off x="7982712" y="4334256"/>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T8</a:t>
            </a:r>
            <a:endParaRPr/>
          </a:p>
        </p:txBody>
      </p:sp>
      <p:sp>
        <p:nvSpPr>
          <p:cNvPr id="1549" name="Google Shape;1549;p56"/>
          <p:cNvSpPr txBox="1"/>
          <p:nvPr/>
        </p:nvSpPr>
        <p:spPr>
          <a:xfrm>
            <a:off x="8531352" y="4265676"/>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저장과 동기화</a:t>
            </a:r>
            <a:endParaRPr/>
          </a:p>
        </p:txBody>
      </p:sp>
      <p:sp>
        <p:nvSpPr>
          <p:cNvPr id="1550" name="Google Shape;1550;p56"/>
          <p:cNvSpPr/>
          <p:nvPr/>
        </p:nvSpPr>
        <p:spPr>
          <a:xfrm>
            <a:off x="10862680" y="4334256"/>
            <a:ext cx="494168"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A5 · A6</a:t>
            </a:r>
            <a:endParaRPr/>
          </a:p>
        </p:txBody>
      </p:sp>
      <p:sp>
        <p:nvSpPr>
          <p:cNvPr id="1551" name="Google Shape;1551;p56"/>
          <p:cNvSpPr/>
          <p:nvPr/>
        </p:nvSpPr>
        <p:spPr>
          <a:xfrm>
            <a:off x="7909560" y="4663440"/>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2" name="Google Shape;1552;p56"/>
          <p:cNvSpPr/>
          <p:nvPr/>
        </p:nvSpPr>
        <p:spPr>
          <a:xfrm>
            <a:off x="7982712" y="4732020"/>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T9</a:t>
            </a:r>
            <a:endParaRPr/>
          </a:p>
        </p:txBody>
      </p:sp>
      <p:sp>
        <p:nvSpPr>
          <p:cNvPr id="1553" name="Google Shape;1553;p56"/>
          <p:cNvSpPr txBox="1"/>
          <p:nvPr/>
        </p:nvSpPr>
        <p:spPr>
          <a:xfrm>
            <a:off x="8531352" y="4663440"/>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테스트 접근</a:t>
            </a:r>
            <a:endParaRPr/>
          </a:p>
        </p:txBody>
      </p:sp>
      <p:sp>
        <p:nvSpPr>
          <p:cNvPr id="1554" name="Google Shape;1554;p56"/>
          <p:cNvSpPr/>
          <p:nvPr/>
        </p:nvSpPr>
        <p:spPr>
          <a:xfrm>
            <a:off x="11061418" y="4732020"/>
            <a:ext cx="295430"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A8</a:t>
            </a:r>
            <a:endParaRPr/>
          </a:p>
        </p:txBody>
      </p:sp>
      <p:sp>
        <p:nvSpPr>
          <p:cNvPr id="1555" name="Google Shape;1555;p56"/>
          <p:cNvSpPr/>
          <p:nvPr/>
        </p:nvSpPr>
        <p:spPr>
          <a:xfrm>
            <a:off x="7909560" y="5061203"/>
            <a:ext cx="3520440" cy="352044"/>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56" name="Google Shape;1556;p56"/>
          <p:cNvSpPr/>
          <p:nvPr/>
        </p:nvSpPr>
        <p:spPr>
          <a:xfrm>
            <a:off x="7982712" y="5129783"/>
            <a:ext cx="457200" cy="214884"/>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T10</a:t>
            </a:r>
            <a:endParaRPr/>
          </a:p>
        </p:txBody>
      </p:sp>
      <p:sp>
        <p:nvSpPr>
          <p:cNvPr id="1557" name="Google Shape;1557;p56"/>
          <p:cNvSpPr txBox="1"/>
          <p:nvPr/>
        </p:nvSpPr>
        <p:spPr>
          <a:xfrm>
            <a:off x="8531352" y="5061203"/>
            <a:ext cx="1600200" cy="3520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75">
                <a:solidFill>
                  <a:srgbClr val="1F2A37"/>
                </a:solidFill>
                <a:latin typeface="Barlow"/>
                <a:ea typeface="Barlow"/>
                <a:cs typeface="Barlow"/>
                <a:sym typeface="Barlow"/>
              </a:rPr>
              <a:t>가정과 리스크</a:t>
            </a:r>
            <a:endParaRPr/>
          </a:p>
        </p:txBody>
      </p:sp>
      <p:sp>
        <p:nvSpPr>
          <p:cNvPr id="1558" name="Google Shape;1558;p56"/>
          <p:cNvSpPr/>
          <p:nvPr/>
        </p:nvSpPr>
        <p:spPr>
          <a:xfrm>
            <a:off x="11062497" y="5129783"/>
            <a:ext cx="294351" cy="214884"/>
          </a:xfrm>
          <a:prstGeom prst="roundRect">
            <a:avLst>
              <a:gd fmla="val 500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9A5B00"/>
                </a:solidFill>
                <a:latin typeface="Barlow"/>
                <a:ea typeface="Barlow"/>
                <a:cs typeface="Barlow"/>
                <a:sym typeface="Barlow"/>
              </a:rPr>
              <a:t>A9</a:t>
            </a:r>
            <a:endParaRPr/>
          </a:p>
        </p:txBody>
      </p:sp>
      <p:sp>
        <p:nvSpPr>
          <p:cNvPr id="1559" name="Google Shape;1559;p56"/>
          <p:cNvSpPr/>
          <p:nvPr/>
        </p:nvSpPr>
        <p:spPr>
          <a:xfrm>
            <a:off x="7909560" y="5541263"/>
            <a:ext cx="182880" cy="146304"/>
          </a:xfrm>
          <a:prstGeom prst="rect">
            <a:avLst/>
          </a:prstGeom>
          <a:solidFill>
            <a:srgbClr val="E6F4EA"/>
          </a:solidFill>
          <a:ln cap="flat" cmpd="sng" w="12700">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0" name="Google Shape;1560;p56"/>
          <p:cNvSpPr txBox="1"/>
          <p:nvPr/>
        </p:nvSpPr>
        <p:spPr>
          <a:xfrm>
            <a:off x="8147304" y="5513831"/>
            <a:ext cx="864745"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50">
                <a:solidFill>
                  <a:srgbClr val="1F2A37"/>
                </a:solidFill>
                <a:latin typeface="Barlow"/>
                <a:ea typeface="Barlow"/>
                <a:cs typeface="Barlow"/>
                <a:sym typeface="Barlow"/>
              </a:rPr>
              <a:t>그대로 이식</a:t>
            </a:r>
            <a:endParaRPr/>
          </a:p>
        </p:txBody>
      </p:sp>
      <p:sp>
        <p:nvSpPr>
          <p:cNvPr id="1561" name="Google Shape;1561;p56"/>
          <p:cNvSpPr/>
          <p:nvPr/>
        </p:nvSpPr>
        <p:spPr>
          <a:xfrm>
            <a:off x="9194929" y="5541263"/>
            <a:ext cx="182880" cy="146304"/>
          </a:xfrm>
          <a:prstGeom prst="rect">
            <a:avLst/>
          </a:prstGeom>
          <a:solidFill>
            <a:srgbClr val="FFFFFF"/>
          </a:solidFill>
          <a:ln cap="flat" cmpd="sng" w="12700">
            <a:solidFill>
              <a:srgbClr val="1565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2" name="Google Shape;1562;p56"/>
          <p:cNvSpPr txBox="1"/>
          <p:nvPr/>
        </p:nvSpPr>
        <p:spPr>
          <a:xfrm>
            <a:off x="9432673" y="5513831"/>
            <a:ext cx="956284"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50">
                <a:solidFill>
                  <a:srgbClr val="1F2A37"/>
                </a:solidFill>
                <a:latin typeface="Barlow"/>
                <a:ea typeface="Barlow"/>
                <a:cs typeface="Barlow"/>
                <a:sym typeface="Barlow"/>
              </a:rPr>
              <a:t>네이티브 대응</a:t>
            </a:r>
            <a:endParaRPr/>
          </a:p>
        </p:txBody>
      </p:sp>
      <p:sp>
        <p:nvSpPr>
          <p:cNvPr id="1563" name="Google Shape;1563;p56"/>
          <p:cNvSpPr/>
          <p:nvPr/>
        </p:nvSpPr>
        <p:spPr>
          <a:xfrm>
            <a:off x="7909560" y="5769863"/>
            <a:ext cx="182880" cy="146304"/>
          </a:xfrm>
          <a:prstGeom prst="rect">
            <a:avLst/>
          </a:prstGeom>
          <a:solidFill>
            <a:srgbClr val="FFF4E0"/>
          </a:solidFill>
          <a:ln cap="flat" cmpd="sng" w="12700">
            <a:solidFill>
              <a:srgbClr val="F0A93B"/>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64" name="Google Shape;1564;p56"/>
          <p:cNvSpPr txBox="1"/>
          <p:nvPr/>
        </p:nvSpPr>
        <p:spPr>
          <a:xfrm>
            <a:off x="8147304" y="5742431"/>
            <a:ext cx="1188275"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50">
                <a:solidFill>
                  <a:srgbClr val="1F2A37"/>
                </a:solidFill>
                <a:latin typeface="Barlow"/>
                <a:ea typeface="Barlow"/>
                <a:cs typeface="Barlow"/>
                <a:sym typeface="Barlow"/>
              </a:rPr>
              <a:t>Android 고유 설계</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9" name="Shape 1569"/>
        <p:cNvGrpSpPr/>
        <p:nvPr/>
      </p:nvGrpSpPr>
      <p:grpSpPr>
        <a:xfrm>
          <a:off x="0" y="0"/>
          <a:ext cx="0" cy="0"/>
          <a:chOff x="0" y="0"/>
          <a:chExt cx="0" cy="0"/>
        </a:xfrm>
      </p:grpSpPr>
      <p:sp>
        <p:nvSpPr>
          <p:cNvPr id="1570" name="Google Shape;1570;p57"/>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권한과 사전 조건 · Android 버전별</a:t>
            </a:r>
            <a:endParaRPr/>
          </a:p>
        </p:txBody>
      </p:sp>
      <p:sp>
        <p:nvSpPr>
          <p:cNvPr id="1571" name="Google Shape;1571;p57"/>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설치 기사가 첫 스캔 전에 허용해야 할 권한은 Android 버전에 따라 다릅니다</a:t>
            </a:r>
            <a:endParaRPr/>
          </a:p>
        </p:txBody>
      </p:sp>
      <p:sp>
        <p:nvSpPr>
          <p:cNvPr id="1572" name="Google Shape;1572;p57"/>
          <p:cNvSpPr txBox="1"/>
          <p:nvPr/>
        </p:nvSpPr>
        <p:spPr>
          <a:xfrm>
            <a:off x="457200" y="1481328"/>
            <a:ext cx="2057400" cy="4206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Android 버전</a:t>
            </a:r>
            <a:endParaRPr/>
          </a:p>
        </p:txBody>
      </p:sp>
      <p:sp>
        <p:nvSpPr>
          <p:cNvPr id="1573" name="Google Shape;1573;p57"/>
          <p:cNvSpPr/>
          <p:nvPr/>
        </p:nvSpPr>
        <p:spPr>
          <a:xfrm>
            <a:off x="265176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9 이하</a:t>
            </a:r>
            <a:endParaRPr/>
          </a:p>
          <a:p>
            <a:pPr indent="0" lvl="0" marL="0" marR="0" rtl="0" algn="ctr">
              <a:lnSpc>
                <a:spcPct val="100000"/>
              </a:lnSpc>
              <a:spcBef>
                <a:spcPts val="100"/>
              </a:spcBef>
              <a:spcAft>
                <a:spcPts val="0"/>
              </a:spcAft>
              <a:buNone/>
            </a:pPr>
            <a:r>
              <a:rPr lang="en-US" sz="775">
                <a:solidFill>
                  <a:srgbClr val="A9C7EA"/>
                </a:solidFill>
                <a:latin typeface="Barlow"/>
                <a:ea typeface="Barlow"/>
                <a:cs typeface="Barlow"/>
                <a:sym typeface="Barlow"/>
              </a:rPr>
              <a:t>API 28 이하</a:t>
            </a:r>
            <a:endParaRPr/>
          </a:p>
        </p:txBody>
      </p:sp>
      <p:sp>
        <p:nvSpPr>
          <p:cNvPr id="1574" name="Google Shape;1574;p57"/>
          <p:cNvSpPr/>
          <p:nvPr/>
        </p:nvSpPr>
        <p:spPr>
          <a:xfrm>
            <a:off x="3749039"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10</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29</a:t>
            </a:r>
            <a:endParaRPr/>
          </a:p>
        </p:txBody>
      </p:sp>
      <p:sp>
        <p:nvSpPr>
          <p:cNvPr id="1575" name="Google Shape;1575;p57"/>
          <p:cNvSpPr/>
          <p:nvPr/>
        </p:nvSpPr>
        <p:spPr>
          <a:xfrm>
            <a:off x="484632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11</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30</a:t>
            </a:r>
            <a:endParaRPr/>
          </a:p>
        </p:txBody>
      </p:sp>
      <p:sp>
        <p:nvSpPr>
          <p:cNvPr id="1576" name="Google Shape;1576;p57"/>
          <p:cNvSpPr/>
          <p:nvPr/>
        </p:nvSpPr>
        <p:spPr>
          <a:xfrm>
            <a:off x="594360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12</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31–32</a:t>
            </a:r>
            <a:endParaRPr/>
          </a:p>
        </p:txBody>
      </p:sp>
      <p:sp>
        <p:nvSpPr>
          <p:cNvPr id="1577" name="Google Shape;1577;p57"/>
          <p:cNvSpPr/>
          <p:nvPr/>
        </p:nvSpPr>
        <p:spPr>
          <a:xfrm>
            <a:off x="7040879"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13</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33</a:t>
            </a:r>
            <a:endParaRPr/>
          </a:p>
        </p:txBody>
      </p:sp>
      <p:sp>
        <p:nvSpPr>
          <p:cNvPr id="1578" name="Google Shape;1578;p57"/>
          <p:cNvSpPr/>
          <p:nvPr/>
        </p:nvSpPr>
        <p:spPr>
          <a:xfrm>
            <a:off x="813816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14</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34</a:t>
            </a:r>
            <a:endParaRPr/>
          </a:p>
        </p:txBody>
      </p:sp>
      <p:sp>
        <p:nvSpPr>
          <p:cNvPr id="1579" name="Google Shape;1579;p57"/>
          <p:cNvSpPr/>
          <p:nvPr/>
        </p:nvSpPr>
        <p:spPr>
          <a:xfrm>
            <a:off x="923544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15</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35</a:t>
            </a:r>
            <a:endParaRPr/>
          </a:p>
        </p:txBody>
      </p:sp>
      <p:sp>
        <p:nvSpPr>
          <p:cNvPr id="1580" name="Google Shape;1580;p57"/>
          <p:cNvSpPr/>
          <p:nvPr/>
        </p:nvSpPr>
        <p:spPr>
          <a:xfrm>
            <a:off x="10332720" y="1481328"/>
            <a:ext cx="1097280" cy="420624"/>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18275" lIns="18275" spcFirstLastPara="1" rIns="18275" wrap="square" tIns="1827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16</a:t>
            </a:r>
            <a:endParaRPr/>
          </a:p>
          <a:p>
            <a:pPr indent="0" lvl="0" marL="0" marR="0" rtl="0" algn="ctr">
              <a:lnSpc>
                <a:spcPct val="100000"/>
              </a:lnSpc>
              <a:spcBef>
                <a:spcPts val="100"/>
              </a:spcBef>
              <a:spcAft>
                <a:spcPts val="0"/>
              </a:spcAft>
              <a:buNone/>
            </a:pPr>
            <a:r>
              <a:rPr b="0" lang="en-US" sz="775">
                <a:solidFill>
                  <a:srgbClr val="A9C7EA"/>
                </a:solidFill>
                <a:latin typeface="Barlow"/>
                <a:ea typeface="Barlow"/>
                <a:cs typeface="Barlow"/>
                <a:sym typeface="Barlow"/>
              </a:rPr>
              <a:t>API 36</a:t>
            </a:r>
            <a:endParaRPr/>
          </a:p>
        </p:txBody>
      </p:sp>
      <p:cxnSp>
        <p:nvCxnSpPr>
          <p:cNvPr id="1581" name="Google Shape;1581;p57"/>
          <p:cNvCxnSpPr/>
          <p:nvPr/>
        </p:nvCxnSpPr>
        <p:spPr>
          <a:xfrm>
            <a:off x="3749039"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2" name="Google Shape;1582;p57"/>
          <p:cNvCxnSpPr/>
          <p:nvPr/>
        </p:nvCxnSpPr>
        <p:spPr>
          <a:xfrm>
            <a:off x="4846320"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3" name="Google Shape;1583;p57"/>
          <p:cNvCxnSpPr/>
          <p:nvPr/>
        </p:nvCxnSpPr>
        <p:spPr>
          <a:xfrm>
            <a:off x="5943600"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4" name="Google Shape;1584;p57"/>
          <p:cNvCxnSpPr/>
          <p:nvPr/>
        </p:nvCxnSpPr>
        <p:spPr>
          <a:xfrm>
            <a:off x="7040879"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5" name="Google Shape;1585;p57"/>
          <p:cNvCxnSpPr/>
          <p:nvPr/>
        </p:nvCxnSpPr>
        <p:spPr>
          <a:xfrm>
            <a:off x="8138160"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6" name="Google Shape;1586;p57"/>
          <p:cNvCxnSpPr/>
          <p:nvPr/>
        </p:nvCxnSpPr>
        <p:spPr>
          <a:xfrm>
            <a:off x="9235440" y="1901952"/>
            <a:ext cx="0" cy="2743200"/>
          </a:xfrm>
          <a:prstGeom prst="straightConnector1">
            <a:avLst/>
          </a:prstGeom>
          <a:noFill/>
          <a:ln cap="flat" cmpd="sng" w="9525">
            <a:solidFill>
              <a:srgbClr val="D9DEE5"/>
            </a:solidFill>
            <a:prstDash val="solid"/>
            <a:round/>
            <a:headEnd len="sm" w="sm" type="none"/>
            <a:tailEnd len="sm" w="sm" type="none"/>
          </a:ln>
        </p:spPr>
      </p:cxnSp>
      <p:cxnSp>
        <p:nvCxnSpPr>
          <p:cNvPr id="1587" name="Google Shape;1587;p57"/>
          <p:cNvCxnSpPr/>
          <p:nvPr/>
        </p:nvCxnSpPr>
        <p:spPr>
          <a:xfrm>
            <a:off x="10332720" y="1901952"/>
            <a:ext cx="0" cy="2743200"/>
          </a:xfrm>
          <a:prstGeom prst="straightConnector1">
            <a:avLst/>
          </a:prstGeom>
          <a:noFill/>
          <a:ln cap="flat" cmpd="sng" w="9525">
            <a:solidFill>
              <a:srgbClr val="D9DEE5"/>
            </a:solidFill>
            <a:prstDash val="solid"/>
            <a:round/>
            <a:headEnd len="sm" w="sm" type="none"/>
            <a:tailEnd len="sm" w="sm" type="none"/>
          </a:ln>
        </p:spPr>
      </p:cxnSp>
      <p:sp>
        <p:nvSpPr>
          <p:cNvPr id="1588" name="Google Shape;1588;p57"/>
          <p:cNvSpPr txBox="1"/>
          <p:nvPr/>
        </p:nvSpPr>
        <p:spPr>
          <a:xfrm>
            <a:off x="457200" y="1956816"/>
            <a:ext cx="2057400" cy="42062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BLE 스캔·연결</a:t>
            </a:r>
            <a:endParaRPr/>
          </a:p>
        </p:txBody>
      </p:sp>
      <p:sp>
        <p:nvSpPr>
          <p:cNvPr id="1589" name="Google Shape;1589;p57"/>
          <p:cNvSpPr/>
          <p:nvPr/>
        </p:nvSpPr>
        <p:spPr>
          <a:xfrm>
            <a:off x="2679191" y="1956816"/>
            <a:ext cx="3236975" cy="420624"/>
          </a:xfrm>
          <a:prstGeom prst="roundRect">
            <a:avLst>
              <a:gd fmla="val 10869" name="adj"/>
            </a:avLst>
          </a:prstGeom>
          <a:solidFill>
            <a:srgbClr val="FFF4E0"/>
          </a:solidFill>
          <a:ln cap="flat" cmpd="sng" w="9525">
            <a:solidFill>
              <a:srgbClr val="F0A93B"/>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lang="en-US" sz="900">
                <a:solidFill>
                  <a:srgbClr val="9A5B00"/>
                </a:solidFill>
                <a:latin typeface="Barlow"/>
                <a:ea typeface="Barlow"/>
                <a:cs typeface="Barlow"/>
                <a:sym typeface="Barlow"/>
              </a:rPr>
              <a:t>위치 권한:</a:t>
            </a:r>
            <a:r>
              <a:rPr b="0" lang="en-US" sz="825">
                <a:solidFill>
                  <a:srgbClr val="9A5B00"/>
                </a:solidFill>
                <a:latin typeface="Consolas"/>
                <a:ea typeface="Consolas"/>
                <a:cs typeface="Consolas"/>
                <a:sym typeface="Consolas"/>
              </a:rPr>
              <a:t>ACCESS_FINE_LOCATION</a:t>
            </a:r>
            <a:endParaRPr/>
          </a:p>
          <a:p>
            <a:pPr indent="0" lvl="0" marL="0" marR="0" rtl="0" algn="ctr">
              <a:lnSpc>
                <a:spcPct val="100000"/>
              </a:lnSpc>
              <a:spcBef>
                <a:spcPts val="100"/>
              </a:spcBef>
              <a:spcAft>
                <a:spcPts val="0"/>
              </a:spcAft>
              <a:buNone/>
            </a:pPr>
            <a:r>
              <a:rPr lang="en-US" sz="825">
                <a:solidFill>
                  <a:srgbClr val="9A5B00"/>
                </a:solidFill>
                <a:latin typeface="Barlow"/>
                <a:ea typeface="Barlow"/>
                <a:cs typeface="Barlow"/>
                <a:sym typeface="Barlow"/>
              </a:rPr>
              <a:t>Android 10~11: 앱이 보이는 동안만 스캔</a:t>
            </a:r>
            <a:endParaRPr/>
          </a:p>
        </p:txBody>
      </p:sp>
      <p:sp>
        <p:nvSpPr>
          <p:cNvPr id="1590" name="Google Shape;1590;p57"/>
          <p:cNvSpPr/>
          <p:nvPr/>
        </p:nvSpPr>
        <p:spPr>
          <a:xfrm>
            <a:off x="5971032" y="1956816"/>
            <a:ext cx="5431536" cy="420624"/>
          </a:xfrm>
          <a:prstGeom prst="roundRect">
            <a:avLst>
              <a:gd fmla="val 10869" name="adj"/>
            </a:avLst>
          </a:prstGeom>
          <a:solidFill>
            <a:srgbClr val="FFF4E0"/>
          </a:solidFill>
          <a:ln cap="flat" cmpd="sng" w="9525">
            <a:solidFill>
              <a:srgbClr val="F0A93B"/>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lang="en-US" sz="900">
                <a:solidFill>
                  <a:srgbClr val="9A5B00"/>
                </a:solidFill>
                <a:latin typeface="Barlow"/>
                <a:ea typeface="Barlow"/>
                <a:cs typeface="Barlow"/>
                <a:sym typeface="Barlow"/>
              </a:rPr>
              <a:t>주변 기기 권한:</a:t>
            </a:r>
            <a:r>
              <a:rPr b="0" lang="en-US" sz="825">
                <a:solidFill>
                  <a:srgbClr val="9A5B00"/>
                </a:solidFill>
                <a:latin typeface="Consolas"/>
                <a:ea typeface="Consolas"/>
                <a:cs typeface="Consolas"/>
                <a:sym typeface="Consolas"/>
              </a:rPr>
              <a:t>BLUETOOTH_SCAN</a:t>
            </a:r>
            <a:r>
              <a:rPr b="0" lang="en-US" sz="900">
                <a:solidFill>
                  <a:srgbClr val="9A5B00"/>
                </a:solidFill>
                <a:latin typeface="Barlow"/>
                <a:ea typeface="Barlow"/>
                <a:cs typeface="Barlow"/>
                <a:sym typeface="Barlow"/>
              </a:rPr>
              <a:t> + </a:t>
            </a:r>
            <a:r>
              <a:rPr b="0" lang="en-US" sz="825">
                <a:solidFill>
                  <a:srgbClr val="9A5B00"/>
                </a:solidFill>
                <a:latin typeface="Consolas"/>
                <a:ea typeface="Consolas"/>
                <a:cs typeface="Consolas"/>
                <a:sym typeface="Consolas"/>
              </a:rPr>
              <a:t>BLUETOOTH_CONNECT</a:t>
            </a:r>
            <a:endParaRPr/>
          </a:p>
        </p:txBody>
      </p:sp>
      <p:sp>
        <p:nvSpPr>
          <p:cNvPr id="1591" name="Google Shape;1591;p57"/>
          <p:cNvSpPr txBox="1"/>
          <p:nvPr/>
        </p:nvSpPr>
        <p:spPr>
          <a:xfrm>
            <a:off x="457200" y="244144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임시 Wi-Fi 연결</a:t>
            </a:r>
            <a:endParaRPr/>
          </a:p>
        </p:txBody>
      </p:sp>
      <p:sp>
        <p:nvSpPr>
          <p:cNvPr id="1592" name="Google Shape;1592;p57"/>
          <p:cNvSpPr/>
          <p:nvPr/>
        </p:nvSpPr>
        <p:spPr>
          <a:xfrm>
            <a:off x="2679191" y="2441448"/>
            <a:ext cx="1042415" cy="301752"/>
          </a:xfrm>
          <a:prstGeom prst="roundRect">
            <a:avLst>
              <a:gd fmla="val 15151" name="adj"/>
            </a:avLst>
          </a:prstGeom>
          <a:solidFill>
            <a:srgbClr val="FFFFFF"/>
          </a:solidFill>
          <a:ln cap="flat" cmpd="sng" w="9525">
            <a:solidFill>
              <a:srgbClr val="5F6B7A"/>
            </a:solidFill>
            <a:prstDash val="dash"/>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lang="en-US" sz="850">
                <a:solidFill>
                  <a:srgbClr val="5F6B7A"/>
                </a:solidFill>
                <a:latin typeface="Barlow"/>
                <a:ea typeface="Barlow"/>
                <a:cs typeface="Barlow"/>
                <a:sym typeface="Barlow"/>
              </a:rPr>
              <a:t>기존 방식</a:t>
            </a:r>
            <a:endParaRPr/>
          </a:p>
        </p:txBody>
      </p:sp>
      <p:sp>
        <p:nvSpPr>
          <p:cNvPr id="1593" name="Google Shape;1593;p57"/>
          <p:cNvSpPr/>
          <p:nvPr/>
        </p:nvSpPr>
        <p:spPr>
          <a:xfrm>
            <a:off x="3776472" y="2441448"/>
            <a:ext cx="7626096" cy="301752"/>
          </a:xfrm>
          <a:prstGeom prst="roundRect">
            <a:avLst>
              <a:gd fmla="val 15151" name="adj"/>
            </a:avLst>
          </a:prstGeom>
          <a:solidFill>
            <a:srgbClr val="EAF2FB"/>
          </a:solidFill>
          <a:ln cap="flat" cmpd="sng" w="9525">
            <a:solidFill>
              <a:srgbClr val="1565C0"/>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825">
                <a:solidFill>
                  <a:srgbClr val="1565C0"/>
                </a:solidFill>
                <a:latin typeface="Consolas"/>
                <a:ea typeface="Consolas"/>
                <a:cs typeface="Consolas"/>
                <a:sym typeface="Consolas"/>
              </a:rPr>
              <a:t>WifiNetworkSpecifier</a:t>
            </a:r>
            <a:r>
              <a:rPr b="0" lang="en-US" sz="900">
                <a:solidFill>
                  <a:srgbClr val="0B2F5B"/>
                </a:solidFill>
                <a:latin typeface="Barlow"/>
                <a:ea typeface="Barlow"/>
                <a:cs typeface="Barlow"/>
                <a:sym typeface="Barlow"/>
              </a:rPr>
              <a:t>: </a:t>
            </a:r>
            <a:r>
              <a:rPr lang="en-US" sz="900">
                <a:solidFill>
                  <a:srgbClr val="0B2F5B"/>
                </a:solidFill>
                <a:latin typeface="Barlow"/>
                <a:ea typeface="Barlow"/>
                <a:cs typeface="Barlow"/>
                <a:sym typeface="Barlow"/>
              </a:rPr>
              <a:t>앱이 네트워크를 요청하면 시스템 승인 대화상자 표시</a:t>
            </a:r>
            <a:endParaRPr/>
          </a:p>
        </p:txBody>
      </p:sp>
      <p:sp>
        <p:nvSpPr>
          <p:cNvPr id="1594" name="Google Shape;1594;p57"/>
          <p:cNvSpPr txBox="1"/>
          <p:nvPr/>
        </p:nvSpPr>
        <p:spPr>
          <a:xfrm>
            <a:off x="457200" y="280720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세션 유지</a:t>
            </a:r>
            <a:endParaRPr/>
          </a:p>
        </p:txBody>
      </p:sp>
      <p:sp>
        <p:nvSpPr>
          <p:cNvPr id="1595" name="Google Shape;1595;p57"/>
          <p:cNvSpPr/>
          <p:nvPr/>
        </p:nvSpPr>
        <p:spPr>
          <a:xfrm>
            <a:off x="2679191" y="2807208"/>
            <a:ext cx="8723376" cy="301752"/>
          </a:xfrm>
          <a:prstGeom prst="roundRect">
            <a:avLst>
              <a:gd fmla="val 15151" name="adj"/>
            </a:avLst>
          </a:prstGeom>
          <a:solidFill>
            <a:srgbClr val="EEF1F5"/>
          </a:solidFill>
          <a:ln cap="flat" cmpd="sng" w="9525">
            <a:solidFill>
              <a:srgbClr val="B8C2CF"/>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펌웨어 업데이트 중 포그라운드 서비스</a:t>
            </a:r>
            <a:endParaRPr/>
          </a:p>
        </p:txBody>
      </p:sp>
      <p:sp>
        <p:nvSpPr>
          <p:cNvPr id="1596" name="Google Shape;1596;p57"/>
          <p:cNvSpPr txBox="1"/>
          <p:nvPr/>
        </p:nvSpPr>
        <p:spPr>
          <a:xfrm>
            <a:off x="457200" y="317296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5F6B7A"/>
                </a:solidFill>
                <a:latin typeface="Barlow"/>
                <a:ea typeface="Barlow"/>
                <a:cs typeface="Barlow"/>
                <a:sym typeface="Barlow"/>
              </a:rPr>
              <a:t>Android 13부터</a:t>
            </a:r>
            <a:endParaRPr/>
          </a:p>
        </p:txBody>
      </p:sp>
      <p:sp>
        <p:nvSpPr>
          <p:cNvPr id="1597" name="Google Shape;1597;p57"/>
          <p:cNvSpPr/>
          <p:nvPr/>
        </p:nvSpPr>
        <p:spPr>
          <a:xfrm>
            <a:off x="7068312" y="3172968"/>
            <a:ext cx="4334256" cy="301752"/>
          </a:xfrm>
          <a:prstGeom prst="roundRect">
            <a:avLst>
              <a:gd fmla="val 15151" name="adj"/>
            </a:avLst>
          </a:prstGeom>
          <a:solidFill>
            <a:srgbClr val="FFF4E0"/>
          </a:solidFill>
          <a:ln cap="flat" cmpd="sng" w="9525">
            <a:solidFill>
              <a:srgbClr val="F0A93B"/>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lang="en-US" sz="900">
                <a:solidFill>
                  <a:srgbClr val="9A5B00"/>
                </a:solidFill>
                <a:latin typeface="Barlow"/>
                <a:ea typeface="Barlow"/>
                <a:cs typeface="Barlow"/>
                <a:sym typeface="Barlow"/>
              </a:rPr>
              <a:t>알림 권한:</a:t>
            </a:r>
            <a:r>
              <a:rPr b="0" lang="en-US" sz="825">
                <a:solidFill>
                  <a:srgbClr val="9A5B00"/>
                </a:solidFill>
                <a:latin typeface="Consolas"/>
                <a:ea typeface="Consolas"/>
                <a:cs typeface="Consolas"/>
                <a:sym typeface="Consolas"/>
              </a:rPr>
              <a:t>POST_NOTIFICATIONS</a:t>
            </a:r>
            <a:endParaRPr/>
          </a:p>
        </p:txBody>
      </p:sp>
      <p:sp>
        <p:nvSpPr>
          <p:cNvPr id="1598" name="Google Shape;1598;p57"/>
          <p:cNvSpPr txBox="1"/>
          <p:nvPr/>
        </p:nvSpPr>
        <p:spPr>
          <a:xfrm>
            <a:off x="457200" y="353872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5F6B7A"/>
                </a:solidFill>
                <a:latin typeface="Barlow"/>
                <a:ea typeface="Barlow"/>
                <a:cs typeface="Barlow"/>
                <a:sym typeface="Barlow"/>
              </a:rPr>
              <a:t>Android 14부터</a:t>
            </a:r>
            <a:endParaRPr/>
          </a:p>
        </p:txBody>
      </p:sp>
      <p:sp>
        <p:nvSpPr>
          <p:cNvPr id="1599" name="Google Shape;1599;p57"/>
          <p:cNvSpPr/>
          <p:nvPr/>
        </p:nvSpPr>
        <p:spPr>
          <a:xfrm>
            <a:off x="8165592" y="3538728"/>
            <a:ext cx="3236975" cy="301752"/>
          </a:xfrm>
          <a:prstGeom prst="roundRect">
            <a:avLst>
              <a:gd fmla="val 15151" name="adj"/>
            </a:avLst>
          </a:prstGeom>
          <a:solidFill>
            <a:srgbClr val="EEF1F5"/>
          </a:solidFill>
          <a:ln cap="flat" cmpd="sng" w="9525">
            <a:solidFill>
              <a:srgbClr val="B8C2CF"/>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lang="en-US" sz="900">
                <a:solidFill>
                  <a:srgbClr val="1F2A37"/>
                </a:solidFill>
                <a:latin typeface="Barlow"/>
                <a:ea typeface="Barlow"/>
                <a:cs typeface="Barlow"/>
                <a:sym typeface="Barlow"/>
              </a:rPr>
              <a:t>서비스 유형</a:t>
            </a:r>
            <a:r>
              <a:rPr b="0" lang="en-US" sz="825">
                <a:solidFill>
                  <a:srgbClr val="1565C0"/>
                </a:solidFill>
                <a:latin typeface="Consolas"/>
                <a:ea typeface="Consolas"/>
                <a:cs typeface="Consolas"/>
                <a:sym typeface="Consolas"/>
              </a:rPr>
              <a:t>connectedDevice</a:t>
            </a:r>
            <a:r>
              <a:rPr b="0" lang="en-US" sz="900">
                <a:solidFill>
                  <a:srgbClr val="1F2A37"/>
                </a:solidFill>
                <a:latin typeface="Barlow"/>
                <a:ea typeface="Barlow"/>
                <a:cs typeface="Barlow"/>
                <a:sym typeface="Barlow"/>
              </a:rPr>
              <a:t> + Play Console </a:t>
            </a:r>
            <a:r>
              <a:rPr lang="en-US" sz="900">
                <a:solidFill>
                  <a:srgbClr val="1F2A37"/>
                </a:solidFill>
                <a:latin typeface="Barlow"/>
                <a:ea typeface="Barlow"/>
                <a:cs typeface="Barlow"/>
                <a:sym typeface="Barlow"/>
              </a:rPr>
              <a:t>선언</a:t>
            </a:r>
            <a:endParaRPr/>
          </a:p>
        </p:txBody>
      </p:sp>
      <p:sp>
        <p:nvSpPr>
          <p:cNvPr id="1600" name="Google Shape;1600;p57"/>
          <p:cNvSpPr txBox="1"/>
          <p:nvPr/>
        </p:nvSpPr>
        <p:spPr>
          <a:xfrm>
            <a:off x="457200" y="3904487"/>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바코드 스캔</a:t>
            </a:r>
            <a:endParaRPr/>
          </a:p>
        </p:txBody>
      </p:sp>
      <p:sp>
        <p:nvSpPr>
          <p:cNvPr id="1601" name="Google Shape;1601;p57"/>
          <p:cNvSpPr/>
          <p:nvPr/>
        </p:nvSpPr>
        <p:spPr>
          <a:xfrm>
            <a:off x="2679191" y="3904487"/>
            <a:ext cx="8723376" cy="301752"/>
          </a:xfrm>
          <a:prstGeom prst="roundRect">
            <a:avLst>
              <a:gd fmla="val 15151" name="adj"/>
            </a:avLst>
          </a:prstGeom>
          <a:solidFill>
            <a:srgbClr val="FFF4E0"/>
          </a:solidFill>
          <a:ln cap="flat" cmpd="sng" w="9525">
            <a:solidFill>
              <a:srgbClr val="F0A93B"/>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0" lang="en-US" sz="825">
                <a:solidFill>
                  <a:srgbClr val="9A5B00"/>
                </a:solidFill>
                <a:latin typeface="Consolas"/>
                <a:ea typeface="Consolas"/>
                <a:cs typeface="Consolas"/>
                <a:sym typeface="Consolas"/>
              </a:rPr>
              <a:t>CAMERA</a:t>
            </a:r>
            <a:r>
              <a:rPr b="0" lang="en-US" sz="900">
                <a:solidFill>
                  <a:srgbClr val="9A5B00"/>
                </a:solidFill>
                <a:latin typeface="Barlow"/>
                <a:ea typeface="Barlow"/>
                <a:cs typeface="Barlow"/>
                <a:sym typeface="Barlow"/>
              </a:rPr>
              <a:t> </a:t>
            </a:r>
            <a:r>
              <a:rPr lang="en-US" sz="900">
                <a:solidFill>
                  <a:srgbClr val="9A5B00"/>
                </a:solidFill>
                <a:latin typeface="Barlow"/>
                <a:ea typeface="Barlow"/>
                <a:cs typeface="Barlow"/>
                <a:sym typeface="Barlow"/>
              </a:rPr>
              <a:t>권한, 또는 권한 없이 Google 코드 스캐너 사용 (Google Play 서비스 필요)</a:t>
            </a:r>
            <a:endParaRPr/>
          </a:p>
        </p:txBody>
      </p:sp>
      <p:sp>
        <p:nvSpPr>
          <p:cNvPr id="1602" name="Google Shape;1602;p57"/>
          <p:cNvSpPr txBox="1"/>
          <p:nvPr/>
        </p:nvSpPr>
        <p:spPr>
          <a:xfrm>
            <a:off x="457200" y="4270248"/>
            <a:ext cx="2057400" cy="30175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Google Play</a:t>
            </a:r>
            <a:endParaRPr/>
          </a:p>
        </p:txBody>
      </p:sp>
      <p:sp>
        <p:nvSpPr>
          <p:cNvPr id="1603" name="Google Shape;1603;p57"/>
          <p:cNvSpPr/>
          <p:nvPr/>
        </p:nvSpPr>
        <p:spPr>
          <a:xfrm>
            <a:off x="10360152" y="4270248"/>
            <a:ext cx="1042415" cy="301752"/>
          </a:xfrm>
          <a:prstGeom prst="roundRect">
            <a:avLst>
              <a:gd fmla="val 15151" name="adj"/>
            </a:avLst>
          </a:prstGeom>
          <a:solidFill>
            <a:srgbClr val="EEF1F5"/>
          </a:solidFill>
          <a:ln cap="flat" cmpd="sng" w="9525">
            <a:solidFill>
              <a:srgbClr val="B8C2CF"/>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None/>
            </a:pPr>
            <a:r>
              <a:rPr b="1" lang="en-US" sz="900">
                <a:solidFill>
                  <a:srgbClr val="1F2A37"/>
                </a:solidFill>
                <a:latin typeface="Barlow"/>
                <a:ea typeface="Barlow"/>
                <a:cs typeface="Barlow"/>
                <a:sym typeface="Barlow"/>
              </a:rPr>
              <a:t>타깃 API 36</a:t>
            </a:r>
            <a:endParaRPr/>
          </a:p>
        </p:txBody>
      </p:sp>
      <p:sp>
        <p:nvSpPr>
          <p:cNvPr id="1604" name="Google Shape;1604;p57"/>
          <p:cNvSpPr/>
          <p:nvPr/>
        </p:nvSpPr>
        <p:spPr>
          <a:xfrm>
            <a:off x="2679191" y="4270248"/>
            <a:ext cx="7626096" cy="301752"/>
          </a:xfrm>
          <a:prstGeom prst="rect">
            <a:avLst/>
          </a:prstGeom>
          <a:solidFill>
            <a:srgbClr val="FFFFFF"/>
          </a:solidFill>
          <a:ln>
            <a:noFill/>
          </a:ln>
        </p:spPr>
        <p:txBody>
          <a:bodyPr anchorCtr="0" anchor="ctr" bIns="0" lIns="45700" spcFirstLastPara="1" rIns="91425" wrap="square" tIns="0">
            <a:noAutofit/>
          </a:bodyPr>
          <a:lstStyle/>
          <a:p>
            <a:pPr indent="0" lvl="0" marL="0" marR="0" rtl="0" algn="r">
              <a:lnSpc>
                <a:spcPct val="100000"/>
              </a:lnSpc>
              <a:spcBef>
                <a:spcPts val="0"/>
              </a:spcBef>
              <a:spcAft>
                <a:spcPts val="0"/>
              </a:spcAft>
              <a:buNone/>
            </a:pPr>
            <a:r>
              <a:rPr lang="en-US" sz="900">
                <a:solidFill>
                  <a:srgbClr val="5F6B7A"/>
                </a:solidFill>
                <a:latin typeface="Barlow"/>
                <a:ea typeface="Barlow"/>
                <a:cs typeface="Barlow"/>
                <a:sym typeface="Barlow"/>
              </a:rPr>
              <a:t>2026.8.31부터 신규 앱·업데이트는 Android 16(API 36) 타깃 필수</a:t>
            </a:r>
            <a:endParaRPr/>
          </a:p>
        </p:txBody>
      </p:sp>
      <p:sp>
        <p:nvSpPr>
          <p:cNvPr id="1605" name="Google Shape;1605;p57"/>
          <p:cNvSpPr txBox="1"/>
          <p:nvPr/>
        </p:nvSpPr>
        <p:spPr>
          <a:xfrm>
            <a:off x="457200" y="4645152"/>
            <a:ext cx="20574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런타임 요청 (최대)</a:t>
            </a:r>
            <a:endParaRPr/>
          </a:p>
        </p:txBody>
      </p:sp>
      <p:sp>
        <p:nvSpPr>
          <p:cNvPr id="1606" name="Google Shape;1606;p57"/>
          <p:cNvSpPr/>
          <p:nvPr/>
        </p:nvSpPr>
        <p:spPr>
          <a:xfrm>
            <a:off x="2679191" y="4645152"/>
            <a:ext cx="3236975" cy="347472"/>
          </a:xfrm>
          <a:prstGeom prst="roundRect">
            <a:avLst>
              <a:gd fmla="val 13157"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07" name="Google Shape;1607;p57"/>
          <p:cNvSpPr txBox="1"/>
          <p:nvPr/>
        </p:nvSpPr>
        <p:spPr>
          <a:xfrm>
            <a:off x="2743199" y="4645152"/>
            <a:ext cx="20116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500">
                <a:solidFill>
                  <a:srgbClr val="FFFFFF"/>
                </a:solidFill>
                <a:latin typeface="Montserrat"/>
                <a:ea typeface="Montserrat"/>
                <a:cs typeface="Montserrat"/>
                <a:sym typeface="Montserrat"/>
              </a:rPr>
              <a:t>2</a:t>
            </a:r>
            <a:endParaRPr/>
          </a:p>
        </p:txBody>
      </p:sp>
      <p:sp>
        <p:nvSpPr>
          <p:cNvPr id="1608" name="Google Shape;1608;p57"/>
          <p:cNvSpPr txBox="1"/>
          <p:nvPr/>
        </p:nvSpPr>
        <p:spPr>
          <a:xfrm>
            <a:off x="2962656" y="4645152"/>
            <a:ext cx="2935223"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00">
                <a:solidFill>
                  <a:srgbClr val="DCE8F7"/>
                </a:solidFill>
                <a:latin typeface="Barlow"/>
                <a:ea typeface="Barlow"/>
                <a:cs typeface="Barlow"/>
                <a:sym typeface="Barlow"/>
              </a:rPr>
              <a:t>위치</a:t>
            </a:r>
            <a:endParaRPr/>
          </a:p>
          <a:p>
            <a:pPr indent="0" lvl="0" marL="0" marR="0" rtl="0" algn="l">
              <a:lnSpc>
                <a:spcPct val="100000"/>
              </a:lnSpc>
              <a:spcBef>
                <a:spcPts val="0"/>
              </a:spcBef>
              <a:spcAft>
                <a:spcPts val="0"/>
              </a:spcAft>
              <a:buNone/>
            </a:pPr>
            <a:r>
              <a:rPr lang="en-US" sz="800">
                <a:solidFill>
                  <a:srgbClr val="DCE8F7"/>
                </a:solidFill>
                <a:latin typeface="Barlow"/>
                <a:ea typeface="Barlow"/>
                <a:cs typeface="Barlow"/>
                <a:sym typeface="Barlow"/>
              </a:rPr>
              <a:t>카메라</a:t>
            </a:r>
            <a:endParaRPr/>
          </a:p>
        </p:txBody>
      </p:sp>
      <p:sp>
        <p:nvSpPr>
          <p:cNvPr id="1609" name="Google Shape;1609;p57"/>
          <p:cNvSpPr/>
          <p:nvPr/>
        </p:nvSpPr>
        <p:spPr>
          <a:xfrm>
            <a:off x="5971032" y="4645152"/>
            <a:ext cx="1042415" cy="347472"/>
          </a:xfrm>
          <a:prstGeom prst="roundRect">
            <a:avLst>
              <a:gd fmla="val 13157"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0" name="Google Shape;1610;p57"/>
          <p:cNvSpPr txBox="1"/>
          <p:nvPr/>
        </p:nvSpPr>
        <p:spPr>
          <a:xfrm>
            <a:off x="6035040" y="4645152"/>
            <a:ext cx="20116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500">
                <a:solidFill>
                  <a:srgbClr val="FFFFFF"/>
                </a:solidFill>
                <a:latin typeface="Montserrat"/>
                <a:ea typeface="Montserrat"/>
                <a:cs typeface="Montserrat"/>
                <a:sym typeface="Montserrat"/>
              </a:rPr>
              <a:t>2</a:t>
            </a:r>
            <a:endParaRPr/>
          </a:p>
        </p:txBody>
      </p:sp>
      <p:sp>
        <p:nvSpPr>
          <p:cNvPr id="1611" name="Google Shape;1611;p57"/>
          <p:cNvSpPr txBox="1"/>
          <p:nvPr/>
        </p:nvSpPr>
        <p:spPr>
          <a:xfrm>
            <a:off x="6254496" y="4645152"/>
            <a:ext cx="740663"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00">
                <a:solidFill>
                  <a:srgbClr val="DCE8F7"/>
                </a:solidFill>
                <a:latin typeface="Barlow"/>
                <a:ea typeface="Barlow"/>
                <a:cs typeface="Barlow"/>
                <a:sym typeface="Barlow"/>
              </a:rPr>
              <a:t>주변 기기</a:t>
            </a:r>
            <a:endParaRPr/>
          </a:p>
          <a:p>
            <a:pPr indent="0" lvl="0" marL="0" marR="0" rtl="0" algn="l">
              <a:lnSpc>
                <a:spcPct val="100000"/>
              </a:lnSpc>
              <a:spcBef>
                <a:spcPts val="0"/>
              </a:spcBef>
              <a:spcAft>
                <a:spcPts val="0"/>
              </a:spcAft>
              <a:buNone/>
            </a:pPr>
            <a:r>
              <a:rPr lang="en-US" sz="800">
                <a:solidFill>
                  <a:srgbClr val="DCE8F7"/>
                </a:solidFill>
                <a:latin typeface="Barlow"/>
                <a:ea typeface="Barlow"/>
                <a:cs typeface="Barlow"/>
                <a:sym typeface="Barlow"/>
              </a:rPr>
              <a:t>카메라</a:t>
            </a:r>
            <a:endParaRPr/>
          </a:p>
        </p:txBody>
      </p:sp>
      <p:sp>
        <p:nvSpPr>
          <p:cNvPr id="1612" name="Google Shape;1612;p57"/>
          <p:cNvSpPr/>
          <p:nvPr/>
        </p:nvSpPr>
        <p:spPr>
          <a:xfrm>
            <a:off x="7068312" y="4645152"/>
            <a:ext cx="4334256" cy="347472"/>
          </a:xfrm>
          <a:prstGeom prst="roundRect">
            <a:avLst>
              <a:gd fmla="val 13157"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3" name="Google Shape;1613;p57"/>
          <p:cNvSpPr txBox="1"/>
          <p:nvPr/>
        </p:nvSpPr>
        <p:spPr>
          <a:xfrm>
            <a:off x="7132320" y="4645152"/>
            <a:ext cx="201168"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500">
                <a:solidFill>
                  <a:srgbClr val="FFFFFF"/>
                </a:solidFill>
                <a:latin typeface="Montserrat"/>
                <a:ea typeface="Montserrat"/>
                <a:cs typeface="Montserrat"/>
                <a:sym typeface="Montserrat"/>
              </a:rPr>
              <a:t>3</a:t>
            </a:r>
            <a:endParaRPr/>
          </a:p>
        </p:txBody>
      </p:sp>
      <p:sp>
        <p:nvSpPr>
          <p:cNvPr id="1614" name="Google Shape;1614;p57"/>
          <p:cNvSpPr txBox="1"/>
          <p:nvPr/>
        </p:nvSpPr>
        <p:spPr>
          <a:xfrm>
            <a:off x="7351775" y="4645152"/>
            <a:ext cx="4032504"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00">
                <a:solidFill>
                  <a:srgbClr val="DCE8F7"/>
                </a:solidFill>
                <a:latin typeface="Barlow"/>
                <a:ea typeface="Barlow"/>
                <a:cs typeface="Barlow"/>
                <a:sym typeface="Barlow"/>
              </a:rPr>
              <a:t>주변 기기, 알림</a:t>
            </a:r>
            <a:endParaRPr/>
          </a:p>
          <a:p>
            <a:pPr indent="0" lvl="0" marL="0" marR="0" rtl="0" algn="l">
              <a:lnSpc>
                <a:spcPct val="100000"/>
              </a:lnSpc>
              <a:spcBef>
                <a:spcPts val="0"/>
              </a:spcBef>
              <a:spcAft>
                <a:spcPts val="0"/>
              </a:spcAft>
              <a:buNone/>
            </a:pPr>
            <a:r>
              <a:rPr lang="en-US" sz="800">
                <a:solidFill>
                  <a:srgbClr val="DCE8F7"/>
                </a:solidFill>
                <a:latin typeface="Barlow"/>
                <a:ea typeface="Barlow"/>
                <a:cs typeface="Barlow"/>
                <a:sym typeface="Barlow"/>
              </a:rPr>
              <a:t>카메라</a:t>
            </a:r>
            <a:endParaRPr/>
          </a:p>
        </p:txBody>
      </p:sp>
      <p:sp>
        <p:nvSpPr>
          <p:cNvPr id="1615" name="Google Shape;1615;p57"/>
          <p:cNvSpPr/>
          <p:nvPr/>
        </p:nvSpPr>
        <p:spPr>
          <a:xfrm>
            <a:off x="6583680" y="1243584"/>
            <a:ext cx="182880" cy="146304"/>
          </a:xfrm>
          <a:prstGeom prst="rect">
            <a:avLst/>
          </a:prstGeom>
          <a:solidFill>
            <a:srgbClr val="FFF4E0"/>
          </a:solidFill>
          <a:ln cap="flat" cmpd="sng" w="12700">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6" name="Google Shape;1616;p57"/>
          <p:cNvSpPr txBox="1"/>
          <p:nvPr/>
        </p:nvSpPr>
        <p:spPr>
          <a:xfrm>
            <a:off x="6821424" y="1216152"/>
            <a:ext cx="835068"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50">
                <a:solidFill>
                  <a:srgbClr val="1F2A37"/>
                </a:solidFill>
                <a:latin typeface="Barlow"/>
                <a:ea typeface="Barlow"/>
                <a:cs typeface="Barlow"/>
                <a:sym typeface="Barlow"/>
              </a:rPr>
              <a:t>런타임 요청</a:t>
            </a:r>
            <a:endParaRPr/>
          </a:p>
        </p:txBody>
      </p:sp>
      <p:sp>
        <p:nvSpPr>
          <p:cNvPr id="1617" name="Google Shape;1617;p57"/>
          <p:cNvSpPr/>
          <p:nvPr/>
        </p:nvSpPr>
        <p:spPr>
          <a:xfrm>
            <a:off x="7802796" y="1243584"/>
            <a:ext cx="182880" cy="146304"/>
          </a:xfrm>
          <a:prstGeom prst="rect">
            <a:avLst/>
          </a:prstGeom>
          <a:solidFill>
            <a:srgbClr val="EAF2FB"/>
          </a:solidFill>
          <a:ln cap="flat" cmpd="sng" w="12700">
            <a:solidFill>
              <a:srgbClr val="1565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18" name="Google Shape;1618;p57"/>
          <p:cNvSpPr txBox="1"/>
          <p:nvPr/>
        </p:nvSpPr>
        <p:spPr>
          <a:xfrm>
            <a:off x="8040540" y="1216152"/>
            <a:ext cx="1262541"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50">
                <a:solidFill>
                  <a:srgbClr val="1F2A37"/>
                </a:solidFill>
                <a:latin typeface="Barlow"/>
                <a:ea typeface="Barlow"/>
                <a:cs typeface="Barlow"/>
                <a:sym typeface="Barlow"/>
              </a:rPr>
              <a:t>사용 시점 시스템 대화상자</a:t>
            </a:r>
            <a:endParaRPr/>
          </a:p>
        </p:txBody>
      </p:sp>
      <p:sp>
        <p:nvSpPr>
          <p:cNvPr id="1619" name="Google Shape;1619;p57"/>
          <p:cNvSpPr/>
          <p:nvPr/>
        </p:nvSpPr>
        <p:spPr>
          <a:xfrm>
            <a:off x="9449385" y="1243584"/>
            <a:ext cx="182880" cy="146304"/>
          </a:xfrm>
          <a:prstGeom prst="rect">
            <a:avLst/>
          </a:prstGeom>
          <a:solidFill>
            <a:srgbClr val="EEF1F5"/>
          </a:solidFill>
          <a:ln cap="flat" cmpd="sng" w="12700">
            <a:solidFill>
              <a:srgbClr val="B8C2C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0" name="Google Shape;1620;p57"/>
          <p:cNvSpPr txBox="1"/>
          <p:nvPr/>
        </p:nvSpPr>
        <p:spPr>
          <a:xfrm>
            <a:off x="9687129" y="1216152"/>
            <a:ext cx="9217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850">
                <a:solidFill>
                  <a:srgbClr val="1F2A37"/>
                </a:solidFill>
                <a:latin typeface="Barlow"/>
                <a:ea typeface="Barlow"/>
                <a:cs typeface="Barlow"/>
                <a:sym typeface="Barlow"/>
              </a:rPr>
              <a:t>설치 기사 조치 없음</a:t>
            </a:r>
            <a:endParaRPr/>
          </a:p>
        </p:txBody>
      </p:sp>
      <p:sp>
        <p:nvSpPr>
          <p:cNvPr id="1621" name="Google Shape;1621;p57"/>
          <p:cNvSpPr txBox="1"/>
          <p:nvPr/>
        </p:nvSpPr>
        <p:spPr>
          <a:xfrm>
            <a:off x="457200" y="1216152"/>
            <a:ext cx="4572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버전별 적용 사항</a:t>
            </a:r>
            <a:endParaRPr/>
          </a:p>
        </p:txBody>
      </p:sp>
      <p:sp>
        <p:nvSpPr>
          <p:cNvPr id="1622" name="Google Shape;1622;p57"/>
          <p:cNvSpPr/>
          <p:nvPr/>
        </p:nvSpPr>
        <p:spPr>
          <a:xfrm>
            <a:off x="457200" y="5193792"/>
            <a:ext cx="1463040" cy="475488"/>
          </a:xfrm>
          <a:prstGeom prst="roundRect">
            <a:avLst>
              <a:gd fmla="val 11538"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FFFFFF"/>
                </a:solidFill>
                <a:latin typeface="Montserrat"/>
                <a:ea typeface="Montserrat"/>
                <a:cs typeface="Montserrat"/>
                <a:sym typeface="Montserrat"/>
              </a:rPr>
              <a:t>사전 점검</a:t>
            </a:r>
            <a:endParaRPr/>
          </a:p>
          <a:p>
            <a:pPr indent="0" lvl="0" marL="0" marR="0" rtl="0" algn="ctr">
              <a:lnSpc>
                <a:spcPct val="100000"/>
              </a:lnSpc>
              <a:spcBef>
                <a:spcPts val="100"/>
              </a:spcBef>
              <a:spcAft>
                <a:spcPts val="0"/>
              </a:spcAft>
              <a:buNone/>
            </a:pPr>
            <a:r>
              <a:rPr lang="en-US" sz="850">
                <a:solidFill>
                  <a:srgbClr val="A9C7EA"/>
                </a:solidFill>
                <a:latin typeface="Barlow"/>
                <a:ea typeface="Barlow"/>
                <a:cs typeface="Barlow"/>
                <a:sym typeface="Barlow"/>
              </a:rPr>
              <a:t>스캔마다 한 번 점검</a:t>
            </a:r>
            <a:endParaRPr/>
          </a:p>
        </p:txBody>
      </p:sp>
      <p:sp>
        <p:nvSpPr>
          <p:cNvPr id="1623" name="Google Shape;1623;p57"/>
          <p:cNvSpPr/>
          <p:nvPr/>
        </p:nvSpPr>
        <p:spPr>
          <a:xfrm>
            <a:off x="2103120" y="5193792"/>
            <a:ext cx="1645920" cy="475488"/>
          </a:xfrm>
          <a:prstGeom prst="roundRect">
            <a:avLst>
              <a:gd fmla="val 11538" name="adj"/>
            </a:avLst>
          </a:prstGeom>
          <a:solidFill>
            <a:srgbClr val="FFFFFF"/>
          </a:solidFill>
          <a:ln cap="flat" cmpd="sng" w="12700">
            <a:solidFill>
              <a:srgbClr val="0B2F5B"/>
            </a:solidFill>
            <a:prstDash val="solid"/>
            <a:round/>
            <a:headEnd len="sm" w="sm" type="none"/>
            <a:tailEnd len="sm" w="sm" type="none"/>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Bluetooth 켜짐</a:t>
            </a:r>
            <a:endParaRPr/>
          </a:p>
          <a:p>
            <a:pPr indent="0" lvl="0" marL="0" marR="0" rtl="0" algn="ctr">
              <a:lnSpc>
                <a:spcPct val="100000"/>
              </a:lnSpc>
              <a:spcBef>
                <a:spcPts val="100"/>
              </a:spcBef>
              <a:spcAft>
                <a:spcPts val="0"/>
              </a:spcAft>
              <a:buNone/>
            </a:pPr>
            <a:r>
              <a:rPr lang="en-US" sz="850">
                <a:solidFill>
                  <a:srgbClr val="5F6B7A"/>
                </a:solidFill>
                <a:latin typeface="Barlow"/>
                <a:ea typeface="Barlow"/>
                <a:cs typeface="Barlow"/>
                <a:sym typeface="Barlow"/>
              </a:rPr>
              <a:t>꺼져 있으면 켜도록 안내</a:t>
            </a:r>
            <a:endParaRPr/>
          </a:p>
        </p:txBody>
      </p:sp>
      <p:cxnSp>
        <p:nvCxnSpPr>
          <p:cNvPr id="1624" name="Google Shape;1624;p57"/>
          <p:cNvCxnSpPr>
            <a:stCxn id="1622" idx="3"/>
            <a:endCxn id="1623" idx="1"/>
          </p:cNvCxnSpPr>
          <p:nvPr/>
        </p:nvCxnSpPr>
        <p:spPr>
          <a:xfrm>
            <a:off x="1920240" y="5431536"/>
            <a:ext cx="183000" cy="0"/>
          </a:xfrm>
          <a:prstGeom prst="straightConnector1">
            <a:avLst/>
          </a:prstGeom>
          <a:noFill/>
          <a:ln cap="flat" cmpd="sng" w="15875">
            <a:solidFill>
              <a:srgbClr val="0B2F5B"/>
            </a:solidFill>
            <a:prstDash val="solid"/>
            <a:round/>
            <a:headEnd len="sm" w="sm" type="none"/>
            <a:tailEnd len="med" w="med" type="triangle"/>
          </a:ln>
        </p:spPr>
      </p:cxnSp>
      <p:sp>
        <p:nvSpPr>
          <p:cNvPr id="1625" name="Google Shape;1625;p57"/>
          <p:cNvSpPr/>
          <p:nvPr/>
        </p:nvSpPr>
        <p:spPr>
          <a:xfrm>
            <a:off x="3931920" y="5193792"/>
            <a:ext cx="2240280" cy="475488"/>
          </a:xfrm>
          <a:prstGeom prst="roundRect">
            <a:avLst>
              <a:gd fmla="val 11538" name="adj"/>
            </a:avLst>
          </a:prstGeom>
          <a:solidFill>
            <a:srgbClr val="FFFFFF"/>
          </a:solidFill>
          <a:ln cap="flat" cmpd="sng" w="12700">
            <a:solidFill>
              <a:srgbClr val="0B2F5B"/>
            </a:solidFill>
            <a:prstDash val="solid"/>
            <a:round/>
            <a:headEnd len="sm" w="sm" type="none"/>
            <a:tailEnd len="sm" w="sm" type="none"/>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이 OS 버전의 권한</a:t>
            </a:r>
            <a:endParaRPr/>
          </a:p>
          <a:p>
            <a:pPr indent="0" lvl="0" marL="0" marR="0" rtl="0" algn="ctr">
              <a:lnSpc>
                <a:spcPct val="100000"/>
              </a:lnSpc>
              <a:spcBef>
                <a:spcPts val="100"/>
              </a:spcBef>
              <a:spcAft>
                <a:spcPts val="0"/>
              </a:spcAft>
              <a:buNone/>
            </a:pPr>
            <a:r>
              <a:rPr lang="en-US" sz="850">
                <a:solidFill>
                  <a:srgbClr val="5F6B7A"/>
                </a:solidFill>
                <a:latin typeface="Barlow"/>
                <a:ea typeface="Barlow"/>
                <a:cs typeface="Barlow"/>
                <a:sym typeface="Barlow"/>
              </a:rPr>
              <a:t>영구 거부 시: 앱 설정 열기</a:t>
            </a:r>
            <a:endParaRPr/>
          </a:p>
        </p:txBody>
      </p:sp>
      <p:cxnSp>
        <p:nvCxnSpPr>
          <p:cNvPr id="1626" name="Google Shape;1626;p57"/>
          <p:cNvCxnSpPr>
            <a:stCxn id="1623" idx="3"/>
            <a:endCxn id="1625" idx="1"/>
          </p:cNvCxnSpPr>
          <p:nvPr/>
        </p:nvCxnSpPr>
        <p:spPr>
          <a:xfrm>
            <a:off x="3749040" y="5431536"/>
            <a:ext cx="183000" cy="0"/>
          </a:xfrm>
          <a:prstGeom prst="straightConnector1">
            <a:avLst/>
          </a:prstGeom>
          <a:noFill/>
          <a:ln cap="flat" cmpd="sng" w="15875">
            <a:solidFill>
              <a:srgbClr val="0B2F5B"/>
            </a:solidFill>
            <a:prstDash val="solid"/>
            <a:round/>
            <a:headEnd len="sm" w="sm" type="none"/>
            <a:tailEnd len="med" w="med" type="triangle"/>
          </a:ln>
        </p:spPr>
      </p:cxnSp>
      <p:sp>
        <p:nvSpPr>
          <p:cNvPr id="1627" name="Google Shape;1627;p57"/>
          <p:cNvSpPr/>
          <p:nvPr/>
        </p:nvSpPr>
        <p:spPr>
          <a:xfrm>
            <a:off x="6355080" y="5193792"/>
            <a:ext cx="2011680" cy="475488"/>
          </a:xfrm>
          <a:prstGeom prst="roundRect">
            <a:avLst>
              <a:gd fmla="val 11538" name="adj"/>
            </a:avLst>
          </a:prstGeom>
          <a:solidFill>
            <a:srgbClr val="FFFFFF"/>
          </a:solidFill>
          <a:ln cap="flat" cmpd="sng" w="12700">
            <a:solidFill>
              <a:srgbClr val="0B2F5B"/>
            </a:solidFill>
            <a:prstDash val="solid"/>
            <a:round/>
            <a:headEnd len="sm" w="sm" type="none"/>
            <a:tailEnd len="sm" w="sm" type="none"/>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0B2F5B"/>
                </a:solidFill>
                <a:latin typeface="Montserrat"/>
                <a:ea typeface="Montserrat"/>
                <a:cs typeface="Montserrat"/>
                <a:sym typeface="Montserrat"/>
              </a:rPr>
              <a:t>위치 켜짐</a:t>
            </a:r>
            <a:endParaRPr/>
          </a:p>
          <a:p>
            <a:pPr indent="0" lvl="0" marL="0" marR="0" rtl="0" algn="ctr">
              <a:lnSpc>
                <a:spcPct val="100000"/>
              </a:lnSpc>
              <a:spcBef>
                <a:spcPts val="100"/>
              </a:spcBef>
              <a:spcAft>
                <a:spcPts val="0"/>
              </a:spcAft>
              <a:buNone/>
            </a:pPr>
            <a:r>
              <a:rPr lang="en-US" sz="850">
                <a:solidFill>
                  <a:srgbClr val="5F6B7A"/>
                </a:solidFill>
                <a:latin typeface="Barlow"/>
                <a:ea typeface="Barlow"/>
                <a:cs typeface="Barlow"/>
                <a:sym typeface="Barlow"/>
              </a:rPr>
              <a:t>Android 11 이하 · 검증 예정</a:t>
            </a:r>
            <a:endParaRPr/>
          </a:p>
        </p:txBody>
      </p:sp>
      <p:cxnSp>
        <p:nvCxnSpPr>
          <p:cNvPr id="1628" name="Google Shape;1628;p57"/>
          <p:cNvCxnSpPr>
            <a:stCxn id="1625" idx="3"/>
            <a:endCxn id="1627" idx="1"/>
          </p:cNvCxnSpPr>
          <p:nvPr/>
        </p:nvCxnSpPr>
        <p:spPr>
          <a:xfrm>
            <a:off x="6172200" y="5431536"/>
            <a:ext cx="183000" cy="0"/>
          </a:xfrm>
          <a:prstGeom prst="straightConnector1">
            <a:avLst/>
          </a:prstGeom>
          <a:noFill/>
          <a:ln cap="flat" cmpd="sng" w="15875">
            <a:solidFill>
              <a:srgbClr val="0B2F5B"/>
            </a:solidFill>
            <a:prstDash val="solid"/>
            <a:round/>
            <a:headEnd len="sm" w="sm" type="none"/>
            <a:tailEnd len="med" w="med" type="triangle"/>
          </a:ln>
        </p:spPr>
      </p:cxnSp>
      <p:sp>
        <p:nvSpPr>
          <p:cNvPr id="1629" name="Google Shape;1629;p57"/>
          <p:cNvSpPr/>
          <p:nvPr/>
        </p:nvSpPr>
        <p:spPr>
          <a:xfrm>
            <a:off x="8549640" y="5193792"/>
            <a:ext cx="1143000" cy="475488"/>
          </a:xfrm>
          <a:prstGeom prst="roundRect">
            <a:avLst>
              <a:gd fmla="val 11538" name="adj"/>
            </a:avLst>
          </a:prstGeom>
          <a:solidFill>
            <a:srgbClr val="E6F4EA"/>
          </a:solidFill>
          <a:ln cap="flat" cmpd="sng" w="12700">
            <a:solidFill>
              <a:srgbClr val="8CC9A6"/>
            </a:solidFill>
            <a:prstDash val="solid"/>
            <a:round/>
            <a:headEnd len="sm" w="sm" type="none"/>
            <a:tailEnd len="sm" w="sm" type="none"/>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Montserrat"/>
                <a:ea typeface="Montserrat"/>
                <a:cs typeface="Montserrat"/>
                <a:sym typeface="Montserrat"/>
              </a:rPr>
              <a:t>스캔 준비 완료</a:t>
            </a:r>
            <a:endParaRPr/>
          </a:p>
        </p:txBody>
      </p:sp>
      <p:cxnSp>
        <p:nvCxnSpPr>
          <p:cNvPr id="1630" name="Google Shape;1630;p57"/>
          <p:cNvCxnSpPr>
            <a:stCxn id="1627" idx="3"/>
            <a:endCxn id="1629" idx="1"/>
          </p:cNvCxnSpPr>
          <p:nvPr/>
        </p:nvCxnSpPr>
        <p:spPr>
          <a:xfrm>
            <a:off x="8366760" y="5431536"/>
            <a:ext cx="183000" cy="0"/>
          </a:xfrm>
          <a:prstGeom prst="straightConnector1">
            <a:avLst/>
          </a:prstGeom>
          <a:noFill/>
          <a:ln cap="flat" cmpd="sng" w="15875">
            <a:solidFill>
              <a:srgbClr val="0B2F5B"/>
            </a:solidFill>
            <a:prstDash val="solid"/>
            <a:round/>
            <a:headEnd len="sm" w="sm" type="none"/>
            <a:tailEnd len="med" w="med" type="triangle"/>
          </a:ln>
        </p:spPr>
      </p:cxnSp>
      <p:sp>
        <p:nvSpPr>
          <p:cNvPr id="1631" name="Google Shape;1631;p57"/>
          <p:cNvSpPr txBox="1"/>
          <p:nvPr/>
        </p:nvSpPr>
        <p:spPr>
          <a:xfrm>
            <a:off x="9875520" y="5157216"/>
            <a:ext cx="1554479" cy="5486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점검 실패 시 “기기를 찾을 수 없음” 대신 항목별 해결 방법을 보여줍니다.</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6" name="Shape 1636"/>
        <p:cNvGrpSpPr/>
        <p:nvPr/>
      </p:nvGrpSpPr>
      <p:grpSpPr>
        <a:xfrm>
          <a:off x="0" y="0"/>
          <a:ext cx="0" cy="0"/>
          <a:chOff x="0" y="0"/>
          <a:chExt cx="0" cy="0"/>
        </a:xfrm>
      </p:grpSpPr>
      <p:sp>
        <p:nvSpPr>
          <p:cNvPr id="1637" name="Google Shape;1637;p58"/>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Android BLE 연결 · 제안 설계</a:t>
            </a:r>
            <a:endParaRPr/>
          </a:p>
        </p:txBody>
      </p:sp>
      <p:sp>
        <p:nvSpPr>
          <p:cNvPr id="1638" name="Google Shape;1638;p58"/>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Android GATT 클라이언트는 </a:t>
            </a:r>
            <a:r>
              <a:rPr lang="en-US"/>
              <a:t>자체 큐가 없으므로</a:t>
            </a:r>
            <a:r>
              <a:rPr lang="en-US"/>
              <a:t> 단일 명령 큐가 필수입니다</a:t>
            </a:r>
            <a:endParaRPr/>
          </a:p>
        </p:txBody>
      </p:sp>
      <p:sp>
        <p:nvSpPr>
          <p:cNvPr id="1639" name="Google Shape;1639;p58"/>
          <p:cNvSpPr txBox="1"/>
          <p:nvPr/>
        </p:nvSpPr>
        <p:spPr>
          <a:xfrm>
            <a:off x="457200" y="1216152"/>
            <a:ext cx="4572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1 · Android 연결 시퀀스</a:t>
            </a:r>
            <a:endParaRPr/>
          </a:p>
        </p:txBody>
      </p:sp>
      <p:sp>
        <p:nvSpPr>
          <p:cNvPr id="1640" name="Google Shape;1640;p58"/>
          <p:cNvSpPr txBox="1"/>
          <p:nvPr/>
        </p:nvSpPr>
        <p:spPr>
          <a:xfrm>
            <a:off x="9958667" y="1216152"/>
            <a:ext cx="1471332"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lang="en-US" sz="875">
                <a:solidFill>
                  <a:srgbClr val="5F6B7A"/>
                </a:solidFill>
                <a:latin typeface="Barlow"/>
                <a:ea typeface="Barlow"/>
                <a:cs typeface="Barlow"/>
                <a:sym typeface="Barlow"/>
              </a:rPr>
              <a:t>주황: Android 추가 작업</a:t>
            </a:r>
            <a:endParaRPr/>
          </a:p>
        </p:txBody>
      </p:sp>
      <p:sp>
        <p:nvSpPr>
          <p:cNvPr id="1641" name="Google Shape;1641;p58"/>
          <p:cNvSpPr/>
          <p:nvPr/>
        </p:nvSpPr>
        <p:spPr>
          <a:xfrm>
            <a:off x="9702635" y="1243584"/>
            <a:ext cx="182880" cy="146304"/>
          </a:xfrm>
          <a:prstGeom prst="rect">
            <a:avLst/>
          </a:prstGeom>
          <a:solidFill>
            <a:srgbClr val="FFF4E0"/>
          </a:solidFill>
          <a:ln cap="flat" cmpd="sng" w="12700">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2" name="Google Shape;1642;p58"/>
          <p:cNvSpPr/>
          <p:nvPr/>
        </p:nvSpPr>
        <p:spPr>
          <a:xfrm>
            <a:off x="457200" y="1554480"/>
            <a:ext cx="1700784" cy="1188720"/>
          </a:xfrm>
          <a:prstGeom prst="roundRect">
            <a:avLst>
              <a:gd fmla="val 4615"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3" name="Google Shape;1643;p58"/>
          <p:cNvSpPr/>
          <p:nvPr/>
        </p:nvSpPr>
        <p:spPr>
          <a:xfrm>
            <a:off x="548640"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1</a:t>
            </a:r>
            <a:endParaRPr/>
          </a:p>
        </p:txBody>
      </p:sp>
      <p:sp>
        <p:nvSpPr>
          <p:cNvPr id="1644" name="Google Shape;1644;p58"/>
          <p:cNvSpPr txBox="1"/>
          <p:nvPr/>
        </p:nvSpPr>
        <p:spPr>
          <a:xfrm>
            <a:off x="877824"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스캔</a:t>
            </a:r>
            <a:endParaRPr/>
          </a:p>
        </p:txBody>
      </p:sp>
      <p:sp>
        <p:nvSpPr>
          <p:cNvPr id="1645" name="Google Shape;1645;p58"/>
          <p:cNvSpPr txBox="1"/>
          <p:nvPr/>
        </p:nvSpPr>
        <p:spPr>
          <a:xfrm>
            <a:off x="548640"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ScanFilter(serviceUuid)</a:t>
            </a:r>
            <a:endParaRPr/>
          </a:p>
        </p:txBody>
      </p:sp>
      <p:sp>
        <p:nvSpPr>
          <p:cNvPr id="1646" name="Google Shape;1646;p58"/>
          <p:cNvSpPr txBox="1"/>
          <p:nvPr/>
        </p:nvSpPr>
        <p:spPr>
          <a:xfrm>
            <a:off x="548640"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광고된 이름에서 Serial No 추출, 일치 시 stopScan()</a:t>
            </a:r>
            <a:endParaRPr/>
          </a:p>
        </p:txBody>
      </p:sp>
      <p:sp>
        <p:nvSpPr>
          <p:cNvPr id="1647" name="Google Shape;1647;p58"/>
          <p:cNvSpPr/>
          <p:nvPr/>
        </p:nvSpPr>
        <p:spPr>
          <a:xfrm>
            <a:off x="2311603" y="1554480"/>
            <a:ext cx="1700784" cy="1188720"/>
          </a:xfrm>
          <a:prstGeom prst="roundRect">
            <a:avLst>
              <a:gd fmla="val 4615"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48" name="Google Shape;1648;p58"/>
          <p:cNvSpPr/>
          <p:nvPr/>
        </p:nvSpPr>
        <p:spPr>
          <a:xfrm>
            <a:off x="2403043"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2</a:t>
            </a:r>
            <a:endParaRPr/>
          </a:p>
        </p:txBody>
      </p:sp>
      <p:sp>
        <p:nvSpPr>
          <p:cNvPr id="1649" name="Google Shape;1649;p58"/>
          <p:cNvSpPr txBox="1"/>
          <p:nvPr/>
        </p:nvSpPr>
        <p:spPr>
          <a:xfrm>
            <a:off x="2732227"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연결</a:t>
            </a:r>
            <a:endParaRPr/>
          </a:p>
        </p:txBody>
      </p:sp>
      <p:sp>
        <p:nvSpPr>
          <p:cNvPr id="1650" name="Google Shape;1650;p58"/>
          <p:cNvSpPr txBox="1"/>
          <p:nvPr/>
        </p:nvSpPr>
        <p:spPr>
          <a:xfrm>
            <a:off x="2403043"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connectGatt()</a:t>
            </a:r>
            <a:endParaRPr/>
          </a:p>
        </p:txBody>
      </p:sp>
      <p:sp>
        <p:nvSpPr>
          <p:cNvPr id="1651" name="Google Shape;1651;p58"/>
          <p:cNvSpPr txBox="1"/>
          <p:nvPr/>
        </p:nvSpPr>
        <p:spPr>
          <a:xfrm>
            <a:off x="2403043"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925">
                <a:solidFill>
                  <a:srgbClr val="1F2A37"/>
                </a:solidFill>
                <a:latin typeface="Barlow"/>
                <a:ea typeface="Barlow"/>
                <a:cs typeface="Barlow"/>
                <a:sym typeface="Barlow"/>
              </a:rPr>
              <a:t>autoConnect = false, LE </a:t>
            </a:r>
            <a:r>
              <a:rPr lang="en-US" sz="925">
                <a:solidFill>
                  <a:srgbClr val="1F2A37"/>
                </a:solidFill>
                <a:latin typeface="Barlow"/>
                <a:ea typeface="Barlow"/>
                <a:cs typeface="Barlow"/>
                <a:sym typeface="Barlow"/>
              </a:rPr>
              <a:t>전송, 결과는 </a:t>
            </a:r>
            <a:r>
              <a:rPr b="0" lang="en-US" sz="925">
                <a:solidFill>
                  <a:srgbClr val="1F2A37"/>
                </a:solidFill>
                <a:latin typeface="Barlow"/>
                <a:ea typeface="Barlow"/>
                <a:cs typeface="Barlow"/>
                <a:sym typeface="Barlow"/>
              </a:rPr>
              <a:t>onConnectionStateChange</a:t>
            </a:r>
            <a:endParaRPr/>
          </a:p>
        </p:txBody>
      </p:sp>
      <p:cxnSp>
        <p:nvCxnSpPr>
          <p:cNvPr id="1652" name="Google Shape;1652;p58"/>
          <p:cNvCxnSpPr>
            <a:stCxn id="1642" idx="3"/>
            <a:endCxn id="1647" idx="1"/>
          </p:cNvCxnSpPr>
          <p:nvPr/>
        </p:nvCxnSpPr>
        <p:spPr>
          <a:xfrm>
            <a:off x="2157984"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53" name="Google Shape;1653;p58"/>
          <p:cNvSpPr/>
          <p:nvPr/>
        </p:nvSpPr>
        <p:spPr>
          <a:xfrm>
            <a:off x="4166006" y="1554480"/>
            <a:ext cx="1700784" cy="1188720"/>
          </a:xfrm>
          <a:prstGeom prst="roundRect">
            <a:avLst>
              <a:gd fmla="val 4615" name="adj"/>
            </a:avLst>
          </a:prstGeom>
          <a:solidFill>
            <a:srgbClr val="FFF4E0"/>
          </a:solidFill>
          <a:ln cap="flat" cmpd="sng" w="1587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54" name="Google Shape;1654;p58"/>
          <p:cNvSpPr/>
          <p:nvPr/>
        </p:nvSpPr>
        <p:spPr>
          <a:xfrm>
            <a:off x="4257446"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3</a:t>
            </a:r>
            <a:endParaRPr/>
          </a:p>
        </p:txBody>
      </p:sp>
      <p:sp>
        <p:nvSpPr>
          <p:cNvPr id="1655" name="Google Shape;1655;p58"/>
          <p:cNvSpPr txBox="1"/>
          <p:nvPr/>
        </p:nvSpPr>
        <p:spPr>
          <a:xfrm>
            <a:off x="4586630"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MTU 요청</a:t>
            </a:r>
            <a:endParaRPr/>
          </a:p>
        </p:txBody>
      </p:sp>
      <p:sp>
        <p:nvSpPr>
          <p:cNvPr id="1656" name="Google Shape;1656;p58"/>
          <p:cNvSpPr txBox="1"/>
          <p:nvPr/>
        </p:nvSpPr>
        <p:spPr>
          <a:xfrm>
            <a:off x="4257446"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requestMtu()</a:t>
            </a:r>
            <a:endParaRPr/>
          </a:p>
        </p:txBody>
      </p:sp>
      <p:sp>
        <p:nvSpPr>
          <p:cNvPr id="1657" name="Google Shape;1657;p58"/>
          <p:cNvSpPr txBox="1"/>
          <p:nvPr/>
        </p:nvSpPr>
        <p:spPr>
          <a:xfrm>
            <a:off x="4257446"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Android 14+는 항상 517 요청. 청크 크기는 협상된 값을 따름</a:t>
            </a:r>
            <a:endParaRPr/>
          </a:p>
        </p:txBody>
      </p:sp>
      <p:sp>
        <p:nvSpPr>
          <p:cNvPr id="1658" name="Google Shape;1658;p58"/>
          <p:cNvSpPr/>
          <p:nvPr/>
        </p:nvSpPr>
        <p:spPr>
          <a:xfrm>
            <a:off x="4533298" y="1463039"/>
            <a:ext cx="1242052" cy="18288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50">
                <a:solidFill>
                  <a:srgbClr val="9A5B00"/>
                </a:solidFill>
                <a:latin typeface="Montserrat"/>
                <a:ea typeface="Montserrat"/>
                <a:cs typeface="Montserrat"/>
                <a:sym typeface="Montserrat"/>
              </a:rPr>
              <a:t>ANDROID에서 명시</a:t>
            </a:r>
            <a:endParaRPr/>
          </a:p>
        </p:txBody>
      </p:sp>
      <p:cxnSp>
        <p:nvCxnSpPr>
          <p:cNvPr id="1659" name="Google Shape;1659;p58"/>
          <p:cNvCxnSpPr>
            <a:stCxn id="1647" idx="3"/>
            <a:endCxn id="1653" idx="1"/>
          </p:cNvCxnSpPr>
          <p:nvPr/>
        </p:nvCxnSpPr>
        <p:spPr>
          <a:xfrm>
            <a:off x="4012387"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60" name="Google Shape;1660;p58"/>
          <p:cNvSpPr/>
          <p:nvPr/>
        </p:nvSpPr>
        <p:spPr>
          <a:xfrm>
            <a:off x="6020409" y="1554480"/>
            <a:ext cx="1700784" cy="1188720"/>
          </a:xfrm>
          <a:prstGeom prst="roundRect">
            <a:avLst>
              <a:gd fmla="val 4615" name="adj"/>
            </a:avLst>
          </a:prstGeom>
          <a:solidFill>
            <a:srgbClr val="FFFFFF"/>
          </a:solidFill>
          <a:ln cap="flat" cmpd="sng" w="12700">
            <a:solidFill>
              <a:srgbClr val="0B2F5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1" name="Google Shape;1661;p58"/>
          <p:cNvSpPr/>
          <p:nvPr/>
        </p:nvSpPr>
        <p:spPr>
          <a:xfrm>
            <a:off x="6111849"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4</a:t>
            </a:r>
            <a:endParaRPr/>
          </a:p>
        </p:txBody>
      </p:sp>
      <p:sp>
        <p:nvSpPr>
          <p:cNvPr id="1662" name="Google Shape;1662;p58"/>
          <p:cNvSpPr txBox="1"/>
          <p:nvPr/>
        </p:nvSpPr>
        <p:spPr>
          <a:xfrm>
            <a:off x="6441033"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서비스 탐색</a:t>
            </a:r>
            <a:endParaRPr/>
          </a:p>
        </p:txBody>
      </p:sp>
      <p:sp>
        <p:nvSpPr>
          <p:cNvPr id="1663" name="Google Shape;1663;p58"/>
          <p:cNvSpPr txBox="1"/>
          <p:nvPr/>
        </p:nvSpPr>
        <p:spPr>
          <a:xfrm>
            <a:off x="6111849"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discoverServices()</a:t>
            </a:r>
            <a:endParaRPr/>
          </a:p>
        </p:txBody>
      </p:sp>
      <p:sp>
        <p:nvSpPr>
          <p:cNvPr id="1664" name="Google Shape;1664;p58"/>
          <p:cNvSpPr txBox="1"/>
          <p:nvPr/>
        </p:nvSpPr>
        <p:spPr>
          <a:xfrm>
            <a:off x="6111849"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Characteristic 구성: 레지스터 맵과 함께 확정 예정</a:t>
            </a:r>
            <a:endParaRPr/>
          </a:p>
        </p:txBody>
      </p:sp>
      <p:cxnSp>
        <p:nvCxnSpPr>
          <p:cNvPr id="1665" name="Google Shape;1665;p58"/>
          <p:cNvCxnSpPr>
            <a:stCxn id="1653" idx="3"/>
            <a:endCxn id="1660" idx="1"/>
          </p:cNvCxnSpPr>
          <p:nvPr/>
        </p:nvCxnSpPr>
        <p:spPr>
          <a:xfrm>
            <a:off x="5866790"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66" name="Google Shape;1666;p58"/>
          <p:cNvSpPr/>
          <p:nvPr/>
        </p:nvSpPr>
        <p:spPr>
          <a:xfrm>
            <a:off x="7874812" y="1554480"/>
            <a:ext cx="1700784" cy="1188720"/>
          </a:xfrm>
          <a:prstGeom prst="roundRect">
            <a:avLst>
              <a:gd fmla="val 4615" name="adj"/>
            </a:avLst>
          </a:prstGeom>
          <a:solidFill>
            <a:srgbClr val="FFF4E0"/>
          </a:solidFill>
          <a:ln cap="flat" cmpd="sng" w="1587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7" name="Google Shape;1667;p58"/>
          <p:cNvSpPr/>
          <p:nvPr/>
        </p:nvSpPr>
        <p:spPr>
          <a:xfrm>
            <a:off x="7966252" y="1645920"/>
            <a:ext cx="256032" cy="256032"/>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FFFFFF"/>
                </a:solidFill>
                <a:latin typeface="Montserrat"/>
                <a:ea typeface="Montserrat"/>
                <a:cs typeface="Montserrat"/>
                <a:sym typeface="Montserrat"/>
              </a:rPr>
              <a:t>5</a:t>
            </a:r>
            <a:endParaRPr/>
          </a:p>
        </p:txBody>
      </p:sp>
      <p:sp>
        <p:nvSpPr>
          <p:cNvPr id="1668" name="Google Shape;1668;p58"/>
          <p:cNvSpPr txBox="1"/>
          <p:nvPr/>
        </p:nvSpPr>
        <p:spPr>
          <a:xfrm>
            <a:off x="8295436"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이벤트 활성화</a:t>
            </a:r>
            <a:endParaRPr/>
          </a:p>
        </p:txBody>
      </p:sp>
      <p:sp>
        <p:nvSpPr>
          <p:cNvPr id="1669" name="Google Shape;1669;p58"/>
          <p:cNvSpPr txBox="1"/>
          <p:nvPr/>
        </p:nvSpPr>
        <p:spPr>
          <a:xfrm>
            <a:off x="7966252" y="1993391"/>
            <a:ext cx="155448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00">
                <a:solidFill>
                  <a:srgbClr val="1565C0"/>
                </a:solidFill>
                <a:latin typeface="Consolas"/>
                <a:ea typeface="Consolas"/>
                <a:cs typeface="Consolas"/>
                <a:sym typeface="Consolas"/>
              </a:rPr>
              <a:t>writeDescriptor(CCCD)</a:t>
            </a:r>
            <a:endParaRPr/>
          </a:p>
        </p:txBody>
      </p:sp>
      <p:sp>
        <p:nvSpPr>
          <p:cNvPr id="1670" name="Google Shape;1670;p58"/>
          <p:cNvSpPr txBox="1"/>
          <p:nvPr/>
        </p:nvSpPr>
        <p:spPr>
          <a:xfrm>
            <a:off x="7966252" y="2212848"/>
            <a:ext cx="1517904" cy="5669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알림 활성화 후 이벤트 characteristic마다 descriptor write 1회</a:t>
            </a:r>
            <a:endParaRPr/>
          </a:p>
        </p:txBody>
      </p:sp>
      <p:sp>
        <p:nvSpPr>
          <p:cNvPr id="1671" name="Google Shape;1671;p58"/>
          <p:cNvSpPr/>
          <p:nvPr/>
        </p:nvSpPr>
        <p:spPr>
          <a:xfrm>
            <a:off x="8011069" y="1463039"/>
            <a:ext cx="1473087" cy="182880"/>
          </a:xfrm>
          <a:prstGeom prst="roundRect">
            <a:avLst>
              <a:gd fmla="val 50000" name="adj"/>
            </a:avLst>
          </a:prstGeom>
          <a:solidFill>
            <a:srgbClr val="FFFFFF"/>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50">
                <a:solidFill>
                  <a:srgbClr val="9A5B00"/>
                </a:solidFill>
                <a:latin typeface="Montserrat"/>
                <a:ea typeface="Montserrat"/>
                <a:cs typeface="Montserrat"/>
                <a:sym typeface="Montserrat"/>
              </a:rPr>
              <a:t>ANDROID 추가 write</a:t>
            </a:r>
            <a:endParaRPr/>
          </a:p>
        </p:txBody>
      </p:sp>
      <p:cxnSp>
        <p:nvCxnSpPr>
          <p:cNvPr id="1672" name="Google Shape;1672;p58"/>
          <p:cNvCxnSpPr>
            <a:stCxn id="1660" idx="3"/>
            <a:endCxn id="1666" idx="1"/>
          </p:cNvCxnSpPr>
          <p:nvPr/>
        </p:nvCxnSpPr>
        <p:spPr>
          <a:xfrm>
            <a:off x="7721193"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73" name="Google Shape;1673;p58"/>
          <p:cNvSpPr/>
          <p:nvPr/>
        </p:nvSpPr>
        <p:spPr>
          <a:xfrm>
            <a:off x="9729216" y="1554480"/>
            <a:ext cx="1700784" cy="1188720"/>
          </a:xfrm>
          <a:prstGeom prst="roundRect">
            <a:avLst>
              <a:gd fmla="val 461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4" name="Google Shape;1674;p58"/>
          <p:cNvSpPr/>
          <p:nvPr/>
        </p:nvSpPr>
        <p:spPr>
          <a:xfrm>
            <a:off x="9820656" y="1645920"/>
            <a:ext cx="256032" cy="256032"/>
          </a:xfrm>
          <a:prstGeom prst="ellipse">
            <a:avLst/>
          </a:prstGeom>
          <a:solidFill>
            <a:srgbClr val="5DA9E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950">
                <a:solidFill>
                  <a:srgbClr val="0B2F5B"/>
                </a:solidFill>
                <a:latin typeface="Montserrat"/>
                <a:ea typeface="Montserrat"/>
                <a:cs typeface="Montserrat"/>
                <a:sym typeface="Montserrat"/>
              </a:rPr>
              <a:t>6</a:t>
            </a:r>
            <a:endParaRPr/>
          </a:p>
        </p:txBody>
      </p:sp>
      <p:sp>
        <p:nvSpPr>
          <p:cNvPr id="1675" name="Google Shape;1675;p58"/>
          <p:cNvSpPr txBox="1"/>
          <p:nvPr/>
        </p:nvSpPr>
        <p:spPr>
          <a:xfrm>
            <a:off x="10149840" y="1627632"/>
            <a:ext cx="1207008"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FFFFFF"/>
                </a:solidFill>
                <a:latin typeface="Montserrat"/>
                <a:ea typeface="Montserrat"/>
                <a:cs typeface="Montserrat"/>
                <a:sym typeface="Montserrat"/>
              </a:rPr>
              <a:t>버전 확인</a:t>
            </a:r>
            <a:endParaRPr/>
          </a:p>
        </p:txBody>
      </p:sp>
      <p:sp>
        <p:nvSpPr>
          <p:cNvPr id="1676" name="Google Shape;1676;p58"/>
          <p:cNvSpPr txBox="1"/>
          <p:nvPr/>
        </p:nvSpPr>
        <p:spPr>
          <a:xfrm>
            <a:off x="9820656" y="1917191"/>
            <a:ext cx="1518000" cy="567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DCE8F7"/>
                </a:solidFill>
                <a:latin typeface="Barlow"/>
                <a:ea typeface="Barlow"/>
                <a:cs typeface="Barlow"/>
                <a:sym typeface="Barlow"/>
              </a:rPr>
              <a:t>프로토콜 버전 확인 후 일괄 읽기 (T6과 동일)</a:t>
            </a:r>
            <a:endParaRPr/>
          </a:p>
        </p:txBody>
      </p:sp>
      <p:cxnSp>
        <p:nvCxnSpPr>
          <p:cNvPr id="1677" name="Google Shape;1677;p58"/>
          <p:cNvCxnSpPr>
            <a:stCxn id="1666" idx="3"/>
            <a:endCxn id="1673" idx="1"/>
          </p:cNvCxnSpPr>
          <p:nvPr/>
        </p:nvCxnSpPr>
        <p:spPr>
          <a:xfrm>
            <a:off x="9575596" y="2148840"/>
            <a:ext cx="153600" cy="0"/>
          </a:xfrm>
          <a:prstGeom prst="straightConnector1">
            <a:avLst/>
          </a:prstGeom>
          <a:noFill/>
          <a:ln cap="flat" cmpd="sng" w="15875">
            <a:solidFill>
              <a:srgbClr val="0B2F5B"/>
            </a:solidFill>
            <a:prstDash val="solid"/>
            <a:round/>
            <a:headEnd len="sm" w="sm" type="none"/>
            <a:tailEnd len="med" w="med" type="triangle"/>
          </a:ln>
        </p:spPr>
      </p:cxnSp>
      <p:sp>
        <p:nvSpPr>
          <p:cNvPr id="1678" name="Google Shape;1678;p58"/>
          <p:cNvSpPr txBox="1"/>
          <p:nvPr/>
        </p:nvSpPr>
        <p:spPr>
          <a:xfrm>
            <a:off x="457200" y="2944368"/>
            <a:ext cx="53035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2 · GATT 작업은 한 번에 하나씩</a:t>
            </a:r>
            <a:endParaRPr/>
          </a:p>
        </p:txBody>
      </p:sp>
      <p:sp>
        <p:nvSpPr>
          <p:cNvPr id="1679" name="Google Shape;1679;p58"/>
          <p:cNvSpPr/>
          <p:nvPr/>
        </p:nvSpPr>
        <p:spPr>
          <a:xfrm>
            <a:off x="2148840" y="3236976"/>
            <a:ext cx="1783080" cy="1133856"/>
          </a:xfrm>
          <a:prstGeom prst="roundRect">
            <a:avLst>
              <a:gd fmla="val 4838" name="adj"/>
            </a:avLst>
          </a:prstGeom>
          <a:solidFill>
            <a:srgbClr val="0B2F5B"/>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명령 큐</a:t>
            </a:r>
            <a:endParaRPr/>
          </a:p>
          <a:p>
            <a:pPr indent="0" lvl="0" marL="0" marR="0" rtl="0" algn="ctr">
              <a:lnSpc>
                <a:spcPct val="100000"/>
              </a:lnSpc>
              <a:spcBef>
                <a:spcPts val="300"/>
              </a:spcBef>
              <a:spcAft>
                <a:spcPts val="0"/>
              </a:spcAft>
              <a:buNone/>
            </a:pPr>
            <a:r>
              <a:rPr lang="en-US" sz="900">
                <a:solidFill>
                  <a:srgbClr val="DCE8F7"/>
                </a:solidFill>
                <a:latin typeface="Barlow"/>
                <a:ea typeface="Barlow"/>
                <a:cs typeface="Barlow"/>
                <a:sym typeface="Barlow"/>
              </a:rPr>
              <a:t>코루틴 하나가 소비하며, 한 번에 하나의 작업만 대기</a:t>
            </a:r>
            <a:endParaRPr/>
          </a:p>
        </p:txBody>
      </p:sp>
      <p:sp>
        <p:nvSpPr>
          <p:cNvPr id="1680" name="Google Shape;1680;p58"/>
          <p:cNvSpPr/>
          <p:nvPr/>
        </p:nvSpPr>
        <p:spPr>
          <a:xfrm>
            <a:off x="457200" y="3236976"/>
            <a:ext cx="1325880" cy="329184"/>
          </a:xfrm>
          <a:prstGeom prst="roundRect">
            <a:avLst>
              <a:gd fmla="val 13888" name="adj"/>
            </a:avLst>
          </a:prstGeom>
          <a:solidFill>
            <a:srgbClr val="FFFFFF"/>
          </a:solidFill>
          <a:ln cap="flat" cmpd="sng" w="12700">
            <a:solidFill>
              <a:srgbClr val="0B2F5B"/>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일괄 읽기</a:t>
            </a:r>
            <a:endParaRPr/>
          </a:p>
        </p:txBody>
      </p:sp>
      <p:cxnSp>
        <p:nvCxnSpPr>
          <p:cNvPr id="1681" name="Google Shape;1681;p58"/>
          <p:cNvCxnSpPr/>
          <p:nvPr/>
        </p:nvCxnSpPr>
        <p:spPr>
          <a:xfrm>
            <a:off x="1783080" y="3401568"/>
            <a:ext cx="365760" cy="0"/>
          </a:xfrm>
          <a:prstGeom prst="straightConnector1">
            <a:avLst/>
          </a:prstGeom>
          <a:noFill/>
          <a:ln cap="flat" cmpd="sng" w="12700">
            <a:solidFill>
              <a:srgbClr val="0B2F5B"/>
            </a:solidFill>
            <a:prstDash val="solid"/>
            <a:round/>
            <a:headEnd len="sm" w="sm" type="none"/>
            <a:tailEnd len="med" w="med" type="triangle"/>
          </a:ln>
        </p:spPr>
      </p:cxnSp>
      <p:sp>
        <p:nvSpPr>
          <p:cNvPr id="1682" name="Google Shape;1682;p58"/>
          <p:cNvSpPr/>
          <p:nvPr/>
        </p:nvSpPr>
        <p:spPr>
          <a:xfrm>
            <a:off x="457200" y="3639312"/>
            <a:ext cx="1325880" cy="329184"/>
          </a:xfrm>
          <a:prstGeom prst="roundRect">
            <a:avLst>
              <a:gd fmla="val 13888" name="adj"/>
            </a:avLst>
          </a:prstGeom>
          <a:solidFill>
            <a:srgbClr val="FFFFFF"/>
          </a:solidFill>
          <a:ln cap="flat" cmpd="sng" w="12700">
            <a:solidFill>
              <a:srgbClr val="0B2F5B"/>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단발 쓰기</a:t>
            </a:r>
            <a:endParaRPr/>
          </a:p>
        </p:txBody>
      </p:sp>
      <p:cxnSp>
        <p:nvCxnSpPr>
          <p:cNvPr id="1683" name="Google Shape;1683;p58"/>
          <p:cNvCxnSpPr/>
          <p:nvPr/>
        </p:nvCxnSpPr>
        <p:spPr>
          <a:xfrm>
            <a:off x="1783080" y="3803904"/>
            <a:ext cx="365760" cy="0"/>
          </a:xfrm>
          <a:prstGeom prst="straightConnector1">
            <a:avLst/>
          </a:prstGeom>
          <a:noFill/>
          <a:ln cap="flat" cmpd="sng" w="12700">
            <a:solidFill>
              <a:srgbClr val="0B2F5B"/>
            </a:solidFill>
            <a:prstDash val="solid"/>
            <a:round/>
            <a:headEnd len="sm" w="sm" type="none"/>
            <a:tailEnd len="med" w="med" type="triangle"/>
          </a:ln>
        </p:spPr>
      </p:cxnSp>
      <p:sp>
        <p:nvSpPr>
          <p:cNvPr id="1684" name="Google Shape;1684;p58"/>
          <p:cNvSpPr/>
          <p:nvPr/>
        </p:nvSpPr>
        <p:spPr>
          <a:xfrm>
            <a:off x="457200" y="4041648"/>
            <a:ext cx="1325880" cy="329184"/>
          </a:xfrm>
          <a:prstGeom prst="roundRect">
            <a:avLst>
              <a:gd fmla="val 13888" name="adj"/>
            </a:avLst>
          </a:prstGeom>
          <a:solidFill>
            <a:srgbClr val="FFFFFF"/>
          </a:solidFill>
          <a:ln cap="flat" cmpd="sng" w="12700">
            <a:solidFill>
              <a:srgbClr val="0B2F5B"/>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950">
                <a:solidFill>
                  <a:srgbClr val="0B2F5B"/>
                </a:solidFill>
                <a:latin typeface="Barlow"/>
                <a:ea typeface="Barlow"/>
                <a:cs typeface="Barlow"/>
                <a:sym typeface="Barlow"/>
              </a:rPr>
              <a:t>계량 폴링</a:t>
            </a:r>
            <a:endParaRPr/>
          </a:p>
        </p:txBody>
      </p:sp>
      <p:cxnSp>
        <p:nvCxnSpPr>
          <p:cNvPr id="1685" name="Google Shape;1685;p58"/>
          <p:cNvCxnSpPr/>
          <p:nvPr/>
        </p:nvCxnSpPr>
        <p:spPr>
          <a:xfrm>
            <a:off x="1783080" y="4206240"/>
            <a:ext cx="365760" cy="0"/>
          </a:xfrm>
          <a:prstGeom prst="straightConnector1">
            <a:avLst/>
          </a:prstGeom>
          <a:noFill/>
          <a:ln cap="flat" cmpd="sng" w="12700">
            <a:solidFill>
              <a:srgbClr val="0B2F5B"/>
            </a:solidFill>
            <a:prstDash val="solid"/>
            <a:round/>
            <a:headEnd len="sm" w="sm" type="none"/>
            <a:tailEnd len="med" w="med" type="triangle"/>
          </a:ln>
        </p:spPr>
      </p:cxnSp>
      <p:sp>
        <p:nvSpPr>
          <p:cNvPr id="1686" name="Google Shape;1686;p58"/>
          <p:cNvSpPr/>
          <p:nvPr/>
        </p:nvSpPr>
        <p:spPr>
          <a:xfrm>
            <a:off x="4480560" y="3236976"/>
            <a:ext cx="1280160" cy="1133856"/>
          </a:xfrm>
          <a:prstGeom prst="roundRect">
            <a:avLst>
              <a:gd fmla="val 4838" name="adj"/>
            </a:avLst>
          </a:prstGeom>
          <a:solidFill>
            <a:srgbClr val="FFFFFF"/>
          </a:solidFill>
          <a:ln cap="flat" cmpd="sng" w="15875">
            <a:solidFill>
              <a:srgbClr val="1565C0"/>
            </a:solidFill>
            <a:prstDash val="solid"/>
            <a:round/>
            <a:headEnd len="sm" w="sm" type="none"/>
            <a:tailEnd len="sm" w="sm" type="none"/>
          </a:ln>
        </p:spPr>
        <p:txBody>
          <a:bodyPr anchorCtr="0" anchor="ctr" bIns="45700" lIns="54850" spcFirstLastPara="1" rIns="54850" wrap="square" tIns="45700">
            <a:noAutofit/>
          </a:bodyPr>
          <a:lstStyle/>
          <a:p>
            <a:pPr indent="0" lvl="0" marL="0" marR="0" rtl="0" algn="ctr">
              <a:lnSpc>
                <a:spcPct val="100000"/>
              </a:lnSpc>
              <a:spcBef>
                <a:spcPts val="0"/>
              </a:spcBef>
              <a:spcAft>
                <a:spcPts val="0"/>
              </a:spcAft>
              <a:buNone/>
            </a:pPr>
            <a:r>
              <a:rPr b="1" lang="en-US" sz="925">
                <a:solidFill>
                  <a:srgbClr val="1565C0"/>
                </a:solidFill>
                <a:latin typeface="Consolas"/>
                <a:ea typeface="Consolas"/>
                <a:cs typeface="Consolas"/>
                <a:sym typeface="Consolas"/>
              </a:rPr>
              <a:t>BluetoothGatt</a:t>
            </a:r>
            <a:endParaRPr/>
          </a:p>
          <a:p>
            <a:pPr indent="0" lvl="0" marL="0" marR="0" rtl="0" algn="ctr">
              <a:lnSpc>
                <a:spcPct val="100000"/>
              </a:lnSpc>
              <a:spcBef>
                <a:spcPts val="300"/>
              </a:spcBef>
              <a:spcAft>
                <a:spcPts val="0"/>
              </a:spcAft>
              <a:buNone/>
            </a:pPr>
            <a:r>
              <a:rPr lang="en-US" sz="900">
                <a:solidFill>
                  <a:srgbClr val="1F2A37"/>
                </a:solidFill>
                <a:latin typeface="Barlow"/>
                <a:ea typeface="Barlow"/>
                <a:cs typeface="Barlow"/>
                <a:sym typeface="Barlow"/>
              </a:rPr>
              <a:t>요청 하나만 진행 중</a:t>
            </a:r>
            <a:endParaRPr/>
          </a:p>
        </p:txBody>
      </p:sp>
      <p:cxnSp>
        <p:nvCxnSpPr>
          <p:cNvPr id="1687" name="Google Shape;1687;p58"/>
          <p:cNvCxnSpPr/>
          <p:nvPr/>
        </p:nvCxnSpPr>
        <p:spPr>
          <a:xfrm>
            <a:off x="3931920" y="3566160"/>
            <a:ext cx="548640" cy="0"/>
          </a:xfrm>
          <a:prstGeom prst="straightConnector1">
            <a:avLst/>
          </a:prstGeom>
          <a:noFill/>
          <a:ln cap="flat" cmpd="sng" w="19050">
            <a:solidFill>
              <a:srgbClr val="1565C0"/>
            </a:solidFill>
            <a:prstDash val="solid"/>
            <a:round/>
            <a:headEnd len="sm" w="sm" type="none"/>
            <a:tailEnd len="med" w="med" type="triangle"/>
          </a:ln>
        </p:spPr>
      </p:cxnSp>
      <p:sp>
        <p:nvSpPr>
          <p:cNvPr id="1688" name="Google Shape;1688;p58"/>
          <p:cNvSpPr txBox="1"/>
          <p:nvPr/>
        </p:nvSpPr>
        <p:spPr>
          <a:xfrm>
            <a:off x="3931920" y="3346704"/>
            <a:ext cx="54864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850">
                <a:solidFill>
                  <a:srgbClr val="1565C0"/>
                </a:solidFill>
                <a:latin typeface="Barlow"/>
                <a:ea typeface="Barlow"/>
                <a:cs typeface="Barlow"/>
                <a:sym typeface="Barlow"/>
              </a:rPr>
              <a:t>다음</a:t>
            </a:r>
            <a:endParaRPr/>
          </a:p>
        </p:txBody>
      </p:sp>
      <p:cxnSp>
        <p:nvCxnSpPr>
          <p:cNvPr id="1689" name="Google Shape;1689;p58"/>
          <p:cNvCxnSpPr/>
          <p:nvPr/>
        </p:nvCxnSpPr>
        <p:spPr>
          <a:xfrm rot="10800000">
            <a:off x="3931920" y="4059936"/>
            <a:ext cx="548640" cy="0"/>
          </a:xfrm>
          <a:prstGeom prst="straightConnector1">
            <a:avLst/>
          </a:prstGeom>
          <a:noFill/>
          <a:ln cap="flat" cmpd="sng" w="19050">
            <a:solidFill>
              <a:srgbClr val="1565C0"/>
            </a:solidFill>
            <a:prstDash val="dash"/>
            <a:round/>
            <a:headEnd len="sm" w="sm" type="none"/>
            <a:tailEnd len="med" w="med" type="triangle"/>
          </a:ln>
        </p:spPr>
      </p:cxnSp>
      <p:sp>
        <p:nvSpPr>
          <p:cNvPr id="1690" name="Google Shape;1690;p58"/>
          <p:cNvSpPr txBox="1"/>
          <p:nvPr/>
        </p:nvSpPr>
        <p:spPr>
          <a:xfrm>
            <a:off x="3931920" y="4096512"/>
            <a:ext cx="548640" cy="16459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US" sz="850">
                <a:solidFill>
                  <a:srgbClr val="1565C0"/>
                </a:solidFill>
                <a:latin typeface="Barlow"/>
                <a:ea typeface="Barlow"/>
                <a:cs typeface="Barlow"/>
                <a:sym typeface="Barlow"/>
              </a:rPr>
              <a:t>콜백</a:t>
            </a:r>
            <a:endParaRPr/>
          </a:p>
        </p:txBody>
      </p:sp>
      <p:sp>
        <p:nvSpPr>
          <p:cNvPr id="1691" name="Google Shape;1691;p58"/>
          <p:cNvSpPr/>
          <p:nvPr/>
        </p:nvSpPr>
        <p:spPr>
          <a:xfrm>
            <a:off x="457200" y="4498848"/>
            <a:ext cx="5303520" cy="512064"/>
          </a:xfrm>
          <a:prstGeom prst="roundRect">
            <a:avLst>
              <a:gd fmla="val 8928" name="adj"/>
            </a:avLst>
          </a:prstGeom>
          <a:solidFill>
            <a:srgbClr val="FFF4E0"/>
          </a:solidFill>
          <a:ln cap="flat" cmpd="sng" w="9525">
            <a:solidFill>
              <a:srgbClr val="F0A93B"/>
            </a:solidFill>
            <a:prstDash val="solid"/>
            <a:round/>
            <a:headEnd len="sm" w="sm" type="none"/>
            <a:tailEnd len="sm" w="sm" type="none"/>
          </a:ln>
        </p:spPr>
        <p:txBody>
          <a:bodyPr anchorCtr="0" anchor="ctr" bIns="27425" lIns="91425" spcFirstLastPara="1" rIns="73150" wrap="square" tIns="27425">
            <a:noAutofit/>
          </a:bodyPr>
          <a:lstStyle/>
          <a:p>
            <a:pPr indent="0" lvl="0" marL="0" marR="0" rtl="0" algn="l">
              <a:lnSpc>
                <a:spcPct val="100000"/>
              </a:lnSpc>
              <a:spcBef>
                <a:spcPts val="0"/>
              </a:spcBef>
              <a:spcAft>
                <a:spcPts val="0"/>
              </a:spcAft>
              <a:buNone/>
            </a:pPr>
            <a:r>
              <a:rPr lang="en-US" sz="925">
                <a:solidFill>
                  <a:srgbClr val="9A5B00"/>
                </a:solidFill>
                <a:latin typeface="Barlow"/>
                <a:ea typeface="Barlow"/>
                <a:cs typeface="Barlow"/>
                <a:sym typeface="Barlow"/>
              </a:rPr>
              <a:t>다른 작업이 대기 중일 때 보낸 읽기·쓰기는 거부됩니다 (쓰기: ERROR_GATT_WRITE_REQUEST_BUSY). 각 작업은 콜백 또는 T6 타임아웃까지 대기합니다.</a:t>
            </a:r>
            <a:endParaRPr/>
          </a:p>
        </p:txBody>
      </p:sp>
      <p:sp>
        <p:nvSpPr>
          <p:cNvPr id="1692" name="Google Shape;1692;p58"/>
          <p:cNvSpPr/>
          <p:nvPr/>
        </p:nvSpPr>
        <p:spPr>
          <a:xfrm>
            <a:off x="457200" y="5102352"/>
            <a:ext cx="5303520" cy="603504"/>
          </a:xfrm>
          <a:prstGeom prst="rect">
            <a:avLst/>
          </a:prstGeom>
          <a:solidFill>
            <a:srgbClr val="F5F8FC"/>
          </a:solidFill>
          <a:ln>
            <a:noFill/>
          </a:ln>
        </p:spPr>
        <p:txBody>
          <a:bodyPr anchorCtr="0" anchor="ctr" bIns="27425" lIns="91425" spcFirstLastPara="1" rIns="73150" wrap="square" tIns="27425">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iOS 설계</a:t>
            </a:r>
            <a:r>
              <a:rPr b="1" lang="en-US" sz="925">
                <a:solidFill>
                  <a:srgbClr val="0B2F5B"/>
                </a:solidFill>
                <a:latin typeface="Barlow"/>
                <a:ea typeface="Barlow"/>
                <a:cs typeface="Barlow"/>
                <a:sym typeface="Barlow"/>
              </a:rPr>
              <a:t> </a:t>
            </a:r>
            <a:r>
              <a:rPr b="0" lang="en-US" sz="850">
                <a:solidFill>
                  <a:srgbClr val="1565C0"/>
                </a:solidFill>
                <a:latin typeface="Consolas"/>
                <a:ea typeface="Consolas"/>
                <a:cs typeface="Consolas"/>
                <a:sym typeface="Consolas"/>
              </a:rPr>
              <a:t>actor DeviceSession</a:t>
            </a:r>
            <a:r>
              <a:rPr b="0" lang="en-US" sz="925">
                <a:solidFill>
                  <a:srgbClr val="1F2A37"/>
                </a:solidFill>
                <a:latin typeface="Barlow"/>
                <a:ea typeface="Barlow"/>
                <a:cs typeface="Barlow"/>
                <a:sym typeface="Barlow"/>
              </a:rPr>
              <a:t>,</a:t>
            </a:r>
            <a:r>
              <a:rPr lang="en-US" sz="925">
                <a:solidFill>
                  <a:srgbClr val="1F2A37"/>
                </a:solidFill>
                <a:latin typeface="Barlow"/>
                <a:ea typeface="Barlow"/>
                <a:cs typeface="Barlow"/>
                <a:sym typeface="Barlow"/>
              </a:rPr>
              <a:t> characteristic마다 continuation 하나.</a:t>
            </a:r>
            <a:endParaRPr/>
          </a:p>
          <a:p>
            <a:pPr indent="0" lvl="0" marL="0" marR="0" rtl="0" algn="l">
              <a:lnSpc>
                <a:spcPct val="100000"/>
              </a:lnSpc>
              <a:spcBef>
                <a:spcPts val="200"/>
              </a:spcBef>
              <a:spcAft>
                <a:spcPts val="0"/>
              </a:spcAft>
              <a:buNone/>
            </a:pPr>
            <a:r>
              <a:rPr b="1" lang="en-US" sz="925">
                <a:solidFill>
                  <a:srgbClr val="0B2F5B"/>
                </a:solidFill>
                <a:latin typeface="Barlow"/>
                <a:ea typeface="Barlow"/>
                <a:cs typeface="Barlow"/>
                <a:sym typeface="Barlow"/>
              </a:rPr>
              <a:t>Android  </a:t>
            </a:r>
            <a:r>
              <a:rPr b="0" lang="en-US" sz="850">
                <a:solidFill>
                  <a:srgbClr val="1565C0"/>
                </a:solidFill>
                <a:latin typeface="Consolas"/>
                <a:ea typeface="Consolas"/>
                <a:cs typeface="Consolas"/>
                <a:sym typeface="Consolas"/>
              </a:rPr>
              <a:t>Mute</a:t>
            </a:r>
            <a:r>
              <a:rPr lang="en-US" sz="850">
                <a:solidFill>
                  <a:srgbClr val="1565C0"/>
                </a:solidFill>
                <a:latin typeface="Consolas"/>
                <a:ea typeface="Consolas"/>
                <a:cs typeface="Consolas"/>
                <a:sym typeface="Consolas"/>
              </a:rPr>
              <a:t> 또는 </a:t>
            </a:r>
            <a:r>
              <a:rPr b="0" lang="en-US" sz="925">
                <a:solidFill>
                  <a:srgbClr val="1F2A37"/>
                </a:solidFill>
                <a:latin typeface="Barlow"/>
                <a:ea typeface="Barlow"/>
                <a:cs typeface="Barlow"/>
                <a:sym typeface="Barlow"/>
              </a:rPr>
              <a:t> </a:t>
            </a:r>
            <a:r>
              <a:rPr b="0" lang="en-US" sz="850">
                <a:solidFill>
                  <a:srgbClr val="1565C0"/>
                </a:solidFill>
                <a:latin typeface="Consolas"/>
                <a:ea typeface="Consolas"/>
                <a:cs typeface="Consolas"/>
                <a:sym typeface="Consolas"/>
              </a:rPr>
              <a:t>Channe</a:t>
            </a:r>
            <a:r>
              <a:rPr lang="en-US" sz="850">
                <a:solidFill>
                  <a:srgbClr val="1565C0"/>
                </a:solidFill>
                <a:latin typeface="Consolas"/>
                <a:ea typeface="Consolas"/>
                <a:cs typeface="Consolas"/>
                <a:sym typeface="Consolas"/>
              </a:rPr>
              <a:t> 큐</a:t>
            </a:r>
            <a:r>
              <a:rPr b="0" lang="en-US" sz="925">
                <a:solidFill>
                  <a:srgbClr val="1F2A37"/>
                </a:solidFill>
                <a:latin typeface="Barlow"/>
                <a:ea typeface="Barlow"/>
                <a:cs typeface="Barlow"/>
                <a:sym typeface="Barlow"/>
              </a:rPr>
              <a:t>e, </a:t>
            </a:r>
            <a:r>
              <a:rPr b="0" lang="en-US" sz="850">
                <a:solidFill>
                  <a:srgbClr val="1565C0"/>
                </a:solidFill>
                <a:latin typeface="Consolas"/>
                <a:ea typeface="Consolas"/>
                <a:cs typeface="Consolas"/>
                <a:sym typeface="Consolas"/>
              </a:rPr>
              <a:t>suspendCancellableCoroutine</a:t>
            </a:r>
            <a:r>
              <a:rPr lang="en-US" sz="925">
                <a:solidFill>
                  <a:srgbClr val="1F2A37"/>
                </a:solidFill>
                <a:latin typeface="Barlow"/>
                <a:ea typeface="Barlow"/>
                <a:cs typeface="Barlow"/>
                <a:sym typeface="Barlow"/>
              </a:rPr>
              <a:t>, 대기 작업은 하나뿐.</a:t>
            </a:r>
            <a:endParaRPr/>
          </a:p>
        </p:txBody>
      </p:sp>
      <p:sp>
        <p:nvSpPr>
          <p:cNvPr id="1693" name="Google Shape;1693;p58"/>
          <p:cNvSpPr txBox="1"/>
          <p:nvPr/>
        </p:nvSpPr>
        <p:spPr>
          <a:xfrm>
            <a:off x="6035040" y="2944368"/>
            <a:ext cx="53949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3 · Android 가드 네 가지</a:t>
            </a:r>
            <a:endParaRPr/>
          </a:p>
        </p:txBody>
      </p:sp>
      <p:sp>
        <p:nvSpPr>
          <p:cNvPr id="1694" name="Google Shape;1694;p58"/>
          <p:cNvSpPr/>
          <p:nvPr/>
        </p:nvSpPr>
        <p:spPr>
          <a:xfrm>
            <a:off x="6035040" y="3236976"/>
            <a:ext cx="2606040" cy="118872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95" name="Google Shape;1695;p58"/>
          <p:cNvSpPr/>
          <p:nvPr/>
        </p:nvSpPr>
        <p:spPr>
          <a:xfrm>
            <a:off x="6163055" y="3346704"/>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696" name="Google Shape;1696;p58"/>
          <p:cNvPicPr preferRelativeResize="0"/>
          <p:nvPr/>
        </p:nvPicPr>
        <p:blipFill rotWithShape="1">
          <a:blip r:embed="rId3">
            <a:alphaModFix/>
          </a:blip>
          <a:srcRect b="0" l="0" r="0" t="0"/>
          <a:stretch/>
        </p:blipFill>
        <p:spPr>
          <a:xfrm>
            <a:off x="6235476" y="3419124"/>
            <a:ext cx="184343" cy="184343"/>
          </a:xfrm>
          <a:prstGeom prst="rect">
            <a:avLst/>
          </a:prstGeom>
          <a:noFill/>
          <a:ln>
            <a:noFill/>
          </a:ln>
        </p:spPr>
      </p:pic>
      <p:sp>
        <p:nvSpPr>
          <p:cNvPr id="1697" name="Google Shape;1697;p58"/>
          <p:cNvSpPr txBox="1"/>
          <p:nvPr/>
        </p:nvSpPr>
        <p:spPr>
          <a:xfrm>
            <a:off x="6583679" y="3346704"/>
            <a:ext cx="19476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연결 실패</a:t>
            </a:r>
            <a:endParaRPr/>
          </a:p>
        </p:txBody>
      </p:sp>
      <p:sp>
        <p:nvSpPr>
          <p:cNvPr id="1698" name="Google Shape;1698;p58"/>
          <p:cNvSpPr txBox="1"/>
          <p:nvPr/>
        </p:nvSpPr>
        <p:spPr>
          <a:xfrm>
            <a:off x="6163055" y="3758184"/>
            <a:ext cx="2350008"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항상 클라이언트를 close()한 뒤 T6 한도 내에서 재시도: 재스캔 후 2회.</a:t>
            </a:r>
            <a:endParaRPr/>
          </a:p>
        </p:txBody>
      </p:sp>
      <p:sp>
        <p:nvSpPr>
          <p:cNvPr id="1699" name="Google Shape;1699;p58"/>
          <p:cNvSpPr/>
          <p:nvPr/>
        </p:nvSpPr>
        <p:spPr>
          <a:xfrm>
            <a:off x="8823960" y="3236976"/>
            <a:ext cx="2606040" cy="118872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0" name="Google Shape;1700;p58"/>
          <p:cNvSpPr/>
          <p:nvPr/>
        </p:nvSpPr>
        <p:spPr>
          <a:xfrm>
            <a:off x="8951976" y="3346704"/>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01" name="Google Shape;1701;p58"/>
          <p:cNvPicPr preferRelativeResize="0"/>
          <p:nvPr/>
        </p:nvPicPr>
        <p:blipFill rotWithShape="1">
          <a:blip r:embed="rId4">
            <a:alphaModFix/>
          </a:blip>
          <a:srcRect b="0" l="0" r="0" t="0"/>
          <a:stretch/>
        </p:blipFill>
        <p:spPr>
          <a:xfrm>
            <a:off x="9024396" y="3419124"/>
            <a:ext cx="184343" cy="184343"/>
          </a:xfrm>
          <a:prstGeom prst="rect">
            <a:avLst/>
          </a:prstGeom>
          <a:noFill/>
          <a:ln>
            <a:noFill/>
          </a:ln>
        </p:spPr>
      </p:pic>
      <p:sp>
        <p:nvSpPr>
          <p:cNvPr id="1702" name="Google Shape;1702;p58"/>
          <p:cNvSpPr txBox="1"/>
          <p:nvPr/>
        </p:nvSpPr>
        <p:spPr>
          <a:xfrm>
            <a:off x="9372600" y="3346704"/>
            <a:ext cx="19476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스캔 시작 한도</a:t>
            </a:r>
            <a:endParaRPr/>
          </a:p>
        </p:txBody>
      </p:sp>
      <p:sp>
        <p:nvSpPr>
          <p:cNvPr id="1703" name="Google Shape;1703;p58"/>
          <p:cNvSpPr txBox="1"/>
          <p:nvPr/>
        </p:nvSpPr>
        <p:spPr>
          <a:xfrm>
            <a:off x="8951976" y="3758184"/>
            <a:ext cx="2350008"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30초 안에 스캔을 5회 넘게 시작하면 결과가 조용히 멈춥니다. 재시도는 실행 중인 스캔 하나를 재사용합니다.</a:t>
            </a:r>
            <a:endParaRPr/>
          </a:p>
        </p:txBody>
      </p:sp>
      <p:sp>
        <p:nvSpPr>
          <p:cNvPr id="1704" name="Google Shape;1704;p58"/>
          <p:cNvSpPr/>
          <p:nvPr/>
        </p:nvSpPr>
        <p:spPr>
          <a:xfrm>
            <a:off x="6035040" y="4517136"/>
            <a:ext cx="2606040" cy="118872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05" name="Google Shape;1705;p58"/>
          <p:cNvSpPr/>
          <p:nvPr/>
        </p:nvSpPr>
        <p:spPr>
          <a:xfrm>
            <a:off x="6163055" y="4626864"/>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06" name="Google Shape;1706;p58"/>
          <p:cNvPicPr preferRelativeResize="0"/>
          <p:nvPr/>
        </p:nvPicPr>
        <p:blipFill rotWithShape="1">
          <a:blip r:embed="rId5">
            <a:alphaModFix/>
          </a:blip>
          <a:srcRect b="0" l="0" r="0" t="0"/>
          <a:stretch/>
        </p:blipFill>
        <p:spPr>
          <a:xfrm>
            <a:off x="6235476" y="4699284"/>
            <a:ext cx="184343" cy="184343"/>
          </a:xfrm>
          <a:prstGeom prst="rect">
            <a:avLst/>
          </a:prstGeom>
          <a:noFill/>
          <a:ln>
            <a:noFill/>
          </a:ln>
        </p:spPr>
      </p:pic>
      <p:sp>
        <p:nvSpPr>
          <p:cNvPr id="1707" name="Google Shape;1707;p58"/>
          <p:cNvSpPr txBox="1"/>
          <p:nvPr/>
        </p:nvSpPr>
        <p:spPr>
          <a:xfrm>
            <a:off x="6583679" y="4626864"/>
            <a:ext cx="19476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기기 주소를 볼 수 있음</a:t>
            </a:r>
            <a:endParaRPr/>
          </a:p>
        </p:txBody>
      </p:sp>
      <p:sp>
        <p:nvSpPr>
          <p:cNvPr id="1708" name="Google Shape;1708;p58"/>
          <p:cNvSpPr txBox="1"/>
          <p:nvPr/>
        </p:nvSpPr>
        <p:spPr>
          <a:xfrm>
            <a:off x="6163055" y="5038344"/>
            <a:ext cx="2350008"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Android는 기기 주소를 노출하지만 iOS는 숨깁니다. 매칭 키는 계속 Serial No이며, 주소가 안정적이면 재부팅 후 재연결을 빠르게 할 수 있습니다.</a:t>
            </a:r>
            <a:endParaRPr/>
          </a:p>
        </p:txBody>
      </p:sp>
      <p:sp>
        <p:nvSpPr>
          <p:cNvPr id="1709" name="Google Shape;1709;p58"/>
          <p:cNvSpPr/>
          <p:nvPr/>
        </p:nvSpPr>
        <p:spPr>
          <a:xfrm>
            <a:off x="8823960" y="4517136"/>
            <a:ext cx="2606040" cy="118872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0" name="Google Shape;1710;p58"/>
          <p:cNvSpPr/>
          <p:nvPr/>
        </p:nvSpPr>
        <p:spPr>
          <a:xfrm>
            <a:off x="8951976" y="4626864"/>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11" name="Google Shape;1711;p58"/>
          <p:cNvPicPr preferRelativeResize="0"/>
          <p:nvPr/>
        </p:nvPicPr>
        <p:blipFill rotWithShape="1">
          <a:blip r:embed="rId6">
            <a:alphaModFix/>
          </a:blip>
          <a:srcRect b="0" l="0" r="0" t="0"/>
          <a:stretch/>
        </p:blipFill>
        <p:spPr>
          <a:xfrm>
            <a:off x="9024396" y="4699284"/>
            <a:ext cx="184343" cy="184343"/>
          </a:xfrm>
          <a:prstGeom prst="rect">
            <a:avLst/>
          </a:prstGeom>
          <a:noFill/>
          <a:ln>
            <a:noFill/>
          </a:ln>
        </p:spPr>
      </p:pic>
      <p:sp>
        <p:nvSpPr>
          <p:cNvPr id="1712" name="Google Shape;1712;p58"/>
          <p:cNvSpPr txBox="1"/>
          <p:nvPr/>
        </p:nvSpPr>
        <p:spPr>
          <a:xfrm>
            <a:off x="9372600" y="4626864"/>
            <a:ext cx="1947672"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Android 13에서 API 분리</a:t>
            </a:r>
            <a:endParaRPr/>
          </a:p>
        </p:txBody>
      </p:sp>
      <p:sp>
        <p:nvSpPr>
          <p:cNvPr id="1713" name="Google Shape;1713;p58"/>
          <p:cNvSpPr txBox="1"/>
          <p:nvPr/>
        </p:nvSpPr>
        <p:spPr>
          <a:xfrm>
            <a:off x="8951976" y="5038344"/>
            <a:ext cx="2350008" cy="62179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쓰기·알림 호출이 API 33에서 바뀌었습니다. 래퍼 하나로 코드 경로를 단일하게 유지합니다.</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8" name="Shape 1718"/>
        <p:cNvGrpSpPr/>
        <p:nvPr/>
      </p:nvGrpSpPr>
      <p:grpSpPr>
        <a:xfrm>
          <a:off x="0" y="0"/>
          <a:ext cx="0" cy="0"/>
          <a:chOff x="0" y="0"/>
          <a:chExt cx="0" cy="0"/>
        </a:xfrm>
      </p:grpSpPr>
      <p:sp>
        <p:nvSpPr>
          <p:cNvPr id="1719" name="Google Shape;1719;p59"/>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펌웨어용 임시 Wi-Fi · 시퀀스 다이어그램 · 제안 설계</a:t>
            </a:r>
            <a:endParaRPr/>
          </a:p>
        </p:txBody>
      </p:sp>
      <p:sp>
        <p:nvSpPr>
          <p:cNvPr id="1720" name="Google Shape;1720;p59"/>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앱이 펌웨어 Wi-Fi를 요청하고, 설치 기사가 승인하며, 앱이 그 네트워크에 바인딩합니다</a:t>
            </a:r>
            <a:endParaRPr/>
          </a:p>
        </p:txBody>
      </p:sp>
      <p:cxnSp>
        <p:nvCxnSpPr>
          <p:cNvPr id="1721" name="Google Shape;1721;p59"/>
          <p:cNvCxnSpPr/>
          <p:nvPr/>
        </p:nvCxnSpPr>
        <p:spPr>
          <a:xfrm>
            <a:off x="1280160" y="1664207"/>
            <a:ext cx="0" cy="3291841"/>
          </a:xfrm>
          <a:prstGeom prst="straightConnector1">
            <a:avLst/>
          </a:prstGeom>
          <a:noFill/>
          <a:ln cap="flat" cmpd="sng" w="12700">
            <a:solidFill>
              <a:srgbClr val="C7D7EA"/>
            </a:solidFill>
            <a:prstDash val="dash"/>
            <a:round/>
            <a:headEnd len="sm" w="sm" type="none"/>
            <a:tailEnd len="sm" w="sm" type="none"/>
          </a:ln>
        </p:spPr>
      </p:cxnSp>
      <p:sp>
        <p:nvSpPr>
          <p:cNvPr id="1722" name="Google Shape;1722;p59"/>
          <p:cNvSpPr/>
          <p:nvPr/>
        </p:nvSpPr>
        <p:spPr>
          <a:xfrm>
            <a:off x="457199" y="1261872"/>
            <a:ext cx="1645920" cy="402336"/>
          </a:xfrm>
          <a:prstGeom prst="roundRect">
            <a:avLst>
              <a:gd fmla="val 11363" name="adj"/>
            </a:avLst>
          </a:prstGeom>
          <a:solidFill>
            <a:srgbClr val="FFFFFF"/>
          </a:solidFill>
          <a:ln cap="flat" cmpd="sng" w="12700">
            <a:solidFill>
              <a:srgbClr val="0B2F5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설치 기사</a:t>
            </a:r>
            <a:endParaRPr/>
          </a:p>
        </p:txBody>
      </p:sp>
      <p:cxnSp>
        <p:nvCxnSpPr>
          <p:cNvPr id="1723" name="Google Shape;1723;p59"/>
          <p:cNvCxnSpPr/>
          <p:nvPr/>
        </p:nvCxnSpPr>
        <p:spPr>
          <a:xfrm>
            <a:off x="3429000" y="1664207"/>
            <a:ext cx="0" cy="3291841"/>
          </a:xfrm>
          <a:prstGeom prst="straightConnector1">
            <a:avLst/>
          </a:prstGeom>
          <a:noFill/>
          <a:ln cap="flat" cmpd="sng" w="12700">
            <a:solidFill>
              <a:srgbClr val="C7D7EA"/>
            </a:solidFill>
            <a:prstDash val="dash"/>
            <a:round/>
            <a:headEnd len="sm" w="sm" type="none"/>
            <a:tailEnd len="sm" w="sm" type="none"/>
          </a:ln>
        </p:spPr>
      </p:cxnSp>
      <p:sp>
        <p:nvSpPr>
          <p:cNvPr id="1724" name="Google Shape;1724;p59"/>
          <p:cNvSpPr/>
          <p:nvPr/>
        </p:nvSpPr>
        <p:spPr>
          <a:xfrm>
            <a:off x="2606040" y="1261872"/>
            <a:ext cx="1645920" cy="402336"/>
          </a:xfrm>
          <a:prstGeom prst="roundRect">
            <a:avLst>
              <a:gd fmla="val 11363" name="adj"/>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설치 기사 앱</a:t>
            </a:r>
            <a:endParaRPr/>
          </a:p>
        </p:txBody>
      </p:sp>
      <p:cxnSp>
        <p:nvCxnSpPr>
          <p:cNvPr id="1725" name="Google Shape;1725;p59"/>
          <p:cNvCxnSpPr/>
          <p:nvPr/>
        </p:nvCxnSpPr>
        <p:spPr>
          <a:xfrm>
            <a:off x="5989320" y="1664207"/>
            <a:ext cx="0" cy="3291841"/>
          </a:xfrm>
          <a:prstGeom prst="straightConnector1">
            <a:avLst/>
          </a:prstGeom>
          <a:noFill/>
          <a:ln cap="flat" cmpd="sng" w="12700">
            <a:solidFill>
              <a:srgbClr val="C7D7EA"/>
            </a:solidFill>
            <a:prstDash val="dash"/>
            <a:round/>
            <a:headEnd len="sm" w="sm" type="none"/>
            <a:tailEnd len="sm" w="sm" type="none"/>
          </a:ln>
        </p:spPr>
      </p:cxnSp>
      <p:sp>
        <p:nvSpPr>
          <p:cNvPr id="1726" name="Google Shape;1726;p59"/>
          <p:cNvSpPr/>
          <p:nvPr/>
        </p:nvSpPr>
        <p:spPr>
          <a:xfrm>
            <a:off x="5166359" y="1261872"/>
            <a:ext cx="1645920" cy="402336"/>
          </a:xfrm>
          <a:prstGeom prst="roundRect">
            <a:avLst>
              <a:gd fmla="val 11363" name="adj"/>
            </a:avLst>
          </a:prstGeom>
          <a:solidFill>
            <a:srgbClr val="FFFFFF"/>
          </a:solidFill>
          <a:ln cap="flat" cmpd="sng" w="12700">
            <a:solidFill>
              <a:srgbClr val="0B2F5B"/>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0B2F5B"/>
                </a:solidFill>
                <a:latin typeface="Montserrat"/>
                <a:ea typeface="Montserrat"/>
                <a:cs typeface="Montserrat"/>
                <a:sym typeface="Montserrat"/>
              </a:rPr>
              <a:t>Android 시스템</a:t>
            </a:r>
            <a:endParaRPr/>
          </a:p>
        </p:txBody>
      </p:sp>
      <p:cxnSp>
        <p:nvCxnSpPr>
          <p:cNvPr id="1727" name="Google Shape;1727;p59"/>
          <p:cNvCxnSpPr/>
          <p:nvPr/>
        </p:nvCxnSpPr>
        <p:spPr>
          <a:xfrm>
            <a:off x="8193024" y="1664207"/>
            <a:ext cx="0" cy="3291841"/>
          </a:xfrm>
          <a:prstGeom prst="straightConnector1">
            <a:avLst/>
          </a:prstGeom>
          <a:noFill/>
          <a:ln cap="flat" cmpd="sng" w="12700">
            <a:solidFill>
              <a:srgbClr val="C7D7EA"/>
            </a:solidFill>
            <a:prstDash val="dash"/>
            <a:round/>
            <a:headEnd len="sm" w="sm" type="none"/>
            <a:tailEnd len="sm" w="sm" type="none"/>
          </a:ln>
        </p:spPr>
      </p:cxnSp>
      <p:sp>
        <p:nvSpPr>
          <p:cNvPr id="1728" name="Google Shape;1728;p59"/>
          <p:cNvSpPr/>
          <p:nvPr/>
        </p:nvSpPr>
        <p:spPr>
          <a:xfrm>
            <a:off x="7370064" y="1261872"/>
            <a:ext cx="1645920" cy="402336"/>
          </a:xfrm>
          <a:prstGeom prst="roundRect">
            <a:avLst>
              <a:gd fmla="val 11363" name="adj"/>
            </a:avLst>
          </a:prstGeom>
          <a:solidFill>
            <a:srgbClr val="1565C0"/>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1050">
                <a:solidFill>
                  <a:srgbClr val="FFFFFF"/>
                </a:solidFill>
                <a:latin typeface="Montserrat"/>
                <a:ea typeface="Montserrat"/>
                <a:cs typeface="Montserrat"/>
                <a:sym typeface="Montserrat"/>
              </a:rPr>
              <a:t>CORE Pro ESS</a:t>
            </a:r>
            <a:endParaRPr/>
          </a:p>
        </p:txBody>
      </p:sp>
      <p:cxnSp>
        <p:nvCxnSpPr>
          <p:cNvPr id="1729" name="Google Shape;1729;p59"/>
          <p:cNvCxnSpPr/>
          <p:nvPr/>
        </p:nvCxnSpPr>
        <p:spPr>
          <a:xfrm>
            <a:off x="3547872" y="2084831"/>
            <a:ext cx="4645152" cy="0"/>
          </a:xfrm>
          <a:prstGeom prst="straightConnector1">
            <a:avLst/>
          </a:prstGeom>
          <a:noFill/>
          <a:ln cap="flat" cmpd="sng" w="19050">
            <a:solidFill>
              <a:srgbClr val="1565C0"/>
            </a:solidFill>
            <a:prstDash val="solid"/>
            <a:round/>
            <a:headEnd len="sm" w="sm" type="none"/>
            <a:tailEnd len="med" w="med" type="triangle"/>
          </a:ln>
        </p:spPr>
      </p:cxnSp>
      <p:sp>
        <p:nvSpPr>
          <p:cNvPr id="1730" name="Google Shape;1730;p59"/>
          <p:cNvSpPr/>
          <p:nvPr/>
        </p:nvSpPr>
        <p:spPr>
          <a:xfrm>
            <a:off x="3319272" y="1975103"/>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1731" name="Google Shape;1731;p59"/>
          <p:cNvSpPr/>
          <p:nvPr/>
        </p:nvSpPr>
        <p:spPr>
          <a:xfrm>
            <a:off x="3611880" y="1837943"/>
            <a:ext cx="1713979"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BLE 웨이크업 명령 (BLE)</a:t>
            </a:r>
            <a:endParaRPr/>
          </a:p>
        </p:txBody>
      </p:sp>
      <p:cxnSp>
        <p:nvCxnSpPr>
          <p:cNvPr id="1732" name="Google Shape;1732;p59"/>
          <p:cNvCxnSpPr/>
          <p:nvPr/>
        </p:nvCxnSpPr>
        <p:spPr>
          <a:xfrm rot="10800000">
            <a:off x="3429000" y="2468880"/>
            <a:ext cx="4645152" cy="0"/>
          </a:xfrm>
          <a:prstGeom prst="straightConnector1">
            <a:avLst/>
          </a:prstGeom>
          <a:noFill/>
          <a:ln cap="flat" cmpd="sng" w="19050">
            <a:solidFill>
              <a:srgbClr val="1565C0"/>
            </a:solidFill>
            <a:prstDash val="dash"/>
            <a:round/>
            <a:headEnd len="sm" w="sm" type="none"/>
            <a:tailEnd len="med" w="med" type="triangle"/>
          </a:ln>
        </p:spPr>
      </p:cxnSp>
      <p:sp>
        <p:nvSpPr>
          <p:cNvPr id="1733" name="Google Shape;1733;p59"/>
          <p:cNvSpPr/>
          <p:nvPr/>
        </p:nvSpPr>
        <p:spPr>
          <a:xfrm>
            <a:off x="8083296" y="2359152"/>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1734" name="Google Shape;1734;p59"/>
          <p:cNvSpPr/>
          <p:nvPr/>
        </p:nvSpPr>
        <p:spPr>
          <a:xfrm>
            <a:off x="5928823" y="2221992"/>
            <a:ext cx="2081320"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r">
              <a:lnSpc>
                <a:spcPct val="100000"/>
              </a:lnSpc>
              <a:spcBef>
                <a:spcPts val="0"/>
              </a:spcBef>
              <a:spcAft>
                <a:spcPts val="0"/>
              </a:spcAft>
              <a:buNone/>
            </a:pPr>
            <a:r>
              <a:rPr lang="en-US" sz="950">
                <a:solidFill>
                  <a:srgbClr val="1F2A37"/>
                </a:solidFill>
                <a:latin typeface="Barlow"/>
                <a:ea typeface="Barlow"/>
                <a:cs typeface="Barlow"/>
                <a:sym typeface="Barlow"/>
              </a:rPr>
              <a:t>일회용 SSID와 passphrase (BLE)</a:t>
            </a:r>
            <a:endParaRPr/>
          </a:p>
        </p:txBody>
      </p:sp>
      <p:cxnSp>
        <p:nvCxnSpPr>
          <p:cNvPr id="1735" name="Google Shape;1735;p59"/>
          <p:cNvCxnSpPr/>
          <p:nvPr/>
        </p:nvCxnSpPr>
        <p:spPr>
          <a:xfrm>
            <a:off x="3547872" y="2852928"/>
            <a:ext cx="2441448" cy="0"/>
          </a:xfrm>
          <a:prstGeom prst="straightConnector1">
            <a:avLst/>
          </a:prstGeom>
          <a:noFill/>
          <a:ln cap="flat" cmpd="sng" w="19050">
            <a:solidFill>
              <a:srgbClr val="0B2F5B"/>
            </a:solidFill>
            <a:prstDash val="solid"/>
            <a:round/>
            <a:headEnd len="sm" w="sm" type="none"/>
            <a:tailEnd len="med" w="med" type="triangle"/>
          </a:ln>
        </p:spPr>
      </p:cxnSp>
      <p:sp>
        <p:nvSpPr>
          <p:cNvPr id="1736" name="Google Shape;1736;p59"/>
          <p:cNvSpPr/>
          <p:nvPr/>
        </p:nvSpPr>
        <p:spPr>
          <a:xfrm>
            <a:off x="3319272" y="2743200"/>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sp>
        <p:nvSpPr>
          <p:cNvPr id="1737" name="Google Shape;1737;p59"/>
          <p:cNvSpPr/>
          <p:nvPr/>
        </p:nvSpPr>
        <p:spPr>
          <a:xfrm>
            <a:off x="3611880" y="2606040"/>
            <a:ext cx="2471806"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b="0" lang="en-US" sz="850">
                <a:solidFill>
                  <a:srgbClr val="0B2F5B"/>
                </a:solidFill>
                <a:latin typeface="Consolas"/>
                <a:ea typeface="Consolas"/>
                <a:cs typeface="Consolas"/>
                <a:sym typeface="Consolas"/>
              </a:rPr>
              <a:t>requestNetwork(WifiNetworkSpecifier)</a:t>
            </a:r>
            <a:endParaRPr/>
          </a:p>
        </p:txBody>
      </p:sp>
      <p:cxnSp>
        <p:nvCxnSpPr>
          <p:cNvPr id="1738" name="Google Shape;1738;p59"/>
          <p:cNvCxnSpPr/>
          <p:nvPr/>
        </p:nvCxnSpPr>
        <p:spPr>
          <a:xfrm rot="10800000">
            <a:off x="1280160" y="3236976"/>
            <a:ext cx="4590288" cy="0"/>
          </a:xfrm>
          <a:prstGeom prst="straightConnector1">
            <a:avLst/>
          </a:prstGeom>
          <a:noFill/>
          <a:ln cap="flat" cmpd="sng" w="19050">
            <a:solidFill>
              <a:srgbClr val="0B2F5B"/>
            </a:solidFill>
            <a:prstDash val="dash"/>
            <a:round/>
            <a:headEnd len="sm" w="sm" type="none"/>
            <a:tailEnd len="med" w="med" type="triangle"/>
          </a:ln>
        </p:spPr>
      </p:cxnSp>
      <p:sp>
        <p:nvSpPr>
          <p:cNvPr id="1739" name="Google Shape;1739;p59"/>
          <p:cNvSpPr/>
          <p:nvPr/>
        </p:nvSpPr>
        <p:spPr>
          <a:xfrm>
            <a:off x="5879592" y="3127248"/>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1740" name="Google Shape;1740;p59"/>
          <p:cNvSpPr/>
          <p:nvPr/>
        </p:nvSpPr>
        <p:spPr>
          <a:xfrm>
            <a:off x="3682043" y="2990088"/>
            <a:ext cx="2124396"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r">
              <a:lnSpc>
                <a:spcPct val="100000"/>
              </a:lnSpc>
              <a:spcBef>
                <a:spcPts val="0"/>
              </a:spcBef>
              <a:spcAft>
                <a:spcPts val="0"/>
              </a:spcAft>
              <a:buNone/>
            </a:pPr>
            <a:r>
              <a:rPr lang="en-US" sz="950">
                <a:solidFill>
                  <a:srgbClr val="1F2A37"/>
                </a:solidFill>
                <a:latin typeface="Barlow"/>
                <a:ea typeface="Barlow"/>
                <a:cs typeface="Barlow"/>
                <a:sym typeface="Barlow"/>
              </a:rPr>
              <a:t>시스템 대화상자: 이 기기에 연결할까요?</a:t>
            </a:r>
            <a:endParaRPr/>
          </a:p>
        </p:txBody>
      </p:sp>
      <p:cxnSp>
        <p:nvCxnSpPr>
          <p:cNvPr id="1741" name="Google Shape;1741;p59"/>
          <p:cNvCxnSpPr/>
          <p:nvPr/>
        </p:nvCxnSpPr>
        <p:spPr>
          <a:xfrm>
            <a:off x="1399031" y="3621024"/>
            <a:ext cx="4590289" cy="0"/>
          </a:xfrm>
          <a:prstGeom prst="straightConnector1">
            <a:avLst/>
          </a:prstGeom>
          <a:noFill/>
          <a:ln cap="flat" cmpd="sng" w="19050">
            <a:solidFill>
              <a:srgbClr val="0B2F5B"/>
            </a:solidFill>
            <a:prstDash val="solid"/>
            <a:round/>
            <a:headEnd len="sm" w="sm" type="none"/>
            <a:tailEnd len="med" w="med" type="triangle"/>
          </a:ln>
        </p:spPr>
      </p:cxnSp>
      <p:sp>
        <p:nvSpPr>
          <p:cNvPr id="1742" name="Google Shape;1742;p59"/>
          <p:cNvSpPr/>
          <p:nvPr/>
        </p:nvSpPr>
        <p:spPr>
          <a:xfrm>
            <a:off x="1170431" y="3511296"/>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1743" name="Google Shape;1743;p59"/>
          <p:cNvSpPr/>
          <p:nvPr/>
        </p:nvSpPr>
        <p:spPr>
          <a:xfrm>
            <a:off x="1463039" y="3374136"/>
            <a:ext cx="1274417"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설치 기사가 승인</a:t>
            </a:r>
            <a:endParaRPr/>
          </a:p>
        </p:txBody>
      </p:sp>
      <p:cxnSp>
        <p:nvCxnSpPr>
          <p:cNvPr id="1744" name="Google Shape;1744;p59"/>
          <p:cNvCxnSpPr/>
          <p:nvPr/>
        </p:nvCxnSpPr>
        <p:spPr>
          <a:xfrm rot="10800000">
            <a:off x="3429000" y="4005072"/>
            <a:ext cx="2441448" cy="0"/>
          </a:xfrm>
          <a:prstGeom prst="straightConnector1">
            <a:avLst/>
          </a:prstGeom>
          <a:noFill/>
          <a:ln cap="flat" cmpd="sng" w="19050">
            <a:solidFill>
              <a:srgbClr val="0B2F5B"/>
            </a:solidFill>
            <a:prstDash val="dash"/>
            <a:round/>
            <a:headEnd len="sm" w="sm" type="none"/>
            <a:tailEnd len="med" w="med" type="triangle"/>
          </a:ln>
        </p:spPr>
      </p:cxnSp>
      <p:sp>
        <p:nvSpPr>
          <p:cNvPr id="1745" name="Google Shape;1745;p59"/>
          <p:cNvSpPr/>
          <p:nvPr/>
        </p:nvSpPr>
        <p:spPr>
          <a:xfrm>
            <a:off x="5879592" y="3895344"/>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6</a:t>
            </a:r>
            <a:endParaRPr/>
          </a:p>
        </p:txBody>
      </p:sp>
      <p:sp>
        <p:nvSpPr>
          <p:cNvPr id="1746" name="Google Shape;1746;p59"/>
          <p:cNvSpPr/>
          <p:nvPr/>
        </p:nvSpPr>
        <p:spPr>
          <a:xfrm>
            <a:off x="4376318" y="3758183"/>
            <a:ext cx="1430121"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r">
              <a:lnSpc>
                <a:spcPct val="100000"/>
              </a:lnSpc>
              <a:spcBef>
                <a:spcPts val="0"/>
              </a:spcBef>
              <a:spcAft>
                <a:spcPts val="0"/>
              </a:spcAft>
              <a:buNone/>
            </a:pPr>
            <a:r>
              <a:rPr b="0" lang="en-US" sz="850">
                <a:solidFill>
                  <a:srgbClr val="0B2F5B"/>
                </a:solidFill>
                <a:latin typeface="Consolas"/>
                <a:ea typeface="Consolas"/>
                <a:cs typeface="Consolas"/>
                <a:sym typeface="Consolas"/>
              </a:rPr>
              <a:t>onAvailable(network)</a:t>
            </a:r>
            <a:endParaRPr/>
          </a:p>
        </p:txBody>
      </p:sp>
      <p:cxnSp>
        <p:nvCxnSpPr>
          <p:cNvPr id="1747" name="Google Shape;1747;p59"/>
          <p:cNvCxnSpPr/>
          <p:nvPr/>
        </p:nvCxnSpPr>
        <p:spPr>
          <a:xfrm>
            <a:off x="3547872" y="4389120"/>
            <a:ext cx="4645152" cy="0"/>
          </a:xfrm>
          <a:prstGeom prst="straightConnector1">
            <a:avLst/>
          </a:prstGeom>
          <a:noFill/>
          <a:ln cap="flat" cmpd="sng" w="28575">
            <a:solidFill>
              <a:srgbClr val="1565C0"/>
            </a:solidFill>
            <a:prstDash val="solid"/>
            <a:round/>
            <a:headEnd len="sm" w="sm" type="none"/>
            <a:tailEnd len="med" w="med" type="triangle"/>
          </a:ln>
        </p:spPr>
      </p:cxnSp>
      <p:sp>
        <p:nvSpPr>
          <p:cNvPr id="1748" name="Google Shape;1748;p59"/>
          <p:cNvSpPr/>
          <p:nvPr/>
        </p:nvSpPr>
        <p:spPr>
          <a:xfrm>
            <a:off x="3319272" y="4279392"/>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7</a:t>
            </a:r>
            <a:endParaRPr/>
          </a:p>
        </p:txBody>
      </p:sp>
      <p:sp>
        <p:nvSpPr>
          <p:cNvPr id="1749" name="Google Shape;1749;p59"/>
          <p:cNvSpPr/>
          <p:nvPr/>
        </p:nvSpPr>
        <p:spPr>
          <a:xfrm>
            <a:off x="3611880" y="4142231"/>
            <a:ext cx="3673759"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이 네트워크에 바인딩된 소켓으로 펌웨어 청크 전송 (SoftAP Wi-Fi)</a:t>
            </a:r>
            <a:endParaRPr/>
          </a:p>
        </p:txBody>
      </p:sp>
      <p:cxnSp>
        <p:nvCxnSpPr>
          <p:cNvPr id="1750" name="Google Shape;1750;p59"/>
          <p:cNvCxnSpPr/>
          <p:nvPr/>
        </p:nvCxnSpPr>
        <p:spPr>
          <a:xfrm>
            <a:off x="3547872" y="4773168"/>
            <a:ext cx="2441448" cy="0"/>
          </a:xfrm>
          <a:prstGeom prst="straightConnector1">
            <a:avLst/>
          </a:prstGeom>
          <a:noFill/>
          <a:ln cap="flat" cmpd="sng" w="19050">
            <a:solidFill>
              <a:srgbClr val="0B2F5B"/>
            </a:solidFill>
            <a:prstDash val="solid"/>
            <a:round/>
            <a:headEnd len="sm" w="sm" type="none"/>
            <a:tailEnd len="med" w="med" type="triangle"/>
          </a:ln>
        </p:spPr>
      </p:cxnSp>
      <p:sp>
        <p:nvSpPr>
          <p:cNvPr id="1751" name="Google Shape;1751;p59"/>
          <p:cNvSpPr/>
          <p:nvPr/>
        </p:nvSpPr>
        <p:spPr>
          <a:xfrm>
            <a:off x="3319272" y="4663440"/>
            <a:ext cx="219456" cy="219456"/>
          </a:xfrm>
          <a:prstGeom prst="ellipse">
            <a:avLst/>
          </a:prstGeom>
          <a:solidFill>
            <a:srgbClr val="0B2F5B"/>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8</a:t>
            </a:r>
            <a:endParaRPr/>
          </a:p>
        </p:txBody>
      </p:sp>
      <p:sp>
        <p:nvSpPr>
          <p:cNvPr id="1752" name="Google Shape;1752;p59"/>
          <p:cNvSpPr/>
          <p:nvPr/>
        </p:nvSpPr>
        <p:spPr>
          <a:xfrm>
            <a:off x="3611880" y="4526279"/>
            <a:ext cx="2364113" cy="192024"/>
          </a:xfrm>
          <a:prstGeom prst="rect">
            <a:avLst/>
          </a:prstGeom>
          <a:solidFill>
            <a:srgbClr val="FFFFFF"/>
          </a:solidFill>
          <a:ln>
            <a:noFill/>
          </a:ln>
        </p:spPr>
        <p:txBody>
          <a:bodyPr anchorCtr="0" anchor="ctr" bIns="0" lIns="27425" spcFirstLastPara="1" rIns="27425"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해제:</a:t>
            </a:r>
            <a:r>
              <a:rPr b="0" lang="en-US" sz="850">
                <a:solidFill>
                  <a:srgbClr val="0B2F5B"/>
                </a:solidFill>
                <a:latin typeface="Consolas"/>
                <a:ea typeface="Consolas"/>
                <a:cs typeface="Consolas"/>
                <a:sym typeface="Consolas"/>
              </a:rPr>
              <a:t>unregisterNetworkCallback()</a:t>
            </a:r>
            <a:endParaRPr/>
          </a:p>
        </p:txBody>
      </p:sp>
      <p:sp>
        <p:nvSpPr>
          <p:cNvPr id="1753" name="Google Shape;1753;p59"/>
          <p:cNvSpPr/>
          <p:nvPr/>
        </p:nvSpPr>
        <p:spPr>
          <a:xfrm>
            <a:off x="457200" y="5047488"/>
            <a:ext cx="8595360" cy="274320"/>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0" lIns="73150" spcFirstLastPara="1" rIns="73150" wrap="square" tIns="0">
            <a:noAutofit/>
          </a:bodyPr>
          <a:lstStyle/>
          <a:p>
            <a:pPr indent="0" lvl="0" marL="0" marR="0" rtl="0" algn="ctr">
              <a:lnSpc>
                <a:spcPct val="100000"/>
              </a:lnSpc>
              <a:spcBef>
                <a:spcPts val="0"/>
              </a:spcBef>
              <a:spcAft>
                <a:spcPts val="0"/>
              </a:spcAft>
              <a:buNone/>
            </a:pPr>
            <a:r>
              <a:rPr b="1" lang="en-US" sz="800">
                <a:solidFill>
                  <a:srgbClr val="9A5B00"/>
                </a:solidFill>
                <a:latin typeface="Montserrat"/>
                <a:ea typeface="Montserrat"/>
                <a:cs typeface="Montserrat"/>
                <a:sym typeface="Montserrat"/>
              </a:rPr>
              <a:t>거부 또는 실패</a:t>
            </a:r>
            <a:r>
              <a:rPr b="1" lang="en-US" sz="800">
                <a:solidFill>
                  <a:srgbClr val="9A5B00"/>
                </a:solidFill>
                <a:latin typeface="Montserrat"/>
                <a:ea typeface="Montserrat"/>
                <a:cs typeface="Montserrat"/>
                <a:sym typeface="Montserrat"/>
              </a:rPr>
              <a:t> </a:t>
            </a:r>
            <a:r>
              <a:rPr b="0" lang="en-US" sz="850">
                <a:solidFill>
                  <a:srgbClr val="9A5B00"/>
                </a:solidFill>
                <a:latin typeface="Consolas"/>
                <a:ea typeface="Consolas"/>
                <a:cs typeface="Consolas"/>
                <a:sym typeface="Consolas"/>
              </a:rPr>
              <a:t>onUnavailable()</a:t>
            </a:r>
            <a:r>
              <a:rPr b="0" lang="en-US" sz="925">
                <a:solidFill>
                  <a:srgbClr val="9A5B00"/>
                </a:solidFill>
                <a:latin typeface="Barlow"/>
                <a:ea typeface="Barlow"/>
                <a:cs typeface="Barlow"/>
                <a:sym typeface="Barlow"/>
              </a:rPr>
              <a:t>: </a:t>
            </a:r>
            <a:r>
              <a:rPr lang="en-US" sz="925">
                <a:solidFill>
                  <a:srgbClr val="9A5B00"/>
                </a:solidFill>
                <a:latin typeface="Barlow"/>
                <a:ea typeface="Barlow"/>
                <a:cs typeface="Barlow"/>
                <a:sym typeface="Barlow"/>
              </a:rPr>
              <a:t>한 번 재시도 후, 새 BLE 웨이크업과 SSID로 재시작 (SoftAP 접속 실패에 대한 T4 규칙)</a:t>
            </a:r>
            <a:endParaRPr/>
          </a:p>
        </p:txBody>
      </p:sp>
      <p:sp>
        <p:nvSpPr>
          <p:cNvPr id="1754" name="Google Shape;1754;p59"/>
          <p:cNvSpPr/>
          <p:nvPr/>
        </p:nvSpPr>
        <p:spPr>
          <a:xfrm>
            <a:off x="457200" y="5394960"/>
            <a:ext cx="8595360" cy="310896"/>
          </a:xfrm>
          <a:prstGeom prst="rect">
            <a:avLst/>
          </a:prstGeom>
          <a:solidFill>
            <a:srgbClr val="F5F8FC"/>
          </a:solidFill>
          <a:ln>
            <a:noFill/>
          </a:ln>
        </p:spPr>
        <p:txBody>
          <a:bodyPr anchorCtr="0" anchor="ctr" bIns="0" lIns="109725" spcFirstLastPara="1" rIns="91425"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실행 위치</a:t>
            </a:r>
            <a:r>
              <a:rPr b="1" lang="en-US" sz="925">
                <a:solidFill>
                  <a:srgbClr val="0B2F5B"/>
                </a:solidFill>
                <a:latin typeface="Barlow"/>
                <a:ea typeface="Barlow"/>
                <a:cs typeface="Barlow"/>
                <a:sym typeface="Barlow"/>
              </a:rPr>
              <a:t> </a:t>
            </a:r>
            <a:r>
              <a:rPr lang="en-US" sz="925">
                <a:solidFill>
                  <a:srgbClr val="1F2A37"/>
                </a:solidFill>
                <a:latin typeface="Barlow"/>
                <a:ea typeface="Barlow"/>
                <a:cs typeface="Barlow"/>
                <a:sym typeface="Barlow"/>
              </a:rPr>
              <a:t>A5의 포그라운드 서비스 안에서 실행되어, 설치 기사가 화면을 벗어나도 전송이 계속됩니다.</a:t>
            </a:r>
            <a:endParaRPr/>
          </a:p>
        </p:txBody>
      </p:sp>
      <p:sp>
        <p:nvSpPr>
          <p:cNvPr id="1755" name="Google Shape;1755;p59"/>
          <p:cNvSpPr txBox="1"/>
          <p:nvPr/>
        </p:nvSpPr>
        <p:spPr>
          <a:xfrm>
            <a:off x="9281160" y="1261872"/>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iOS 설계의 동일 단계</a:t>
            </a:r>
            <a:endParaRPr/>
          </a:p>
        </p:txBody>
      </p:sp>
      <p:sp>
        <p:nvSpPr>
          <p:cNvPr id="1756" name="Google Shape;1756;p59"/>
          <p:cNvSpPr/>
          <p:nvPr/>
        </p:nvSpPr>
        <p:spPr>
          <a:xfrm>
            <a:off x="9281160" y="1517904"/>
            <a:ext cx="2148840" cy="45720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b="0" lang="en-US" sz="850">
                <a:solidFill>
                  <a:srgbClr val="5F6B7A"/>
                </a:solidFill>
                <a:latin typeface="Consolas"/>
                <a:ea typeface="Consolas"/>
                <a:cs typeface="Consolas"/>
                <a:sym typeface="Consolas"/>
              </a:rPr>
              <a:t>NEHotspotConfiguration</a:t>
            </a:r>
            <a:endParaRPr/>
          </a:p>
          <a:p>
            <a:pPr indent="0" lvl="0" marL="0" marR="0" rtl="0" algn="l">
              <a:lnSpc>
                <a:spcPct val="100000"/>
              </a:lnSpc>
              <a:spcBef>
                <a:spcPts val="100"/>
              </a:spcBef>
              <a:spcAft>
                <a:spcPts val="0"/>
              </a:spcAft>
              <a:buNone/>
            </a:pPr>
            <a:r>
              <a:rPr b="0" lang="en-US" sz="900">
                <a:solidFill>
                  <a:srgbClr val="5F6B7A"/>
                </a:solidFill>
                <a:latin typeface="Barlow"/>
                <a:ea typeface="Barlow"/>
                <a:cs typeface="Barlow"/>
                <a:sym typeface="Barlow"/>
              </a:rPr>
              <a:t>joinOnce = true (T7)</a:t>
            </a:r>
            <a:endParaRPr/>
          </a:p>
        </p:txBody>
      </p:sp>
      <p:sp>
        <p:nvSpPr>
          <p:cNvPr id="1757" name="Google Shape;1757;p59"/>
          <p:cNvSpPr txBox="1"/>
          <p:nvPr/>
        </p:nvSpPr>
        <p:spPr>
          <a:xfrm>
            <a:off x="9281160" y="2103120"/>
            <a:ext cx="2148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Android에서 달라지는 점</a:t>
            </a:r>
            <a:endParaRPr/>
          </a:p>
        </p:txBody>
      </p:sp>
      <p:sp>
        <p:nvSpPr>
          <p:cNvPr id="1758" name="Google Shape;1758;p59"/>
          <p:cNvSpPr/>
          <p:nvPr/>
        </p:nvSpPr>
        <p:spPr>
          <a:xfrm>
            <a:off x="9281160" y="2359152"/>
            <a:ext cx="2148840" cy="80467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59" name="Google Shape;1759;p59"/>
          <p:cNvSpPr txBox="1"/>
          <p:nvPr/>
        </p:nvSpPr>
        <p:spPr>
          <a:xfrm>
            <a:off x="9372600" y="2414016"/>
            <a:ext cx="200253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Montserrat"/>
                <a:ea typeface="Montserrat"/>
                <a:cs typeface="Montserrat"/>
                <a:sym typeface="Montserrat"/>
              </a:rPr>
              <a:t>바인딩된 소켓</a:t>
            </a:r>
            <a:endParaRPr/>
          </a:p>
        </p:txBody>
      </p:sp>
      <p:sp>
        <p:nvSpPr>
          <p:cNvPr id="1760" name="Google Shape;1760;p59"/>
          <p:cNvSpPr txBox="1"/>
          <p:nvPr/>
        </p:nvSpPr>
        <p:spPr>
          <a:xfrm>
            <a:off x="9372600" y="2624328"/>
            <a:ext cx="2002536" cy="5029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이 네트워크는 인터넷이 없습니다. 앱은 전달받은 Network에 바인딩된 소켓으로 전송합니다.</a:t>
            </a:r>
            <a:endParaRPr/>
          </a:p>
        </p:txBody>
      </p:sp>
      <p:sp>
        <p:nvSpPr>
          <p:cNvPr id="1761" name="Google Shape;1761;p59"/>
          <p:cNvSpPr/>
          <p:nvPr/>
        </p:nvSpPr>
        <p:spPr>
          <a:xfrm>
            <a:off x="9281160" y="3218688"/>
            <a:ext cx="214884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2" name="Google Shape;1762;p59"/>
          <p:cNvSpPr txBox="1"/>
          <p:nvPr/>
        </p:nvSpPr>
        <p:spPr>
          <a:xfrm>
            <a:off x="9372600" y="3273552"/>
            <a:ext cx="200253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Montserrat"/>
                <a:ea typeface="Montserrat"/>
                <a:cs typeface="Montserrat"/>
                <a:sym typeface="Montserrat"/>
              </a:rPr>
              <a:t>업데이트마다 대화상자</a:t>
            </a:r>
            <a:endParaRPr/>
          </a:p>
        </p:txBody>
      </p:sp>
      <p:sp>
        <p:nvSpPr>
          <p:cNvPr id="1763" name="Google Shape;1763;p59"/>
          <p:cNvSpPr txBox="1"/>
          <p:nvPr/>
        </p:nvSpPr>
        <p:spPr>
          <a:xfrm>
            <a:off x="9372600" y="3483864"/>
            <a:ext cx="2002536" cy="5212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일회용 SSID는 매번 새 액세스 포인트이므로 업데이트마다 승인이 필요합니다. 검증 예정.</a:t>
            </a:r>
            <a:endParaRPr/>
          </a:p>
        </p:txBody>
      </p:sp>
      <p:sp>
        <p:nvSpPr>
          <p:cNvPr id="1764" name="Google Shape;1764;p59"/>
          <p:cNvSpPr/>
          <p:nvPr/>
        </p:nvSpPr>
        <p:spPr>
          <a:xfrm>
            <a:off x="9281160" y="4096512"/>
            <a:ext cx="2148840" cy="676656"/>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5" name="Google Shape;1765;p59"/>
          <p:cNvSpPr txBox="1"/>
          <p:nvPr/>
        </p:nvSpPr>
        <p:spPr>
          <a:xfrm>
            <a:off x="9372600" y="4151376"/>
            <a:ext cx="200253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Montserrat"/>
                <a:ea typeface="Montserrat"/>
                <a:cs typeface="Montserrat"/>
                <a:sym typeface="Montserrat"/>
              </a:rPr>
              <a:t>Android 9 이하</a:t>
            </a:r>
            <a:endParaRPr/>
          </a:p>
        </p:txBody>
      </p:sp>
      <p:sp>
        <p:nvSpPr>
          <p:cNvPr id="1766" name="Google Shape;1766;p59"/>
          <p:cNvSpPr txBox="1"/>
          <p:nvPr/>
        </p:nvSpPr>
        <p:spPr>
          <a:xfrm>
            <a:off x="9372600" y="4361688"/>
            <a:ext cx="2002536" cy="37490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레거시 Wi-Fi 경로가 필요합니다. minSdk가 29 미만일 때만: 확인 예정.</a:t>
            </a:r>
            <a:endParaRPr/>
          </a:p>
        </p:txBody>
      </p:sp>
      <p:sp>
        <p:nvSpPr>
          <p:cNvPr id="1767" name="Google Shape;1767;p59"/>
          <p:cNvSpPr/>
          <p:nvPr/>
        </p:nvSpPr>
        <p:spPr>
          <a:xfrm>
            <a:off x="9281160" y="4828032"/>
            <a:ext cx="2148840" cy="8229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8" name="Google Shape;1768;p59"/>
          <p:cNvSpPr txBox="1"/>
          <p:nvPr/>
        </p:nvSpPr>
        <p:spPr>
          <a:xfrm>
            <a:off x="9372600" y="4882896"/>
            <a:ext cx="200253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50">
                <a:solidFill>
                  <a:srgbClr val="0B2F5B"/>
                </a:solidFill>
                <a:latin typeface="Montserrat"/>
                <a:ea typeface="Montserrat"/>
                <a:cs typeface="Montserrat"/>
                <a:sym typeface="Montserrat"/>
              </a:rPr>
              <a:t>ESS가 평문 HTTP를 쓰는 경우</a:t>
            </a:r>
            <a:endParaRPr/>
          </a:p>
        </p:txBody>
      </p:sp>
      <p:sp>
        <p:nvSpPr>
          <p:cNvPr id="1769" name="Google Shape;1769;p59"/>
          <p:cNvSpPr txBox="1"/>
          <p:nvPr/>
        </p:nvSpPr>
        <p:spPr>
          <a:xfrm>
            <a:off x="9372600" y="5093208"/>
            <a:ext cx="2002536" cy="5212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00">
                <a:solidFill>
                  <a:srgbClr val="1F2A37"/>
                </a:solidFill>
                <a:latin typeface="Barlow"/>
                <a:ea typeface="Barlow"/>
                <a:cs typeface="Barlow"/>
                <a:sym typeface="Barlow"/>
              </a:rPr>
              <a:t>Cleartext는 기본적으로 꺼져 있어, SoftAP 호스트에 대한 Network Security Config 예외가 필요합니다.</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4" name="Shape 1774"/>
        <p:cNvGrpSpPr/>
        <p:nvPr/>
      </p:nvGrpSpPr>
      <p:grpSpPr>
        <a:xfrm>
          <a:off x="0" y="0"/>
          <a:ext cx="0" cy="0"/>
          <a:chOff x="0" y="0"/>
          <a:chExt cx="0" cy="0"/>
        </a:xfrm>
      </p:grpSpPr>
      <p:sp>
        <p:nvSpPr>
          <p:cNvPr id="1775" name="Google Shape;1775;p60"/>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라이프사이클과 프로세스 종료 · 제안 설계</a:t>
            </a:r>
            <a:endParaRPr/>
          </a:p>
        </p:txBody>
      </p:sp>
      <p:sp>
        <p:nvSpPr>
          <p:cNvPr id="1776" name="Google Shape;1776;p60"/>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상태는 </a:t>
            </a:r>
            <a:r>
              <a:rPr lang="en-US"/>
              <a:t>유지</a:t>
            </a:r>
            <a:r>
              <a:rPr lang="en-US"/>
              <a:t> 할 상황에 따라 </a:t>
            </a:r>
            <a:r>
              <a:rPr lang="en-US"/>
              <a:t>보관</a:t>
            </a:r>
            <a:r>
              <a:rPr lang="en-US"/>
              <a:t>합니다: 회전, 백그라운드, 프로세스 종료</a:t>
            </a:r>
            <a:endParaRPr/>
          </a:p>
        </p:txBody>
      </p:sp>
      <p:sp>
        <p:nvSpPr>
          <p:cNvPr id="1777" name="Google Shape;1777;p60"/>
          <p:cNvSpPr txBox="1"/>
          <p:nvPr/>
        </p:nvSpPr>
        <p:spPr>
          <a:xfrm>
            <a:off x="457200" y="1216152"/>
            <a:ext cx="54864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상태가 어디에 있고 무엇을 견디는지</a:t>
            </a:r>
            <a:endParaRPr/>
          </a:p>
        </p:txBody>
      </p:sp>
      <p:sp>
        <p:nvSpPr>
          <p:cNvPr id="1778" name="Google Shape;1778;p60"/>
          <p:cNvSpPr/>
          <p:nvPr/>
        </p:nvSpPr>
        <p:spPr>
          <a:xfrm>
            <a:off x="457200" y="1481328"/>
            <a:ext cx="210312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91425" spcFirstLastPara="1" rIns="54850" wrap="square" tIns="0">
            <a:noAutofit/>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상태 보관 위치</a:t>
            </a:r>
            <a:endParaRPr/>
          </a:p>
        </p:txBody>
      </p:sp>
      <p:sp>
        <p:nvSpPr>
          <p:cNvPr id="1779" name="Google Shape;1779;p60"/>
          <p:cNvSpPr/>
          <p:nvPr/>
        </p:nvSpPr>
        <p:spPr>
          <a:xfrm>
            <a:off x="2560320" y="1481328"/>
            <a:ext cx="233172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91425" spcFirstLastPara="1" rIns="54850" wrap="square" tIns="0">
            <a:noAutofit/>
          </a:bodyPr>
          <a:lstStyle/>
          <a:p>
            <a:pPr indent="0" lvl="0" marL="0" marR="0" rtl="0" algn="l">
              <a:lnSpc>
                <a:spcPct val="100000"/>
              </a:lnSpc>
              <a:spcBef>
                <a:spcPts val="0"/>
              </a:spcBef>
              <a:spcAft>
                <a:spcPts val="0"/>
              </a:spcAft>
              <a:buNone/>
            </a:pPr>
            <a:r>
              <a:rPr b="1" lang="en-US" sz="850">
                <a:solidFill>
                  <a:srgbClr val="FFFFFF"/>
                </a:solidFill>
                <a:latin typeface="Montserrat"/>
                <a:ea typeface="Montserrat"/>
                <a:cs typeface="Montserrat"/>
                <a:sym typeface="Montserrat"/>
              </a:rPr>
              <a:t>설계상 보관하는 내용</a:t>
            </a:r>
            <a:endParaRPr/>
          </a:p>
        </p:txBody>
      </p:sp>
      <p:sp>
        <p:nvSpPr>
          <p:cNvPr id="1780" name="Google Shape;1780;p60"/>
          <p:cNvSpPr/>
          <p:nvPr/>
        </p:nvSpPr>
        <p:spPr>
          <a:xfrm>
            <a:off x="4892040" y="1481328"/>
            <a:ext cx="91440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회전·크기 변경</a:t>
            </a:r>
            <a:endParaRPr/>
          </a:p>
        </p:txBody>
      </p:sp>
      <p:sp>
        <p:nvSpPr>
          <p:cNvPr id="1781" name="Google Shape;1781;p60"/>
          <p:cNvSpPr/>
          <p:nvPr/>
        </p:nvSpPr>
        <p:spPr>
          <a:xfrm>
            <a:off x="5806440" y="1481328"/>
            <a:ext cx="91440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앱 백그라운드</a:t>
            </a:r>
            <a:endParaRPr/>
          </a:p>
        </p:txBody>
      </p:sp>
      <p:sp>
        <p:nvSpPr>
          <p:cNvPr id="1782" name="Google Shape;1782;p60"/>
          <p:cNvSpPr/>
          <p:nvPr/>
        </p:nvSpPr>
        <p:spPr>
          <a:xfrm>
            <a:off x="6720840" y="1481328"/>
            <a:ext cx="91440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775">
                <a:solidFill>
                  <a:srgbClr val="FFFFFF"/>
                </a:solidFill>
                <a:latin typeface="Montserrat"/>
                <a:ea typeface="Montserrat"/>
                <a:cs typeface="Montserrat"/>
                <a:sym typeface="Montserrat"/>
              </a:rPr>
              <a:t>시스템이 프로세스 종료</a:t>
            </a:r>
            <a:endParaRPr/>
          </a:p>
        </p:txBody>
      </p:sp>
      <p:sp>
        <p:nvSpPr>
          <p:cNvPr id="1783" name="Google Shape;1783;p60"/>
          <p:cNvSpPr/>
          <p:nvPr/>
        </p:nvSpPr>
        <p:spPr>
          <a:xfrm>
            <a:off x="7635240" y="1481328"/>
            <a:ext cx="914400" cy="438912"/>
          </a:xfrm>
          <a:prstGeom prst="rect">
            <a:avLst/>
          </a:prstGeom>
          <a:solidFill>
            <a:srgbClr val="0B2F5B"/>
          </a:solidFill>
          <a:ln cap="flat" cmpd="sng" w="9525">
            <a:solidFill>
              <a:srgbClr val="FFFFFF"/>
            </a:solidFill>
            <a:prstDash val="solid"/>
            <a:round/>
            <a:headEnd len="sm" w="sm" type="none"/>
            <a:tailEnd len="sm" w="sm" type="none"/>
          </a:ln>
        </p:spPr>
        <p:txBody>
          <a:bodyPr anchorCtr="0" anchor="ctr" bIns="0" lIns="36575" spcFirstLastPara="1" rIns="36575"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휴대폰 재시작</a:t>
            </a:r>
            <a:endParaRPr/>
          </a:p>
        </p:txBody>
      </p:sp>
      <p:sp>
        <p:nvSpPr>
          <p:cNvPr id="1784" name="Google Shape;1784;p60"/>
          <p:cNvSpPr/>
          <p:nvPr/>
        </p:nvSpPr>
        <p:spPr>
          <a:xfrm>
            <a:off x="457200" y="1965960"/>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ViewModel</a:t>
            </a:r>
            <a:endParaRPr/>
          </a:p>
          <a:p>
            <a:pPr indent="0" lvl="0" marL="0" marR="0" rtl="0" algn="l">
              <a:lnSpc>
                <a:spcPct val="100000"/>
              </a:lnSpc>
              <a:spcBef>
                <a:spcPts val="150"/>
              </a:spcBef>
              <a:spcAft>
                <a:spcPts val="0"/>
              </a:spcAft>
              <a:buNone/>
            </a:pPr>
            <a:r>
              <a:rPr lang="en-US" sz="850">
                <a:solidFill>
                  <a:srgbClr val="5F6B7A"/>
                </a:solidFill>
                <a:latin typeface="Barlow"/>
                <a:ea typeface="Barlow"/>
                <a:cs typeface="Barlow"/>
                <a:sym typeface="Barlow"/>
              </a:rPr>
              <a:t>화면 범위, 메모리</a:t>
            </a:r>
            <a:endParaRPr/>
          </a:p>
        </p:txBody>
      </p:sp>
      <p:sp>
        <p:nvSpPr>
          <p:cNvPr id="1785" name="Google Shape;1785;p60"/>
          <p:cNvSpPr/>
          <p:nvPr/>
        </p:nvSpPr>
        <p:spPr>
          <a:xfrm>
            <a:off x="2560320" y="1965960"/>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화면 상태와 UI 잠금 플래그</a:t>
            </a:r>
            <a:endParaRPr/>
          </a:p>
        </p:txBody>
      </p:sp>
      <p:sp>
        <p:nvSpPr>
          <p:cNvPr id="1786" name="Google Shape;1786;p60"/>
          <p:cNvSpPr/>
          <p:nvPr/>
        </p:nvSpPr>
        <p:spPr>
          <a:xfrm>
            <a:off x="4919472" y="1965960"/>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b="1" sz="975">
              <a:solidFill>
                <a:srgbClr val="1E7B4F"/>
              </a:solidFill>
              <a:latin typeface="Barlow"/>
              <a:ea typeface="Barlow"/>
              <a:cs typeface="Barlow"/>
              <a:sym typeface="Barlow"/>
            </a:endParaRPr>
          </a:p>
        </p:txBody>
      </p:sp>
      <p:sp>
        <p:nvSpPr>
          <p:cNvPr id="1787" name="Google Shape;1787;p60"/>
          <p:cNvSpPr/>
          <p:nvPr/>
        </p:nvSpPr>
        <p:spPr>
          <a:xfrm>
            <a:off x="5833872" y="1965960"/>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788" name="Google Shape;1788;p60"/>
          <p:cNvSpPr/>
          <p:nvPr/>
        </p:nvSpPr>
        <p:spPr>
          <a:xfrm>
            <a:off x="6748272" y="1965960"/>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소실</a:t>
            </a:r>
            <a:endParaRPr/>
          </a:p>
        </p:txBody>
      </p:sp>
      <p:sp>
        <p:nvSpPr>
          <p:cNvPr id="1789" name="Google Shape;1789;p60"/>
          <p:cNvSpPr/>
          <p:nvPr/>
        </p:nvSpPr>
        <p:spPr>
          <a:xfrm>
            <a:off x="7662671" y="1965960"/>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소실</a:t>
            </a:r>
            <a:endParaRPr/>
          </a:p>
        </p:txBody>
      </p:sp>
      <p:sp>
        <p:nvSpPr>
          <p:cNvPr id="1790" name="Google Shape;1790;p60"/>
          <p:cNvSpPr/>
          <p:nvPr/>
        </p:nvSpPr>
        <p:spPr>
          <a:xfrm>
            <a:off x="457200" y="2638044"/>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저장된 상태</a:t>
            </a:r>
            <a:endParaRPr/>
          </a:p>
          <a:p>
            <a:pPr indent="0" lvl="0" marL="0" marR="0" rtl="0" algn="l">
              <a:lnSpc>
                <a:spcPct val="100000"/>
              </a:lnSpc>
              <a:spcBef>
                <a:spcPts val="150"/>
              </a:spcBef>
              <a:spcAft>
                <a:spcPts val="0"/>
              </a:spcAft>
              <a:buNone/>
            </a:pPr>
            <a:r>
              <a:rPr b="0" lang="en-US" sz="800">
                <a:solidFill>
                  <a:srgbClr val="1565C0"/>
                </a:solidFill>
                <a:latin typeface="Consolas"/>
                <a:ea typeface="Consolas"/>
                <a:cs typeface="Consolas"/>
                <a:sym typeface="Consolas"/>
              </a:rPr>
              <a:t>SavedStateHandle</a:t>
            </a:r>
            <a:endParaRPr/>
          </a:p>
        </p:txBody>
      </p:sp>
      <p:sp>
        <p:nvSpPr>
          <p:cNvPr id="1791" name="Google Shape;1791;p60"/>
          <p:cNvSpPr/>
          <p:nvPr/>
        </p:nvSpPr>
        <p:spPr>
          <a:xfrm>
            <a:off x="2560320" y="2638044"/>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선택한 ESS, 설치 마법사 입력</a:t>
            </a:r>
            <a:endParaRPr/>
          </a:p>
        </p:txBody>
      </p:sp>
      <p:sp>
        <p:nvSpPr>
          <p:cNvPr id="1792" name="Google Shape;1792;p60"/>
          <p:cNvSpPr/>
          <p:nvPr/>
        </p:nvSpPr>
        <p:spPr>
          <a:xfrm>
            <a:off x="4919472" y="2638044"/>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b="1" sz="975">
              <a:solidFill>
                <a:srgbClr val="1E7B4F"/>
              </a:solidFill>
              <a:latin typeface="Barlow"/>
              <a:ea typeface="Barlow"/>
              <a:cs typeface="Barlow"/>
              <a:sym typeface="Barlow"/>
            </a:endParaRPr>
          </a:p>
        </p:txBody>
      </p:sp>
      <p:sp>
        <p:nvSpPr>
          <p:cNvPr id="1793" name="Google Shape;1793;p60"/>
          <p:cNvSpPr/>
          <p:nvPr/>
        </p:nvSpPr>
        <p:spPr>
          <a:xfrm>
            <a:off x="5833872" y="2638044"/>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794" name="Google Shape;1794;p60"/>
          <p:cNvSpPr/>
          <p:nvPr/>
        </p:nvSpPr>
        <p:spPr>
          <a:xfrm>
            <a:off x="6748272" y="2638044"/>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795" name="Google Shape;1795;p60"/>
          <p:cNvSpPr/>
          <p:nvPr/>
        </p:nvSpPr>
        <p:spPr>
          <a:xfrm>
            <a:off x="7662671" y="2638044"/>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소실</a:t>
            </a:r>
            <a:endParaRPr/>
          </a:p>
        </p:txBody>
      </p:sp>
      <p:sp>
        <p:nvSpPr>
          <p:cNvPr id="1796" name="Google Shape;1796;p60"/>
          <p:cNvSpPr/>
          <p:nvPr/>
        </p:nvSpPr>
        <p:spPr>
          <a:xfrm>
            <a:off x="457200" y="3310128"/>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DeviceSession</a:t>
            </a:r>
            <a:endParaRPr/>
          </a:p>
          <a:p>
            <a:pPr indent="0" lvl="0" marL="0" marR="0" rtl="0" algn="l">
              <a:lnSpc>
                <a:spcPct val="100000"/>
              </a:lnSpc>
              <a:spcBef>
                <a:spcPts val="150"/>
              </a:spcBef>
              <a:spcAft>
                <a:spcPts val="0"/>
              </a:spcAft>
              <a:buNone/>
            </a:pPr>
            <a:r>
              <a:rPr lang="en-US" sz="850">
                <a:solidFill>
                  <a:srgbClr val="5F6B7A"/>
                </a:solidFill>
                <a:latin typeface="Barlow"/>
                <a:ea typeface="Barlow"/>
                <a:cs typeface="Barlow"/>
                <a:sym typeface="Barlow"/>
              </a:rPr>
              <a:t>앱 범위; 펌웨어 중에는 포그라운드 서비스 안</a:t>
            </a:r>
            <a:endParaRPr/>
          </a:p>
        </p:txBody>
      </p:sp>
      <p:sp>
        <p:nvSpPr>
          <p:cNvPr id="1797" name="Google Shape;1797;p60"/>
          <p:cNvSpPr/>
          <p:nvPr/>
        </p:nvSpPr>
        <p:spPr>
          <a:xfrm>
            <a:off x="2560320" y="3310128"/>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BLE 링크, 명령 큐, 펌웨어 전송</a:t>
            </a:r>
            <a:endParaRPr/>
          </a:p>
        </p:txBody>
      </p:sp>
      <p:sp>
        <p:nvSpPr>
          <p:cNvPr id="1798" name="Google Shape;1798;p60"/>
          <p:cNvSpPr/>
          <p:nvPr/>
        </p:nvSpPr>
        <p:spPr>
          <a:xfrm>
            <a:off x="4919472" y="3310128"/>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b="1" sz="975">
              <a:solidFill>
                <a:srgbClr val="1E7B4F"/>
              </a:solidFill>
              <a:latin typeface="Barlow"/>
              <a:ea typeface="Barlow"/>
              <a:cs typeface="Barlow"/>
              <a:sym typeface="Barlow"/>
            </a:endParaRPr>
          </a:p>
        </p:txBody>
      </p:sp>
      <p:sp>
        <p:nvSpPr>
          <p:cNvPr id="1799" name="Google Shape;1799;p60"/>
          <p:cNvSpPr/>
          <p:nvPr/>
        </p:nvSpPr>
        <p:spPr>
          <a:xfrm>
            <a:off x="5833872" y="3310128"/>
            <a:ext cx="859536" cy="621792"/>
          </a:xfrm>
          <a:prstGeom prst="roundRect">
            <a:avLst>
              <a:gd fmla="val 7352" name="adj"/>
            </a:avLst>
          </a:prstGeom>
          <a:solidFill>
            <a:srgbClr val="FFF4E0"/>
          </a:solidFill>
          <a:ln cap="flat" cmpd="sng" w="9525">
            <a:solidFill>
              <a:srgbClr val="F0A93B"/>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25">
                <a:solidFill>
                  <a:srgbClr val="9A5B00"/>
                </a:solidFill>
                <a:latin typeface="Barlow"/>
                <a:ea typeface="Barlow"/>
                <a:cs typeface="Barlow"/>
                <a:sym typeface="Barlow"/>
              </a:rPr>
              <a:t>펌웨어 중 유지</a:t>
            </a:r>
            <a:endParaRPr/>
          </a:p>
        </p:txBody>
      </p:sp>
      <p:sp>
        <p:nvSpPr>
          <p:cNvPr id="1800" name="Google Shape;1800;p60"/>
          <p:cNvSpPr/>
          <p:nvPr/>
        </p:nvSpPr>
        <p:spPr>
          <a:xfrm>
            <a:off x="6748272" y="3310128"/>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소실</a:t>
            </a:r>
            <a:endParaRPr/>
          </a:p>
          <a:p>
            <a:pPr indent="0" lvl="0" marL="0" marR="0" rtl="0" algn="ctr">
              <a:lnSpc>
                <a:spcPct val="100000"/>
              </a:lnSpc>
              <a:spcBef>
                <a:spcPts val="100"/>
              </a:spcBef>
              <a:spcAft>
                <a:spcPts val="0"/>
              </a:spcAft>
              <a:buNone/>
            </a:pPr>
            <a:r>
              <a:rPr lang="en-US" sz="800">
                <a:solidFill>
                  <a:srgbClr val="B3261E"/>
                </a:solidFill>
                <a:latin typeface="Barlow"/>
                <a:ea typeface="Barlow"/>
                <a:cs typeface="Barlow"/>
                <a:sym typeface="Barlow"/>
              </a:rPr>
              <a:t>이후 T4 복구</a:t>
            </a:r>
            <a:endParaRPr/>
          </a:p>
        </p:txBody>
      </p:sp>
      <p:sp>
        <p:nvSpPr>
          <p:cNvPr id="1801" name="Google Shape;1801;p60"/>
          <p:cNvSpPr/>
          <p:nvPr/>
        </p:nvSpPr>
        <p:spPr>
          <a:xfrm>
            <a:off x="7662671" y="3310128"/>
            <a:ext cx="859536" cy="621792"/>
          </a:xfrm>
          <a:prstGeom prst="roundRect">
            <a:avLst>
              <a:gd fmla="val 7352" name="adj"/>
            </a:avLst>
          </a:prstGeom>
          <a:solidFill>
            <a:srgbClr val="FDECEA"/>
          </a:solidFill>
          <a:ln cap="flat" cmpd="sng" w="9525">
            <a:solidFill>
              <a:srgbClr val="E9A39D"/>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B3261E"/>
                </a:solidFill>
                <a:latin typeface="Barlow"/>
                <a:ea typeface="Barlow"/>
                <a:cs typeface="Barlow"/>
                <a:sym typeface="Barlow"/>
              </a:rPr>
              <a:t>소실</a:t>
            </a:r>
            <a:endParaRPr/>
          </a:p>
        </p:txBody>
      </p:sp>
      <p:sp>
        <p:nvSpPr>
          <p:cNvPr id="1802" name="Google Shape;1802;p60"/>
          <p:cNvSpPr/>
          <p:nvPr/>
        </p:nvSpPr>
        <p:spPr>
          <a:xfrm>
            <a:off x="457200" y="3982212"/>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Room 저널</a:t>
            </a:r>
            <a:endParaRPr/>
          </a:p>
          <a:p>
            <a:pPr indent="0" lvl="0" marL="0" marR="0" rtl="0" algn="l">
              <a:lnSpc>
                <a:spcPct val="100000"/>
              </a:lnSpc>
              <a:spcBef>
                <a:spcPts val="150"/>
              </a:spcBef>
              <a:spcAft>
                <a:spcPts val="0"/>
              </a:spcAft>
              <a:buNone/>
            </a:pPr>
            <a:r>
              <a:rPr lang="en-US" sz="850">
                <a:solidFill>
                  <a:srgbClr val="5F6B7A"/>
                </a:solidFill>
                <a:latin typeface="Barlow"/>
                <a:ea typeface="Barlow"/>
                <a:cs typeface="Barlow"/>
                <a:sym typeface="Barlow"/>
              </a:rPr>
              <a:t>디스크</a:t>
            </a:r>
            <a:endParaRPr/>
          </a:p>
        </p:txBody>
      </p:sp>
      <p:sp>
        <p:nvSpPr>
          <p:cNvPr id="1803" name="Google Shape;1803;p60"/>
          <p:cNvSpPr/>
          <p:nvPr/>
        </p:nvSpPr>
        <p:spPr>
          <a:xfrm>
            <a:off x="2560320" y="3982212"/>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대기 / 적용됨 / 동기화됨, 적용 마커, FW 세션 마커</a:t>
            </a:r>
            <a:endParaRPr/>
          </a:p>
        </p:txBody>
      </p:sp>
      <p:sp>
        <p:nvSpPr>
          <p:cNvPr id="1804" name="Google Shape;1804;p60"/>
          <p:cNvSpPr/>
          <p:nvPr/>
        </p:nvSpPr>
        <p:spPr>
          <a:xfrm>
            <a:off x="4919472" y="3982212"/>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b="1" sz="975">
              <a:solidFill>
                <a:srgbClr val="1E7B4F"/>
              </a:solidFill>
              <a:latin typeface="Barlow"/>
              <a:ea typeface="Barlow"/>
              <a:cs typeface="Barlow"/>
              <a:sym typeface="Barlow"/>
            </a:endParaRPr>
          </a:p>
        </p:txBody>
      </p:sp>
      <p:sp>
        <p:nvSpPr>
          <p:cNvPr id="1805" name="Google Shape;1805;p60"/>
          <p:cNvSpPr/>
          <p:nvPr/>
        </p:nvSpPr>
        <p:spPr>
          <a:xfrm>
            <a:off x="5833872" y="3982212"/>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806" name="Google Shape;1806;p60"/>
          <p:cNvSpPr/>
          <p:nvPr/>
        </p:nvSpPr>
        <p:spPr>
          <a:xfrm>
            <a:off x="6748272" y="3982212"/>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807" name="Google Shape;1807;p60"/>
          <p:cNvSpPr/>
          <p:nvPr/>
        </p:nvSpPr>
        <p:spPr>
          <a:xfrm>
            <a:off x="7662671" y="3982212"/>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808" name="Google Shape;1808;p60"/>
          <p:cNvSpPr/>
          <p:nvPr/>
        </p:nvSpPr>
        <p:spPr>
          <a:xfrm>
            <a:off x="457200" y="4654296"/>
            <a:ext cx="2103120" cy="621792"/>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27425" lIns="91425" spcFirstLastPara="1" rIns="45700" wrap="square" tIns="27425">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WorkManager 큐</a:t>
            </a:r>
            <a:endParaRPr/>
          </a:p>
          <a:p>
            <a:pPr indent="0" lvl="0" marL="0" marR="0" rtl="0" algn="l">
              <a:lnSpc>
                <a:spcPct val="100000"/>
              </a:lnSpc>
              <a:spcBef>
                <a:spcPts val="150"/>
              </a:spcBef>
              <a:spcAft>
                <a:spcPts val="0"/>
              </a:spcAft>
              <a:buNone/>
            </a:pPr>
            <a:r>
              <a:rPr lang="en-US" sz="850">
                <a:solidFill>
                  <a:srgbClr val="5F6B7A"/>
                </a:solidFill>
                <a:latin typeface="Barlow"/>
                <a:ea typeface="Barlow"/>
                <a:cs typeface="Barlow"/>
                <a:sym typeface="Barlow"/>
              </a:rPr>
              <a:t>디스크, 시스템이 예약</a:t>
            </a:r>
            <a:endParaRPr/>
          </a:p>
        </p:txBody>
      </p:sp>
      <p:sp>
        <p:nvSpPr>
          <p:cNvPr id="1809" name="Google Shape;1809;p60"/>
          <p:cNvSpPr/>
          <p:nvPr/>
        </p:nvSpPr>
        <p:spPr>
          <a:xfrm>
            <a:off x="2560320" y="4654296"/>
            <a:ext cx="2331720" cy="621792"/>
          </a:xfrm>
          <a:prstGeom prst="rect">
            <a:avLst/>
          </a:prstGeom>
          <a:solidFill>
            <a:srgbClr val="FFFFFF"/>
          </a:solidFill>
          <a:ln cap="flat" cmpd="sng" w="9525">
            <a:solidFill>
              <a:srgbClr val="C7D7EA"/>
            </a:solidFill>
            <a:prstDash val="solid"/>
            <a:round/>
            <a:headEnd len="sm" w="sm" type="none"/>
            <a:tailEnd len="sm" w="sm" type="none"/>
          </a:ln>
        </p:spPr>
        <p:txBody>
          <a:bodyPr anchorCtr="0" anchor="ctr" bIns="27425" lIns="91425" spcFirstLastPara="1" rIns="54850" wrap="square" tIns="2742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적용된 변경 업로드 (A6)</a:t>
            </a:r>
            <a:endParaRPr/>
          </a:p>
        </p:txBody>
      </p:sp>
      <p:sp>
        <p:nvSpPr>
          <p:cNvPr id="1810" name="Google Shape;1810;p60"/>
          <p:cNvSpPr/>
          <p:nvPr/>
        </p:nvSpPr>
        <p:spPr>
          <a:xfrm>
            <a:off x="4919472" y="4654296"/>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b="1" sz="975">
              <a:solidFill>
                <a:srgbClr val="1E7B4F"/>
              </a:solidFill>
              <a:latin typeface="Barlow"/>
              <a:ea typeface="Barlow"/>
              <a:cs typeface="Barlow"/>
              <a:sym typeface="Barlow"/>
            </a:endParaRPr>
          </a:p>
        </p:txBody>
      </p:sp>
      <p:sp>
        <p:nvSpPr>
          <p:cNvPr id="1811" name="Google Shape;1811;p60"/>
          <p:cNvSpPr/>
          <p:nvPr/>
        </p:nvSpPr>
        <p:spPr>
          <a:xfrm>
            <a:off x="5833872" y="4654296"/>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812" name="Google Shape;1812;p60"/>
          <p:cNvSpPr/>
          <p:nvPr/>
        </p:nvSpPr>
        <p:spPr>
          <a:xfrm>
            <a:off x="6748272" y="4654296"/>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813" name="Google Shape;1813;p60"/>
          <p:cNvSpPr/>
          <p:nvPr/>
        </p:nvSpPr>
        <p:spPr>
          <a:xfrm>
            <a:off x="7662671" y="4654296"/>
            <a:ext cx="859536" cy="621792"/>
          </a:xfrm>
          <a:prstGeom prst="roundRect">
            <a:avLst>
              <a:gd fmla="val 7352" name="adj"/>
            </a:avLst>
          </a:prstGeom>
          <a:solidFill>
            <a:srgbClr val="E6F4EA"/>
          </a:solidFill>
          <a:ln cap="flat" cmpd="sng" w="9525">
            <a:solidFill>
              <a:srgbClr val="8CC9A6"/>
            </a:solidFill>
            <a:prstDash val="solid"/>
            <a:round/>
            <a:headEnd len="sm" w="sm" type="none"/>
            <a:tailEnd len="sm" w="sm" type="none"/>
          </a:ln>
        </p:spPr>
        <p:txBody>
          <a:bodyPr anchorCtr="0" anchor="ctr" bIns="18275" lIns="27425" spcFirstLastPara="1" rIns="27425" wrap="square" tIns="18275">
            <a:noAutofit/>
          </a:bodyPr>
          <a:lstStyle/>
          <a:p>
            <a:pPr indent="0" lvl="0" marL="0" marR="0" rtl="0" algn="ctr">
              <a:lnSpc>
                <a:spcPct val="100000"/>
              </a:lnSpc>
              <a:spcBef>
                <a:spcPts val="0"/>
              </a:spcBef>
              <a:spcAft>
                <a:spcPts val="0"/>
              </a:spcAft>
              <a:buNone/>
            </a:pPr>
            <a:r>
              <a:rPr b="1" lang="en-US" sz="975">
                <a:solidFill>
                  <a:srgbClr val="1E7B4F"/>
                </a:solidFill>
                <a:latin typeface="Barlow"/>
                <a:ea typeface="Barlow"/>
                <a:cs typeface="Barlow"/>
                <a:sym typeface="Barlow"/>
              </a:rPr>
              <a:t>유지</a:t>
            </a:r>
            <a:endParaRPr/>
          </a:p>
        </p:txBody>
      </p:sp>
      <p:sp>
        <p:nvSpPr>
          <p:cNvPr id="1814" name="Google Shape;1814;p60"/>
          <p:cNvSpPr txBox="1"/>
          <p:nvPr/>
        </p:nvSpPr>
        <p:spPr>
          <a:xfrm>
            <a:off x="8823960" y="1216152"/>
            <a:ext cx="26060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Android에 이 설계가 필요한 이유</a:t>
            </a:r>
            <a:endParaRPr/>
          </a:p>
        </p:txBody>
      </p:sp>
      <p:sp>
        <p:nvSpPr>
          <p:cNvPr id="1815" name="Google Shape;1815;p60"/>
          <p:cNvSpPr/>
          <p:nvPr/>
        </p:nvSpPr>
        <p:spPr>
          <a:xfrm>
            <a:off x="8823960" y="1481328"/>
            <a:ext cx="2606040" cy="1210056"/>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6" name="Google Shape;1816;p60"/>
          <p:cNvSpPr/>
          <p:nvPr/>
        </p:nvSpPr>
        <p:spPr>
          <a:xfrm>
            <a:off x="8933688" y="1591056"/>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17" name="Google Shape;1817;p60"/>
          <p:cNvPicPr preferRelativeResize="0"/>
          <p:nvPr/>
        </p:nvPicPr>
        <p:blipFill rotWithShape="1">
          <a:blip r:embed="rId3">
            <a:alphaModFix/>
          </a:blip>
          <a:srcRect b="0" l="0" r="0" t="0"/>
          <a:stretch/>
        </p:blipFill>
        <p:spPr>
          <a:xfrm>
            <a:off x="9006108" y="1663476"/>
            <a:ext cx="184343" cy="184343"/>
          </a:xfrm>
          <a:prstGeom prst="rect">
            <a:avLst/>
          </a:prstGeom>
          <a:noFill/>
          <a:ln>
            <a:noFill/>
          </a:ln>
        </p:spPr>
      </p:pic>
      <p:sp>
        <p:nvSpPr>
          <p:cNvPr id="1818" name="Google Shape;1818;p60"/>
          <p:cNvSpPr txBox="1"/>
          <p:nvPr/>
        </p:nvSpPr>
        <p:spPr>
          <a:xfrm>
            <a:off x="9354312" y="1591056"/>
            <a:ext cx="198424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Home은 막을 수 없음</a:t>
            </a:r>
            <a:endParaRPr/>
          </a:p>
        </p:txBody>
      </p:sp>
      <p:sp>
        <p:nvSpPr>
          <p:cNvPr id="1819" name="Google Shape;1819;p60"/>
          <p:cNvSpPr txBox="1"/>
          <p:nvPr/>
        </p:nvSpPr>
        <p:spPr>
          <a:xfrm>
            <a:off x="8933688" y="1993392"/>
            <a:ext cx="2404872" cy="6614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UI 잠금은 Back과 터치를 막지만 Home과 Recents는 막지 못합니다. 그래서 세션은 화면 밖에 둡니다.</a:t>
            </a:r>
            <a:endParaRPr/>
          </a:p>
        </p:txBody>
      </p:sp>
      <p:sp>
        <p:nvSpPr>
          <p:cNvPr id="1820" name="Google Shape;1820;p60"/>
          <p:cNvSpPr/>
          <p:nvPr/>
        </p:nvSpPr>
        <p:spPr>
          <a:xfrm>
            <a:off x="8823960" y="2773680"/>
            <a:ext cx="2606040" cy="1210056"/>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1" name="Google Shape;1821;p60"/>
          <p:cNvSpPr/>
          <p:nvPr/>
        </p:nvSpPr>
        <p:spPr>
          <a:xfrm>
            <a:off x="8933688" y="2883408"/>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22" name="Google Shape;1822;p60"/>
          <p:cNvPicPr preferRelativeResize="0"/>
          <p:nvPr/>
        </p:nvPicPr>
        <p:blipFill rotWithShape="1">
          <a:blip r:embed="rId4">
            <a:alphaModFix/>
          </a:blip>
          <a:srcRect b="0" l="0" r="0" t="0"/>
          <a:stretch/>
        </p:blipFill>
        <p:spPr>
          <a:xfrm>
            <a:off x="9006108" y="2955828"/>
            <a:ext cx="184343" cy="184343"/>
          </a:xfrm>
          <a:prstGeom prst="rect">
            <a:avLst/>
          </a:prstGeom>
          <a:noFill/>
          <a:ln>
            <a:noFill/>
          </a:ln>
        </p:spPr>
      </p:pic>
      <p:sp>
        <p:nvSpPr>
          <p:cNvPr id="1823" name="Google Shape;1823;p60"/>
          <p:cNvSpPr txBox="1"/>
          <p:nvPr/>
        </p:nvSpPr>
        <p:spPr>
          <a:xfrm>
            <a:off x="9354312" y="2883408"/>
            <a:ext cx="198424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화면은 다시 생성됨</a:t>
            </a:r>
            <a:endParaRPr/>
          </a:p>
        </p:txBody>
      </p:sp>
      <p:sp>
        <p:nvSpPr>
          <p:cNvPr id="1824" name="Google Shape;1824;p60"/>
          <p:cNvSpPr txBox="1"/>
          <p:nvPr/>
        </p:nvSpPr>
        <p:spPr>
          <a:xfrm>
            <a:off x="8933688" y="3285744"/>
            <a:ext cx="2404872" cy="6614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회전과 크기 조절 시 화면이 다시 만들어집니다. target API 36에서는 대형 화면의 방향 고정이 더 이상 적용되지 않습니다.</a:t>
            </a:r>
            <a:endParaRPr/>
          </a:p>
        </p:txBody>
      </p:sp>
      <p:sp>
        <p:nvSpPr>
          <p:cNvPr id="1825" name="Google Shape;1825;p60"/>
          <p:cNvSpPr/>
          <p:nvPr/>
        </p:nvSpPr>
        <p:spPr>
          <a:xfrm>
            <a:off x="8823960" y="4066032"/>
            <a:ext cx="2606040" cy="1210056"/>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6" name="Google Shape;1826;p60"/>
          <p:cNvSpPr/>
          <p:nvPr/>
        </p:nvSpPr>
        <p:spPr>
          <a:xfrm>
            <a:off x="8933688" y="4175760"/>
            <a:ext cx="329184" cy="329184"/>
          </a:xfrm>
          <a:prstGeom prst="roundRect">
            <a:avLst>
              <a:gd fmla="val 13888"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27" name="Google Shape;1827;p60"/>
          <p:cNvPicPr preferRelativeResize="0"/>
          <p:nvPr/>
        </p:nvPicPr>
        <p:blipFill rotWithShape="1">
          <a:blip r:embed="rId5">
            <a:alphaModFix/>
          </a:blip>
          <a:srcRect b="0" l="0" r="0" t="0"/>
          <a:stretch/>
        </p:blipFill>
        <p:spPr>
          <a:xfrm>
            <a:off x="9006108" y="4248180"/>
            <a:ext cx="184343" cy="184343"/>
          </a:xfrm>
          <a:prstGeom prst="rect">
            <a:avLst/>
          </a:prstGeom>
          <a:noFill/>
          <a:ln>
            <a:noFill/>
          </a:ln>
        </p:spPr>
      </p:pic>
      <p:sp>
        <p:nvSpPr>
          <p:cNvPr id="1828" name="Google Shape;1828;p60"/>
          <p:cNvSpPr txBox="1"/>
          <p:nvPr/>
        </p:nvSpPr>
        <p:spPr>
          <a:xfrm>
            <a:off x="9354312" y="4175760"/>
            <a:ext cx="1984248"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프로세스가 종료될 수 있음</a:t>
            </a:r>
            <a:endParaRPr/>
          </a:p>
        </p:txBody>
      </p:sp>
      <p:sp>
        <p:nvSpPr>
          <p:cNvPr id="1829" name="Google Shape;1829;p60"/>
          <p:cNvSpPr txBox="1"/>
          <p:nvPr/>
        </p:nvSpPr>
        <p:spPr>
          <a:xfrm>
            <a:off x="8933688" y="4578096"/>
            <a:ext cx="2404872" cy="661416"/>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백그라운드에서, 또는 권한이 회수될 때. 복구는 T4 규칙: 저장된 마커, 이어서 기기 read-back.</a:t>
            </a:r>
            <a:endParaRPr/>
          </a:p>
        </p:txBody>
      </p:sp>
      <p:sp>
        <p:nvSpPr>
          <p:cNvPr id="1830" name="Google Shape;1830;p60"/>
          <p:cNvSpPr/>
          <p:nvPr/>
        </p:nvSpPr>
        <p:spPr>
          <a:xfrm>
            <a:off x="457200" y="5394960"/>
            <a:ext cx="10972800" cy="329184"/>
          </a:xfrm>
          <a:prstGeom prst="rect">
            <a:avLst/>
          </a:prstGeom>
          <a:solidFill>
            <a:srgbClr val="F5F8FC"/>
          </a:solidFill>
          <a:ln>
            <a:noFill/>
          </a:ln>
        </p:spPr>
        <p:txBody>
          <a:bodyPr anchorCtr="0" anchor="ctr" bIns="0" lIns="109725" spcFirstLastPara="1" rIns="91425"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펌웨어 중  </a:t>
            </a:r>
            <a:r>
              <a:rPr b="0" lang="en-US" sz="850">
                <a:solidFill>
                  <a:srgbClr val="1565C0"/>
                </a:solidFill>
                <a:latin typeface="Consolas"/>
                <a:ea typeface="Consolas"/>
                <a:cs typeface="Consolas"/>
                <a:sym typeface="Consolas"/>
              </a:rPr>
              <a:t>connectedDevice</a:t>
            </a:r>
            <a:r>
              <a:rPr lang="en-US" sz="925">
                <a:solidFill>
                  <a:srgbClr val="1F2A37"/>
                </a:solidFill>
                <a:latin typeface="Barlow"/>
                <a:ea typeface="Barlow"/>
                <a:cs typeface="Barlow"/>
                <a:sym typeface="Barlow"/>
              </a:rPr>
              <a:t> 유형의 포그라운드 서비스를 앱이 보이는 동안 시작하고, UI 잠금 화면에 </a:t>
            </a:r>
            <a:r>
              <a:rPr b="0" lang="en-US" sz="850">
                <a:solidFill>
                  <a:srgbClr val="1565C0"/>
                </a:solidFill>
                <a:latin typeface="Consolas"/>
                <a:ea typeface="Consolas"/>
                <a:cs typeface="Consolas"/>
                <a:sym typeface="Consolas"/>
              </a:rPr>
              <a:t>FLAG_KEEP_SCREEN_ON</a:t>
            </a:r>
            <a:r>
              <a:rPr lang="en-US" sz="925">
                <a:solidFill>
                  <a:srgbClr val="1F2A37"/>
                </a:solidFill>
                <a:latin typeface="Barlow"/>
                <a:ea typeface="Barlow"/>
                <a:cs typeface="Barlow"/>
                <a:sym typeface="Barlow"/>
              </a:rPr>
              <a:t> 적용: T7의 </a:t>
            </a:r>
            <a:r>
              <a:rPr b="0" lang="en-US" sz="850">
                <a:solidFill>
                  <a:srgbClr val="5F6B7A"/>
                </a:solidFill>
                <a:latin typeface="Consolas"/>
                <a:ea typeface="Consolas"/>
                <a:cs typeface="Consolas"/>
                <a:sym typeface="Consolas"/>
              </a:rPr>
              <a:t>isIdleTimerDisabled</a:t>
            </a:r>
            <a:r>
              <a:rPr lang="en-US" sz="925">
                <a:solidFill>
                  <a:srgbClr val="1F2A37"/>
                </a:solidFill>
                <a:latin typeface="Barlow"/>
                <a:ea typeface="Barlow"/>
                <a:cs typeface="Barlow"/>
                <a:sym typeface="Barlow"/>
              </a:rPr>
              <a:t>에 해당.</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5" name="Shape 1835"/>
        <p:cNvGrpSpPr/>
        <p:nvPr/>
      </p:nvGrpSpPr>
      <p:grpSpPr>
        <a:xfrm>
          <a:off x="0" y="0"/>
          <a:ext cx="0" cy="0"/>
          <a:chOff x="0" y="0"/>
          <a:chExt cx="0" cy="0"/>
        </a:xfrm>
      </p:grpSpPr>
      <p:sp>
        <p:nvSpPr>
          <p:cNvPr id="1836" name="Google Shape;1836;p61"/>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백그라운드 동기화 · 제안 설계</a:t>
            </a:r>
            <a:endParaRPr/>
          </a:p>
        </p:txBody>
      </p:sp>
      <p:sp>
        <p:nvSpPr>
          <p:cNvPr id="1837" name="Google Shape;1837;p61"/>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앱을 열지 않아도 업로드가 실행되며, UUID 규칙이 재시도 중복을 막습니다</a:t>
            </a:r>
            <a:endParaRPr/>
          </a:p>
        </p:txBody>
      </p:sp>
      <p:sp>
        <p:nvSpPr>
          <p:cNvPr id="1838" name="Google Shape;1838;p61"/>
          <p:cNvSpPr txBox="1"/>
          <p:nvPr/>
        </p:nvSpPr>
        <p:spPr>
          <a:xfrm>
            <a:off x="457200" y="1216152"/>
            <a:ext cx="7863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1 · 오프라인에서 한 변경이 설치 기사가 앱을 다시 열지 않아도 클라우드에 도달</a:t>
            </a:r>
            <a:endParaRPr/>
          </a:p>
        </p:txBody>
      </p:sp>
      <p:sp>
        <p:nvSpPr>
          <p:cNvPr id="1839" name="Google Shape;1839;p61"/>
          <p:cNvSpPr txBox="1"/>
          <p:nvPr/>
        </p:nvSpPr>
        <p:spPr>
          <a:xfrm>
            <a:off x="1993392" y="1499616"/>
            <a:ext cx="420046"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현장</a:t>
            </a:r>
            <a:endParaRPr/>
          </a:p>
        </p:txBody>
      </p:sp>
      <p:cxnSp>
        <p:nvCxnSpPr>
          <p:cNvPr id="1840" name="Google Shape;1840;p61"/>
          <p:cNvCxnSpPr/>
          <p:nvPr/>
        </p:nvCxnSpPr>
        <p:spPr>
          <a:xfrm>
            <a:off x="201168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1" name="Google Shape;1841;p61"/>
          <p:cNvSpPr txBox="1"/>
          <p:nvPr/>
        </p:nvSpPr>
        <p:spPr>
          <a:xfrm>
            <a:off x="2907792" y="1499616"/>
            <a:ext cx="82625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변경 적용</a:t>
            </a:r>
            <a:endParaRPr/>
          </a:p>
        </p:txBody>
      </p:sp>
      <p:cxnSp>
        <p:nvCxnSpPr>
          <p:cNvPr id="1842" name="Google Shape;1842;p61"/>
          <p:cNvCxnSpPr/>
          <p:nvPr/>
        </p:nvCxnSpPr>
        <p:spPr>
          <a:xfrm>
            <a:off x="292608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3" name="Google Shape;1843;p61"/>
          <p:cNvSpPr txBox="1"/>
          <p:nvPr/>
        </p:nvSpPr>
        <p:spPr>
          <a:xfrm>
            <a:off x="4142232" y="1499616"/>
            <a:ext cx="1192201"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설치 기사가 앱 이탈</a:t>
            </a:r>
            <a:endParaRPr/>
          </a:p>
        </p:txBody>
      </p:sp>
      <p:cxnSp>
        <p:nvCxnSpPr>
          <p:cNvPr id="1844" name="Google Shape;1844;p61"/>
          <p:cNvCxnSpPr/>
          <p:nvPr/>
        </p:nvCxnSpPr>
        <p:spPr>
          <a:xfrm>
            <a:off x="416052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5" name="Google Shape;1845;p61"/>
          <p:cNvSpPr txBox="1"/>
          <p:nvPr/>
        </p:nvSpPr>
        <p:spPr>
          <a:xfrm>
            <a:off x="5559552" y="1499616"/>
            <a:ext cx="1351671"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휴대폰 재시작·잠금 해제</a:t>
            </a:r>
            <a:endParaRPr/>
          </a:p>
        </p:txBody>
      </p:sp>
      <p:cxnSp>
        <p:nvCxnSpPr>
          <p:cNvPr id="1846" name="Google Shape;1846;p61"/>
          <p:cNvCxnSpPr/>
          <p:nvPr/>
        </p:nvCxnSpPr>
        <p:spPr>
          <a:xfrm>
            <a:off x="557784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7" name="Google Shape;1847;p61"/>
          <p:cNvSpPr txBox="1"/>
          <p:nvPr/>
        </p:nvSpPr>
        <p:spPr>
          <a:xfrm>
            <a:off x="7159752" y="1499616"/>
            <a:ext cx="875477"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50">
                <a:solidFill>
                  <a:srgbClr val="0B2F5B"/>
                </a:solidFill>
                <a:latin typeface="Barlow"/>
                <a:ea typeface="Barlow"/>
                <a:cs typeface="Barlow"/>
                <a:sym typeface="Barlow"/>
              </a:rPr>
              <a:t>네트워크 복귀</a:t>
            </a:r>
            <a:endParaRPr/>
          </a:p>
        </p:txBody>
      </p:sp>
      <p:cxnSp>
        <p:nvCxnSpPr>
          <p:cNvPr id="1848" name="Google Shape;1848;p61"/>
          <p:cNvCxnSpPr/>
          <p:nvPr/>
        </p:nvCxnSpPr>
        <p:spPr>
          <a:xfrm>
            <a:off x="7178040" y="1700784"/>
            <a:ext cx="0" cy="1444752"/>
          </a:xfrm>
          <a:prstGeom prst="straightConnector1">
            <a:avLst/>
          </a:prstGeom>
          <a:noFill/>
          <a:ln cap="flat" cmpd="sng" w="9525">
            <a:solidFill>
              <a:srgbClr val="5F6B7A"/>
            </a:solidFill>
            <a:prstDash val="dash"/>
            <a:round/>
            <a:headEnd len="sm" w="sm" type="none"/>
            <a:tailEnd len="sm" w="sm" type="none"/>
          </a:ln>
        </p:spPr>
      </p:cxnSp>
      <p:sp>
        <p:nvSpPr>
          <p:cNvPr id="1849" name="Google Shape;1849;p61"/>
          <p:cNvSpPr txBox="1"/>
          <p:nvPr/>
        </p:nvSpPr>
        <p:spPr>
          <a:xfrm>
            <a:off x="457200" y="1828800"/>
            <a:ext cx="1417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설치 기사 앱</a:t>
            </a:r>
            <a:endParaRPr/>
          </a:p>
        </p:txBody>
      </p:sp>
      <p:sp>
        <p:nvSpPr>
          <p:cNvPr id="1850" name="Google Shape;1850;p61"/>
          <p:cNvSpPr txBox="1"/>
          <p:nvPr/>
        </p:nvSpPr>
        <p:spPr>
          <a:xfrm>
            <a:off x="457200" y="2286000"/>
            <a:ext cx="1417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네트워크</a:t>
            </a:r>
            <a:endParaRPr/>
          </a:p>
        </p:txBody>
      </p:sp>
      <p:sp>
        <p:nvSpPr>
          <p:cNvPr id="1851" name="Google Shape;1851;p61"/>
          <p:cNvSpPr txBox="1"/>
          <p:nvPr/>
        </p:nvSpPr>
        <p:spPr>
          <a:xfrm>
            <a:off x="457200" y="2743200"/>
            <a:ext cx="1417320"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WorkManager</a:t>
            </a:r>
            <a:endParaRPr/>
          </a:p>
        </p:txBody>
      </p:sp>
      <p:sp>
        <p:nvSpPr>
          <p:cNvPr id="1852" name="Google Shape;1852;p61"/>
          <p:cNvSpPr/>
          <p:nvPr/>
        </p:nvSpPr>
        <p:spPr>
          <a:xfrm>
            <a:off x="2039112" y="1828800"/>
            <a:ext cx="2093975" cy="365760"/>
          </a:xfrm>
          <a:prstGeom prst="roundRect">
            <a:avLst>
              <a:gd fmla="val 125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FFFFFF"/>
                </a:solidFill>
                <a:latin typeface="Barlow"/>
                <a:ea typeface="Barlow"/>
                <a:cs typeface="Barlow"/>
                <a:sym typeface="Barlow"/>
              </a:rPr>
              <a:t>현장 세션</a:t>
            </a:r>
            <a:endParaRPr/>
          </a:p>
        </p:txBody>
      </p:sp>
      <p:sp>
        <p:nvSpPr>
          <p:cNvPr id="1853" name="Google Shape;1853;p61"/>
          <p:cNvSpPr/>
          <p:nvPr/>
        </p:nvSpPr>
        <p:spPr>
          <a:xfrm>
            <a:off x="4187952" y="1828800"/>
            <a:ext cx="4105656" cy="365760"/>
          </a:xfrm>
          <a:prstGeom prst="roundRect">
            <a:avLst>
              <a:gd fmla="val 12500" name="adj"/>
            </a:avLst>
          </a:prstGeom>
          <a:solidFill>
            <a:srgbClr val="FFFFFF"/>
          </a:solidFill>
          <a:ln cap="flat" cmpd="sng" w="9525">
            <a:solidFill>
              <a:srgbClr val="5F6B7A"/>
            </a:solidFill>
            <a:prstDash val="dash"/>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900">
                <a:solidFill>
                  <a:srgbClr val="5F6B7A"/>
                </a:solidFill>
                <a:latin typeface="Barlow"/>
                <a:ea typeface="Barlow"/>
                <a:cs typeface="Barlow"/>
                <a:sym typeface="Barlow"/>
              </a:rPr>
              <a:t>앱 미실행</a:t>
            </a:r>
            <a:endParaRPr/>
          </a:p>
        </p:txBody>
      </p:sp>
      <p:sp>
        <p:nvSpPr>
          <p:cNvPr id="1854" name="Google Shape;1854;p61"/>
          <p:cNvSpPr/>
          <p:nvPr/>
        </p:nvSpPr>
        <p:spPr>
          <a:xfrm>
            <a:off x="2039112" y="2286000"/>
            <a:ext cx="5111496" cy="365760"/>
          </a:xfrm>
          <a:prstGeom prst="roundRect">
            <a:avLst>
              <a:gd fmla="val 12500" name="adj"/>
            </a:avLst>
          </a:prstGeom>
          <a:solidFill>
            <a:srgbClr val="FFF4E0"/>
          </a:solidFill>
          <a:ln cap="flat" cmpd="sng" w="9525">
            <a:solidFill>
              <a:srgbClr val="F0A93B"/>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900">
                <a:solidFill>
                  <a:srgbClr val="9A5B00"/>
                </a:solidFill>
                <a:latin typeface="Barlow"/>
                <a:ea typeface="Barlow"/>
                <a:cs typeface="Barlow"/>
                <a:sym typeface="Barlow"/>
              </a:rPr>
              <a:t>오프라인</a:t>
            </a:r>
            <a:endParaRPr/>
          </a:p>
        </p:txBody>
      </p:sp>
      <p:sp>
        <p:nvSpPr>
          <p:cNvPr id="1855" name="Google Shape;1855;p61"/>
          <p:cNvSpPr/>
          <p:nvPr/>
        </p:nvSpPr>
        <p:spPr>
          <a:xfrm>
            <a:off x="7205472" y="2286000"/>
            <a:ext cx="1088136" cy="365760"/>
          </a:xfrm>
          <a:prstGeom prst="roundRect">
            <a:avLst>
              <a:gd fmla="val 125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900">
                <a:solidFill>
                  <a:srgbClr val="1E7B4F"/>
                </a:solidFill>
                <a:latin typeface="Barlow"/>
                <a:ea typeface="Barlow"/>
                <a:cs typeface="Barlow"/>
                <a:sym typeface="Barlow"/>
              </a:rPr>
              <a:t>온라인</a:t>
            </a:r>
            <a:endParaRPr/>
          </a:p>
        </p:txBody>
      </p:sp>
      <p:sp>
        <p:nvSpPr>
          <p:cNvPr id="1856" name="Google Shape;1856;p61"/>
          <p:cNvSpPr/>
          <p:nvPr/>
        </p:nvSpPr>
        <p:spPr>
          <a:xfrm>
            <a:off x="2953512" y="2743200"/>
            <a:ext cx="4197096" cy="365760"/>
          </a:xfrm>
          <a:prstGeom prst="roundRect">
            <a:avLst>
              <a:gd fmla="val 12500" name="adj"/>
            </a:avLst>
          </a:prstGeom>
          <a:solidFill>
            <a:srgbClr val="EAF2FB"/>
          </a:solidFill>
          <a:ln cap="flat" cmpd="sng" w="9525">
            <a:solidFill>
              <a:srgbClr val="1565C0"/>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lang="en-US" sz="900">
                <a:solidFill>
                  <a:srgbClr val="0B2F5B"/>
                </a:solidFill>
                <a:latin typeface="Barlow"/>
                <a:ea typeface="Barlow"/>
                <a:cs typeface="Barlow"/>
                <a:sym typeface="Barlow"/>
              </a:rPr>
              <a:t>고유 작업 등록: 네트워크 대기</a:t>
            </a:r>
            <a:endParaRPr/>
          </a:p>
        </p:txBody>
      </p:sp>
      <p:sp>
        <p:nvSpPr>
          <p:cNvPr id="1857" name="Google Shape;1857;p61"/>
          <p:cNvSpPr/>
          <p:nvPr/>
        </p:nvSpPr>
        <p:spPr>
          <a:xfrm>
            <a:off x="7205472" y="2743200"/>
            <a:ext cx="539496" cy="365760"/>
          </a:xfrm>
          <a:prstGeom prst="roundRect">
            <a:avLst>
              <a:gd fmla="val 12500" name="adj"/>
            </a:avLst>
          </a:prstGeom>
          <a:solidFill>
            <a:srgbClr val="1565C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900">
                <a:solidFill>
                  <a:srgbClr val="FFFFFF"/>
                </a:solidFill>
                <a:latin typeface="Barlow"/>
                <a:ea typeface="Barlow"/>
                <a:cs typeface="Barlow"/>
                <a:sym typeface="Barlow"/>
              </a:rPr>
              <a:t>업로드</a:t>
            </a:r>
            <a:endParaRPr/>
          </a:p>
        </p:txBody>
      </p:sp>
      <p:sp>
        <p:nvSpPr>
          <p:cNvPr id="1858" name="Google Shape;1858;p61"/>
          <p:cNvSpPr/>
          <p:nvPr/>
        </p:nvSpPr>
        <p:spPr>
          <a:xfrm>
            <a:off x="7799831" y="2743200"/>
            <a:ext cx="493775" cy="365760"/>
          </a:xfrm>
          <a:prstGeom prst="roundRect">
            <a:avLst>
              <a:gd fmla="val 12500" name="adj"/>
            </a:avLst>
          </a:prstGeom>
          <a:solidFill>
            <a:srgbClr val="E6F4EA"/>
          </a:solidFill>
          <a:ln cap="flat" cmpd="sng" w="9525">
            <a:solidFill>
              <a:srgbClr val="8CC9A6"/>
            </a:solidFill>
            <a:prstDash val="solid"/>
            <a:round/>
            <a:headEnd len="sm" w="sm" type="none"/>
            <a:tailEnd len="sm" w="sm" type="none"/>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50">
                <a:solidFill>
                  <a:srgbClr val="1E7B4F"/>
                </a:solidFill>
                <a:latin typeface="Barlow"/>
                <a:ea typeface="Barlow"/>
                <a:cs typeface="Barlow"/>
                <a:sym typeface="Barlow"/>
              </a:rPr>
              <a:t>동기화됨</a:t>
            </a:r>
            <a:endParaRPr/>
          </a:p>
        </p:txBody>
      </p:sp>
      <p:sp>
        <p:nvSpPr>
          <p:cNvPr id="1859" name="Google Shape;1859;p61"/>
          <p:cNvSpPr txBox="1"/>
          <p:nvPr/>
        </p:nvSpPr>
        <p:spPr>
          <a:xfrm>
            <a:off x="457200" y="3328416"/>
            <a:ext cx="786384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2 · 워커가 각 변경을 처리하는 방식</a:t>
            </a:r>
            <a:endParaRPr/>
          </a:p>
        </p:txBody>
      </p:sp>
      <p:sp>
        <p:nvSpPr>
          <p:cNvPr id="1860" name="Google Shape;1860;p61"/>
          <p:cNvSpPr/>
          <p:nvPr/>
        </p:nvSpPr>
        <p:spPr>
          <a:xfrm>
            <a:off x="457200" y="4032504"/>
            <a:ext cx="1645920" cy="768096"/>
          </a:xfrm>
          <a:prstGeom prst="roundRect">
            <a:avLst>
              <a:gd fmla="val 7142" name="adj"/>
            </a:avLst>
          </a:prstGeom>
          <a:solidFill>
            <a:srgbClr val="FFFFFF"/>
          </a:solidFill>
          <a:ln cap="flat" cmpd="sng" w="12700">
            <a:solidFill>
              <a:srgbClr val="0B2F5B"/>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다음 적용된 변경</a:t>
            </a:r>
            <a:endParaRPr/>
          </a:p>
          <a:p>
            <a:pPr indent="0" lvl="0" marL="0" marR="0" rtl="0" algn="ctr">
              <a:lnSpc>
                <a:spcPct val="100000"/>
              </a:lnSpc>
              <a:spcBef>
                <a:spcPts val="150"/>
              </a:spcBef>
              <a:spcAft>
                <a:spcPts val="0"/>
              </a:spcAft>
              <a:buNone/>
            </a:pPr>
            <a:r>
              <a:rPr lang="en-US" sz="900">
                <a:solidFill>
                  <a:srgbClr val="5F6B7A"/>
                </a:solidFill>
                <a:latin typeface="Barlow"/>
                <a:ea typeface="Barlow"/>
                <a:cs typeface="Barlow"/>
                <a:sym typeface="Barlow"/>
              </a:rPr>
              <a:t>UUID와 함께, 순서대로</a:t>
            </a:r>
            <a:endParaRPr/>
          </a:p>
        </p:txBody>
      </p:sp>
      <p:sp>
        <p:nvSpPr>
          <p:cNvPr id="1861" name="Google Shape;1861;p61"/>
          <p:cNvSpPr/>
          <p:nvPr/>
        </p:nvSpPr>
        <p:spPr>
          <a:xfrm>
            <a:off x="2423160" y="4032504"/>
            <a:ext cx="1645920" cy="768096"/>
          </a:xfrm>
          <a:prstGeom prst="roundRect">
            <a:avLst>
              <a:gd fmla="val 7142" name="adj"/>
            </a:avLst>
          </a:prstGeom>
          <a:solidFill>
            <a:srgbClr val="0B2F5B"/>
          </a:solidFill>
          <a:ln>
            <a:noFill/>
          </a:ln>
        </p:spPr>
        <p:txBody>
          <a:bodyPr anchorCtr="0" anchor="ctr" bIns="27425" lIns="45700" spcFirstLastPara="1" rIns="45700" wrap="square" tIns="27425">
            <a:noAutofit/>
          </a:bodyPr>
          <a:lstStyle/>
          <a:p>
            <a:pPr indent="0" lvl="0" marL="0" marR="0" rtl="0" algn="ctr">
              <a:lnSpc>
                <a:spcPct val="100000"/>
              </a:lnSpc>
              <a:spcBef>
                <a:spcPts val="0"/>
              </a:spcBef>
              <a:spcAft>
                <a:spcPts val="0"/>
              </a:spcAft>
              <a:buNone/>
            </a:pPr>
            <a:r>
              <a:rPr b="1" lang="en-US" sz="1000">
                <a:solidFill>
                  <a:srgbClr val="FFFFFF"/>
                </a:solidFill>
                <a:latin typeface="Montserrat"/>
                <a:ea typeface="Montserrat"/>
                <a:cs typeface="Montserrat"/>
                <a:sym typeface="Montserrat"/>
              </a:rPr>
              <a:t>트랜잭션 동기화 호출</a:t>
            </a:r>
            <a:endParaRPr/>
          </a:p>
          <a:p>
            <a:pPr indent="0" lvl="0" marL="0" marR="0" rtl="0" algn="ctr">
              <a:lnSpc>
                <a:spcPct val="100000"/>
              </a:lnSpc>
              <a:spcBef>
                <a:spcPts val="150"/>
              </a:spcBef>
              <a:spcAft>
                <a:spcPts val="0"/>
              </a:spcAft>
              <a:buNone/>
            </a:pPr>
            <a:r>
              <a:rPr b="0" lang="en-US" sz="900">
                <a:solidFill>
                  <a:srgbClr val="A9C7EA"/>
                </a:solidFill>
                <a:latin typeface="Barlow"/>
                <a:ea typeface="Barlow"/>
                <a:cs typeface="Barlow"/>
                <a:sym typeface="Barlow"/>
              </a:rPr>
              <a:t>HTTPS</a:t>
            </a:r>
            <a:endParaRPr/>
          </a:p>
        </p:txBody>
      </p:sp>
      <p:cxnSp>
        <p:nvCxnSpPr>
          <p:cNvPr id="1862" name="Google Shape;1862;p61"/>
          <p:cNvCxnSpPr>
            <a:stCxn id="1860" idx="3"/>
            <a:endCxn id="1861" idx="1"/>
          </p:cNvCxnSpPr>
          <p:nvPr/>
        </p:nvCxnSpPr>
        <p:spPr>
          <a:xfrm>
            <a:off x="2103120" y="4416552"/>
            <a:ext cx="320100" cy="0"/>
          </a:xfrm>
          <a:prstGeom prst="straightConnector1">
            <a:avLst/>
          </a:prstGeom>
          <a:noFill/>
          <a:ln cap="flat" cmpd="sng" w="15875">
            <a:solidFill>
              <a:srgbClr val="0B2F5B"/>
            </a:solidFill>
            <a:prstDash val="solid"/>
            <a:round/>
            <a:headEnd len="sm" w="sm" type="none"/>
            <a:tailEnd len="med" w="med" type="triangle"/>
          </a:ln>
        </p:spPr>
      </p:cxnSp>
      <p:sp>
        <p:nvSpPr>
          <p:cNvPr id="1863" name="Google Shape;1863;p61"/>
          <p:cNvSpPr/>
          <p:nvPr/>
        </p:nvSpPr>
        <p:spPr>
          <a:xfrm>
            <a:off x="4572000" y="3602736"/>
            <a:ext cx="3749039" cy="365760"/>
          </a:xfrm>
          <a:prstGeom prst="roundRect">
            <a:avLst>
              <a:gd fmla="val 12500" name="adj"/>
            </a:avLst>
          </a:prstGeom>
          <a:solidFill>
            <a:srgbClr val="E6F4EA"/>
          </a:solidFill>
          <a:ln cap="flat" cmpd="sng" w="9525">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4" name="Google Shape;1864;p61"/>
          <p:cNvSpPr/>
          <p:nvPr/>
        </p:nvSpPr>
        <p:spPr>
          <a:xfrm>
            <a:off x="4626864" y="3666744"/>
            <a:ext cx="1143000" cy="237744"/>
          </a:xfrm>
          <a:prstGeom prst="roundRect">
            <a:avLst>
              <a:gd fmla="val 19230" name="adj"/>
            </a:avLst>
          </a:prstGeom>
          <a:solidFill>
            <a:srgbClr val="1E7B4F"/>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2xx</a:t>
            </a:r>
            <a:endParaRPr/>
          </a:p>
        </p:txBody>
      </p:sp>
      <p:sp>
        <p:nvSpPr>
          <p:cNvPr id="1865" name="Google Shape;1865;p61"/>
          <p:cNvSpPr txBox="1"/>
          <p:nvPr/>
        </p:nvSpPr>
        <p:spPr>
          <a:xfrm>
            <a:off x="5861304" y="3602736"/>
            <a:ext cx="240487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25">
                <a:solidFill>
                  <a:srgbClr val="1E7B4F"/>
                </a:solidFill>
                <a:latin typeface="Barlow"/>
                <a:ea typeface="Barlow"/>
                <a:cs typeface="Barlow"/>
                <a:sym typeface="Barlow"/>
              </a:rPr>
              <a:t>변경을 동기화됨으로 표시</a:t>
            </a:r>
            <a:endParaRPr/>
          </a:p>
        </p:txBody>
      </p:sp>
      <p:sp>
        <p:nvSpPr>
          <p:cNvPr id="1866" name="Google Shape;1866;p61"/>
          <p:cNvSpPr/>
          <p:nvPr/>
        </p:nvSpPr>
        <p:spPr>
          <a:xfrm>
            <a:off x="4069080" y="3785616"/>
            <a:ext cx="502920" cy="630936"/>
          </a:xfrm>
          <a:custGeom>
            <a:rect b="b" l="l" r="r" t="t"/>
            <a:pathLst>
              <a:path extrusionOk="0" h="630936" w="502920">
                <a:moveTo>
                  <a:pt x="0" y="630936"/>
                </a:moveTo>
                <a:lnTo>
                  <a:pt x="246888" y="630936"/>
                </a:lnTo>
                <a:lnTo>
                  <a:pt x="246888" y="0"/>
                </a:lnTo>
                <a:lnTo>
                  <a:pt x="502920" y="0"/>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67" name="Google Shape;1867;p61"/>
          <p:cNvSpPr/>
          <p:nvPr/>
        </p:nvSpPr>
        <p:spPr>
          <a:xfrm>
            <a:off x="4572000" y="4023360"/>
            <a:ext cx="3749039" cy="365760"/>
          </a:xfrm>
          <a:prstGeom prst="roundRect">
            <a:avLst>
              <a:gd fmla="val 12500" name="adj"/>
            </a:avLst>
          </a:prstGeom>
          <a:solidFill>
            <a:srgbClr val="E6F4EA"/>
          </a:solidFill>
          <a:ln cap="flat" cmpd="sng" w="9525">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8" name="Google Shape;1868;p61"/>
          <p:cNvSpPr/>
          <p:nvPr/>
        </p:nvSpPr>
        <p:spPr>
          <a:xfrm>
            <a:off x="4626864" y="4087368"/>
            <a:ext cx="1143000" cy="237744"/>
          </a:xfrm>
          <a:prstGeom prst="roundRect">
            <a:avLst>
              <a:gd fmla="val 19230" name="adj"/>
            </a:avLst>
          </a:prstGeom>
          <a:solidFill>
            <a:srgbClr val="1E7B4F"/>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409</a:t>
            </a:r>
            <a:endParaRPr/>
          </a:p>
        </p:txBody>
      </p:sp>
      <p:sp>
        <p:nvSpPr>
          <p:cNvPr id="1869" name="Google Shape;1869;p61"/>
          <p:cNvSpPr txBox="1"/>
          <p:nvPr/>
        </p:nvSpPr>
        <p:spPr>
          <a:xfrm>
            <a:off x="5861304" y="4023360"/>
            <a:ext cx="240487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25">
                <a:solidFill>
                  <a:srgbClr val="1E7B4F"/>
                </a:solidFill>
                <a:latin typeface="Barlow"/>
                <a:ea typeface="Barlow"/>
                <a:cs typeface="Barlow"/>
                <a:sym typeface="Barlow"/>
              </a:rPr>
              <a:t>중복: 성공으로 처리, 동기화됨으로 표시</a:t>
            </a:r>
            <a:endParaRPr/>
          </a:p>
        </p:txBody>
      </p:sp>
      <p:sp>
        <p:nvSpPr>
          <p:cNvPr id="1870" name="Google Shape;1870;p61"/>
          <p:cNvSpPr/>
          <p:nvPr/>
        </p:nvSpPr>
        <p:spPr>
          <a:xfrm>
            <a:off x="4069080" y="4206240"/>
            <a:ext cx="502920" cy="210312"/>
          </a:xfrm>
          <a:custGeom>
            <a:rect b="b" l="l" r="r" t="t"/>
            <a:pathLst>
              <a:path extrusionOk="0" h="210312" w="502920">
                <a:moveTo>
                  <a:pt x="0" y="210312"/>
                </a:moveTo>
                <a:lnTo>
                  <a:pt x="246888" y="210312"/>
                </a:lnTo>
                <a:lnTo>
                  <a:pt x="246888" y="0"/>
                </a:lnTo>
                <a:lnTo>
                  <a:pt x="502920" y="0"/>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1" name="Google Shape;1871;p61"/>
          <p:cNvSpPr/>
          <p:nvPr/>
        </p:nvSpPr>
        <p:spPr>
          <a:xfrm>
            <a:off x="4572000" y="4443984"/>
            <a:ext cx="3749039" cy="365760"/>
          </a:xfrm>
          <a:prstGeom prst="roundRect">
            <a:avLst>
              <a:gd fmla="val 12500" name="adj"/>
            </a:avLst>
          </a:prstGeom>
          <a:solidFill>
            <a:srgbClr val="EAF2FB"/>
          </a:solidFill>
          <a:ln cap="flat" cmpd="sng" w="9525">
            <a:solidFill>
              <a:srgbClr val="1565C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2" name="Google Shape;1872;p61"/>
          <p:cNvSpPr/>
          <p:nvPr/>
        </p:nvSpPr>
        <p:spPr>
          <a:xfrm>
            <a:off x="4626864" y="4507992"/>
            <a:ext cx="1143000" cy="237744"/>
          </a:xfrm>
          <a:prstGeom prst="roundRect">
            <a:avLst>
              <a:gd fmla="val 1923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401</a:t>
            </a:r>
            <a:endParaRPr/>
          </a:p>
        </p:txBody>
      </p:sp>
      <p:sp>
        <p:nvSpPr>
          <p:cNvPr id="1873" name="Google Shape;1873;p61"/>
          <p:cNvSpPr txBox="1"/>
          <p:nvPr/>
        </p:nvSpPr>
        <p:spPr>
          <a:xfrm>
            <a:off x="5861304" y="4443984"/>
            <a:ext cx="240487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토큰 갱신 후 호출 반복</a:t>
            </a:r>
            <a:endParaRPr/>
          </a:p>
        </p:txBody>
      </p:sp>
      <p:sp>
        <p:nvSpPr>
          <p:cNvPr id="1874" name="Google Shape;1874;p61"/>
          <p:cNvSpPr/>
          <p:nvPr/>
        </p:nvSpPr>
        <p:spPr>
          <a:xfrm>
            <a:off x="4069080" y="4416552"/>
            <a:ext cx="502920" cy="210312"/>
          </a:xfrm>
          <a:custGeom>
            <a:rect b="b" l="l" r="r" t="t"/>
            <a:pathLst>
              <a:path extrusionOk="0" h="210312" w="502920">
                <a:moveTo>
                  <a:pt x="0" y="0"/>
                </a:moveTo>
                <a:lnTo>
                  <a:pt x="246888" y="0"/>
                </a:lnTo>
                <a:lnTo>
                  <a:pt x="246888" y="210312"/>
                </a:lnTo>
                <a:lnTo>
                  <a:pt x="502920" y="210312"/>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5" name="Google Shape;1875;p61"/>
          <p:cNvSpPr/>
          <p:nvPr/>
        </p:nvSpPr>
        <p:spPr>
          <a:xfrm>
            <a:off x="4572000" y="4864608"/>
            <a:ext cx="3749039" cy="365760"/>
          </a:xfrm>
          <a:prstGeom prst="roundRect">
            <a:avLst>
              <a:gd fmla="val 12500" name="adj"/>
            </a:avLst>
          </a:prstGeom>
          <a:solidFill>
            <a:srgbClr val="FFF4E0"/>
          </a:solidFill>
          <a:ln cap="flat" cmpd="sng" w="952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76" name="Google Shape;1876;p61"/>
          <p:cNvSpPr/>
          <p:nvPr/>
        </p:nvSpPr>
        <p:spPr>
          <a:xfrm>
            <a:off x="4626864" y="4928616"/>
            <a:ext cx="1143000" cy="237744"/>
          </a:xfrm>
          <a:prstGeom prst="roundRect">
            <a:avLst>
              <a:gd fmla="val 19230" name="adj"/>
            </a:avLst>
          </a:prstGeom>
          <a:solidFill>
            <a:srgbClr val="9A5B0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25">
                <a:solidFill>
                  <a:srgbClr val="FFFFFF"/>
                </a:solidFill>
                <a:latin typeface="Montserrat"/>
                <a:ea typeface="Montserrat"/>
                <a:cs typeface="Montserrat"/>
                <a:sym typeface="Montserrat"/>
              </a:rPr>
              <a:t>5xx · 네트워크 없음</a:t>
            </a:r>
            <a:endParaRPr/>
          </a:p>
        </p:txBody>
      </p:sp>
      <p:sp>
        <p:nvSpPr>
          <p:cNvPr id="1877" name="Google Shape;1877;p61"/>
          <p:cNvSpPr txBox="1"/>
          <p:nvPr/>
        </p:nvSpPr>
        <p:spPr>
          <a:xfrm>
            <a:off x="5861304" y="4864608"/>
            <a:ext cx="2404871" cy="36576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lang="en-US" sz="850">
                <a:solidFill>
                  <a:srgbClr val="9A5B00"/>
                </a:solidFill>
                <a:latin typeface="Consolas"/>
                <a:ea typeface="Consolas"/>
                <a:cs typeface="Consolas"/>
                <a:sym typeface="Consolas"/>
              </a:rPr>
              <a:t>Result.retry()</a:t>
            </a:r>
            <a:r>
              <a:rPr b="0" lang="en-US" sz="925">
                <a:solidFill>
                  <a:srgbClr val="9A5B00"/>
                </a:solidFill>
                <a:latin typeface="Barlow"/>
                <a:ea typeface="Barlow"/>
                <a:cs typeface="Barlow"/>
                <a:sym typeface="Barlow"/>
              </a:rPr>
              <a:t>: </a:t>
            </a:r>
            <a:r>
              <a:rPr lang="en-US" sz="925">
                <a:solidFill>
                  <a:srgbClr val="9A5B00"/>
                </a:solidFill>
                <a:latin typeface="Barlow"/>
                <a:ea typeface="Barlow"/>
                <a:cs typeface="Barlow"/>
                <a:sym typeface="Barlow"/>
              </a:rPr>
              <a:t>지수 백오프</a:t>
            </a:r>
            <a:endParaRPr/>
          </a:p>
        </p:txBody>
      </p:sp>
      <p:sp>
        <p:nvSpPr>
          <p:cNvPr id="1878" name="Google Shape;1878;p61"/>
          <p:cNvSpPr/>
          <p:nvPr/>
        </p:nvSpPr>
        <p:spPr>
          <a:xfrm>
            <a:off x="4069080" y="4416552"/>
            <a:ext cx="502920" cy="630936"/>
          </a:xfrm>
          <a:custGeom>
            <a:rect b="b" l="l" r="r" t="t"/>
            <a:pathLst>
              <a:path extrusionOk="0" h="630936" w="502920">
                <a:moveTo>
                  <a:pt x="0" y="0"/>
                </a:moveTo>
                <a:lnTo>
                  <a:pt x="246888" y="0"/>
                </a:lnTo>
                <a:lnTo>
                  <a:pt x="246888" y="630936"/>
                </a:lnTo>
                <a:lnTo>
                  <a:pt x="502920" y="630936"/>
                </a:lnTo>
              </a:path>
            </a:pathLst>
          </a:custGeom>
          <a:noFill/>
          <a:ln cap="flat" cmpd="sng" w="15875">
            <a:solidFill>
              <a:srgbClr val="0B2F5B"/>
            </a:solidFill>
            <a:prstDash val="solid"/>
            <a:round/>
            <a:headEnd len="sm" w="sm" type="none"/>
            <a:tailEnd len="med" w="med" type="triangl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1879" name="Google Shape;1879;p61"/>
          <p:cNvSpPr/>
          <p:nvPr/>
        </p:nvSpPr>
        <p:spPr>
          <a:xfrm>
            <a:off x="457200" y="5321808"/>
            <a:ext cx="7863840" cy="402336"/>
          </a:xfrm>
          <a:prstGeom prst="rect">
            <a:avLst/>
          </a:prstGeom>
          <a:solidFill>
            <a:srgbClr val="FFF4E0"/>
          </a:solidFill>
          <a:ln cap="flat" cmpd="sng" w="9525">
            <a:solidFill>
              <a:srgbClr val="F0A93B"/>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lnSpc>
                <a:spcPct val="100000"/>
              </a:lnSpc>
              <a:spcBef>
                <a:spcPts val="0"/>
              </a:spcBef>
              <a:spcAft>
                <a:spcPts val="0"/>
              </a:spcAft>
              <a:buNone/>
            </a:pPr>
            <a:r>
              <a:rPr b="1" lang="en-US" sz="925">
                <a:solidFill>
                  <a:srgbClr val="9A5B00"/>
                </a:solidFill>
                <a:latin typeface="Barlow"/>
                <a:ea typeface="Barlow"/>
                <a:cs typeface="Barlow"/>
                <a:sym typeface="Barlow"/>
              </a:rPr>
              <a:t>제한  </a:t>
            </a:r>
            <a:r>
              <a:rPr lang="en-US" sz="925">
                <a:solidFill>
                  <a:srgbClr val="9A5B00"/>
                </a:solidFill>
                <a:latin typeface="Barlow"/>
                <a:ea typeface="Barlow"/>
                <a:cs typeface="Barlow"/>
                <a:sym typeface="Barlow"/>
              </a:rPr>
              <a:t>재시작 후 워커는 휴대폰 잠금이 해제된 뒤 한 번 실행됩니다. 강제 종료는 앱을 다시 열 때까지 대기 중인 작업을 취소합니다. 설치 기사 휴대폰에서 검증 예정: 절전 모드에서의 지연.</a:t>
            </a:r>
            <a:endParaRPr/>
          </a:p>
        </p:txBody>
      </p:sp>
      <p:sp>
        <p:nvSpPr>
          <p:cNvPr id="1880" name="Google Shape;1880;p61"/>
          <p:cNvSpPr txBox="1"/>
          <p:nvPr/>
        </p:nvSpPr>
        <p:spPr>
          <a:xfrm>
            <a:off x="8641080" y="1216152"/>
            <a:ext cx="278892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Android 설계 규칙</a:t>
            </a:r>
            <a:endParaRPr/>
          </a:p>
        </p:txBody>
      </p:sp>
      <p:sp>
        <p:nvSpPr>
          <p:cNvPr id="1881" name="Google Shape;1881;p61"/>
          <p:cNvSpPr/>
          <p:nvPr/>
        </p:nvSpPr>
        <p:spPr>
          <a:xfrm>
            <a:off x="8641080" y="1481328"/>
            <a:ext cx="2788920" cy="1005839"/>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2" name="Google Shape;1882;p61"/>
          <p:cNvSpPr/>
          <p:nvPr/>
        </p:nvSpPr>
        <p:spPr>
          <a:xfrm>
            <a:off x="8750807" y="1591056"/>
            <a:ext cx="310896" cy="310896"/>
          </a:xfrm>
          <a:prstGeom prst="roundRect">
            <a:avLst>
              <a:gd fmla="val 14705"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83" name="Google Shape;1883;p61"/>
          <p:cNvPicPr preferRelativeResize="0"/>
          <p:nvPr/>
        </p:nvPicPr>
        <p:blipFill rotWithShape="1">
          <a:blip r:embed="rId3">
            <a:alphaModFix/>
          </a:blip>
          <a:srcRect b="0" l="0" r="0" t="0"/>
          <a:stretch/>
        </p:blipFill>
        <p:spPr>
          <a:xfrm>
            <a:off x="8819205" y="1659453"/>
            <a:ext cx="174101" cy="174101"/>
          </a:xfrm>
          <a:prstGeom prst="rect">
            <a:avLst/>
          </a:prstGeom>
          <a:noFill/>
          <a:ln>
            <a:noFill/>
          </a:ln>
        </p:spPr>
      </p:pic>
      <p:sp>
        <p:nvSpPr>
          <p:cNvPr id="1884" name="Google Shape;1884;p61"/>
          <p:cNvSpPr txBox="1"/>
          <p:nvPr/>
        </p:nvSpPr>
        <p:spPr>
          <a:xfrm>
            <a:off x="9153144" y="1591056"/>
            <a:ext cx="2185415"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고유 작업 체인 하나</a:t>
            </a:r>
            <a:endParaRPr/>
          </a:p>
        </p:txBody>
      </p:sp>
      <p:sp>
        <p:nvSpPr>
          <p:cNvPr id="1885" name="Google Shape;1885;p61"/>
          <p:cNvSpPr txBox="1"/>
          <p:nvPr/>
        </p:nvSpPr>
        <p:spPr>
          <a:xfrm>
            <a:off x="8750807" y="1956816"/>
            <a:ext cx="2587751" cy="493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다시 등록해도 두 번째 업로드가 시작되지 않아 변경 순서가 유지됩니다.</a:t>
            </a:r>
            <a:endParaRPr/>
          </a:p>
        </p:txBody>
      </p:sp>
      <p:sp>
        <p:nvSpPr>
          <p:cNvPr id="1886" name="Google Shape;1886;p61"/>
          <p:cNvSpPr/>
          <p:nvPr/>
        </p:nvSpPr>
        <p:spPr>
          <a:xfrm>
            <a:off x="8641080" y="2560320"/>
            <a:ext cx="2788920" cy="1005839"/>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87" name="Google Shape;1887;p61"/>
          <p:cNvSpPr/>
          <p:nvPr/>
        </p:nvSpPr>
        <p:spPr>
          <a:xfrm>
            <a:off x="8750807" y="2670048"/>
            <a:ext cx="310896" cy="310896"/>
          </a:xfrm>
          <a:prstGeom prst="roundRect">
            <a:avLst>
              <a:gd fmla="val 14705"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88" name="Google Shape;1888;p61"/>
          <p:cNvPicPr preferRelativeResize="0"/>
          <p:nvPr/>
        </p:nvPicPr>
        <p:blipFill rotWithShape="1">
          <a:blip r:embed="rId4">
            <a:alphaModFix/>
          </a:blip>
          <a:srcRect b="0" l="0" r="0" t="0"/>
          <a:stretch/>
        </p:blipFill>
        <p:spPr>
          <a:xfrm>
            <a:off x="8819205" y="2738445"/>
            <a:ext cx="174101" cy="174101"/>
          </a:xfrm>
          <a:prstGeom prst="rect">
            <a:avLst/>
          </a:prstGeom>
          <a:noFill/>
          <a:ln>
            <a:noFill/>
          </a:ln>
        </p:spPr>
      </p:pic>
      <p:sp>
        <p:nvSpPr>
          <p:cNvPr id="1889" name="Google Shape;1889;p61"/>
          <p:cNvSpPr txBox="1"/>
          <p:nvPr/>
        </p:nvSpPr>
        <p:spPr>
          <a:xfrm>
            <a:off x="9153144" y="2670048"/>
            <a:ext cx="2185415"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네트워크 제약</a:t>
            </a:r>
            <a:endParaRPr/>
          </a:p>
        </p:txBody>
      </p:sp>
      <p:sp>
        <p:nvSpPr>
          <p:cNvPr id="1890" name="Google Shape;1890;p61"/>
          <p:cNvSpPr txBox="1"/>
          <p:nvPr/>
        </p:nvSpPr>
        <p:spPr>
          <a:xfrm>
            <a:off x="8750807" y="3035808"/>
            <a:ext cx="2587751" cy="493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T8의 NWPathMonitor 트리거를 대체합니다: 네트워크가 사용 가능해지면 시스템이 워커를 시작합니다.</a:t>
            </a:r>
            <a:endParaRPr/>
          </a:p>
        </p:txBody>
      </p:sp>
      <p:sp>
        <p:nvSpPr>
          <p:cNvPr id="1891" name="Google Shape;1891;p61"/>
          <p:cNvSpPr/>
          <p:nvPr/>
        </p:nvSpPr>
        <p:spPr>
          <a:xfrm>
            <a:off x="8641080" y="3639312"/>
            <a:ext cx="2788920" cy="1005839"/>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2" name="Google Shape;1892;p61"/>
          <p:cNvSpPr/>
          <p:nvPr/>
        </p:nvSpPr>
        <p:spPr>
          <a:xfrm>
            <a:off x="8750807" y="3749039"/>
            <a:ext cx="310896" cy="310896"/>
          </a:xfrm>
          <a:prstGeom prst="roundRect">
            <a:avLst>
              <a:gd fmla="val 14705"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93" name="Google Shape;1893;p61"/>
          <p:cNvPicPr preferRelativeResize="0"/>
          <p:nvPr/>
        </p:nvPicPr>
        <p:blipFill rotWithShape="1">
          <a:blip r:embed="rId5">
            <a:alphaModFix/>
          </a:blip>
          <a:srcRect b="0" l="0" r="0" t="0"/>
          <a:stretch/>
        </p:blipFill>
        <p:spPr>
          <a:xfrm>
            <a:off x="8819205" y="3817437"/>
            <a:ext cx="174101" cy="174101"/>
          </a:xfrm>
          <a:prstGeom prst="rect">
            <a:avLst/>
          </a:prstGeom>
          <a:noFill/>
          <a:ln>
            <a:noFill/>
          </a:ln>
        </p:spPr>
      </p:pic>
      <p:sp>
        <p:nvSpPr>
          <p:cNvPr id="1894" name="Google Shape;1894;p61"/>
          <p:cNvSpPr txBox="1"/>
          <p:nvPr/>
        </p:nvSpPr>
        <p:spPr>
          <a:xfrm>
            <a:off x="9153144" y="3749039"/>
            <a:ext cx="2185415"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반복 실행은 예상됨</a:t>
            </a:r>
            <a:endParaRPr/>
          </a:p>
        </p:txBody>
      </p:sp>
      <p:sp>
        <p:nvSpPr>
          <p:cNvPr id="1895" name="Google Shape;1895;p61"/>
          <p:cNvSpPr txBox="1"/>
          <p:nvPr/>
        </p:nvSpPr>
        <p:spPr>
          <a:xfrm>
            <a:off x="8750807" y="4114800"/>
            <a:ext cx="2587751" cy="493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재시도 후 워커가 다시 실행될 수 있습니다. 서버의 UUID 규칙 덕분에 반복은 무해합니다.</a:t>
            </a:r>
            <a:endParaRPr/>
          </a:p>
        </p:txBody>
      </p:sp>
      <p:sp>
        <p:nvSpPr>
          <p:cNvPr id="1896" name="Google Shape;1896;p61"/>
          <p:cNvSpPr/>
          <p:nvPr/>
        </p:nvSpPr>
        <p:spPr>
          <a:xfrm>
            <a:off x="8641080" y="4718304"/>
            <a:ext cx="2788920" cy="1005839"/>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97" name="Google Shape;1897;p61"/>
          <p:cNvSpPr/>
          <p:nvPr/>
        </p:nvSpPr>
        <p:spPr>
          <a:xfrm>
            <a:off x="8750807" y="4828032"/>
            <a:ext cx="310896" cy="310896"/>
          </a:xfrm>
          <a:prstGeom prst="roundRect">
            <a:avLst>
              <a:gd fmla="val 14705" name="adj"/>
            </a:avLst>
          </a:prstGeom>
          <a:solidFill>
            <a:srgbClr val="1565C0"/>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898" name="Google Shape;1898;p61"/>
          <p:cNvPicPr preferRelativeResize="0"/>
          <p:nvPr/>
        </p:nvPicPr>
        <p:blipFill rotWithShape="1">
          <a:blip r:embed="rId6">
            <a:alphaModFix/>
          </a:blip>
          <a:srcRect b="0" l="0" r="0" t="0"/>
          <a:stretch/>
        </p:blipFill>
        <p:spPr>
          <a:xfrm>
            <a:off x="8819205" y="4896429"/>
            <a:ext cx="174101" cy="174101"/>
          </a:xfrm>
          <a:prstGeom prst="rect">
            <a:avLst/>
          </a:prstGeom>
          <a:noFill/>
          <a:ln>
            <a:noFill/>
          </a:ln>
        </p:spPr>
      </p:pic>
      <p:sp>
        <p:nvSpPr>
          <p:cNvPr id="1899" name="Google Shape;1899;p61"/>
          <p:cNvSpPr txBox="1"/>
          <p:nvPr/>
        </p:nvSpPr>
        <p:spPr>
          <a:xfrm>
            <a:off x="9153144" y="4828032"/>
            <a:ext cx="2185415"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050">
                <a:solidFill>
                  <a:srgbClr val="0B2F5B"/>
                </a:solidFill>
                <a:latin typeface="Montserrat"/>
                <a:ea typeface="Montserrat"/>
                <a:cs typeface="Montserrat"/>
                <a:sym typeface="Montserrat"/>
              </a:rPr>
              <a:t>앱에서 계속 표시</a:t>
            </a:r>
            <a:endParaRPr/>
          </a:p>
        </p:txBody>
      </p:sp>
      <p:sp>
        <p:nvSpPr>
          <p:cNvPr id="1900" name="Google Shape;1900;p61"/>
          <p:cNvSpPr txBox="1"/>
          <p:nvPr/>
        </p:nvSpPr>
        <p:spPr>
          <a:xfrm>
            <a:off x="8750807" y="5193792"/>
            <a:ext cx="2587751" cy="493775"/>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미동기화 항목은 T8과 같이 Dashboard 목록에 계속 표시됩니다.</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5" name="Shape 1905"/>
        <p:cNvGrpSpPr/>
        <p:nvPr/>
      </p:nvGrpSpPr>
      <p:grpSpPr>
        <a:xfrm>
          <a:off x="0" y="0"/>
          <a:ext cx="0" cy="0"/>
          <a:chOff x="0" y="0"/>
          <a:chExt cx="0" cy="0"/>
        </a:xfrm>
      </p:grpSpPr>
      <p:sp>
        <p:nvSpPr>
          <p:cNvPr id="1906" name="Google Shape;1906;p62"/>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저장소와 비밀 정보 · iOS 보호 방식의 Android 매핑</a:t>
            </a:r>
            <a:endParaRPr/>
          </a:p>
        </p:txBody>
      </p:sp>
      <p:sp>
        <p:nvSpPr>
          <p:cNvPr id="1907" name="Google Shape;1907;p62"/>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토큰 보호는 일대일로 대응하며, 나머지에는 Android가 세 가지를 추가해야 합니다</a:t>
            </a:r>
            <a:endParaRPr/>
          </a:p>
        </p:txBody>
      </p:sp>
      <p:sp>
        <p:nvSpPr>
          <p:cNvPr id="1908" name="Google Shape;1908;p62"/>
          <p:cNvSpPr txBox="1"/>
          <p:nvPr/>
        </p:nvSpPr>
        <p:spPr>
          <a:xfrm>
            <a:off x="457200" y="1216152"/>
            <a:ext cx="82296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800">
                <a:solidFill>
                  <a:srgbClr val="5F6B7A"/>
                </a:solidFill>
                <a:latin typeface="Montserrat"/>
                <a:ea typeface="Montserrat"/>
                <a:cs typeface="Montserrat"/>
                <a:sym typeface="Montserrat"/>
              </a:rPr>
              <a:t>iOS 설계의 각 보호 방식, Android 대응, Android가 추가로 필요한 것</a:t>
            </a:r>
            <a:endParaRPr/>
          </a:p>
        </p:txBody>
      </p:sp>
      <p:sp>
        <p:nvSpPr>
          <p:cNvPr id="1909" name="Google Shape;1909;p62"/>
          <p:cNvSpPr/>
          <p:nvPr/>
        </p:nvSpPr>
        <p:spPr>
          <a:xfrm>
            <a:off x="457200" y="1481328"/>
            <a:ext cx="2926080" cy="310896"/>
          </a:xfrm>
          <a:prstGeom prst="rect">
            <a:avLst/>
          </a:prstGeom>
          <a:solidFill>
            <a:srgbClr val="5F6B7A"/>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iOS 설계 (T5, B2)</a:t>
            </a:r>
            <a:endParaRPr/>
          </a:p>
        </p:txBody>
      </p:sp>
      <p:sp>
        <p:nvSpPr>
          <p:cNvPr id="1910" name="Google Shape;1910;p62"/>
          <p:cNvSpPr/>
          <p:nvPr/>
        </p:nvSpPr>
        <p:spPr>
          <a:xfrm>
            <a:off x="3703320" y="1481328"/>
            <a:ext cx="3429000" cy="310896"/>
          </a:xfrm>
          <a:prstGeom prst="rect">
            <a:avLst/>
          </a:prstGeom>
          <a:solidFill>
            <a:srgbClr val="1565C0"/>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대응</a:t>
            </a:r>
            <a:endParaRPr/>
          </a:p>
        </p:txBody>
      </p:sp>
      <p:sp>
        <p:nvSpPr>
          <p:cNvPr id="1911" name="Google Shape;1911;p62"/>
          <p:cNvSpPr/>
          <p:nvPr/>
        </p:nvSpPr>
        <p:spPr>
          <a:xfrm>
            <a:off x="7452360" y="1481328"/>
            <a:ext cx="3977639" cy="310896"/>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Android가 추가로 필요한 것</a:t>
            </a:r>
            <a:endParaRPr/>
          </a:p>
        </p:txBody>
      </p:sp>
      <p:sp>
        <p:nvSpPr>
          <p:cNvPr id="1912" name="Google Shape;1912;p62"/>
          <p:cNvSpPr/>
          <p:nvPr/>
        </p:nvSpPr>
        <p:spPr>
          <a:xfrm>
            <a:off x="457200" y="1865376"/>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설치 기사 인증 토큰</a:t>
            </a:r>
            <a:endParaRPr/>
          </a:p>
          <a:p>
            <a:pPr indent="0" lvl="0" marL="0" marR="0" rtl="0" algn="l">
              <a:lnSpc>
                <a:spcPct val="100000"/>
              </a:lnSpc>
              <a:spcBef>
                <a:spcPts val="200"/>
              </a:spcBef>
              <a:spcAft>
                <a:spcPts val="0"/>
              </a:spcAft>
              <a:buNone/>
            </a:pPr>
            <a:r>
              <a:rPr b="0" lang="en-US" sz="775">
                <a:solidFill>
                  <a:srgbClr val="5F6B7A"/>
                </a:solidFill>
                <a:latin typeface="Consolas"/>
                <a:ea typeface="Consolas"/>
                <a:cs typeface="Consolas"/>
                <a:sym typeface="Consolas"/>
              </a:rPr>
              <a:t>Keychain · WhenUnlockedThisDeviceOnly</a:t>
            </a:r>
            <a:endParaRPr/>
          </a:p>
          <a:p>
            <a:pPr indent="0" lvl="0" marL="0" marR="0" rtl="0" algn="l">
              <a:lnSpc>
                <a:spcPct val="100000"/>
              </a:lnSpc>
              <a:spcBef>
                <a:spcPts val="0"/>
              </a:spcBef>
              <a:spcAft>
                <a:spcPts val="0"/>
              </a:spcAft>
              <a:buNone/>
            </a:pPr>
            <a:r>
              <a:rPr b="0" lang="en-US" sz="775">
                <a:solidFill>
                  <a:srgbClr val="5F6B7A"/>
                </a:solidFill>
                <a:latin typeface="Consolas"/>
                <a:ea typeface="Consolas"/>
                <a:cs typeface="Consolas"/>
                <a:sym typeface="Consolas"/>
              </a:rPr>
              <a:t>+ .biometryCurrentSet</a:t>
            </a:r>
            <a:endParaRPr/>
          </a:p>
        </p:txBody>
      </p:sp>
      <p:sp>
        <p:nvSpPr>
          <p:cNvPr id="1913" name="Google Shape;1913;p62"/>
          <p:cNvSpPr/>
          <p:nvPr/>
        </p:nvSpPr>
        <p:spPr>
          <a:xfrm>
            <a:off x="3703320" y="1865376"/>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사용자 인증이 있는 Keystore 키</a:t>
            </a:r>
            <a:endParaRPr/>
          </a:p>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내보낼 수 없음. 새 생체 정보가 등록되면 무효화됨.</a:t>
            </a:r>
            <a:endParaRPr/>
          </a:p>
        </p:txBody>
      </p:sp>
      <p:cxnSp>
        <p:nvCxnSpPr>
          <p:cNvPr id="1914" name="Google Shape;1914;p62"/>
          <p:cNvCxnSpPr>
            <a:stCxn id="1912" idx="3"/>
            <a:endCxn id="1913" idx="1"/>
          </p:cNvCxnSpPr>
          <p:nvPr/>
        </p:nvCxnSpPr>
        <p:spPr>
          <a:xfrm>
            <a:off x="3383280" y="2231136"/>
            <a:ext cx="320100" cy="0"/>
          </a:xfrm>
          <a:prstGeom prst="straightConnector1">
            <a:avLst/>
          </a:prstGeom>
          <a:noFill/>
          <a:ln cap="flat" cmpd="sng" w="15875">
            <a:solidFill>
              <a:srgbClr val="0B2F5B"/>
            </a:solidFill>
            <a:prstDash val="solid"/>
            <a:round/>
            <a:headEnd len="sm" w="sm" type="none"/>
            <a:tailEnd len="med" w="med" type="triangle"/>
          </a:ln>
        </p:spPr>
      </p:cxnSp>
      <p:sp>
        <p:nvSpPr>
          <p:cNvPr id="1915" name="Google Shape;1915;p62"/>
          <p:cNvSpPr/>
          <p:nvPr/>
        </p:nvSpPr>
        <p:spPr>
          <a:xfrm>
            <a:off x="7452360" y="1865376"/>
            <a:ext cx="3977639" cy="731520"/>
          </a:xfrm>
          <a:prstGeom prst="roundRect">
            <a:avLst>
              <a:gd fmla="val 6250" name="adj"/>
            </a:avLst>
          </a:prstGeom>
          <a:solidFill>
            <a:srgbClr val="E6F4EA"/>
          </a:solidFill>
          <a:ln cap="flat" cmpd="sng" w="9525">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16" name="Google Shape;1916;p62"/>
          <p:cNvSpPr/>
          <p:nvPr/>
        </p:nvSpPr>
        <p:spPr>
          <a:xfrm>
            <a:off x="7562088" y="2050923"/>
            <a:ext cx="804657" cy="173736"/>
          </a:xfrm>
          <a:prstGeom prst="roundRect">
            <a:avLst>
              <a:gd fmla="val 50000" name="adj"/>
            </a:avLst>
          </a:prstGeom>
          <a:solidFill>
            <a:srgbClr val="1E7B4F"/>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동등</a:t>
            </a:r>
            <a:endParaRPr/>
          </a:p>
        </p:txBody>
      </p:sp>
      <p:sp>
        <p:nvSpPr>
          <p:cNvPr id="1917" name="Google Shape;1917;p62"/>
          <p:cNvSpPr txBox="1"/>
          <p:nvPr/>
        </p:nvSpPr>
        <p:spPr>
          <a:xfrm>
            <a:off x="7562088" y="2270379"/>
            <a:ext cx="3758183" cy="15925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E7B4F"/>
                </a:solidFill>
                <a:latin typeface="Barlow"/>
                <a:ea typeface="Barlow"/>
                <a:cs typeface="Barlow"/>
                <a:sym typeface="Barlow"/>
              </a:rPr>
              <a:t>같은 효과: 이 기기와 등록된 생체 정보에 묶임.</a:t>
            </a:r>
            <a:endParaRPr/>
          </a:p>
        </p:txBody>
      </p:sp>
      <p:cxnSp>
        <p:nvCxnSpPr>
          <p:cNvPr id="1918" name="Google Shape;1918;p62"/>
          <p:cNvCxnSpPr>
            <a:stCxn id="1913" idx="3"/>
            <a:endCxn id="1915" idx="1"/>
          </p:cNvCxnSpPr>
          <p:nvPr/>
        </p:nvCxnSpPr>
        <p:spPr>
          <a:xfrm>
            <a:off x="7132320" y="2231136"/>
            <a:ext cx="320100" cy="0"/>
          </a:xfrm>
          <a:prstGeom prst="straightConnector1">
            <a:avLst/>
          </a:prstGeom>
          <a:noFill/>
          <a:ln cap="flat" cmpd="sng" w="15875">
            <a:solidFill>
              <a:srgbClr val="1E7B4F"/>
            </a:solidFill>
            <a:prstDash val="solid"/>
            <a:round/>
            <a:headEnd len="sm" w="sm" type="none"/>
            <a:tailEnd len="med" w="med" type="triangle"/>
          </a:ln>
        </p:spPr>
      </p:cxnSp>
      <p:sp>
        <p:nvSpPr>
          <p:cNvPr id="1919" name="Google Shape;1919;p62"/>
          <p:cNvSpPr/>
          <p:nvPr/>
        </p:nvSpPr>
        <p:spPr>
          <a:xfrm>
            <a:off x="457200" y="2647188"/>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리프레시 토큰</a:t>
            </a:r>
            <a:endParaRPr/>
          </a:p>
          <a:p>
            <a:pPr indent="0" lvl="0" marL="0" marR="0" rtl="0" algn="l">
              <a:lnSpc>
                <a:spcPct val="100000"/>
              </a:lnSpc>
              <a:spcBef>
                <a:spcPts val="200"/>
              </a:spcBef>
              <a:spcAft>
                <a:spcPts val="0"/>
              </a:spcAft>
              <a:buNone/>
            </a:pPr>
            <a:r>
              <a:rPr b="0" lang="en-US" sz="775">
                <a:solidFill>
                  <a:srgbClr val="5F6B7A"/>
                </a:solidFill>
                <a:latin typeface="Consolas"/>
                <a:ea typeface="Consolas"/>
                <a:cs typeface="Consolas"/>
                <a:sym typeface="Consolas"/>
              </a:rPr>
              <a:t>Keychain · AfterFirstUnlockThisDeviceOnly</a:t>
            </a:r>
            <a:endParaRPr/>
          </a:p>
        </p:txBody>
      </p:sp>
      <p:sp>
        <p:nvSpPr>
          <p:cNvPr id="1920" name="Google Shape;1920;p62"/>
          <p:cNvSpPr/>
          <p:nvPr/>
        </p:nvSpPr>
        <p:spPr>
          <a:xfrm>
            <a:off x="3703320" y="2647188"/>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사용자 인증이 없는 Keystore 키</a:t>
            </a:r>
            <a:endParaRPr/>
          </a:p>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앱 저장소의 암호문, 첫 잠금 해제 후 사용 가능.</a:t>
            </a:r>
            <a:endParaRPr/>
          </a:p>
        </p:txBody>
      </p:sp>
      <p:cxnSp>
        <p:nvCxnSpPr>
          <p:cNvPr id="1921" name="Google Shape;1921;p62"/>
          <p:cNvCxnSpPr>
            <a:stCxn id="1919" idx="3"/>
            <a:endCxn id="1920" idx="1"/>
          </p:cNvCxnSpPr>
          <p:nvPr/>
        </p:nvCxnSpPr>
        <p:spPr>
          <a:xfrm>
            <a:off x="3383280" y="3012948"/>
            <a:ext cx="320100" cy="0"/>
          </a:xfrm>
          <a:prstGeom prst="straightConnector1">
            <a:avLst/>
          </a:prstGeom>
          <a:noFill/>
          <a:ln cap="flat" cmpd="sng" w="15875">
            <a:solidFill>
              <a:srgbClr val="0B2F5B"/>
            </a:solidFill>
            <a:prstDash val="solid"/>
            <a:round/>
            <a:headEnd len="sm" w="sm" type="none"/>
            <a:tailEnd len="med" w="med" type="triangle"/>
          </a:ln>
        </p:spPr>
      </p:cxnSp>
      <p:sp>
        <p:nvSpPr>
          <p:cNvPr id="1922" name="Google Shape;1922;p62"/>
          <p:cNvSpPr/>
          <p:nvPr/>
        </p:nvSpPr>
        <p:spPr>
          <a:xfrm>
            <a:off x="7452360" y="2647188"/>
            <a:ext cx="3977639" cy="731520"/>
          </a:xfrm>
          <a:prstGeom prst="roundRect">
            <a:avLst>
              <a:gd fmla="val 6250" name="adj"/>
            </a:avLst>
          </a:prstGeom>
          <a:solidFill>
            <a:srgbClr val="E6F4EA"/>
          </a:solidFill>
          <a:ln cap="flat" cmpd="sng" w="9525">
            <a:solidFill>
              <a:srgbClr val="8CC9A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23" name="Google Shape;1923;p62"/>
          <p:cNvSpPr/>
          <p:nvPr/>
        </p:nvSpPr>
        <p:spPr>
          <a:xfrm>
            <a:off x="7562088" y="2832735"/>
            <a:ext cx="804657" cy="173736"/>
          </a:xfrm>
          <a:prstGeom prst="roundRect">
            <a:avLst>
              <a:gd fmla="val 50000" name="adj"/>
            </a:avLst>
          </a:prstGeom>
          <a:solidFill>
            <a:srgbClr val="1E7B4F"/>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동등</a:t>
            </a:r>
            <a:endParaRPr/>
          </a:p>
        </p:txBody>
      </p:sp>
      <p:sp>
        <p:nvSpPr>
          <p:cNvPr id="1924" name="Google Shape;1924;p62"/>
          <p:cNvSpPr txBox="1"/>
          <p:nvPr/>
        </p:nvSpPr>
        <p:spPr>
          <a:xfrm>
            <a:off x="7562088" y="3052191"/>
            <a:ext cx="3758183" cy="15925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1E7B4F"/>
                </a:solidFill>
                <a:latin typeface="Barlow"/>
                <a:ea typeface="Barlow"/>
                <a:cs typeface="Barlow"/>
                <a:sym typeface="Barlow"/>
              </a:rPr>
              <a:t>같은 효과. A6의 백그라운드 업로드에서 사용 가능.</a:t>
            </a:r>
            <a:endParaRPr/>
          </a:p>
        </p:txBody>
      </p:sp>
      <p:cxnSp>
        <p:nvCxnSpPr>
          <p:cNvPr id="1925" name="Google Shape;1925;p62"/>
          <p:cNvCxnSpPr>
            <a:stCxn id="1920" idx="3"/>
            <a:endCxn id="1922" idx="1"/>
          </p:cNvCxnSpPr>
          <p:nvPr/>
        </p:nvCxnSpPr>
        <p:spPr>
          <a:xfrm>
            <a:off x="7132320" y="3012948"/>
            <a:ext cx="320100" cy="0"/>
          </a:xfrm>
          <a:prstGeom prst="straightConnector1">
            <a:avLst/>
          </a:prstGeom>
          <a:noFill/>
          <a:ln cap="flat" cmpd="sng" w="15875">
            <a:solidFill>
              <a:srgbClr val="1E7B4F"/>
            </a:solidFill>
            <a:prstDash val="solid"/>
            <a:round/>
            <a:headEnd len="sm" w="sm" type="none"/>
            <a:tailEnd len="med" w="med" type="triangle"/>
          </a:ln>
        </p:spPr>
      </p:cxnSp>
      <p:sp>
        <p:nvSpPr>
          <p:cNvPr id="1926" name="Google Shape;1926;p62"/>
          <p:cNvSpPr/>
          <p:nvPr/>
        </p:nvSpPr>
        <p:spPr>
          <a:xfrm>
            <a:off x="457200" y="3429000"/>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임시 설치 기사 비밀번호</a:t>
            </a:r>
            <a:endParaRPr/>
          </a:p>
          <a:p>
            <a:pPr indent="0" lvl="0" marL="0" marR="0" rtl="0" algn="l">
              <a:lnSpc>
                <a:spcPct val="100000"/>
              </a:lnSpc>
              <a:spcBef>
                <a:spcPts val="200"/>
              </a:spcBef>
              <a:spcAft>
                <a:spcPts val="0"/>
              </a:spcAft>
              <a:buNone/>
            </a:pPr>
            <a:r>
              <a:rPr lang="en-US" sz="875">
                <a:solidFill>
                  <a:srgbClr val="5F6B7A"/>
                </a:solidFill>
                <a:latin typeface="Barlow"/>
                <a:ea typeface="Barlow"/>
                <a:cs typeface="Barlow"/>
                <a:sym typeface="Barlow"/>
              </a:rPr>
              <a:t>메모리에만 저장, 영구 저장 안 함</a:t>
            </a:r>
            <a:endParaRPr/>
          </a:p>
        </p:txBody>
      </p:sp>
      <p:sp>
        <p:nvSpPr>
          <p:cNvPr id="1927" name="Google Shape;1927;p62"/>
          <p:cNvSpPr/>
          <p:nvPr/>
        </p:nvSpPr>
        <p:spPr>
          <a:xfrm>
            <a:off x="3703320" y="3429000"/>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메모리에만 저장, 영구 저장 안 함</a:t>
            </a:r>
            <a:endParaRPr/>
          </a:p>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사용 직후 폐기됨.</a:t>
            </a:r>
            <a:endParaRPr/>
          </a:p>
        </p:txBody>
      </p:sp>
      <p:cxnSp>
        <p:nvCxnSpPr>
          <p:cNvPr id="1928" name="Google Shape;1928;p62"/>
          <p:cNvCxnSpPr>
            <a:stCxn id="1926" idx="3"/>
            <a:endCxn id="1927" idx="1"/>
          </p:cNvCxnSpPr>
          <p:nvPr/>
        </p:nvCxnSpPr>
        <p:spPr>
          <a:xfrm>
            <a:off x="3383280" y="3794760"/>
            <a:ext cx="320100" cy="0"/>
          </a:xfrm>
          <a:prstGeom prst="straightConnector1">
            <a:avLst/>
          </a:prstGeom>
          <a:noFill/>
          <a:ln cap="flat" cmpd="sng" w="15875">
            <a:solidFill>
              <a:srgbClr val="0B2F5B"/>
            </a:solidFill>
            <a:prstDash val="solid"/>
            <a:round/>
            <a:headEnd len="sm" w="sm" type="none"/>
            <a:tailEnd len="med" w="med" type="triangle"/>
          </a:ln>
        </p:spPr>
      </p:cxnSp>
      <p:sp>
        <p:nvSpPr>
          <p:cNvPr id="1929" name="Google Shape;1929;p62"/>
          <p:cNvSpPr/>
          <p:nvPr/>
        </p:nvSpPr>
        <p:spPr>
          <a:xfrm>
            <a:off x="7452360" y="3429000"/>
            <a:ext cx="3977639" cy="731520"/>
          </a:xfrm>
          <a:prstGeom prst="roundRect">
            <a:avLst>
              <a:gd fmla="val 6250" name="adj"/>
            </a:avLst>
          </a:prstGeom>
          <a:solidFill>
            <a:srgbClr val="FFF4E0"/>
          </a:solidFill>
          <a:ln cap="flat" cmpd="sng" w="952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0" name="Google Shape;1930;p62"/>
          <p:cNvSpPr/>
          <p:nvPr/>
        </p:nvSpPr>
        <p:spPr>
          <a:xfrm>
            <a:off x="7562088" y="3544062"/>
            <a:ext cx="376451" cy="173736"/>
          </a:xfrm>
          <a:prstGeom prst="roundRect">
            <a:avLst>
              <a:gd fmla="val 50000" name="adj"/>
            </a:avLst>
          </a:prstGeom>
          <a:solidFill>
            <a:srgbClr val="9A5B0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추가</a:t>
            </a:r>
            <a:endParaRPr/>
          </a:p>
        </p:txBody>
      </p:sp>
      <p:sp>
        <p:nvSpPr>
          <p:cNvPr id="1931" name="Google Shape;1931;p62"/>
          <p:cNvSpPr txBox="1"/>
          <p:nvPr/>
        </p:nvSpPr>
        <p:spPr>
          <a:xfrm>
            <a:off x="7562088" y="3763518"/>
            <a:ext cx="3758183" cy="3002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lang="en-US" sz="850">
                <a:solidFill>
                  <a:srgbClr val="9A5B00"/>
                </a:solidFill>
                <a:latin typeface="Consolas"/>
                <a:ea typeface="Consolas"/>
                <a:cs typeface="Consolas"/>
                <a:sym typeface="Consolas"/>
              </a:rPr>
              <a:t>FLAG_SECURE</a:t>
            </a:r>
            <a:r>
              <a:rPr lang="en-US" sz="925">
                <a:solidFill>
                  <a:srgbClr val="9A5B00"/>
                </a:solidFill>
                <a:latin typeface="Barlow"/>
                <a:ea typeface="Barlow"/>
                <a:cs typeface="Barlow"/>
                <a:sym typeface="Barlow"/>
              </a:rPr>
              <a:t>를 표시하는 화면에 적용: 스크린샷과 비보안 디스플레이에서 제외.</a:t>
            </a:r>
            <a:endParaRPr/>
          </a:p>
        </p:txBody>
      </p:sp>
      <p:cxnSp>
        <p:nvCxnSpPr>
          <p:cNvPr id="1932" name="Google Shape;1932;p62"/>
          <p:cNvCxnSpPr>
            <a:stCxn id="1927" idx="3"/>
            <a:endCxn id="1929" idx="1"/>
          </p:cNvCxnSpPr>
          <p:nvPr/>
        </p:nvCxnSpPr>
        <p:spPr>
          <a:xfrm>
            <a:off x="7132320" y="3794760"/>
            <a:ext cx="320100" cy="0"/>
          </a:xfrm>
          <a:prstGeom prst="straightConnector1">
            <a:avLst/>
          </a:prstGeom>
          <a:noFill/>
          <a:ln cap="flat" cmpd="sng" w="15875">
            <a:solidFill>
              <a:srgbClr val="F0A93B"/>
            </a:solidFill>
            <a:prstDash val="solid"/>
            <a:round/>
            <a:headEnd len="sm" w="sm" type="none"/>
            <a:tailEnd len="med" w="med" type="triangle"/>
          </a:ln>
        </p:spPr>
      </p:cxnSp>
      <p:sp>
        <p:nvSpPr>
          <p:cNvPr id="1933" name="Google Shape;1933;p62"/>
          <p:cNvSpPr/>
          <p:nvPr/>
        </p:nvSpPr>
        <p:spPr>
          <a:xfrm>
            <a:off x="457200" y="4210812"/>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작업 지시 데이터</a:t>
            </a:r>
            <a:endParaRPr/>
          </a:p>
          <a:p>
            <a:pPr indent="0" lvl="0" marL="0" marR="0" rtl="0" algn="l">
              <a:lnSpc>
                <a:spcPct val="100000"/>
              </a:lnSpc>
              <a:spcBef>
                <a:spcPts val="200"/>
              </a:spcBef>
              <a:spcAft>
                <a:spcPts val="0"/>
              </a:spcAft>
              <a:buNone/>
            </a:pPr>
            <a:r>
              <a:rPr lang="en-US" sz="875">
                <a:solidFill>
                  <a:srgbClr val="5F6B7A"/>
                </a:solidFill>
                <a:latin typeface="Barlow"/>
                <a:ea typeface="Barlow"/>
                <a:cs typeface="Barlow"/>
                <a:sym typeface="Barlow"/>
              </a:rPr>
              <a:t>로컬 DB</a:t>
            </a:r>
            <a:r>
              <a:rPr b="0" lang="en-US" sz="875">
                <a:solidFill>
                  <a:srgbClr val="5F6B7A"/>
                </a:solidFill>
                <a:latin typeface="Barlow"/>
                <a:ea typeface="Barlow"/>
                <a:cs typeface="Barlow"/>
                <a:sym typeface="Barlow"/>
              </a:rPr>
              <a:t>· Data Protection </a:t>
            </a:r>
            <a:r>
              <a:rPr b="0" lang="en-US" sz="775">
                <a:solidFill>
                  <a:srgbClr val="5F6B7A"/>
                </a:solidFill>
                <a:latin typeface="Consolas"/>
                <a:ea typeface="Consolas"/>
                <a:cs typeface="Consolas"/>
                <a:sym typeface="Consolas"/>
              </a:rPr>
              <a:t>.complete</a:t>
            </a:r>
            <a:endParaRPr/>
          </a:p>
        </p:txBody>
      </p:sp>
      <p:sp>
        <p:nvSpPr>
          <p:cNvPr id="1934" name="Google Shape;1934;p62"/>
          <p:cNvSpPr/>
          <p:nvPr/>
        </p:nvSpPr>
        <p:spPr>
          <a:xfrm>
            <a:off x="3703320" y="4210812"/>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앱 저장소의 Room 데이터베이스</a:t>
            </a:r>
            <a:endParaRPr/>
          </a:p>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첫 잠금 해제 후에는 휴대폰이 잠겨 있어도 읽을 수 있음.</a:t>
            </a:r>
            <a:endParaRPr/>
          </a:p>
        </p:txBody>
      </p:sp>
      <p:cxnSp>
        <p:nvCxnSpPr>
          <p:cNvPr id="1935" name="Google Shape;1935;p62"/>
          <p:cNvCxnSpPr>
            <a:stCxn id="1933" idx="3"/>
            <a:endCxn id="1934" idx="1"/>
          </p:cNvCxnSpPr>
          <p:nvPr/>
        </p:nvCxnSpPr>
        <p:spPr>
          <a:xfrm>
            <a:off x="3383280" y="4576572"/>
            <a:ext cx="320100" cy="0"/>
          </a:xfrm>
          <a:prstGeom prst="straightConnector1">
            <a:avLst/>
          </a:prstGeom>
          <a:noFill/>
          <a:ln cap="flat" cmpd="sng" w="15875">
            <a:solidFill>
              <a:srgbClr val="0B2F5B"/>
            </a:solidFill>
            <a:prstDash val="solid"/>
            <a:round/>
            <a:headEnd len="sm" w="sm" type="none"/>
            <a:tailEnd len="med" w="med" type="triangle"/>
          </a:ln>
        </p:spPr>
      </p:cxnSp>
      <p:sp>
        <p:nvSpPr>
          <p:cNvPr id="1936" name="Google Shape;1936;p62"/>
          <p:cNvSpPr/>
          <p:nvPr/>
        </p:nvSpPr>
        <p:spPr>
          <a:xfrm>
            <a:off x="7452360" y="4210812"/>
            <a:ext cx="3977639" cy="731520"/>
          </a:xfrm>
          <a:prstGeom prst="roundRect">
            <a:avLst>
              <a:gd fmla="val 6250" name="adj"/>
            </a:avLst>
          </a:prstGeom>
          <a:solidFill>
            <a:srgbClr val="FFF4E0"/>
          </a:solidFill>
          <a:ln cap="flat" cmpd="sng" w="952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37" name="Google Shape;1937;p62"/>
          <p:cNvSpPr/>
          <p:nvPr/>
        </p:nvSpPr>
        <p:spPr>
          <a:xfrm>
            <a:off x="7562088" y="4255389"/>
            <a:ext cx="376451" cy="173736"/>
          </a:xfrm>
          <a:prstGeom prst="roundRect">
            <a:avLst>
              <a:gd fmla="val 50000" name="adj"/>
            </a:avLst>
          </a:prstGeom>
          <a:solidFill>
            <a:srgbClr val="9A5B0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추가</a:t>
            </a:r>
            <a:endParaRPr/>
          </a:p>
        </p:txBody>
      </p:sp>
      <p:sp>
        <p:nvSpPr>
          <p:cNvPr id="1938" name="Google Shape;1938;p62"/>
          <p:cNvSpPr txBox="1"/>
          <p:nvPr/>
        </p:nvSpPr>
        <p:spPr>
          <a:xfrm>
            <a:off x="7562088" y="4474845"/>
            <a:ext cx="3758183" cy="44119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9A5B00"/>
                </a:solidFill>
                <a:latin typeface="Barlow"/>
                <a:ea typeface="Barlow"/>
                <a:cs typeface="Barlow"/>
                <a:sym typeface="Barlow"/>
              </a:rPr>
              <a:t>잠금 해제된 기기가 필요한 Keystore 키로 데이터베이스 암호화. 문서상 Android 15+ 권장이며, 이 경우 업로드(A6)는 잠금 해제를 기다리게 됨. Qcells 보안팀의 결정 사항.</a:t>
            </a:r>
            <a:endParaRPr/>
          </a:p>
        </p:txBody>
      </p:sp>
      <p:cxnSp>
        <p:nvCxnSpPr>
          <p:cNvPr id="1939" name="Google Shape;1939;p62"/>
          <p:cNvCxnSpPr>
            <a:stCxn id="1934" idx="3"/>
            <a:endCxn id="1936" idx="1"/>
          </p:cNvCxnSpPr>
          <p:nvPr/>
        </p:nvCxnSpPr>
        <p:spPr>
          <a:xfrm>
            <a:off x="7132320" y="4576572"/>
            <a:ext cx="320100" cy="0"/>
          </a:xfrm>
          <a:prstGeom prst="straightConnector1">
            <a:avLst/>
          </a:prstGeom>
          <a:noFill/>
          <a:ln cap="flat" cmpd="sng" w="15875">
            <a:solidFill>
              <a:srgbClr val="F0A93B"/>
            </a:solidFill>
            <a:prstDash val="solid"/>
            <a:round/>
            <a:headEnd len="sm" w="sm" type="none"/>
            <a:tailEnd len="med" w="med" type="triangle"/>
          </a:ln>
        </p:spPr>
      </p:cxnSp>
      <p:sp>
        <p:nvSpPr>
          <p:cNvPr id="1940" name="Google Shape;1940;p62"/>
          <p:cNvSpPr/>
          <p:nvPr/>
        </p:nvSpPr>
        <p:spPr>
          <a:xfrm>
            <a:off x="457200" y="4992624"/>
            <a:ext cx="2926080" cy="731520"/>
          </a:xfrm>
          <a:prstGeom prst="roundRect">
            <a:avLst>
              <a:gd fmla="val 6250" name="adj"/>
            </a:avLst>
          </a:prstGeom>
          <a:solidFill>
            <a:srgbClr val="F5F8FC"/>
          </a:solidFill>
          <a:ln cap="flat" cmpd="sng" w="9525">
            <a:solidFill>
              <a:srgbClr val="C7D7EA"/>
            </a:solidFill>
            <a:prstDash val="solid"/>
            <a:round/>
            <a:headEnd len="sm" w="sm" type="none"/>
            <a:tailEnd len="sm" w="sm" type="none"/>
          </a:ln>
        </p:spPr>
        <p:txBody>
          <a:bodyPr anchorCtr="0" anchor="ctr" bIns="27425" lIns="109725" spcFirstLastPara="1" rIns="4570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Montserrat"/>
                <a:ea typeface="Montserrat"/>
                <a:cs typeface="Montserrat"/>
                <a:sym typeface="Montserrat"/>
              </a:rPr>
              <a:t>현재 기기에만 데이터 유지</a:t>
            </a:r>
            <a:endParaRPr/>
          </a:p>
          <a:p>
            <a:pPr indent="0" lvl="0" marL="0" marR="0" rtl="0" algn="l">
              <a:lnSpc>
                <a:spcPct val="100000"/>
              </a:lnSpc>
              <a:spcBef>
                <a:spcPts val="200"/>
              </a:spcBef>
              <a:spcAft>
                <a:spcPts val="0"/>
              </a:spcAft>
              <a:buNone/>
            </a:pPr>
            <a:r>
              <a:rPr lang="en-US" sz="875">
                <a:solidFill>
                  <a:srgbClr val="5F6B7A"/>
                </a:solidFill>
                <a:latin typeface="Barlow"/>
                <a:ea typeface="Barlow"/>
                <a:cs typeface="Barlow"/>
                <a:sym typeface="Barlow"/>
              </a:rPr>
              <a:t>iCloud 키체인 동기화 없음, 백업 복원 없음</a:t>
            </a:r>
            <a:endParaRPr/>
          </a:p>
        </p:txBody>
      </p:sp>
      <p:sp>
        <p:nvSpPr>
          <p:cNvPr id="1941" name="Google Shape;1941;p62"/>
          <p:cNvSpPr/>
          <p:nvPr/>
        </p:nvSpPr>
        <p:spPr>
          <a:xfrm>
            <a:off x="3703320" y="4992624"/>
            <a:ext cx="3429000" cy="731520"/>
          </a:xfrm>
          <a:prstGeom prst="roundRect">
            <a:avLst>
              <a:gd fmla="val 6250" name="adj"/>
            </a:avLst>
          </a:prstGeom>
          <a:solidFill>
            <a:srgbClr val="FFFFFF"/>
          </a:solidFill>
          <a:ln cap="flat" cmpd="sng" w="12700">
            <a:solidFill>
              <a:srgbClr val="1565C0"/>
            </a:solidFill>
            <a:prstDash val="solid"/>
            <a:round/>
            <a:headEnd len="sm" w="sm" type="none"/>
            <a:tailEnd len="sm" w="sm" type="none"/>
          </a:ln>
        </p:spPr>
        <p:txBody>
          <a:bodyPr anchorCtr="0" anchor="ctr" bIns="27425" lIns="109725" spcFirstLastPara="1" rIns="54850" wrap="square" tIns="27425">
            <a:noAutofit/>
          </a:bodyPr>
          <a:lstStyle/>
          <a:p>
            <a:pPr indent="0" lvl="0" marL="0" marR="0" rtl="0" algn="l">
              <a:lnSpc>
                <a:spcPct val="100000"/>
              </a:lnSpc>
              <a:spcBef>
                <a:spcPts val="0"/>
              </a:spcBef>
              <a:spcAft>
                <a:spcPts val="0"/>
              </a:spcAft>
              <a:buNone/>
            </a:pPr>
            <a:r>
              <a:rPr b="1" lang="en-US" sz="975">
                <a:solidFill>
                  <a:srgbClr val="0B2F5B"/>
                </a:solidFill>
                <a:latin typeface="Barlow"/>
                <a:ea typeface="Barlow"/>
                <a:cs typeface="Barlow"/>
                <a:sym typeface="Barlow"/>
              </a:rPr>
              <a:t>Keystore 키는 기기 밖으로 나가지 않음</a:t>
            </a:r>
            <a:endParaRPr/>
          </a:p>
          <a:p>
            <a:pPr indent="0" lvl="0" marL="0" marR="0" rtl="0" algn="l">
              <a:lnSpc>
                <a:spcPct val="100000"/>
              </a:lnSpc>
              <a:spcBef>
                <a:spcPts val="200"/>
              </a:spcBef>
              <a:spcAft>
                <a:spcPts val="0"/>
              </a:spcAft>
              <a:buNone/>
            </a:pPr>
            <a:r>
              <a:rPr lang="en-US" sz="900">
                <a:solidFill>
                  <a:srgbClr val="1F2A37"/>
                </a:solidFill>
                <a:latin typeface="Barlow"/>
                <a:ea typeface="Barlow"/>
                <a:cs typeface="Barlow"/>
                <a:sym typeface="Barlow"/>
              </a:rPr>
              <a:t>하지만 앱 파일은 기본적으로 자동 백업과 기기 이전에 포함됨.</a:t>
            </a:r>
            <a:endParaRPr/>
          </a:p>
        </p:txBody>
      </p:sp>
      <p:cxnSp>
        <p:nvCxnSpPr>
          <p:cNvPr id="1942" name="Google Shape;1942;p62"/>
          <p:cNvCxnSpPr>
            <a:stCxn id="1940" idx="3"/>
            <a:endCxn id="1941" idx="1"/>
          </p:cNvCxnSpPr>
          <p:nvPr/>
        </p:nvCxnSpPr>
        <p:spPr>
          <a:xfrm>
            <a:off x="3383280" y="5358384"/>
            <a:ext cx="320100" cy="0"/>
          </a:xfrm>
          <a:prstGeom prst="straightConnector1">
            <a:avLst/>
          </a:prstGeom>
          <a:noFill/>
          <a:ln cap="flat" cmpd="sng" w="15875">
            <a:solidFill>
              <a:srgbClr val="0B2F5B"/>
            </a:solidFill>
            <a:prstDash val="solid"/>
            <a:round/>
            <a:headEnd len="sm" w="sm" type="none"/>
            <a:tailEnd len="med" w="med" type="triangle"/>
          </a:ln>
        </p:spPr>
      </p:cxnSp>
      <p:sp>
        <p:nvSpPr>
          <p:cNvPr id="1943" name="Google Shape;1943;p62"/>
          <p:cNvSpPr/>
          <p:nvPr/>
        </p:nvSpPr>
        <p:spPr>
          <a:xfrm>
            <a:off x="7452360" y="4992624"/>
            <a:ext cx="3977639" cy="731520"/>
          </a:xfrm>
          <a:prstGeom prst="roundRect">
            <a:avLst>
              <a:gd fmla="val 6250" name="adj"/>
            </a:avLst>
          </a:prstGeom>
          <a:solidFill>
            <a:srgbClr val="FFF4E0"/>
          </a:solidFill>
          <a:ln cap="flat" cmpd="sng" w="9525">
            <a:solidFill>
              <a:srgbClr val="F0A93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4" name="Google Shape;1944;p62"/>
          <p:cNvSpPr/>
          <p:nvPr/>
        </p:nvSpPr>
        <p:spPr>
          <a:xfrm>
            <a:off x="7562088" y="5107686"/>
            <a:ext cx="376451" cy="173736"/>
          </a:xfrm>
          <a:prstGeom prst="roundRect">
            <a:avLst>
              <a:gd fmla="val 50000" name="adj"/>
            </a:avLst>
          </a:prstGeom>
          <a:solidFill>
            <a:srgbClr val="9A5B00"/>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675">
                <a:solidFill>
                  <a:srgbClr val="FFFFFF"/>
                </a:solidFill>
                <a:latin typeface="Montserrat"/>
                <a:ea typeface="Montserrat"/>
                <a:cs typeface="Montserrat"/>
                <a:sym typeface="Montserrat"/>
              </a:rPr>
              <a:t>추가</a:t>
            </a:r>
            <a:endParaRPr/>
          </a:p>
        </p:txBody>
      </p:sp>
      <p:sp>
        <p:nvSpPr>
          <p:cNvPr id="1945" name="Google Shape;1945;p62"/>
          <p:cNvSpPr txBox="1"/>
          <p:nvPr/>
        </p:nvSpPr>
        <p:spPr>
          <a:xfrm>
            <a:off x="7562088" y="5327142"/>
            <a:ext cx="3758183" cy="30022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25">
                <a:solidFill>
                  <a:srgbClr val="9A5B00"/>
                </a:solidFill>
                <a:latin typeface="Barlow"/>
                <a:ea typeface="Barlow"/>
                <a:cs typeface="Barlow"/>
                <a:sym typeface="Barlow"/>
              </a:rPr>
              <a:t>데이터베이스, 저널, 토큰 파일을 제외하는 백업 규칙. </a:t>
            </a:r>
            <a:r>
              <a:rPr b="0" lang="en-US" sz="825">
                <a:solidFill>
                  <a:srgbClr val="9A5B00"/>
                </a:solidFill>
                <a:latin typeface="Consolas"/>
                <a:ea typeface="Consolas"/>
                <a:cs typeface="Consolas"/>
                <a:sym typeface="Consolas"/>
              </a:rPr>
              <a:t>allowBackup="false"</a:t>
            </a:r>
            <a:r>
              <a:rPr lang="en-US" sz="925">
                <a:solidFill>
                  <a:srgbClr val="9A5B00"/>
                </a:solidFill>
                <a:latin typeface="Barlow"/>
                <a:ea typeface="Barlow"/>
                <a:cs typeface="Barlow"/>
                <a:sym typeface="Barlow"/>
              </a:rPr>
              <a:t> 만으로는 기기 이전을 막지 못할 수 있음.</a:t>
            </a:r>
            <a:endParaRPr/>
          </a:p>
        </p:txBody>
      </p:sp>
      <p:cxnSp>
        <p:nvCxnSpPr>
          <p:cNvPr id="1946" name="Google Shape;1946;p62"/>
          <p:cNvCxnSpPr>
            <a:stCxn id="1941" idx="3"/>
            <a:endCxn id="1943" idx="1"/>
          </p:cNvCxnSpPr>
          <p:nvPr/>
        </p:nvCxnSpPr>
        <p:spPr>
          <a:xfrm>
            <a:off x="7132320" y="5358384"/>
            <a:ext cx="320100" cy="0"/>
          </a:xfrm>
          <a:prstGeom prst="straightConnector1">
            <a:avLst/>
          </a:prstGeom>
          <a:noFill/>
          <a:ln cap="flat" cmpd="sng" w="15875">
            <a:solidFill>
              <a:srgbClr val="F0A93B"/>
            </a:solidFill>
            <a:prstDash val="solid"/>
            <a:round/>
            <a:headEnd len="sm" w="sm" type="none"/>
            <a:tailEnd len="med" w="med" type="triangl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1" name="Shape 1951"/>
        <p:cNvGrpSpPr/>
        <p:nvPr/>
      </p:nvGrpSpPr>
      <p:grpSpPr>
        <a:xfrm>
          <a:off x="0" y="0"/>
          <a:ext cx="0" cy="0"/>
          <a:chOff x="0" y="0"/>
          <a:chExt cx="0" cy="0"/>
        </a:xfrm>
      </p:grpSpPr>
      <p:sp>
        <p:nvSpPr>
          <p:cNvPr id="1952" name="Google Shape;1952;p63"/>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테스트 접근 · Android 추가 사항</a:t>
            </a:r>
            <a:endParaRPr/>
          </a:p>
        </p:txBody>
      </p:sp>
      <p:sp>
        <p:nvSpPr>
          <p:cNvPr id="1953" name="Google Shape;1953;p63"/>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Android는 테스트 </a:t>
            </a:r>
            <a:r>
              <a:rPr lang="en-US"/>
              <a:t>기준</a:t>
            </a:r>
            <a:r>
              <a:rPr lang="en-US"/>
              <a:t>을 두 가지 더합니다: OS 버전별 동작, </a:t>
            </a:r>
            <a:r>
              <a:rPr lang="en-US"/>
              <a:t>앱</a:t>
            </a:r>
            <a:r>
              <a:rPr lang="en-US"/>
              <a:t> 종료</a:t>
            </a:r>
            <a:endParaRPr/>
          </a:p>
        </p:txBody>
      </p:sp>
      <p:sp>
        <p:nvSpPr>
          <p:cNvPr id="1954" name="Google Shape;1954;p63"/>
          <p:cNvSpPr/>
          <p:nvPr/>
        </p:nvSpPr>
        <p:spPr>
          <a:xfrm>
            <a:off x="457200" y="1234440"/>
            <a:ext cx="3200400" cy="4480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55" name="Google Shape;1955;p63"/>
          <p:cNvSpPr/>
          <p:nvPr/>
        </p:nvSpPr>
        <p:spPr>
          <a:xfrm>
            <a:off x="457200" y="1234440"/>
            <a:ext cx="603504" cy="603504"/>
          </a:xfrm>
          <a:prstGeom prst="rect">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956" name="Google Shape;1956;p63"/>
          <p:cNvPicPr preferRelativeResize="0"/>
          <p:nvPr/>
        </p:nvPicPr>
        <p:blipFill rotWithShape="1">
          <a:blip r:embed="rId3">
            <a:alphaModFix/>
          </a:blip>
          <a:srcRect b="0" l="0" r="0" t="0"/>
          <a:stretch/>
        </p:blipFill>
        <p:spPr>
          <a:xfrm>
            <a:off x="621792" y="1399032"/>
            <a:ext cx="274320" cy="274320"/>
          </a:xfrm>
          <a:prstGeom prst="rect">
            <a:avLst/>
          </a:prstGeom>
          <a:noFill/>
          <a:ln>
            <a:noFill/>
          </a:ln>
        </p:spPr>
      </p:pic>
      <p:sp>
        <p:nvSpPr>
          <p:cNvPr id="1957" name="Google Shape;1957;p63"/>
          <p:cNvSpPr txBox="1"/>
          <p:nvPr/>
        </p:nvSpPr>
        <p:spPr>
          <a:xfrm>
            <a:off x="1188720" y="1298448"/>
            <a:ext cx="2377439"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150">
                <a:solidFill>
                  <a:srgbClr val="0B2F5B"/>
                </a:solidFill>
                <a:latin typeface="Montserrat"/>
                <a:ea typeface="Montserrat"/>
                <a:cs typeface="Montserrat"/>
                <a:sym typeface="Montserrat"/>
              </a:rPr>
              <a:t>동일 로직 테스트</a:t>
            </a:r>
            <a:endParaRPr/>
          </a:p>
        </p:txBody>
      </p:sp>
      <p:sp>
        <p:nvSpPr>
          <p:cNvPr id="1958" name="Google Shape;1958;p63"/>
          <p:cNvSpPr txBox="1"/>
          <p:nvPr/>
        </p:nvSpPr>
        <p:spPr>
          <a:xfrm>
            <a:off x="1188720" y="1554480"/>
            <a:ext cx="237743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25">
                <a:solidFill>
                  <a:srgbClr val="5F6B7A"/>
                </a:solidFill>
                <a:latin typeface="Barlow"/>
                <a:ea typeface="Barlow"/>
                <a:cs typeface="Barlow"/>
                <a:sym typeface="Barlow"/>
              </a:rPr>
              <a:t>T9 Mock에 대한 Android 주입</a:t>
            </a:r>
            <a:endParaRPr/>
          </a:p>
        </p:txBody>
      </p:sp>
      <p:sp>
        <p:nvSpPr>
          <p:cNvPr id="1959" name="Google Shape;1959;p63"/>
          <p:cNvSpPr/>
          <p:nvPr/>
        </p:nvSpPr>
        <p:spPr>
          <a:xfrm>
            <a:off x="3749039" y="1234440"/>
            <a:ext cx="3749039" cy="4480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0" name="Google Shape;1960;p63"/>
          <p:cNvSpPr/>
          <p:nvPr/>
        </p:nvSpPr>
        <p:spPr>
          <a:xfrm>
            <a:off x="3749039" y="1234440"/>
            <a:ext cx="603504" cy="603504"/>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2200">
                <a:solidFill>
                  <a:srgbClr val="FFFFFF"/>
                </a:solidFill>
                <a:latin typeface="Montserrat"/>
                <a:ea typeface="Montserrat"/>
                <a:cs typeface="Montserrat"/>
                <a:sym typeface="Montserrat"/>
              </a:rPr>
              <a:t>7</a:t>
            </a:r>
            <a:endParaRPr/>
          </a:p>
        </p:txBody>
      </p:sp>
      <p:sp>
        <p:nvSpPr>
          <p:cNvPr id="1961" name="Google Shape;1961;p63"/>
          <p:cNvSpPr txBox="1"/>
          <p:nvPr/>
        </p:nvSpPr>
        <p:spPr>
          <a:xfrm>
            <a:off x="4480559" y="1298448"/>
            <a:ext cx="2926079"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150">
                <a:solidFill>
                  <a:srgbClr val="0B2F5B"/>
                </a:solidFill>
                <a:latin typeface="Montserrat"/>
                <a:ea typeface="Montserrat"/>
                <a:cs typeface="Montserrat"/>
                <a:sym typeface="Montserrat"/>
              </a:rPr>
              <a:t>Android 전용 시나리오</a:t>
            </a:r>
            <a:endParaRPr/>
          </a:p>
        </p:txBody>
      </p:sp>
      <p:sp>
        <p:nvSpPr>
          <p:cNvPr id="1962" name="Google Shape;1962;p63"/>
          <p:cNvSpPr txBox="1"/>
          <p:nvPr/>
        </p:nvSpPr>
        <p:spPr>
          <a:xfrm>
            <a:off x="4480559" y="1554480"/>
            <a:ext cx="292607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25">
                <a:solidFill>
                  <a:srgbClr val="5F6B7A"/>
                </a:solidFill>
                <a:latin typeface="Barlow"/>
                <a:ea typeface="Barlow"/>
                <a:cs typeface="Barlow"/>
                <a:sym typeface="Barlow"/>
              </a:rPr>
              <a:t>라이프사이클, 권한, Wi-Fi 대화상자, 재시작</a:t>
            </a:r>
            <a:endParaRPr/>
          </a:p>
        </p:txBody>
      </p:sp>
      <p:sp>
        <p:nvSpPr>
          <p:cNvPr id="1963" name="Google Shape;1963;p63"/>
          <p:cNvSpPr/>
          <p:nvPr/>
        </p:nvSpPr>
        <p:spPr>
          <a:xfrm>
            <a:off x="7589520" y="1234440"/>
            <a:ext cx="3840480" cy="4480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64" name="Google Shape;1964;p63"/>
          <p:cNvSpPr/>
          <p:nvPr/>
        </p:nvSpPr>
        <p:spPr>
          <a:xfrm>
            <a:off x="7589520" y="1234440"/>
            <a:ext cx="603504" cy="603504"/>
          </a:xfrm>
          <a:prstGeom prst="rect">
            <a:avLst/>
          </a:prstGeom>
          <a:solidFill>
            <a:srgbClr val="0B2F5B"/>
          </a:solidFill>
          <a:ln>
            <a:noFill/>
          </a:ln>
        </p:spPr>
        <p:txBody>
          <a:bodyPr anchorCtr="0" anchor="ctr" bIns="45700" lIns="73150" spcFirstLastPara="1" rIns="73150" wrap="square" tIns="45700">
            <a:noAutofit/>
          </a:bodyPr>
          <a:lstStyle/>
          <a:p>
            <a:pPr indent="0" lvl="0" marL="0" marR="0" rtl="0" algn="ctr">
              <a:lnSpc>
                <a:spcPct val="100000"/>
              </a:lnSpc>
              <a:spcBef>
                <a:spcPts val="0"/>
              </a:spcBef>
              <a:spcAft>
                <a:spcPts val="0"/>
              </a:spcAft>
              <a:buNone/>
            </a:pPr>
            <a:r>
              <a:rPr b="1" lang="en-US" sz="2200">
                <a:solidFill>
                  <a:srgbClr val="FFFFFF"/>
                </a:solidFill>
                <a:latin typeface="Montserrat"/>
                <a:ea typeface="Montserrat"/>
                <a:cs typeface="Montserrat"/>
                <a:sym typeface="Montserrat"/>
              </a:rPr>
              <a:t>6</a:t>
            </a:r>
            <a:endParaRPr/>
          </a:p>
        </p:txBody>
      </p:sp>
      <p:sp>
        <p:nvSpPr>
          <p:cNvPr id="1965" name="Google Shape;1965;p63"/>
          <p:cNvSpPr txBox="1"/>
          <p:nvPr/>
        </p:nvSpPr>
        <p:spPr>
          <a:xfrm>
            <a:off x="8321040" y="1298448"/>
            <a:ext cx="3017519"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150">
                <a:solidFill>
                  <a:srgbClr val="0B2F5B"/>
                </a:solidFill>
                <a:latin typeface="Montserrat"/>
                <a:ea typeface="Montserrat"/>
                <a:cs typeface="Montserrat"/>
                <a:sym typeface="Montserrat"/>
              </a:rPr>
              <a:t>벤치의 OS 구간</a:t>
            </a:r>
            <a:endParaRPr/>
          </a:p>
        </p:txBody>
      </p:sp>
      <p:sp>
        <p:nvSpPr>
          <p:cNvPr id="1966" name="Google Shape;1966;p63"/>
          <p:cNvSpPr txBox="1"/>
          <p:nvPr/>
        </p:nvSpPr>
        <p:spPr>
          <a:xfrm>
            <a:off x="8321040" y="1554480"/>
            <a:ext cx="3017519" cy="23774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25">
                <a:solidFill>
                  <a:srgbClr val="5F6B7A"/>
                </a:solidFill>
                <a:latin typeface="Barlow"/>
                <a:ea typeface="Barlow"/>
                <a:cs typeface="Barlow"/>
                <a:sym typeface="Barlow"/>
              </a:rPr>
              <a:t>구간당 최소 한 대</a:t>
            </a:r>
            <a:endParaRPr/>
          </a:p>
        </p:txBody>
      </p:sp>
      <p:sp>
        <p:nvSpPr>
          <p:cNvPr id="1967" name="Google Shape;1967;p63"/>
          <p:cNvSpPr/>
          <p:nvPr/>
        </p:nvSpPr>
        <p:spPr>
          <a:xfrm>
            <a:off x="731520" y="2011680"/>
            <a:ext cx="2651760" cy="512064"/>
          </a:xfrm>
          <a:prstGeom prst="roundRect">
            <a:avLst>
              <a:gd fmla="val 10714" name="adj"/>
            </a:avLst>
          </a:prstGeom>
          <a:solidFill>
            <a:srgbClr val="FFFFFF"/>
          </a:solidFill>
          <a:ln cap="flat" cmpd="sng" w="12700">
            <a:solidFill>
              <a:srgbClr val="0B2F5B"/>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0B2F5B"/>
                </a:solidFill>
                <a:latin typeface="Montserrat"/>
                <a:ea typeface="Montserrat"/>
                <a:cs typeface="Montserrat"/>
                <a:sym typeface="Montserrat"/>
              </a:rPr>
              <a:t>테스트 대상 앱</a:t>
            </a:r>
            <a:endParaRPr/>
          </a:p>
          <a:p>
            <a:pPr indent="0" lvl="0" marL="0" marR="0" rtl="0" algn="ctr">
              <a:lnSpc>
                <a:spcPct val="100000"/>
              </a:lnSpc>
              <a:spcBef>
                <a:spcPts val="150"/>
              </a:spcBef>
              <a:spcAft>
                <a:spcPts val="0"/>
              </a:spcAft>
              <a:buNone/>
            </a:pPr>
            <a:r>
              <a:rPr lang="en-US" sz="900">
                <a:solidFill>
                  <a:srgbClr val="5F6B7A"/>
                </a:solidFill>
                <a:latin typeface="Barlow"/>
                <a:ea typeface="Barlow"/>
                <a:cs typeface="Barlow"/>
                <a:sym typeface="Barlow"/>
              </a:rPr>
              <a:t>JVM 또는 에뮬레이터</a:t>
            </a:r>
            <a:endParaRPr/>
          </a:p>
        </p:txBody>
      </p:sp>
      <p:sp>
        <p:nvSpPr>
          <p:cNvPr id="1968" name="Google Shape;1968;p63"/>
          <p:cNvSpPr/>
          <p:nvPr/>
        </p:nvSpPr>
        <p:spPr>
          <a:xfrm>
            <a:off x="731520" y="2743200"/>
            <a:ext cx="2651760" cy="512064"/>
          </a:xfrm>
          <a:prstGeom prst="roundRect">
            <a:avLst>
              <a:gd fmla="val 10714" name="adj"/>
            </a:avLst>
          </a:prstGeom>
          <a:solidFill>
            <a:srgbClr val="0B2F5B"/>
          </a:solidFill>
          <a:ln>
            <a:noFill/>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FFFFFF"/>
                </a:solidFill>
                <a:latin typeface="Consolas"/>
                <a:ea typeface="Consolas"/>
                <a:cs typeface="Consolas"/>
                <a:sym typeface="Consolas"/>
              </a:rPr>
              <a:t>BLETransport</a:t>
            </a:r>
            <a:endParaRPr/>
          </a:p>
          <a:p>
            <a:pPr indent="0" lvl="0" marL="0" marR="0" rtl="0" algn="ctr">
              <a:lnSpc>
                <a:spcPct val="100000"/>
              </a:lnSpc>
              <a:spcBef>
                <a:spcPts val="150"/>
              </a:spcBef>
              <a:spcAft>
                <a:spcPts val="0"/>
              </a:spcAft>
              <a:buNone/>
            </a:pPr>
            <a:r>
              <a:rPr lang="en-US" sz="900">
                <a:solidFill>
                  <a:srgbClr val="A9C7EA"/>
                </a:solidFill>
                <a:latin typeface="Barlow"/>
                <a:ea typeface="Barlow"/>
                <a:cs typeface="Barlow"/>
                <a:sym typeface="Barlow"/>
              </a:rPr>
              <a:t>인터페이스</a:t>
            </a:r>
            <a:endParaRPr/>
          </a:p>
        </p:txBody>
      </p:sp>
      <p:sp>
        <p:nvSpPr>
          <p:cNvPr id="1969" name="Google Shape;1969;p63"/>
          <p:cNvSpPr/>
          <p:nvPr/>
        </p:nvSpPr>
        <p:spPr>
          <a:xfrm>
            <a:off x="731520" y="3474720"/>
            <a:ext cx="2651760" cy="512064"/>
          </a:xfrm>
          <a:prstGeom prst="roundRect">
            <a:avLst>
              <a:gd fmla="val 10714" name="adj"/>
            </a:avLst>
          </a:prstGeom>
          <a:solidFill>
            <a:srgbClr val="E6F4EA"/>
          </a:solidFill>
          <a:ln cap="flat" cmpd="sng" w="12700">
            <a:solidFill>
              <a:srgbClr val="8CC9A6"/>
            </a:solidFill>
            <a:prstDash val="solid"/>
            <a:round/>
            <a:headEnd len="sm" w="sm" type="none"/>
            <a:tailEnd len="sm" w="sm" type="none"/>
          </a:ln>
        </p:spPr>
        <p:txBody>
          <a:bodyPr anchorCtr="0" anchor="ctr" bIns="36575" lIns="73150" spcFirstLastPara="1" rIns="73150" wrap="square" tIns="36575">
            <a:noAutofit/>
          </a:bodyPr>
          <a:lstStyle/>
          <a:p>
            <a:pPr indent="0" lvl="0" marL="0" marR="0" rtl="0" algn="ctr">
              <a:lnSpc>
                <a:spcPct val="100000"/>
              </a:lnSpc>
              <a:spcBef>
                <a:spcPts val="0"/>
              </a:spcBef>
              <a:spcAft>
                <a:spcPts val="0"/>
              </a:spcAft>
              <a:buNone/>
            </a:pPr>
            <a:r>
              <a:rPr b="1" lang="en-US" sz="1000">
                <a:solidFill>
                  <a:srgbClr val="1E7B4F"/>
                </a:solidFill>
                <a:latin typeface="Montserrat"/>
                <a:ea typeface="Montserrat"/>
                <a:cs typeface="Montserrat"/>
                <a:sym typeface="Montserrat"/>
              </a:rPr>
              <a:t>Fake 전송</a:t>
            </a:r>
            <a:endParaRPr/>
          </a:p>
          <a:p>
            <a:pPr indent="0" lvl="0" marL="0" marR="0" rtl="0" algn="ctr">
              <a:lnSpc>
                <a:spcPct val="100000"/>
              </a:lnSpc>
              <a:spcBef>
                <a:spcPts val="150"/>
              </a:spcBef>
              <a:spcAft>
                <a:spcPts val="0"/>
              </a:spcAft>
              <a:buNone/>
            </a:pPr>
            <a:r>
              <a:rPr lang="en-US" sz="900">
                <a:solidFill>
                  <a:srgbClr val="1E7B4F"/>
                </a:solidFill>
                <a:latin typeface="Barlow"/>
                <a:ea typeface="Barlow"/>
                <a:cs typeface="Barlow"/>
                <a:sym typeface="Barlow"/>
              </a:rPr>
              <a:t>가상 기기 데이터 사전</a:t>
            </a:r>
            <a:endParaRPr/>
          </a:p>
        </p:txBody>
      </p:sp>
      <p:cxnSp>
        <p:nvCxnSpPr>
          <p:cNvPr id="1970" name="Google Shape;1970;p63"/>
          <p:cNvCxnSpPr>
            <a:stCxn id="1967" idx="2"/>
            <a:endCxn id="1968" idx="0"/>
          </p:cNvCxnSpPr>
          <p:nvPr/>
        </p:nvCxnSpPr>
        <p:spPr>
          <a:xfrm>
            <a:off x="2057400" y="2523744"/>
            <a:ext cx="0" cy="219600"/>
          </a:xfrm>
          <a:prstGeom prst="straightConnector1">
            <a:avLst/>
          </a:prstGeom>
          <a:noFill/>
          <a:ln cap="flat" cmpd="sng" w="15875">
            <a:solidFill>
              <a:srgbClr val="0B2F5B"/>
            </a:solidFill>
            <a:prstDash val="solid"/>
            <a:round/>
            <a:headEnd len="sm" w="sm" type="none"/>
            <a:tailEnd len="med" w="med" type="triangle"/>
          </a:ln>
        </p:spPr>
      </p:cxnSp>
      <p:cxnSp>
        <p:nvCxnSpPr>
          <p:cNvPr id="1971" name="Google Shape;1971;p63"/>
          <p:cNvCxnSpPr>
            <a:stCxn id="1968" idx="2"/>
            <a:endCxn id="1969" idx="0"/>
          </p:cNvCxnSpPr>
          <p:nvPr/>
        </p:nvCxnSpPr>
        <p:spPr>
          <a:xfrm>
            <a:off x="2057400" y="3255264"/>
            <a:ext cx="0" cy="219600"/>
          </a:xfrm>
          <a:prstGeom prst="straightConnector1">
            <a:avLst/>
          </a:prstGeom>
          <a:noFill/>
          <a:ln cap="flat" cmpd="sng" w="15875">
            <a:solidFill>
              <a:srgbClr val="1E7B4F"/>
            </a:solidFill>
            <a:prstDash val="solid"/>
            <a:round/>
            <a:headEnd len="sm" w="sm" type="none"/>
            <a:tailEnd len="med" w="med" type="triangle"/>
          </a:ln>
        </p:spPr>
      </p:cxnSp>
      <p:sp>
        <p:nvSpPr>
          <p:cNvPr id="1972" name="Google Shape;1972;p63"/>
          <p:cNvSpPr txBox="1"/>
          <p:nvPr/>
        </p:nvSpPr>
        <p:spPr>
          <a:xfrm>
            <a:off x="640080" y="4206240"/>
            <a:ext cx="2834640" cy="1417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주입  </a:t>
            </a:r>
            <a:r>
              <a:rPr lang="en-US" sz="925">
                <a:solidFill>
                  <a:srgbClr val="1F2A37"/>
                </a:solidFill>
                <a:latin typeface="Barlow"/>
                <a:ea typeface="Barlow"/>
                <a:cs typeface="Barlow"/>
                <a:sym typeface="Barlow"/>
              </a:rPr>
              <a:t>Hilt 테스트 모듈 사용 (iOS는 실행 인자 사용)</a:t>
            </a:r>
            <a:endParaRPr/>
          </a:p>
          <a:p>
            <a:pPr indent="0" lvl="0" marL="0" marR="0" rtl="0" algn="l">
              <a:lnSpc>
                <a:spcPct val="100000"/>
              </a:lnSpc>
              <a:spcBef>
                <a:spcPts val="500"/>
              </a:spcBef>
              <a:spcAft>
                <a:spcPts val="0"/>
              </a:spcAft>
              <a:buNone/>
            </a:pPr>
            <a:r>
              <a:rPr b="1" lang="en-US" sz="925">
                <a:solidFill>
                  <a:srgbClr val="0B2F5B"/>
                </a:solidFill>
                <a:latin typeface="Barlow"/>
                <a:ea typeface="Barlow"/>
                <a:cs typeface="Barlow"/>
                <a:sym typeface="Barlow"/>
              </a:rPr>
              <a:t>시나리오  </a:t>
            </a:r>
            <a:r>
              <a:rPr lang="en-US" sz="925">
                <a:solidFill>
                  <a:srgbClr val="1F2A37"/>
                </a:solidFill>
                <a:latin typeface="Barlow"/>
                <a:ea typeface="Barlow"/>
                <a:cs typeface="Barlow"/>
                <a:sym typeface="Barlow"/>
              </a:rPr>
              <a:t>UT-01~UT-07 그대로 실행</a:t>
            </a:r>
            <a:endParaRPr/>
          </a:p>
          <a:p>
            <a:pPr indent="0" lvl="0" marL="0" marR="0" rtl="0" algn="l">
              <a:lnSpc>
                <a:spcPct val="100000"/>
              </a:lnSpc>
              <a:spcBef>
                <a:spcPts val="500"/>
              </a:spcBef>
              <a:spcAft>
                <a:spcPts val="0"/>
              </a:spcAft>
              <a:buNone/>
            </a:pPr>
            <a:r>
              <a:rPr b="1" lang="en-US" sz="925">
                <a:solidFill>
                  <a:srgbClr val="0B2F5B"/>
                </a:solidFill>
                <a:latin typeface="Barlow"/>
                <a:ea typeface="Barlow"/>
                <a:cs typeface="Barlow"/>
                <a:sym typeface="Barlow"/>
              </a:rPr>
              <a:t>결함  </a:t>
            </a:r>
            <a:r>
              <a:rPr lang="en-US" sz="925">
                <a:solidFill>
                  <a:srgbClr val="1F2A37"/>
                </a:solidFill>
                <a:latin typeface="Barlow"/>
                <a:ea typeface="Barlow"/>
                <a:cs typeface="Barlow"/>
                <a:sym typeface="Barlow"/>
              </a:rPr>
              <a:t>지연, 무응답, 연결 끊김 (T9와 동일)</a:t>
            </a:r>
            <a:endParaRPr/>
          </a:p>
          <a:p>
            <a:pPr indent="0" lvl="0" marL="0" marR="0" rtl="0" algn="l">
              <a:lnSpc>
                <a:spcPct val="100000"/>
              </a:lnSpc>
              <a:spcBef>
                <a:spcPts val="500"/>
              </a:spcBef>
              <a:spcAft>
                <a:spcPts val="0"/>
              </a:spcAft>
              <a:buNone/>
            </a:pPr>
            <a:r>
              <a:rPr b="1" lang="en-US" sz="925">
                <a:solidFill>
                  <a:srgbClr val="0B2F5B"/>
                </a:solidFill>
                <a:latin typeface="Barlow"/>
                <a:ea typeface="Barlow"/>
                <a:cs typeface="Barlow"/>
                <a:sym typeface="Barlow"/>
              </a:rPr>
              <a:t>프로세스 종료  </a:t>
            </a:r>
            <a:r>
              <a:rPr lang="en-US" sz="925">
                <a:solidFill>
                  <a:srgbClr val="1F2A37"/>
                </a:solidFill>
                <a:latin typeface="Barlow"/>
                <a:ea typeface="Barlow"/>
                <a:cs typeface="Barlow"/>
                <a:sym typeface="Barlow"/>
              </a:rPr>
              <a:t>디버그 전용 훅이 지정한 단계에서 프로세스를 종료</a:t>
            </a:r>
            <a:endParaRPr/>
          </a:p>
        </p:txBody>
      </p:sp>
      <p:sp>
        <p:nvSpPr>
          <p:cNvPr id="1973" name="Google Shape;1973;p63"/>
          <p:cNvSpPr/>
          <p:nvPr/>
        </p:nvSpPr>
        <p:spPr>
          <a:xfrm>
            <a:off x="3886200" y="201168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AT-01</a:t>
            </a:r>
            <a:endParaRPr/>
          </a:p>
        </p:txBody>
      </p:sp>
      <p:sp>
        <p:nvSpPr>
          <p:cNvPr id="1974" name="Google Shape;1974;p63"/>
          <p:cNvSpPr txBox="1"/>
          <p:nvPr/>
        </p:nvSpPr>
        <p:spPr>
          <a:xfrm>
            <a:off x="4553712" y="195681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권한 영구 거부</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게이트가 앱 설정으로 연결</a:t>
            </a:r>
            <a:endParaRPr/>
          </a:p>
        </p:txBody>
      </p:sp>
      <p:sp>
        <p:nvSpPr>
          <p:cNvPr id="1975" name="Google Shape;1975;p63"/>
          <p:cNvSpPr/>
          <p:nvPr/>
        </p:nvSpPr>
        <p:spPr>
          <a:xfrm>
            <a:off x="3886200" y="253746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AT-02</a:t>
            </a:r>
            <a:endParaRPr/>
          </a:p>
        </p:txBody>
      </p:sp>
      <p:sp>
        <p:nvSpPr>
          <p:cNvPr id="1976" name="Google Shape;1976;p63"/>
          <p:cNvSpPr txBox="1"/>
          <p:nvPr/>
        </p:nvSpPr>
        <p:spPr>
          <a:xfrm>
            <a:off x="4553712" y="248259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세션 도중 Bluetooth 꺼짐</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잠금 해제, 재연결 경로</a:t>
            </a:r>
            <a:endParaRPr/>
          </a:p>
        </p:txBody>
      </p:sp>
      <p:sp>
        <p:nvSpPr>
          <p:cNvPr id="1977" name="Google Shape;1977;p63"/>
          <p:cNvSpPr/>
          <p:nvPr/>
        </p:nvSpPr>
        <p:spPr>
          <a:xfrm>
            <a:off x="3886200" y="306324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AT-03</a:t>
            </a:r>
            <a:endParaRPr/>
          </a:p>
        </p:txBody>
      </p:sp>
      <p:sp>
        <p:nvSpPr>
          <p:cNvPr id="1978" name="Google Shape;1978;p63"/>
          <p:cNvSpPr txBox="1"/>
          <p:nvPr/>
        </p:nvSpPr>
        <p:spPr>
          <a:xfrm>
            <a:off x="4553712" y="300837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일괄 읽기 중 화면 회전</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잠금과 세션은 영향 없음</a:t>
            </a:r>
            <a:endParaRPr/>
          </a:p>
        </p:txBody>
      </p:sp>
      <p:sp>
        <p:nvSpPr>
          <p:cNvPr id="1979" name="Google Shape;1979;p63"/>
          <p:cNvSpPr/>
          <p:nvPr/>
        </p:nvSpPr>
        <p:spPr>
          <a:xfrm>
            <a:off x="3886200" y="358902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AT-04</a:t>
            </a:r>
            <a:endParaRPr/>
          </a:p>
        </p:txBody>
      </p:sp>
      <p:sp>
        <p:nvSpPr>
          <p:cNvPr id="1980" name="Google Shape;1980;p63"/>
          <p:cNvSpPr txBox="1"/>
          <p:nvPr/>
        </p:nvSpPr>
        <p:spPr>
          <a:xfrm>
            <a:off x="4553712" y="353415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적용 중 프로세스 종료</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마커 확인 후 재실행 시 read-back</a:t>
            </a:r>
            <a:endParaRPr/>
          </a:p>
        </p:txBody>
      </p:sp>
      <p:sp>
        <p:nvSpPr>
          <p:cNvPr id="1981" name="Google Shape;1981;p63"/>
          <p:cNvSpPr/>
          <p:nvPr/>
        </p:nvSpPr>
        <p:spPr>
          <a:xfrm>
            <a:off x="3886200" y="411480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AT-05</a:t>
            </a:r>
            <a:endParaRPr/>
          </a:p>
        </p:txBody>
      </p:sp>
      <p:sp>
        <p:nvSpPr>
          <p:cNvPr id="1982" name="Google Shape;1982;p63"/>
          <p:cNvSpPr txBox="1"/>
          <p:nvPr/>
        </p:nvSpPr>
        <p:spPr>
          <a:xfrm>
            <a:off x="4553712" y="405993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플래시 중 프로세스 종료</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FW 마커, 버전 read-back</a:t>
            </a:r>
            <a:endParaRPr/>
          </a:p>
        </p:txBody>
      </p:sp>
      <p:sp>
        <p:nvSpPr>
          <p:cNvPr id="1983" name="Google Shape;1983;p63"/>
          <p:cNvSpPr/>
          <p:nvPr/>
        </p:nvSpPr>
        <p:spPr>
          <a:xfrm>
            <a:off x="3886200" y="464058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AT-06</a:t>
            </a:r>
            <a:endParaRPr/>
          </a:p>
        </p:txBody>
      </p:sp>
      <p:sp>
        <p:nvSpPr>
          <p:cNvPr id="1984" name="Google Shape;1984;p63"/>
          <p:cNvSpPr txBox="1"/>
          <p:nvPr/>
        </p:nvSpPr>
        <p:spPr>
          <a:xfrm>
            <a:off x="4553712" y="458571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Wi-Fi 승인 대화상자 거부</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한 번 재시도 후 새 웨이크업</a:t>
            </a:r>
            <a:endParaRPr/>
          </a:p>
        </p:txBody>
      </p:sp>
      <p:sp>
        <p:nvSpPr>
          <p:cNvPr id="1985" name="Google Shape;1985;p63"/>
          <p:cNvSpPr/>
          <p:nvPr/>
        </p:nvSpPr>
        <p:spPr>
          <a:xfrm>
            <a:off x="3886200" y="5166360"/>
            <a:ext cx="566928" cy="201168"/>
          </a:xfrm>
          <a:prstGeom prst="roundRect">
            <a:avLst>
              <a:gd fmla="val 50000" name="adj"/>
            </a:avLst>
          </a:prstGeom>
          <a:solidFill>
            <a:srgbClr val="0B2F5B"/>
          </a:solidFill>
          <a:ln>
            <a:noFill/>
          </a:ln>
        </p:spPr>
        <p:txBody>
          <a:bodyPr anchorCtr="0" anchor="ctr" bIns="0" lIns="18275" spcFirstLastPara="1" rIns="18275" wrap="square" tIns="0">
            <a:noAutofit/>
          </a:bodyPr>
          <a:lstStyle/>
          <a:p>
            <a:pPr indent="0" lvl="0" marL="0" marR="0" rtl="0" algn="ctr">
              <a:lnSpc>
                <a:spcPct val="100000"/>
              </a:lnSpc>
              <a:spcBef>
                <a:spcPts val="0"/>
              </a:spcBef>
              <a:spcAft>
                <a:spcPts val="0"/>
              </a:spcAft>
              <a:buNone/>
            </a:pPr>
            <a:r>
              <a:rPr b="1" lang="en-US" sz="800">
                <a:solidFill>
                  <a:srgbClr val="FFFFFF"/>
                </a:solidFill>
                <a:latin typeface="Montserrat"/>
                <a:ea typeface="Montserrat"/>
                <a:cs typeface="Montserrat"/>
                <a:sym typeface="Montserrat"/>
              </a:rPr>
              <a:t>AT-07</a:t>
            </a:r>
            <a:endParaRPr/>
          </a:p>
        </p:txBody>
      </p:sp>
      <p:sp>
        <p:nvSpPr>
          <p:cNvPr id="1986" name="Google Shape;1986;p63"/>
          <p:cNvSpPr txBox="1"/>
          <p:nvPr/>
        </p:nvSpPr>
        <p:spPr>
          <a:xfrm>
            <a:off x="4553712" y="5111496"/>
            <a:ext cx="2834639"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미동기화 변경이 있는 상태에서 휴대폰 재시작</a:t>
            </a:r>
            <a:endParaRPr/>
          </a:p>
          <a:p>
            <a:pPr indent="0" lvl="0" marL="0" marR="0" rtl="0" algn="l">
              <a:lnSpc>
                <a:spcPct val="100000"/>
              </a:lnSpc>
              <a:spcBef>
                <a:spcPts val="0"/>
              </a:spcBef>
              <a:spcAft>
                <a:spcPts val="0"/>
              </a:spcAft>
              <a:buNone/>
            </a:pPr>
            <a:r>
              <a:rPr b="1" lang="en-US" sz="950">
                <a:solidFill>
                  <a:srgbClr val="1867DC"/>
                </a:solidFill>
                <a:latin typeface="Barlow"/>
                <a:ea typeface="Barlow"/>
                <a:cs typeface="Barlow"/>
                <a:sym typeface="Barlow"/>
              </a:rPr>
              <a:t>→ 잠금 해제 후 업로드, 중복 없음</a:t>
            </a:r>
            <a:endParaRPr/>
          </a:p>
        </p:txBody>
      </p:sp>
      <p:sp>
        <p:nvSpPr>
          <p:cNvPr id="1987" name="Google Shape;1987;p63"/>
          <p:cNvSpPr/>
          <p:nvPr/>
        </p:nvSpPr>
        <p:spPr>
          <a:xfrm>
            <a:off x="7726680" y="1975104"/>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11 이하</a:t>
            </a:r>
            <a:endParaRPr/>
          </a:p>
        </p:txBody>
      </p:sp>
      <p:sp>
        <p:nvSpPr>
          <p:cNvPr id="1988" name="Google Shape;1988;p63"/>
          <p:cNvSpPr/>
          <p:nvPr/>
        </p:nvSpPr>
        <p:spPr>
          <a:xfrm>
            <a:off x="8961120" y="1975104"/>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BLE 스캔용 위치 권한 경로</a:t>
            </a:r>
            <a:endParaRPr/>
          </a:p>
        </p:txBody>
      </p:sp>
      <p:sp>
        <p:nvSpPr>
          <p:cNvPr id="1989" name="Google Shape;1989;p63"/>
          <p:cNvSpPr/>
          <p:nvPr/>
        </p:nvSpPr>
        <p:spPr>
          <a:xfrm>
            <a:off x="7726680" y="2450592"/>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12</a:t>
            </a:r>
            <a:endParaRPr/>
          </a:p>
        </p:txBody>
      </p:sp>
      <p:sp>
        <p:nvSpPr>
          <p:cNvPr id="1990" name="Google Shape;1990;p63"/>
          <p:cNvSpPr/>
          <p:nvPr/>
        </p:nvSpPr>
        <p:spPr>
          <a:xfrm>
            <a:off x="8961120" y="2450592"/>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주변 기기 권한</a:t>
            </a:r>
            <a:endParaRPr/>
          </a:p>
        </p:txBody>
      </p:sp>
      <p:sp>
        <p:nvSpPr>
          <p:cNvPr id="1991" name="Google Shape;1991;p63"/>
          <p:cNvSpPr/>
          <p:nvPr/>
        </p:nvSpPr>
        <p:spPr>
          <a:xfrm>
            <a:off x="7726680" y="2926080"/>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13</a:t>
            </a:r>
            <a:endParaRPr/>
          </a:p>
        </p:txBody>
      </p:sp>
      <p:sp>
        <p:nvSpPr>
          <p:cNvPr id="1992" name="Google Shape;1992;p63"/>
          <p:cNvSpPr/>
          <p:nvPr/>
        </p:nvSpPr>
        <p:spPr>
          <a:xfrm>
            <a:off x="8961120" y="2926080"/>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알림 권한; 새 GATT 호출 (API 33)</a:t>
            </a:r>
            <a:endParaRPr/>
          </a:p>
        </p:txBody>
      </p:sp>
      <p:sp>
        <p:nvSpPr>
          <p:cNvPr id="1993" name="Google Shape;1993;p63"/>
          <p:cNvSpPr/>
          <p:nvPr/>
        </p:nvSpPr>
        <p:spPr>
          <a:xfrm>
            <a:off x="7726680" y="3401568"/>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14</a:t>
            </a:r>
            <a:endParaRPr/>
          </a:p>
        </p:txBody>
      </p:sp>
      <p:sp>
        <p:nvSpPr>
          <p:cNvPr id="1994" name="Google Shape;1994;p63"/>
          <p:cNvSpPr/>
          <p:nvPr/>
        </p:nvSpPr>
        <p:spPr>
          <a:xfrm>
            <a:off x="8961120" y="3401568"/>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서비스 유형 선언; MTU 요청은 항상 517</a:t>
            </a:r>
            <a:endParaRPr sz="925">
              <a:solidFill>
                <a:srgbClr val="1F2A37"/>
              </a:solidFill>
              <a:latin typeface="Barlow"/>
              <a:ea typeface="Barlow"/>
              <a:cs typeface="Barlow"/>
              <a:sym typeface="Barlow"/>
            </a:endParaRPr>
          </a:p>
        </p:txBody>
      </p:sp>
      <p:sp>
        <p:nvSpPr>
          <p:cNvPr id="1995" name="Google Shape;1995;p63"/>
          <p:cNvSpPr/>
          <p:nvPr/>
        </p:nvSpPr>
        <p:spPr>
          <a:xfrm>
            <a:off x="7726680" y="3877056"/>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15</a:t>
            </a:r>
            <a:endParaRPr/>
          </a:p>
        </p:txBody>
      </p:sp>
      <p:sp>
        <p:nvSpPr>
          <p:cNvPr id="1996" name="Google Shape;1996;p63"/>
          <p:cNvSpPr/>
          <p:nvPr/>
        </p:nvSpPr>
        <p:spPr>
          <a:xfrm>
            <a:off x="8961120" y="3877056"/>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잠금 해제 기기 키, 채택 시 (A7)</a:t>
            </a:r>
            <a:endParaRPr/>
          </a:p>
        </p:txBody>
      </p:sp>
      <p:sp>
        <p:nvSpPr>
          <p:cNvPr id="1997" name="Google Shape;1997;p63"/>
          <p:cNvSpPr/>
          <p:nvPr/>
        </p:nvSpPr>
        <p:spPr>
          <a:xfrm>
            <a:off x="7726680" y="4352544"/>
            <a:ext cx="1188720" cy="420624"/>
          </a:xfrm>
          <a:prstGeom prst="roundRect">
            <a:avLst>
              <a:gd fmla="val 10869" name="adj"/>
            </a:avLst>
          </a:prstGeom>
          <a:solidFill>
            <a:srgbClr val="0B2F5B"/>
          </a:solidFill>
          <a:ln>
            <a:noFill/>
          </a:ln>
        </p:spPr>
        <p:txBody>
          <a:bodyPr anchorCtr="0" anchor="ctr" bIns="18275" lIns="36575" spcFirstLastPara="1" rIns="36575" wrap="square" tIns="18275">
            <a:noAutofit/>
          </a:bodyPr>
          <a:lstStyle/>
          <a:p>
            <a:pPr indent="0" lvl="0" marL="0" marR="0" rtl="0" algn="ctr">
              <a:lnSpc>
                <a:spcPct val="100000"/>
              </a:lnSpc>
              <a:spcBef>
                <a:spcPts val="0"/>
              </a:spcBef>
              <a:spcAft>
                <a:spcPts val="0"/>
              </a:spcAft>
              <a:buNone/>
            </a:pPr>
            <a:r>
              <a:rPr b="1" lang="en-US" sz="900">
                <a:solidFill>
                  <a:srgbClr val="FFFFFF"/>
                </a:solidFill>
                <a:latin typeface="Montserrat"/>
                <a:ea typeface="Montserrat"/>
                <a:cs typeface="Montserrat"/>
                <a:sym typeface="Montserrat"/>
              </a:rPr>
              <a:t>Android 16</a:t>
            </a:r>
            <a:endParaRPr/>
          </a:p>
        </p:txBody>
      </p:sp>
      <p:sp>
        <p:nvSpPr>
          <p:cNvPr id="1998" name="Google Shape;1998;p63"/>
          <p:cNvSpPr/>
          <p:nvPr/>
        </p:nvSpPr>
        <p:spPr>
          <a:xfrm>
            <a:off x="8961120" y="4352544"/>
            <a:ext cx="2331720" cy="420624"/>
          </a:xfrm>
          <a:prstGeom prst="roundRect">
            <a:avLst>
              <a:gd fmla="val 10869" name="adj"/>
            </a:avLst>
          </a:prstGeom>
          <a:solidFill>
            <a:srgbClr val="FFFFFF"/>
          </a:solidFill>
          <a:ln cap="flat" cmpd="sng" w="9525">
            <a:solidFill>
              <a:srgbClr val="C7D7EA"/>
            </a:solidFill>
            <a:prstDash val="solid"/>
            <a:round/>
            <a:headEnd len="sm" w="sm" type="none"/>
            <a:tailEnd len="sm" w="sm" type="none"/>
          </a:ln>
        </p:spPr>
        <p:txBody>
          <a:bodyPr anchorCtr="0" anchor="ctr" bIns="18275" lIns="91425"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대형 화면은 방향 고정을 무시 (A5)</a:t>
            </a:r>
            <a:endParaRPr/>
          </a:p>
        </p:txBody>
      </p:sp>
      <p:sp>
        <p:nvSpPr>
          <p:cNvPr id="1999" name="Google Shape;1999;p63"/>
          <p:cNvSpPr txBox="1"/>
          <p:nvPr/>
        </p:nvSpPr>
        <p:spPr>
          <a:xfrm>
            <a:off x="7726680" y="4864607"/>
            <a:ext cx="356616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i="1" lang="en-US" sz="900">
                <a:solidFill>
                  <a:srgbClr val="C0392B"/>
                </a:solidFill>
                <a:latin typeface="Barlow"/>
                <a:ea typeface="Barlow"/>
                <a:cs typeface="Barlow"/>
                <a:sym typeface="Barlow"/>
              </a:rPr>
              <a:t>[구간별 휴대폰 모델: Qcells와 협의, 보유 기기 데이터 기준]</a:t>
            </a:r>
            <a:endParaRPr/>
          </a:p>
        </p:txBody>
      </p:sp>
      <p:sp>
        <p:nvSpPr>
          <p:cNvPr id="2000" name="Google Shape;2000;p63"/>
          <p:cNvSpPr txBox="1"/>
          <p:nvPr/>
        </p:nvSpPr>
        <p:spPr>
          <a:xfrm>
            <a:off x="7726680" y="5157216"/>
            <a:ext cx="3566160" cy="36576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925">
                <a:solidFill>
                  <a:srgbClr val="0B2F5B"/>
                </a:solidFill>
                <a:latin typeface="Barlow"/>
                <a:ea typeface="Barlow"/>
                <a:cs typeface="Barlow"/>
                <a:sym typeface="Barlow"/>
              </a:rPr>
              <a:t>벤치  </a:t>
            </a:r>
            <a:r>
              <a:rPr lang="en-US" sz="925">
                <a:solidFill>
                  <a:srgbClr val="1F2A37"/>
                </a:solidFill>
                <a:latin typeface="Barlow"/>
                <a:ea typeface="Barlow"/>
                <a:cs typeface="Barlow"/>
                <a:sym typeface="Barlow"/>
              </a:rPr>
              <a:t>T9의 하드웨어 벤치에 Android 휴대폰을 폰 팜에 추가</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5" name="Shape 2005"/>
        <p:cNvGrpSpPr/>
        <p:nvPr/>
      </p:nvGrpSpPr>
      <p:grpSpPr>
        <a:xfrm>
          <a:off x="0" y="0"/>
          <a:ext cx="0" cy="0"/>
          <a:chOff x="0" y="0"/>
          <a:chExt cx="0" cy="0"/>
        </a:xfrm>
      </p:grpSpPr>
      <p:sp>
        <p:nvSpPr>
          <p:cNvPr id="2006" name="Google Shape;2006;p64"/>
          <p:cNvSpPr txBox="1"/>
          <p:nvPr>
            <p:ph idx="1" type="body"/>
          </p:nvPr>
        </p:nvSpPr>
        <p:spPr>
          <a:xfrm>
            <a:off x="457200" y="301752"/>
            <a:ext cx="10972800" cy="173736"/>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1867DC"/>
              </a:buClr>
              <a:buSzPts val="825"/>
              <a:buNone/>
            </a:pPr>
            <a:r>
              <a:rPr lang="en-US"/>
              <a:t>09 · 기술 설계 (ANDROID) · Android 가정, 트레이드오프, 위험 및 미결 질문</a:t>
            </a:r>
            <a:endParaRPr/>
          </a:p>
        </p:txBody>
      </p:sp>
      <p:sp>
        <p:nvSpPr>
          <p:cNvPr id="2007" name="Google Shape;2007;p64"/>
          <p:cNvSpPr txBox="1"/>
          <p:nvPr>
            <p:ph type="title"/>
          </p:nvPr>
        </p:nvSpPr>
        <p:spPr>
          <a:xfrm>
            <a:off x="457200" y="512064"/>
            <a:ext cx="10972800" cy="420624"/>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Clr>
                <a:srgbClr val="0B2F5B"/>
              </a:buClr>
              <a:buSzPts val="2000"/>
              <a:buFont typeface="Montserrat"/>
              <a:buNone/>
            </a:pPr>
            <a:r>
              <a:rPr lang="en-US"/>
              <a:t>Android에서 가정한 것, </a:t>
            </a:r>
            <a:r>
              <a:rPr lang="en-US"/>
              <a:t>결정할 사항</a:t>
            </a:r>
            <a:r>
              <a:rPr lang="en-US"/>
              <a:t>, 그리고 </a:t>
            </a:r>
            <a:r>
              <a:rPr lang="en-US"/>
              <a:t>큐셀</a:t>
            </a:r>
            <a:r>
              <a:rPr lang="en-US"/>
              <a:t>에 </a:t>
            </a:r>
            <a:r>
              <a:rPr lang="en-US"/>
              <a:t>확인할 사항</a:t>
            </a:r>
            <a:endParaRPr/>
          </a:p>
        </p:txBody>
      </p:sp>
      <p:sp>
        <p:nvSpPr>
          <p:cNvPr id="2008" name="Google Shape;2008;p64"/>
          <p:cNvSpPr/>
          <p:nvPr/>
        </p:nvSpPr>
        <p:spPr>
          <a:xfrm>
            <a:off x="457200" y="123444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09" name="Google Shape;2009;p64"/>
          <p:cNvSpPr/>
          <p:nvPr/>
        </p:nvSpPr>
        <p:spPr>
          <a:xfrm>
            <a:off x="585216" y="1344168"/>
            <a:ext cx="310896" cy="310896"/>
          </a:xfrm>
          <a:prstGeom prst="roundRect">
            <a:avLst>
              <a:gd fmla="val 1470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10" name="Google Shape;2010;p64"/>
          <p:cNvPicPr preferRelativeResize="0"/>
          <p:nvPr/>
        </p:nvPicPr>
        <p:blipFill rotWithShape="1">
          <a:blip r:embed="rId3">
            <a:alphaModFix/>
          </a:blip>
          <a:srcRect b="0" l="0" r="0" t="0"/>
          <a:stretch/>
        </p:blipFill>
        <p:spPr>
          <a:xfrm>
            <a:off x="653613" y="1412565"/>
            <a:ext cx="174101" cy="174101"/>
          </a:xfrm>
          <a:prstGeom prst="rect">
            <a:avLst/>
          </a:prstGeom>
          <a:noFill/>
          <a:ln>
            <a:noFill/>
          </a:ln>
        </p:spPr>
      </p:pic>
      <p:sp>
        <p:nvSpPr>
          <p:cNvPr id="2011" name="Google Shape;2011;p64"/>
          <p:cNvSpPr txBox="1"/>
          <p:nvPr/>
        </p:nvSpPr>
        <p:spPr>
          <a:xfrm>
            <a:off x="987552" y="1344168"/>
            <a:ext cx="46634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가정</a:t>
            </a:r>
            <a:endParaRPr/>
          </a:p>
        </p:txBody>
      </p:sp>
      <p:sp>
        <p:nvSpPr>
          <p:cNvPr id="2012" name="Google Shape;2012;p64"/>
          <p:cNvSpPr/>
          <p:nvPr/>
        </p:nvSpPr>
        <p:spPr>
          <a:xfrm>
            <a:off x="6035040" y="1234440"/>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3" name="Google Shape;2013;p64"/>
          <p:cNvSpPr/>
          <p:nvPr/>
        </p:nvSpPr>
        <p:spPr>
          <a:xfrm>
            <a:off x="6163055" y="1344168"/>
            <a:ext cx="310896" cy="310896"/>
          </a:xfrm>
          <a:prstGeom prst="roundRect">
            <a:avLst>
              <a:gd fmla="val 1470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14" name="Google Shape;2014;p64"/>
          <p:cNvPicPr preferRelativeResize="0"/>
          <p:nvPr/>
        </p:nvPicPr>
        <p:blipFill rotWithShape="1">
          <a:blip r:embed="rId4">
            <a:alphaModFix/>
          </a:blip>
          <a:srcRect b="0" l="0" r="0" t="0"/>
          <a:stretch/>
        </p:blipFill>
        <p:spPr>
          <a:xfrm>
            <a:off x="6231453" y="1412565"/>
            <a:ext cx="174101" cy="174101"/>
          </a:xfrm>
          <a:prstGeom prst="rect">
            <a:avLst/>
          </a:prstGeom>
          <a:noFill/>
          <a:ln>
            <a:noFill/>
          </a:ln>
        </p:spPr>
      </p:pic>
      <p:sp>
        <p:nvSpPr>
          <p:cNvPr id="2015" name="Google Shape;2015;p64"/>
          <p:cNvSpPr txBox="1"/>
          <p:nvPr/>
        </p:nvSpPr>
        <p:spPr>
          <a:xfrm>
            <a:off x="6565392" y="1344168"/>
            <a:ext cx="46634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결정할 사항</a:t>
            </a:r>
            <a:endParaRPr/>
          </a:p>
        </p:txBody>
      </p:sp>
      <p:sp>
        <p:nvSpPr>
          <p:cNvPr id="2016" name="Google Shape;2016;p64"/>
          <p:cNvSpPr/>
          <p:nvPr/>
        </p:nvSpPr>
        <p:spPr>
          <a:xfrm>
            <a:off x="457200" y="3538728"/>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7" name="Google Shape;2017;p64"/>
          <p:cNvSpPr/>
          <p:nvPr/>
        </p:nvSpPr>
        <p:spPr>
          <a:xfrm>
            <a:off x="585216" y="3648456"/>
            <a:ext cx="310896" cy="310896"/>
          </a:xfrm>
          <a:prstGeom prst="roundRect">
            <a:avLst>
              <a:gd fmla="val 1470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18" name="Google Shape;2018;p64"/>
          <p:cNvPicPr preferRelativeResize="0"/>
          <p:nvPr/>
        </p:nvPicPr>
        <p:blipFill rotWithShape="1">
          <a:blip r:embed="rId5">
            <a:alphaModFix/>
          </a:blip>
          <a:srcRect b="0" l="0" r="0" t="0"/>
          <a:stretch/>
        </p:blipFill>
        <p:spPr>
          <a:xfrm>
            <a:off x="653613" y="3716853"/>
            <a:ext cx="174101" cy="174101"/>
          </a:xfrm>
          <a:prstGeom prst="rect">
            <a:avLst/>
          </a:prstGeom>
          <a:noFill/>
          <a:ln>
            <a:noFill/>
          </a:ln>
        </p:spPr>
      </p:pic>
      <p:sp>
        <p:nvSpPr>
          <p:cNvPr id="2019" name="Google Shape;2019;p64"/>
          <p:cNvSpPr txBox="1"/>
          <p:nvPr/>
        </p:nvSpPr>
        <p:spPr>
          <a:xfrm>
            <a:off x="987552" y="3648456"/>
            <a:ext cx="46634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위험과 대응</a:t>
            </a:r>
            <a:endParaRPr/>
          </a:p>
        </p:txBody>
      </p:sp>
      <p:sp>
        <p:nvSpPr>
          <p:cNvPr id="2020" name="Google Shape;2020;p64"/>
          <p:cNvSpPr/>
          <p:nvPr/>
        </p:nvSpPr>
        <p:spPr>
          <a:xfrm>
            <a:off x="6035040" y="3538728"/>
            <a:ext cx="5394960" cy="2194560"/>
          </a:xfrm>
          <a:prstGeom prst="rect">
            <a:avLst/>
          </a:prstGeom>
          <a:solidFill>
            <a:srgbClr val="F5F8FC"/>
          </a:solidFill>
          <a:ln cap="flat" cmpd="sng" w="9525">
            <a:solidFill>
              <a:srgbClr val="C7D7E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1" name="Google Shape;2021;p64"/>
          <p:cNvSpPr/>
          <p:nvPr/>
        </p:nvSpPr>
        <p:spPr>
          <a:xfrm>
            <a:off x="6163055" y="3648456"/>
            <a:ext cx="310896" cy="310896"/>
          </a:xfrm>
          <a:prstGeom prst="roundRect">
            <a:avLst>
              <a:gd fmla="val 14705" name="adj"/>
            </a:avLst>
          </a:prstGeom>
          <a:solidFill>
            <a:srgbClr val="0B2F5B"/>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2022" name="Google Shape;2022;p64"/>
          <p:cNvPicPr preferRelativeResize="0"/>
          <p:nvPr/>
        </p:nvPicPr>
        <p:blipFill rotWithShape="1">
          <a:blip r:embed="rId6">
            <a:alphaModFix/>
          </a:blip>
          <a:srcRect b="0" l="0" r="0" t="0"/>
          <a:stretch/>
        </p:blipFill>
        <p:spPr>
          <a:xfrm>
            <a:off x="6231453" y="3716853"/>
            <a:ext cx="174101" cy="174101"/>
          </a:xfrm>
          <a:prstGeom prst="rect">
            <a:avLst/>
          </a:prstGeom>
          <a:noFill/>
          <a:ln>
            <a:noFill/>
          </a:ln>
        </p:spPr>
      </p:pic>
      <p:sp>
        <p:nvSpPr>
          <p:cNvPr id="2023" name="Google Shape;2023;p64"/>
          <p:cNvSpPr txBox="1"/>
          <p:nvPr/>
        </p:nvSpPr>
        <p:spPr>
          <a:xfrm>
            <a:off x="6565392" y="3648456"/>
            <a:ext cx="4663440" cy="31089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1200">
                <a:solidFill>
                  <a:srgbClr val="0B2F5B"/>
                </a:solidFill>
                <a:latin typeface="Montserrat"/>
                <a:ea typeface="Montserrat"/>
                <a:cs typeface="Montserrat"/>
                <a:sym typeface="Montserrat"/>
              </a:rPr>
              <a:t>큐셀에 문의사항</a:t>
            </a:r>
            <a:endParaRPr/>
          </a:p>
        </p:txBody>
      </p:sp>
      <p:sp>
        <p:nvSpPr>
          <p:cNvPr id="2024" name="Google Shape;2024;p64"/>
          <p:cNvSpPr txBox="1"/>
          <p:nvPr/>
        </p:nvSpPr>
        <p:spPr>
          <a:xfrm>
            <a:off x="603504" y="1764792"/>
            <a:ext cx="5102352" cy="16093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minSdk는 Android 10(API 29) 이상</a:t>
            </a:r>
            <a:endParaRPr/>
          </a:p>
          <a:p>
            <a:pPr indent="0" lvl="0" marL="0" marR="0" rtl="0" algn="l">
              <a:lnSpc>
                <a:spcPct val="100000"/>
              </a:lnSpc>
              <a:spcBef>
                <a:spcPts val="150"/>
              </a:spcBef>
              <a:spcAft>
                <a:spcPts val="0"/>
              </a:spcAft>
              <a:buNone/>
            </a:pPr>
            <a:r>
              <a:rPr lang="en-US" sz="925">
                <a:solidFill>
                  <a:srgbClr val="1F2A37"/>
                </a:solidFill>
                <a:latin typeface="Barlow"/>
                <a:ea typeface="Barlow"/>
                <a:cs typeface="Barlow"/>
                <a:sym typeface="Barlow"/>
              </a:rPr>
              <a:t>Wi-Fi 연결 경로는 </a:t>
            </a:r>
            <a:r>
              <a:rPr b="0" lang="en-US" sz="825">
                <a:solidFill>
                  <a:srgbClr val="1565C0"/>
                </a:solidFill>
                <a:latin typeface="Consolas"/>
                <a:ea typeface="Consolas"/>
                <a:cs typeface="Consolas"/>
                <a:sym typeface="Consolas"/>
              </a:rPr>
              <a:t>WifiNetworkSpecifier</a:t>
            </a:r>
            <a:r>
              <a:rPr lang="en-US" sz="925">
                <a:solidFill>
                  <a:srgbClr val="1F2A37"/>
                </a:solidFill>
                <a:latin typeface="Barlow"/>
                <a:ea typeface="Barlow"/>
                <a:cs typeface="Barlow"/>
                <a:sym typeface="Barlow"/>
              </a:rPr>
              <a:t> 하나. </a:t>
            </a:r>
            <a:r>
              <a:rPr i="1" lang="en-US" sz="925">
                <a:solidFill>
                  <a:srgbClr val="C0392B"/>
                </a:solidFill>
                <a:latin typeface="Barlow"/>
                <a:ea typeface="Barlow"/>
                <a:cs typeface="Barlow"/>
                <a:sym typeface="Barlow"/>
              </a:rPr>
              <a:t>[기존 앱의 minSdk: 확인 예정]</a:t>
            </a:r>
            <a:endParaRPr/>
          </a:p>
          <a:p>
            <a:pPr indent="0" lvl="0" marL="0" marR="0" rtl="0" algn="l">
              <a:lnSpc>
                <a:spcPct val="100000"/>
              </a:lnSpc>
              <a:spcBef>
                <a:spcPts val="700"/>
              </a:spcBef>
              <a:spcAft>
                <a:spcPts val="0"/>
              </a:spcAft>
              <a:buNone/>
            </a:pPr>
            <a:r>
              <a:rPr b="1" lang="en-US" sz="1000">
                <a:solidFill>
                  <a:srgbClr val="0B2F5B"/>
                </a:solidFill>
                <a:latin typeface="Montserrat"/>
                <a:ea typeface="Montserrat"/>
                <a:cs typeface="Montserrat"/>
                <a:sym typeface="Montserrat"/>
              </a:rPr>
              <a:t>기존 Android 앱을 기반으로 함</a:t>
            </a:r>
            <a:endParaRPr/>
          </a:p>
          <a:p>
            <a:pPr indent="0" lvl="0" marL="0" marR="0" rtl="0" algn="l">
              <a:lnSpc>
                <a:spcPct val="100000"/>
              </a:lnSpc>
              <a:spcBef>
                <a:spcPts val="150"/>
              </a:spcBef>
              <a:spcAft>
                <a:spcPts val="0"/>
              </a:spcAft>
              <a:buNone/>
            </a:pPr>
            <a:r>
              <a:rPr lang="en-US" sz="925">
                <a:solidFill>
                  <a:srgbClr val="1F2A37"/>
                </a:solidFill>
                <a:latin typeface="Barlow"/>
                <a:ea typeface="Barlow"/>
                <a:cs typeface="Barlow"/>
                <a:sym typeface="Barlow"/>
              </a:rPr>
              <a:t>Compose, 코루틴, Hilt가 기본. Qcells 코드베이스가 이미 쓰는 스택을 따름.</a:t>
            </a:r>
            <a:endParaRPr/>
          </a:p>
          <a:p>
            <a:pPr indent="0" lvl="0" marL="0" marR="0" rtl="0" algn="l">
              <a:lnSpc>
                <a:spcPct val="100000"/>
              </a:lnSpc>
              <a:spcBef>
                <a:spcPts val="700"/>
              </a:spcBef>
              <a:spcAft>
                <a:spcPts val="0"/>
              </a:spcAft>
              <a:buNone/>
            </a:pPr>
            <a:r>
              <a:rPr b="1" lang="en-US" sz="1000">
                <a:solidFill>
                  <a:srgbClr val="0B2F5B"/>
                </a:solidFill>
                <a:latin typeface="Montserrat"/>
                <a:ea typeface="Montserrat"/>
                <a:cs typeface="Montserrat"/>
                <a:sym typeface="Montserrat"/>
              </a:rPr>
              <a:t>LE 페어링·본딩 없음</a:t>
            </a:r>
            <a:endParaRPr/>
          </a:p>
          <a:p>
            <a:pPr indent="0" lvl="0" marL="0" marR="0" rtl="0" algn="l">
              <a:lnSpc>
                <a:spcPct val="100000"/>
              </a:lnSpc>
              <a:spcBef>
                <a:spcPts val="150"/>
              </a:spcBef>
              <a:spcAft>
                <a:spcPts val="0"/>
              </a:spcAft>
              <a:buNone/>
            </a:pPr>
            <a:r>
              <a:rPr lang="en-US" sz="925">
                <a:solidFill>
                  <a:srgbClr val="1F2A37"/>
                </a:solidFill>
                <a:latin typeface="Barlow"/>
                <a:ea typeface="Barlow"/>
                <a:cs typeface="Barlow"/>
                <a:sym typeface="Barlow"/>
              </a:rPr>
              <a:t>iOS 설계에는 본딩 언급이 없어 없다고 가정. 쓰기는 일회용 OTP(T8)로 보호.</a:t>
            </a:r>
            <a:endParaRPr/>
          </a:p>
        </p:txBody>
      </p:sp>
      <p:sp>
        <p:nvSpPr>
          <p:cNvPr id="2025" name="Google Shape;2025;p64"/>
          <p:cNvSpPr txBox="1"/>
          <p:nvPr/>
        </p:nvSpPr>
        <p:spPr>
          <a:xfrm>
            <a:off x="6181344" y="1764792"/>
            <a:ext cx="5102352" cy="1609343"/>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lang="en-US" sz="1000">
                <a:solidFill>
                  <a:srgbClr val="0B2F5B"/>
                </a:solidFill>
                <a:latin typeface="Montserrat"/>
                <a:ea typeface="Montserrat"/>
                <a:cs typeface="Montserrat"/>
                <a:sym typeface="Montserrat"/>
              </a:rPr>
              <a:t>자체 GATT 큐 vs BLE 라이브러리</a:t>
            </a:r>
            <a:endParaRPr/>
          </a:p>
          <a:p>
            <a:pPr indent="0" lvl="0" marL="0" marR="0" rtl="0" algn="l">
              <a:lnSpc>
                <a:spcPct val="100000"/>
              </a:lnSpc>
              <a:spcBef>
                <a:spcPts val="150"/>
              </a:spcBef>
              <a:spcAft>
                <a:spcPts val="0"/>
              </a:spcAft>
              <a:buNone/>
            </a:pPr>
            <a:r>
              <a:rPr lang="en-US" sz="925">
                <a:solidFill>
                  <a:srgbClr val="1F2A37"/>
                </a:solidFill>
                <a:latin typeface="Barlow"/>
                <a:ea typeface="Barlow"/>
                <a:cs typeface="Barlow"/>
                <a:sym typeface="Barlow"/>
              </a:rPr>
              <a:t>완전한 제어와 기성 큐 중 선택. 채택: Qcells 코드베이스가 쓰는 것, 없으면 BLETransport 뒤의 플랫폼 API.</a:t>
            </a:r>
            <a:endParaRPr/>
          </a:p>
          <a:p>
            <a:pPr indent="0" lvl="0" marL="0" marR="0" rtl="0" algn="l">
              <a:lnSpc>
                <a:spcPct val="100000"/>
              </a:lnSpc>
              <a:spcBef>
                <a:spcPts val="700"/>
              </a:spcBef>
              <a:spcAft>
                <a:spcPts val="0"/>
              </a:spcAft>
              <a:buNone/>
            </a:pPr>
            <a:r>
              <a:rPr b="1" lang="en-US" sz="1000">
                <a:solidFill>
                  <a:srgbClr val="0B2F5B"/>
                </a:solidFill>
                <a:latin typeface="Montserrat"/>
                <a:ea typeface="Montserrat"/>
                <a:cs typeface="Montserrat"/>
                <a:sym typeface="Montserrat"/>
              </a:rPr>
              <a:t>BLE 스캐너 vs 컴패니언 기기 페어링</a:t>
            </a:r>
            <a:endParaRPr b="1" sz="1000">
              <a:solidFill>
                <a:srgbClr val="0B2F5B"/>
              </a:solidFill>
              <a:latin typeface="Montserrat"/>
              <a:ea typeface="Montserrat"/>
              <a:cs typeface="Montserrat"/>
              <a:sym typeface="Montserrat"/>
            </a:endParaRPr>
          </a:p>
          <a:p>
            <a:pPr indent="0" lvl="0" marL="0" marR="0" rtl="0" algn="l">
              <a:lnSpc>
                <a:spcPct val="100000"/>
              </a:lnSpc>
              <a:spcBef>
                <a:spcPts val="700"/>
              </a:spcBef>
              <a:spcAft>
                <a:spcPts val="0"/>
              </a:spcAft>
              <a:buNone/>
            </a:pPr>
            <a:r>
              <a:rPr lang="en-US" sz="925">
                <a:solidFill>
                  <a:srgbClr val="1F2A37"/>
                </a:solidFill>
                <a:latin typeface="Barlow"/>
                <a:ea typeface="Barlow"/>
                <a:cs typeface="Barlow"/>
                <a:sym typeface="Barlow"/>
              </a:rPr>
              <a:t>컴패니언 페어링은 Android 11 이하의 위치 권한을 피하지만 정리해야 할 연결 정보가 남습니다. 채택: 스캐너, 두 플랫폼에 같은 규칙.</a:t>
            </a:r>
            <a:endParaRPr/>
          </a:p>
          <a:p>
            <a:pPr indent="0" lvl="0" marL="0" marR="0" rtl="0" algn="l">
              <a:lnSpc>
                <a:spcPct val="100000"/>
              </a:lnSpc>
              <a:spcBef>
                <a:spcPts val="700"/>
              </a:spcBef>
              <a:spcAft>
                <a:spcPts val="0"/>
              </a:spcAft>
              <a:buNone/>
            </a:pPr>
            <a:r>
              <a:rPr b="1" lang="en-US" sz="1000">
                <a:solidFill>
                  <a:srgbClr val="0B2F5B"/>
                </a:solidFill>
                <a:latin typeface="Montserrat"/>
                <a:ea typeface="Montserrat"/>
                <a:cs typeface="Montserrat"/>
                <a:sym typeface="Montserrat"/>
              </a:rPr>
              <a:t>앱 내 데이터베이스 암호화 vs 플랫폼 기본</a:t>
            </a:r>
            <a:endParaRPr/>
          </a:p>
          <a:p>
            <a:pPr indent="0" lvl="0" marL="0" marR="0" rtl="0" algn="l">
              <a:lnSpc>
                <a:spcPct val="100000"/>
              </a:lnSpc>
              <a:spcBef>
                <a:spcPts val="150"/>
              </a:spcBef>
              <a:spcAft>
                <a:spcPts val="0"/>
              </a:spcAft>
              <a:buNone/>
            </a:pPr>
            <a:r>
              <a:rPr lang="en-US" sz="925">
                <a:solidFill>
                  <a:srgbClr val="1F2A37"/>
                </a:solidFill>
                <a:latin typeface="Barlow"/>
                <a:ea typeface="Barlow"/>
                <a:cs typeface="Barlow"/>
                <a:sym typeface="Barlow"/>
              </a:rPr>
              <a:t>앱 내 암호화는 .complete와 동일하지만 Android 15+에서만 권고되며, 업로드는 잠금 해제를 기다리게 됩니다. 미결 사항: Qcells 보안팀과 결정.</a:t>
            </a:r>
            <a:endParaRPr/>
          </a:p>
        </p:txBody>
      </p:sp>
      <p:sp>
        <p:nvSpPr>
          <p:cNvPr id="2026" name="Google Shape;2026;p64"/>
          <p:cNvSpPr/>
          <p:nvPr/>
        </p:nvSpPr>
        <p:spPr>
          <a:xfrm>
            <a:off x="603504" y="4087368"/>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제조사별 BLE 차이</a:t>
            </a:r>
            <a:endParaRPr/>
          </a:p>
        </p:txBody>
      </p:sp>
      <p:sp>
        <p:nvSpPr>
          <p:cNvPr id="2027" name="Google Shape;2027;p64"/>
          <p:cNvSpPr/>
          <p:nvPr/>
        </p:nvSpPr>
        <p:spPr>
          <a:xfrm>
            <a:off x="2926080" y="4087368"/>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벤치에 OS 구간별 한 대; T4와 T6의 재시도·read-back 규칙.</a:t>
            </a:r>
            <a:endParaRPr/>
          </a:p>
        </p:txBody>
      </p:sp>
      <p:cxnSp>
        <p:nvCxnSpPr>
          <p:cNvPr id="2028" name="Google Shape;2028;p64"/>
          <p:cNvCxnSpPr>
            <a:stCxn id="2026" idx="3"/>
            <a:endCxn id="2027" idx="1"/>
          </p:cNvCxnSpPr>
          <p:nvPr/>
        </p:nvCxnSpPr>
        <p:spPr>
          <a:xfrm>
            <a:off x="2615184" y="4315968"/>
            <a:ext cx="310800" cy="0"/>
          </a:xfrm>
          <a:prstGeom prst="straightConnector1">
            <a:avLst/>
          </a:prstGeom>
          <a:noFill/>
          <a:ln cap="flat" cmpd="sng" w="15875">
            <a:solidFill>
              <a:srgbClr val="0B2F5B"/>
            </a:solidFill>
            <a:prstDash val="solid"/>
            <a:round/>
            <a:headEnd len="sm" w="sm" type="none"/>
            <a:tailEnd len="med" w="med" type="triangle"/>
          </a:ln>
        </p:spPr>
      </p:cxnSp>
      <p:sp>
        <p:nvSpPr>
          <p:cNvPr id="2029" name="Google Shape;2029;p64"/>
          <p:cNvSpPr/>
          <p:nvPr/>
        </p:nvSpPr>
        <p:spPr>
          <a:xfrm>
            <a:off x="603504" y="4626864"/>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백그라운드 제한, 절전 모드</a:t>
            </a:r>
            <a:endParaRPr/>
          </a:p>
        </p:txBody>
      </p:sp>
      <p:sp>
        <p:nvSpPr>
          <p:cNvPr id="2030" name="Google Shape;2030;p64"/>
          <p:cNvSpPr/>
          <p:nvPr/>
        </p:nvSpPr>
        <p:spPr>
          <a:xfrm>
            <a:off x="2926080" y="4626864"/>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펌웨어 중 포그라운드 서비스; 저널 복구; 미동기화 상태는 계속 표시.</a:t>
            </a:r>
            <a:endParaRPr/>
          </a:p>
        </p:txBody>
      </p:sp>
      <p:cxnSp>
        <p:nvCxnSpPr>
          <p:cNvPr id="2031" name="Google Shape;2031;p64"/>
          <p:cNvCxnSpPr>
            <a:stCxn id="2029" idx="3"/>
            <a:endCxn id="2030" idx="1"/>
          </p:cNvCxnSpPr>
          <p:nvPr/>
        </p:nvCxnSpPr>
        <p:spPr>
          <a:xfrm>
            <a:off x="2615184" y="4855464"/>
            <a:ext cx="310800" cy="0"/>
          </a:xfrm>
          <a:prstGeom prst="straightConnector1">
            <a:avLst/>
          </a:prstGeom>
          <a:noFill/>
          <a:ln cap="flat" cmpd="sng" w="15875">
            <a:solidFill>
              <a:srgbClr val="0B2F5B"/>
            </a:solidFill>
            <a:prstDash val="solid"/>
            <a:round/>
            <a:headEnd len="sm" w="sm" type="none"/>
            <a:tailEnd len="med" w="med" type="triangle"/>
          </a:ln>
        </p:spPr>
      </p:cxnSp>
      <p:sp>
        <p:nvSpPr>
          <p:cNvPr id="2032" name="Google Shape;2032;p64"/>
          <p:cNvSpPr/>
          <p:nvPr/>
        </p:nvSpPr>
        <p:spPr>
          <a:xfrm>
            <a:off x="603504" y="5166359"/>
            <a:ext cx="2011680" cy="457200"/>
          </a:xfrm>
          <a:prstGeom prst="roundRect">
            <a:avLst>
              <a:gd fmla="val 10000" name="adj"/>
            </a:avLst>
          </a:prstGeom>
          <a:solidFill>
            <a:srgbClr val="FDECEA"/>
          </a:solidFill>
          <a:ln cap="flat" cmpd="sng" w="9525">
            <a:solidFill>
              <a:srgbClr val="E9A39D"/>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b="1" lang="en-US" sz="950">
                <a:solidFill>
                  <a:srgbClr val="B3261E"/>
                </a:solidFill>
                <a:latin typeface="Barlow"/>
                <a:ea typeface="Barlow"/>
                <a:cs typeface="Barlow"/>
                <a:sym typeface="Barlow"/>
              </a:rPr>
              <a:t>업데이트마다 Wi-Fi 대화상자</a:t>
            </a:r>
            <a:endParaRPr/>
          </a:p>
        </p:txBody>
      </p:sp>
      <p:sp>
        <p:nvSpPr>
          <p:cNvPr id="2033" name="Google Shape;2033;p64"/>
          <p:cNvSpPr/>
          <p:nvPr/>
        </p:nvSpPr>
        <p:spPr>
          <a:xfrm>
            <a:off x="2926080" y="5166359"/>
            <a:ext cx="2779776" cy="457200"/>
          </a:xfrm>
          <a:prstGeom prst="roundRect">
            <a:avLst>
              <a:gd fmla="val 10000" name="adj"/>
            </a:avLst>
          </a:prstGeom>
          <a:solidFill>
            <a:srgbClr val="FFFFFF"/>
          </a:solidFill>
          <a:ln cap="flat" cmpd="sng" w="9525">
            <a:solidFill>
              <a:srgbClr val="C7D7EA"/>
            </a:solidFill>
            <a:prstDash val="solid"/>
            <a:round/>
            <a:headEnd len="sm" w="sm" type="none"/>
            <a:tailEnd len="sm" w="sm" type="none"/>
          </a:ln>
        </p:spPr>
        <p:txBody>
          <a:bodyPr anchorCtr="0" anchor="ctr" bIns="18275" lIns="73150" spcFirstLastPara="1" rIns="54850" wrap="square" tIns="18275">
            <a:noAutofit/>
          </a:bodyPr>
          <a:lstStyle/>
          <a:p>
            <a:pPr indent="0" lvl="0" marL="0" marR="0" rtl="0" algn="l">
              <a:lnSpc>
                <a:spcPct val="100000"/>
              </a:lnSpc>
              <a:spcBef>
                <a:spcPts val="0"/>
              </a:spcBef>
              <a:spcAft>
                <a:spcPts val="0"/>
              </a:spcAft>
              <a:buNone/>
            </a:pPr>
            <a:r>
              <a:rPr lang="en-US" sz="925">
                <a:solidFill>
                  <a:srgbClr val="1F2A37"/>
                </a:solidFill>
                <a:latin typeface="Barlow"/>
                <a:ea typeface="Barlow"/>
                <a:cs typeface="Barlow"/>
                <a:sym typeface="Barlow"/>
              </a:rPr>
              <a:t>대화상자가 뜨기 전에 안내; 거부는 연결 실패로 처리.</a:t>
            </a:r>
            <a:endParaRPr sz="925">
              <a:solidFill>
                <a:srgbClr val="1F2A37"/>
              </a:solidFill>
              <a:latin typeface="Barlow"/>
              <a:ea typeface="Barlow"/>
              <a:cs typeface="Barlow"/>
              <a:sym typeface="Barlow"/>
            </a:endParaRPr>
          </a:p>
        </p:txBody>
      </p:sp>
      <p:cxnSp>
        <p:nvCxnSpPr>
          <p:cNvPr id="2034" name="Google Shape;2034;p64"/>
          <p:cNvCxnSpPr>
            <a:stCxn id="2032" idx="3"/>
            <a:endCxn id="2033" idx="1"/>
          </p:cNvCxnSpPr>
          <p:nvPr/>
        </p:nvCxnSpPr>
        <p:spPr>
          <a:xfrm>
            <a:off x="2615184" y="5394959"/>
            <a:ext cx="310800" cy="0"/>
          </a:xfrm>
          <a:prstGeom prst="straightConnector1">
            <a:avLst/>
          </a:prstGeom>
          <a:noFill/>
          <a:ln cap="flat" cmpd="sng" w="15875">
            <a:solidFill>
              <a:srgbClr val="0B2F5B"/>
            </a:solidFill>
            <a:prstDash val="solid"/>
            <a:round/>
            <a:headEnd len="sm" w="sm" type="none"/>
            <a:tailEnd len="med" w="med" type="triangle"/>
          </a:ln>
        </p:spPr>
      </p:cxnSp>
      <p:sp>
        <p:nvSpPr>
          <p:cNvPr id="2035" name="Google Shape;2035;p64"/>
          <p:cNvSpPr/>
          <p:nvPr/>
        </p:nvSpPr>
        <p:spPr>
          <a:xfrm>
            <a:off x="6181344" y="406450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1</a:t>
            </a:r>
            <a:endParaRPr/>
          </a:p>
        </p:txBody>
      </p:sp>
      <p:sp>
        <p:nvSpPr>
          <p:cNvPr id="2036" name="Google Shape;2036;p64"/>
          <p:cNvSpPr txBox="1"/>
          <p:nvPr/>
        </p:nvSpPr>
        <p:spPr>
          <a:xfrm>
            <a:off x="6492240" y="4046220"/>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기존 Android 앱의 minSdk와 targetSdk는 무엇입니까? 10 권장</a:t>
            </a:r>
            <a:endParaRPr/>
          </a:p>
        </p:txBody>
      </p:sp>
      <p:sp>
        <p:nvSpPr>
          <p:cNvPr id="2037" name="Google Shape;2037;p64"/>
          <p:cNvSpPr/>
          <p:nvPr/>
        </p:nvSpPr>
        <p:spPr>
          <a:xfrm>
            <a:off x="6181344" y="433882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2</a:t>
            </a:r>
            <a:endParaRPr/>
          </a:p>
        </p:txBody>
      </p:sp>
      <p:sp>
        <p:nvSpPr>
          <p:cNvPr id="2038" name="Google Shape;2038;p64"/>
          <p:cNvSpPr txBox="1"/>
          <p:nvPr/>
        </p:nvSpPr>
        <p:spPr>
          <a:xfrm>
            <a:off x="6492240" y="4320540"/>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현재 어떤 스택을 사용합니까: Compose 또는 View, 어떤 DI, 어떤 BLE 라이브러리?</a:t>
            </a:r>
            <a:endParaRPr/>
          </a:p>
        </p:txBody>
      </p:sp>
      <p:sp>
        <p:nvSpPr>
          <p:cNvPr id="2039" name="Google Shape;2039;p64"/>
          <p:cNvSpPr/>
          <p:nvPr/>
        </p:nvSpPr>
        <p:spPr>
          <a:xfrm>
            <a:off x="6181344" y="461314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3</a:t>
            </a:r>
            <a:endParaRPr/>
          </a:p>
        </p:txBody>
      </p:sp>
      <p:sp>
        <p:nvSpPr>
          <p:cNvPr id="2040" name="Google Shape;2040;p64"/>
          <p:cNvSpPr txBox="1"/>
          <p:nvPr/>
        </p:nvSpPr>
        <p:spPr>
          <a:xfrm>
            <a:off x="6492240" y="4594859"/>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ESS가 LE 페어링 또는 본딩을 요구합니까?</a:t>
            </a:r>
            <a:endParaRPr/>
          </a:p>
        </p:txBody>
      </p:sp>
      <p:sp>
        <p:nvSpPr>
          <p:cNvPr id="2041" name="Google Shape;2041;p64"/>
          <p:cNvSpPr/>
          <p:nvPr/>
        </p:nvSpPr>
        <p:spPr>
          <a:xfrm>
            <a:off x="6181344" y="488746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4</a:t>
            </a:r>
            <a:endParaRPr/>
          </a:p>
        </p:txBody>
      </p:sp>
      <p:sp>
        <p:nvSpPr>
          <p:cNvPr id="2042" name="Google Shape;2042;p64"/>
          <p:cNvSpPr txBox="1"/>
          <p:nvPr/>
        </p:nvSpPr>
        <p:spPr>
          <a:xfrm>
            <a:off x="6492240" y="4869179"/>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ESS는 재부팅 후에도 같은 BLE 주소를 유지합니까?</a:t>
            </a:r>
            <a:endParaRPr/>
          </a:p>
        </p:txBody>
      </p:sp>
      <p:sp>
        <p:nvSpPr>
          <p:cNvPr id="2043" name="Google Shape;2043;p64"/>
          <p:cNvSpPr/>
          <p:nvPr/>
        </p:nvSpPr>
        <p:spPr>
          <a:xfrm>
            <a:off x="6181344" y="516178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5</a:t>
            </a:r>
            <a:endParaRPr/>
          </a:p>
        </p:txBody>
      </p:sp>
      <p:sp>
        <p:nvSpPr>
          <p:cNvPr id="2044" name="Google Shape;2044;p64"/>
          <p:cNvSpPr txBox="1"/>
          <p:nvPr/>
        </p:nvSpPr>
        <p:spPr>
          <a:xfrm>
            <a:off x="6492240" y="5143499"/>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SoftAP에서 어떤 프로토콜이 실행됩니까: HTTP, HTTPS 또는 raw TCP?</a:t>
            </a:r>
            <a:endParaRPr/>
          </a:p>
        </p:txBody>
      </p:sp>
      <p:sp>
        <p:nvSpPr>
          <p:cNvPr id="2045" name="Google Shape;2045;p64"/>
          <p:cNvSpPr/>
          <p:nvPr/>
        </p:nvSpPr>
        <p:spPr>
          <a:xfrm>
            <a:off x="6181344" y="5436107"/>
            <a:ext cx="219456" cy="219456"/>
          </a:xfrm>
          <a:prstGeom prst="ellipse">
            <a:avLst/>
          </a:prstGeom>
          <a:solidFill>
            <a:srgbClr val="1565C0"/>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850">
                <a:solidFill>
                  <a:srgbClr val="FFFFFF"/>
                </a:solidFill>
                <a:latin typeface="Montserrat"/>
                <a:ea typeface="Montserrat"/>
                <a:cs typeface="Montserrat"/>
                <a:sym typeface="Montserrat"/>
              </a:rPr>
              <a:t>6</a:t>
            </a:r>
            <a:endParaRPr/>
          </a:p>
        </p:txBody>
      </p:sp>
      <p:sp>
        <p:nvSpPr>
          <p:cNvPr id="2046" name="Google Shape;2046;p64"/>
          <p:cNvSpPr txBox="1"/>
          <p:nvPr/>
        </p:nvSpPr>
        <p:spPr>
          <a:xfrm>
            <a:off x="6492240" y="5417819"/>
            <a:ext cx="4791456"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lang="en-US" sz="950">
                <a:solidFill>
                  <a:srgbClr val="1F2A37"/>
                </a:solidFill>
                <a:latin typeface="Barlow"/>
                <a:ea typeface="Barlow"/>
                <a:cs typeface="Barlow"/>
                <a:sym typeface="Barlow"/>
              </a:rPr>
              <a:t>설치 기사는 어떤 Android 폰과 OS 버전을 사용합니까?</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1" name="Shape 2051"/>
        <p:cNvGrpSpPr/>
        <p:nvPr/>
      </p:nvGrpSpPr>
      <p:grpSpPr>
        <a:xfrm>
          <a:off x="0" y="0"/>
          <a:ext cx="0" cy="0"/>
          <a:chOff x="0" y="0"/>
          <a:chExt cx="0" cy="0"/>
        </a:xfrm>
      </p:grpSpPr>
      <p:pic>
        <p:nvPicPr>
          <p:cNvPr descr="gen-dedup-885f94f0366be6ae8b4587d2d4a35ce7.jpg" id="2052" name="Google Shape;2052;p6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gen-dedup-a82b592502fba2900d7549ebc8317891.png" id="2053" name="Google Shape;2053;p65"/>
          <p:cNvPicPr preferRelativeResize="0"/>
          <p:nvPr/>
        </p:nvPicPr>
        <p:blipFill rotWithShape="1">
          <a:blip r:embed="rId4">
            <a:alphaModFix/>
          </a:blip>
          <a:srcRect b="-1" l="0" r="0" t="-1"/>
          <a:stretch/>
        </p:blipFill>
        <p:spPr>
          <a:xfrm>
            <a:off x="0" y="0"/>
            <a:ext cx="12191695" cy="6858000"/>
          </a:xfrm>
          <a:prstGeom prst="rect">
            <a:avLst/>
          </a:prstGeom>
          <a:noFill/>
          <a:ln>
            <a:noFill/>
          </a:ln>
        </p:spPr>
      </p:pic>
      <p:sp>
        <p:nvSpPr>
          <p:cNvPr id="2054" name="Google Shape;2054;p65"/>
          <p:cNvSpPr txBox="1"/>
          <p:nvPr/>
        </p:nvSpPr>
        <p:spPr>
          <a:xfrm>
            <a:off x="761695" y="1019556"/>
            <a:ext cx="8572500" cy="87691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7200"/>
              <a:buFont typeface="Calibri"/>
              <a:buNone/>
            </a:pPr>
            <a:r>
              <a:rPr b="1" lang="en-US" sz="7200">
                <a:solidFill>
                  <a:srgbClr val="FFFFFF"/>
                </a:solidFill>
                <a:latin typeface="Calibri"/>
                <a:ea typeface="Calibri"/>
                <a:cs typeface="Calibri"/>
                <a:sym typeface="Calibri"/>
              </a:rPr>
              <a:t>CONTACT US</a:t>
            </a:r>
            <a:endParaRPr sz="7200">
              <a:solidFill>
                <a:schemeClr val="dk1"/>
              </a:solidFill>
              <a:latin typeface="Calibri"/>
              <a:ea typeface="Calibri"/>
              <a:cs typeface="Calibri"/>
              <a:sym typeface="Calibri"/>
            </a:endParaRPr>
          </a:p>
        </p:txBody>
      </p:sp>
      <p:pic>
        <p:nvPicPr>
          <p:cNvPr descr="gen-dedup-51b0088e0d2ae681df83bde3787e31f4.png" id="2055" name="Google Shape;2055;p65"/>
          <p:cNvPicPr preferRelativeResize="0"/>
          <p:nvPr/>
        </p:nvPicPr>
        <p:blipFill rotWithShape="1">
          <a:blip r:embed="rId5">
            <a:alphaModFix/>
          </a:blip>
          <a:srcRect b="0" l="-2083" r="-2083" t="0"/>
          <a:stretch/>
        </p:blipFill>
        <p:spPr>
          <a:xfrm>
            <a:off x="761695" y="2343607"/>
            <a:ext cx="10668305" cy="9144"/>
          </a:xfrm>
          <a:prstGeom prst="rect">
            <a:avLst/>
          </a:prstGeom>
          <a:noFill/>
          <a:ln>
            <a:noFill/>
          </a:ln>
        </p:spPr>
      </p:pic>
      <p:sp>
        <p:nvSpPr>
          <p:cNvPr id="2056" name="Google Shape;2056;p65"/>
          <p:cNvSpPr txBox="1"/>
          <p:nvPr/>
        </p:nvSpPr>
        <p:spPr>
          <a:xfrm>
            <a:off x="761695" y="2780995"/>
            <a:ext cx="1440180"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E0F5"/>
              </a:buClr>
              <a:buSzPts val="1000"/>
              <a:buFont typeface="Calibri"/>
              <a:buNone/>
            </a:pPr>
            <a:r>
              <a:rPr b="1" lang="en-US" sz="1000">
                <a:solidFill>
                  <a:srgbClr val="B8E0F5"/>
                </a:solidFill>
                <a:latin typeface="Calibri"/>
                <a:ea typeface="Calibri"/>
                <a:cs typeface="Calibri"/>
                <a:sym typeface="Calibri"/>
              </a:rPr>
              <a:t>Tel:</a:t>
            </a:r>
            <a:r>
              <a:rPr lang="en-US" sz="1000">
                <a:solidFill>
                  <a:srgbClr val="FFFFFF"/>
                </a:solidFill>
                <a:latin typeface="Calibri"/>
                <a:ea typeface="Calibri"/>
                <a:cs typeface="Calibri"/>
                <a:sym typeface="Calibri"/>
              </a:rPr>
              <a:t> (+84) 24 7101 6000</a:t>
            </a:r>
            <a:endParaRPr sz="1000">
              <a:solidFill>
                <a:schemeClr val="dk1"/>
              </a:solidFill>
              <a:latin typeface="Calibri"/>
              <a:ea typeface="Calibri"/>
              <a:cs typeface="Calibri"/>
              <a:sym typeface="Calibri"/>
            </a:endParaRPr>
          </a:p>
        </p:txBody>
      </p:sp>
      <p:sp>
        <p:nvSpPr>
          <p:cNvPr id="2057" name="Google Shape;2057;p65"/>
          <p:cNvSpPr txBox="1"/>
          <p:nvPr/>
        </p:nvSpPr>
        <p:spPr>
          <a:xfrm>
            <a:off x="2629814" y="2780995"/>
            <a:ext cx="2074774"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E0F5"/>
              </a:buClr>
              <a:buSzPts val="1000"/>
              <a:buFont typeface="Calibri"/>
              <a:buNone/>
            </a:pPr>
            <a:r>
              <a:rPr b="1" lang="en-US" sz="1000">
                <a:solidFill>
                  <a:srgbClr val="B8E0F5"/>
                </a:solidFill>
                <a:latin typeface="Calibri"/>
                <a:ea typeface="Calibri"/>
                <a:cs typeface="Calibri"/>
                <a:sym typeface="Calibri"/>
              </a:rPr>
              <a:t>Email:</a:t>
            </a:r>
            <a:r>
              <a:rPr lang="en-US" sz="1000">
                <a:solidFill>
                  <a:srgbClr val="FFFFFF"/>
                </a:solidFill>
                <a:latin typeface="Calibri"/>
                <a:ea typeface="Calibri"/>
                <a:cs typeface="Calibri"/>
                <a:sym typeface="Calibri"/>
              </a:rPr>
              <a:t> marketing@cmcglobal.vn</a:t>
            </a:r>
            <a:endParaRPr sz="1000">
              <a:solidFill>
                <a:schemeClr val="dk1"/>
              </a:solidFill>
              <a:latin typeface="Calibri"/>
              <a:ea typeface="Calibri"/>
              <a:cs typeface="Calibri"/>
              <a:sym typeface="Calibri"/>
            </a:endParaRPr>
          </a:p>
        </p:txBody>
      </p:sp>
      <p:sp>
        <p:nvSpPr>
          <p:cNvPr id="2058" name="Google Shape;2058;p65"/>
          <p:cNvSpPr txBox="1"/>
          <p:nvPr/>
        </p:nvSpPr>
        <p:spPr>
          <a:xfrm>
            <a:off x="5035601" y="2780995"/>
            <a:ext cx="2142439" cy="152705"/>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E0F5"/>
              </a:buClr>
              <a:buSzPts val="1000"/>
              <a:buFont typeface="Calibri"/>
              <a:buNone/>
            </a:pPr>
            <a:r>
              <a:rPr b="1" lang="en-US" sz="1000">
                <a:solidFill>
                  <a:srgbClr val="B8E0F5"/>
                </a:solidFill>
                <a:latin typeface="Calibri"/>
                <a:ea typeface="Calibri"/>
                <a:cs typeface="Calibri"/>
                <a:sym typeface="Calibri"/>
              </a:rPr>
              <a:t>Website:</a:t>
            </a:r>
            <a:r>
              <a:rPr lang="en-US" sz="1000">
                <a:solidFill>
                  <a:srgbClr val="FFFFFF"/>
                </a:solidFill>
                <a:latin typeface="Calibri"/>
                <a:ea typeface="Calibri"/>
                <a:cs typeface="Calibri"/>
                <a:sym typeface="Calibri"/>
              </a:rPr>
              <a:t> www.cmcglobal.com.vn</a:t>
            </a:r>
            <a:endParaRPr sz="1000">
              <a:solidFill>
                <a:schemeClr val="dk1"/>
              </a:solidFill>
              <a:latin typeface="Calibri"/>
              <a:ea typeface="Calibri"/>
              <a:cs typeface="Calibri"/>
              <a:sym typeface="Calibri"/>
            </a:endParaRPr>
          </a:p>
        </p:txBody>
      </p:sp>
      <p:sp>
        <p:nvSpPr>
          <p:cNvPr id="2059" name="Google Shape;2059;p65"/>
          <p:cNvSpPr txBox="1"/>
          <p:nvPr/>
        </p:nvSpPr>
        <p:spPr>
          <a:xfrm>
            <a:off x="761695" y="321023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Hanoi (Head Quarter)</a:t>
            </a:r>
            <a:endParaRPr sz="1050">
              <a:solidFill>
                <a:schemeClr val="dk1"/>
              </a:solidFill>
              <a:latin typeface="Calibri"/>
              <a:ea typeface="Calibri"/>
              <a:cs typeface="Calibri"/>
              <a:sym typeface="Calibri"/>
            </a:endParaRPr>
          </a:p>
        </p:txBody>
      </p:sp>
      <p:sp>
        <p:nvSpPr>
          <p:cNvPr id="2060" name="Google Shape;2060;p65"/>
          <p:cNvSpPr txBox="1"/>
          <p:nvPr/>
        </p:nvSpPr>
        <p:spPr>
          <a:xfrm>
            <a:off x="761695" y="3413227"/>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7 – 10F, CMC Tower, 11 Duy Tan Street,</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Dich Vong Hau Ward,</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Cau Giay District</a:t>
            </a:r>
            <a:endParaRPr sz="1000">
              <a:solidFill>
                <a:schemeClr val="dk1"/>
              </a:solidFill>
              <a:latin typeface="Calibri"/>
              <a:ea typeface="Calibri"/>
              <a:cs typeface="Calibri"/>
              <a:sym typeface="Calibri"/>
            </a:endParaRPr>
          </a:p>
        </p:txBody>
      </p:sp>
      <p:sp>
        <p:nvSpPr>
          <p:cNvPr id="2061" name="Google Shape;2061;p65"/>
          <p:cNvSpPr txBox="1"/>
          <p:nvPr/>
        </p:nvSpPr>
        <p:spPr>
          <a:xfrm>
            <a:off x="3524098" y="321023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Ho Chi Minh City</a:t>
            </a:r>
            <a:endParaRPr sz="1050">
              <a:solidFill>
                <a:schemeClr val="dk1"/>
              </a:solidFill>
              <a:latin typeface="Calibri"/>
              <a:ea typeface="Calibri"/>
              <a:cs typeface="Calibri"/>
              <a:sym typeface="Calibri"/>
            </a:endParaRPr>
          </a:p>
        </p:txBody>
      </p:sp>
      <p:sp>
        <p:nvSpPr>
          <p:cNvPr id="2062" name="Google Shape;2062;p65"/>
          <p:cNvSpPr txBox="1"/>
          <p:nvPr/>
        </p:nvSpPr>
        <p:spPr>
          <a:xfrm>
            <a:off x="3524098" y="3413227"/>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CMC Creative Space, Street 19,</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Tan Thuan Export Processing Zone,</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Tan Tuan Dong Ward, District 7</a:t>
            </a:r>
            <a:endParaRPr sz="1000">
              <a:solidFill>
                <a:schemeClr val="dk1"/>
              </a:solidFill>
              <a:latin typeface="Calibri"/>
              <a:ea typeface="Calibri"/>
              <a:cs typeface="Calibri"/>
              <a:sym typeface="Calibri"/>
            </a:endParaRPr>
          </a:p>
        </p:txBody>
      </p:sp>
      <p:sp>
        <p:nvSpPr>
          <p:cNvPr id="2063" name="Google Shape;2063;p65"/>
          <p:cNvSpPr txBox="1"/>
          <p:nvPr/>
        </p:nvSpPr>
        <p:spPr>
          <a:xfrm>
            <a:off x="6286500" y="321023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Danang</a:t>
            </a:r>
            <a:endParaRPr sz="1050">
              <a:solidFill>
                <a:schemeClr val="dk1"/>
              </a:solidFill>
              <a:latin typeface="Calibri"/>
              <a:ea typeface="Calibri"/>
              <a:cs typeface="Calibri"/>
              <a:sym typeface="Calibri"/>
            </a:endParaRPr>
          </a:p>
        </p:txBody>
      </p:sp>
      <p:sp>
        <p:nvSpPr>
          <p:cNvPr id="2064" name="Google Shape;2064;p65"/>
          <p:cNvSpPr txBox="1"/>
          <p:nvPr/>
        </p:nvSpPr>
        <p:spPr>
          <a:xfrm>
            <a:off x="6286500" y="3413227"/>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G8 Golden Building, 65 Hai Phong</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Street, Thach Thang Ward,</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Hai Chau District</a:t>
            </a:r>
            <a:endParaRPr sz="1000">
              <a:solidFill>
                <a:schemeClr val="dk1"/>
              </a:solidFill>
              <a:latin typeface="Calibri"/>
              <a:ea typeface="Calibri"/>
              <a:cs typeface="Calibri"/>
              <a:sym typeface="Calibri"/>
            </a:endParaRPr>
          </a:p>
        </p:txBody>
      </p:sp>
      <p:sp>
        <p:nvSpPr>
          <p:cNvPr id="2065" name="Google Shape;2065;p65"/>
          <p:cNvSpPr txBox="1"/>
          <p:nvPr/>
        </p:nvSpPr>
        <p:spPr>
          <a:xfrm>
            <a:off x="9048902" y="315308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Singapore</a:t>
            </a:r>
            <a:endParaRPr sz="1050">
              <a:solidFill>
                <a:schemeClr val="dk1"/>
              </a:solidFill>
              <a:latin typeface="Calibri"/>
              <a:ea typeface="Calibri"/>
              <a:cs typeface="Calibri"/>
              <a:sym typeface="Calibri"/>
            </a:endParaRPr>
          </a:p>
        </p:txBody>
      </p:sp>
      <p:sp>
        <p:nvSpPr>
          <p:cNvPr id="2066" name="Google Shape;2066;p65"/>
          <p:cNvSpPr txBox="1"/>
          <p:nvPr/>
        </p:nvSpPr>
        <p:spPr>
          <a:xfrm>
            <a:off x="9048902" y="3356077"/>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Hong Leong Building</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#09-01, 16 Raffles Quay,</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Singapore 048581</a:t>
            </a:r>
            <a:endParaRPr sz="1000">
              <a:solidFill>
                <a:schemeClr val="dk1"/>
              </a:solidFill>
              <a:latin typeface="Calibri"/>
              <a:ea typeface="Calibri"/>
              <a:cs typeface="Calibri"/>
              <a:sym typeface="Calibri"/>
            </a:endParaRPr>
          </a:p>
        </p:txBody>
      </p:sp>
      <p:sp>
        <p:nvSpPr>
          <p:cNvPr id="2067" name="Google Shape;2067;p65"/>
          <p:cNvSpPr txBox="1"/>
          <p:nvPr/>
        </p:nvSpPr>
        <p:spPr>
          <a:xfrm>
            <a:off x="761695" y="439072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Tokyo, Japan</a:t>
            </a:r>
            <a:endParaRPr sz="1050">
              <a:solidFill>
                <a:schemeClr val="dk1"/>
              </a:solidFill>
              <a:latin typeface="Calibri"/>
              <a:ea typeface="Calibri"/>
              <a:cs typeface="Calibri"/>
              <a:sym typeface="Calibri"/>
            </a:endParaRPr>
          </a:p>
        </p:txBody>
      </p:sp>
      <p:sp>
        <p:nvSpPr>
          <p:cNvPr id="2068" name="Google Shape;2068;p65"/>
          <p:cNvSpPr txBox="1"/>
          <p:nvPr/>
        </p:nvSpPr>
        <p:spPr>
          <a:xfrm>
            <a:off x="761695" y="4610176"/>
            <a:ext cx="2572207" cy="476402"/>
          </a:xfrm>
          <a:prstGeom prst="rect">
            <a:avLst/>
          </a:prstGeom>
          <a:noFill/>
          <a:ln>
            <a:noFill/>
          </a:ln>
        </p:spPr>
        <p:txBody>
          <a:bodyPr anchorCtr="0" anchor="ctr"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Sumitomo Fudosan Osaki Twin Building East, 7F, 5-chome-1-18, Kita-shinagawa, Shinagawa-ku, Tokyo, Japan, 141-0001</a:t>
            </a:r>
            <a:endParaRPr sz="1000">
              <a:solidFill>
                <a:schemeClr val="dk1"/>
              </a:solidFill>
              <a:latin typeface="Calibri"/>
              <a:ea typeface="Calibri"/>
              <a:cs typeface="Calibri"/>
              <a:sym typeface="Calibri"/>
            </a:endParaRPr>
          </a:p>
        </p:txBody>
      </p:sp>
      <p:sp>
        <p:nvSpPr>
          <p:cNvPr id="2069" name="Google Shape;2069;p65"/>
          <p:cNvSpPr txBox="1"/>
          <p:nvPr/>
        </p:nvSpPr>
        <p:spPr>
          <a:xfrm>
            <a:off x="3524098" y="439072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Osaka, Japan</a:t>
            </a:r>
            <a:endParaRPr sz="1050">
              <a:solidFill>
                <a:schemeClr val="dk1"/>
              </a:solidFill>
              <a:latin typeface="Calibri"/>
              <a:ea typeface="Calibri"/>
              <a:cs typeface="Calibri"/>
              <a:sym typeface="Calibri"/>
            </a:endParaRPr>
          </a:p>
        </p:txBody>
      </p:sp>
      <p:sp>
        <p:nvSpPr>
          <p:cNvPr id="2070" name="Google Shape;2070;p65"/>
          <p:cNvSpPr txBox="1"/>
          <p:nvPr/>
        </p:nvSpPr>
        <p:spPr>
          <a:xfrm>
            <a:off x="3524098" y="4594631"/>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Midousuji Frontier Bldg. 4F,</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1-13-22 Sonezakishinchi,</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Kita-ku, Osaka 530-0002</a:t>
            </a:r>
            <a:endParaRPr sz="1000">
              <a:solidFill>
                <a:schemeClr val="dk1"/>
              </a:solidFill>
              <a:latin typeface="Calibri"/>
              <a:ea typeface="Calibri"/>
              <a:cs typeface="Calibri"/>
              <a:sym typeface="Calibri"/>
            </a:endParaRPr>
          </a:p>
        </p:txBody>
      </p:sp>
      <p:sp>
        <p:nvSpPr>
          <p:cNvPr id="2071" name="Google Shape;2071;p65"/>
          <p:cNvSpPr txBox="1"/>
          <p:nvPr/>
        </p:nvSpPr>
        <p:spPr>
          <a:xfrm>
            <a:off x="6286500" y="439072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Seoul, Korea</a:t>
            </a:r>
            <a:endParaRPr sz="1050">
              <a:solidFill>
                <a:schemeClr val="dk1"/>
              </a:solidFill>
              <a:latin typeface="Calibri"/>
              <a:ea typeface="Calibri"/>
              <a:cs typeface="Calibri"/>
              <a:sym typeface="Calibri"/>
            </a:endParaRPr>
          </a:p>
        </p:txBody>
      </p:sp>
      <p:sp>
        <p:nvSpPr>
          <p:cNvPr id="2072" name="Google Shape;2072;p65"/>
          <p:cNvSpPr txBox="1"/>
          <p:nvPr/>
        </p:nvSpPr>
        <p:spPr>
          <a:xfrm>
            <a:off x="6286500" y="4594631"/>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ENA Building, 14th floor,</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120 Seosomun-ro, Seosomun-dong,</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Jung-gu, Seoul</a:t>
            </a:r>
            <a:endParaRPr sz="1000">
              <a:solidFill>
                <a:schemeClr val="dk1"/>
              </a:solidFill>
              <a:latin typeface="Calibri"/>
              <a:ea typeface="Calibri"/>
              <a:cs typeface="Calibri"/>
              <a:sym typeface="Calibri"/>
            </a:endParaRPr>
          </a:p>
        </p:txBody>
      </p:sp>
      <p:sp>
        <p:nvSpPr>
          <p:cNvPr id="2073" name="Google Shape;2073;p65"/>
          <p:cNvSpPr txBox="1"/>
          <p:nvPr/>
        </p:nvSpPr>
        <p:spPr>
          <a:xfrm>
            <a:off x="9048902" y="4333570"/>
            <a:ext cx="2572207"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Skudai, Malaysia</a:t>
            </a:r>
            <a:endParaRPr sz="1050">
              <a:solidFill>
                <a:schemeClr val="dk1"/>
              </a:solidFill>
              <a:latin typeface="Calibri"/>
              <a:ea typeface="Calibri"/>
              <a:cs typeface="Calibri"/>
              <a:sym typeface="Calibri"/>
            </a:endParaRPr>
          </a:p>
        </p:txBody>
      </p:sp>
      <p:sp>
        <p:nvSpPr>
          <p:cNvPr id="2074" name="Google Shape;2074;p65"/>
          <p:cNvSpPr txBox="1"/>
          <p:nvPr/>
        </p:nvSpPr>
        <p:spPr>
          <a:xfrm>
            <a:off x="9048902" y="4537481"/>
            <a:ext cx="2572207" cy="491947"/>
          </a:xfrm>
          <a:prstGeom prst="rect">
            <a:avLst/>
          </a:prstGeom>
          <a:noFill/>
          <a:ln>
            <a:noFill/>
          </a:ln>
        </p:spPr>
        <p:txBody>
          <a:bodyPr anchorCtr="0" anchor="t" bIns="0" lIns="0" spcFirstLastPara="1" rIns="0" wrap="square" tIns="0">
            <a:noAutofit/>
          </a:bodyPr>
          <a:lstStyle/>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7 Jalan Pendekar 21, Lorong 3,</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Taman Ungku Tun Animah,</a:t>
            </a:r>
            <a:endParaRPr sz="1000">
              <a:solidFill>
                <a:schemeClr val="dk1"/>
              </a:solidFill>
              <a:latin typeface="Calibri"/>
              <a:ea typeface="Calibri"/>
              <a:cs typeface="Calibri"/>
              <a:sym typeface="Calibri"/>
            </a:endParaRPr>
          </a:p>
          <a:p>
            <a:pPr indent="0" lvl="0" marL="0" marR="0" rtl="0" algn="l">
              <a:lnSpc>
                <a:spcPct val="123800"/>
              </a:lnSpc>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Skudai, 81300 Johor, Malaysia</a:t>
            </a:r>
            <a:endParaRPr sz="1000">
              <a:solidFill>
                <a:schemeClr val="dk1"/>
              </a:solidFill>
              <a:latin typeface="Calibri"/>
              <a:ea typeface="Calibri"/>
              <a:cs typeface="Calibri"/>
              <a:sym typeface="Calibri"/>
            </a:endParaRPr>
          </a:p>
        </p:txBody>
      </p:sp>
      <p:sp>
        <p:nvSpPr>
          <p:cNvPr id="2075" name="Google Shape;2075;p65"/>
          <p:cNvSpPr txBox="1"/>
          <p:nvPr/>
        </p:nvSpPr>
        <p:spPr>
          <a:xfrm>
            <a:off x="761695" y="5629732"/>
            <a:ext cx="381030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Frankfurt, Germany</a:t>
            </a:r>
            <a:endParaRPr sz="1050">
              <a:solidFill>
                <a:schemeClr val="dk1"/>
              </a:solidFill>
              <a:latin typeface="Calibri"/>
              <a:ea typeface="Calibri"/>
              <a:cs typeface="Calibri"/>
              <a:sym typeface="Calibri"/>
            </a:endParaRPr>
          </a:p>
        </p:txBody>
      </p:sp>
      <p:sp>
        <p:nvSpPr>
          <p:cNvPr id="2076" name="Google Shape;2076;p65"/>
          <p:cNvSpPr txBox="1"/>
          <p:nvPr/>
        </p:nvSpPr>
        <p:spPr>
          <a:xfrm>
            <a:off x="761695" y="5848274"/>
            <a:ext cx="3810305" cy="162763"/>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9F7"/>
              </a:buClr>
              <a:buSzPts val="1000"/>
              <a:buFont typeface="Calibri"/>
              <a:buNone/>
            </a:pPr>
            <a:r>
              <a:rPr lang="en-US" sz="1000">
                <a:solidFill>
                  <a:srgbClr val="CFE9F7"/>
                </a:solidFill>
                <a:latin typeface="Calibri"/>
                <a:ea typeface="Calibri"/>
                <a:cs typeface="Calibri"/>
                <a:sym typeface="Calibri"/>
              </a:rPr>
              <a:t>Frankfurt am Main, Germany</a:t>
            </a:r>
            <a:endParaRPr sz="1000">
              <a:solidFill>
                <a:schemeClr val="dk1"/>
              </a:solidFill>
              <a:latin typeface="Calibri"/>
              <a:ea typeface="Calibri"/>
              <a:cs typeface="Calibri"/>
              <a:sym typeface="Calibri"/>
            </a:endParaRPr>
          </a:p>
        </p:txBody>
      </p:sp>
      <p:pic>
        <p:nvPicPr>
          <p:cNvPr id="2077" name="Google Shape;2077;p65"/>
          <p:cNvPicPr preferRelativeResize="0"/>
          <p:nvPr/>
        </p:nvPicPr>
        <p:blipFill rotWithShape="1">
          <a:blip r:embed="rId6">
            <a:alphaModFix/>
          </a:blip>
          <a:srcRect b="40176" l="0" r="0" t="40236"/>
          <a:stretch/>
        </p:blipFill>
        <p:spPr>
          <a:xfrm>
            <a:off x="651798" y="2371558"/>
            <a:ext cx="1659973" cy="32515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1_Office Theme [1790924897069]">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DBDB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1_Office Theme [178946306669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BDBDBE"/>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